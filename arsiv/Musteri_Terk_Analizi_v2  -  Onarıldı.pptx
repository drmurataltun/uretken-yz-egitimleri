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Durum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9E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7D-2E4B-A408-0544440CB1A1}"/>
              </c:ext>
            </c:extLst>
          </c:dPt>
          <c:dPt>
            <c:idx val="1"/>
            <c:bubble3D val="0"/>
            <c:spPr>
              <a:solidFill>
                <a:srgbClr val="E89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7D-2E4B-A408-0544440CB1A1}"/>
              </c:ext>
            </c:extLst>
          </c:dPt>
          <c:dPt>
            <c:idx val="2"/>
            <c:bubble3D val="0"/>
            <c:spPr>
              <a:solidFill>
                <a:srgbClr val="D94F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7D-2E4B-A408-0544440CB1A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E1F1A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7D-2E4B-A408-0544440CB1A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E1F1A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7D-2E4B-A408-0544440CB1A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E1F1A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7D-2E4B-A408-0544440CB1A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Sadık</c:v>
                </c:pt>
                <c:pt idx="1">
                  <c:v>Riskli</c:v>
                </c:pt>
                <c:pt idx="2">
                  <c:v>Terk Eden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7D-2E4B-A408-0544440CB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Kâr Artışı (%)</c:v>
                </c:pt>
              </c:strCache>
            </c:strRef>
          </c:tx>
          <c:spPr>
            <a:solidFill>
              <a:srgbClr val="3A9E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1F1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+%1</c:v>
                </c:pt>
                <c:pt idx="1">
                  <c:v>+%2</c:v>
                </c:pt>
                <c:pt idx="2">
                  <c:v>+%3</c:v>
                </c:pt>
                <c:pt idx="3">
                  <c:v>+%4</c:v>
                </c:pt>
                <c:pt idx="4">
                  <c:v>+%5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22</c:v>
                </c:pt>
                <c:pt idx="2">
                  <c:v>38</c:v>
                </c:pt>
                <c:pt idx="3">
                  <c:v>58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FB-214A-ADFB-769AAEBD47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Yıllık Terk Oranı (%)</c:v>
                </c:pt>
              </c:strCache>
            </c:strRef>
          </c:tx>
          <c:spPr>
            <a:solidFill>
              <a:srgbClr val="C97B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1F1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E-ticaret</c:v>
                </c:pt>
                <c:pt idx="1">
                  <c:v>Medya/Yayıncılık</c:v>
                </c:pt>
                <c:pt idx="2">
                  <c:v>Telekom</c:v>
                </c:pt>
                <c:pt idx="3">
                  <c:v>Finans/Bankacılık</c:v>
                </c:pt>
                <c:pt idx="4">
                  <c:v>SaaS B2B</c:v>
                </c:pt>
                <c:pt idx="5">
                  <c:v>Sigorta</c:v>
                </c:pt>
                <c:pt idx="6">
                  <c:v>Sağlık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12</c:v>
                </c:pt>
                <c:pt idx="5">
                  <c:v>15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D2-D242-BC8C-76986B97FA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1F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Önem</c:v>
                </c:pt>
              </c:strCache>
            </c:strRef>
          </c:tx>
          <c:spPr>
            <a:solidFill>
              <a:srgbClr val="C97B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1F1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Son giriş</c:v>
                </c:pt>
                <c:pt idx="1">
                  <c:v>Giriş trendi</c:v>
                </c:pt>
                <c:pt idx="2">
                  <c:v>Destek sayısı</c:v>
                </c:pt>
                <c:pt idx="3">
                  <c:v>NPS</c:v>
                </c:pt>
                <c:pt idx="4">
                  <c:v>Harcama</c:v>
                </c:pt>
                <c:pt idx="5">
                  <c:v>Sözleşme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0.28000000000000003</c:v>
                </c:pt>
                <c:pt idx="1">
                  <c:v>0.22</c:v>
                </c:pt>
                <c:pt idx="2">
                  <c:v>0.18</c:v>
                </c:pt>
                <c:pt idx="3">
                  <c:v>0.14000000000000001</c:v>
                </c:pt>
                <c:pt idx="4">
                  <c:v>0.1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21-BE48-AAB2-9F6AD54B30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E1F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 (0.92)</c:v>
                </c:pt>
              </c:strCache>
            </c:strRef>
          </c:tx>
          <c:spPr>
            <a:ln w="31750" cap="flat">
              <a:solidFill>
                <a:srgbClr val="C97B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7B5A"/>
              </a:solidFill>
              <a:ln w="9525" cap="flat">
                <a:solidFill>
                  <a:srgbClr val="C97B5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0.55000000000000004</c:v>
                </c:pt>
                <c:pt idx="2">
                  <c:v>0.72</c:v>
                </c:pt>
                <c:pt idx="3">
                  <c:v>0.82</c:v>
                </c:pt>
                <c:pt idx="4">
                  <c:v>0.88</c:v>
                </c:pt>
                <c:pt idx="5">
                  <c:v>0.92</c:v>
                </c:pt>
                <c:pt idx="6">
                  <c:v>0.95</c:v>
                </c:pt>
                <c:pt idx="7">
                  <c:v>0.97</c:v>
                </c:pt>
                <c:pt idx="8">
                  <c:v>0.98</c:v>
                </c:pt>
                <c:pt idx="9">
                  <c:v>0.99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E3-D44A-ADBB-B91C8807E8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 (0.87)</c:v>
                </c:pt>
              </c:strCache>
            </c:strRef>
          </c:tx>
          <c:spPr>
            <a:ln w="31750" cap="flat">
              <a:solidFill>
                <a:srgbClr val="E891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913A"/>
              </a:solidFill>
              <a:ln w="9525" cap="flat">
                <a:solidFill>
                  <a:srgbClr val="E8913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0.42</c:v>
                </c:pt>
                <c:pt idx="2">
                  <c:v>0.6</c:v>
                </c:pt>
                <c:pt idx="3">
                  <c:v>0.72</c:v>
                </c:pt>
                <c:pt idx="4">
                  <c:v>0.8</c:v>
                </c:pt>
                <c:pt idx="5">
                  <c:v>0.86</c:v>
                </c:pt>
                <c:pt idx="6">
                  <c:v>0.9</c:v>
                </c:pt>
                <c:pt idx="7">
                  <c:v>0.93</c:v>
                </c:pt>
                <c:pt idx="8">
                  <c:v>0.96</c:v>
                </c:pt>
                <c:pt idx="9">
                  <c:v>0.98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E3-D44A-ADBB-B91C8807E8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Lojistik Reg. (0.78)</c:v>
                </c:pt>
              </c:strCache>
            </c:strRef>
          </c:tx>
          <c:spPr>
            <a:ln w="31750" cap="flat">
              <a:solidFill>
                <a:srgbClr val="2B7A7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7A78"/>
              </a:solidFill>
              <a:ln w="9525" cap="flat">
                <a:solidFill>
                  <a:srgbClr val="2B7A7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0.3</c:v>
                </c:pt>
                <c:pt idx="2">
                  <c:v>0.48</c:v>
                </c:pt>
                <c:pt idx="3">
                  <c:v>0.6</c:v>
                </c:pt>
                <c:pt idx="4">
                  <c:v>0.7</c:v>
                </c:pt>
                <c:pt idx="5">
                  <c:v>0.77</c:v>
                </c:pt>
                <c:pt idx="6">
                  <c:v>0.83</c:v>
                </c:pt>
                <c:pt idx="7">
                  <c:v>0.88</c:v>
                </c:pt>
                <c:pt idx="8">
                  <c:v>0.92</c:v>
                </c:pt>
                <c:pt idx="9">
                  <c:v>0.96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E3-D44A-ADBB-B91C8807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5B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9E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ED-6048-86B7-7D8BF86010B0}"/>
              </c:ext>
            </c:extLst>
          </c:dPt>
          <c:dPt>
            <c:idx val="1"/>
            <c:bubble3D val="0"/>
            <c:spPr>
              <a:solidFill>
                <a:srgbClr val="2B7A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ED-6048-86B7-7D8BF86010B0}"/>
              </c:ext>
            </c:extLst>
          </c:dPt>
          <c:dPt>
            <c:idx val="2"/>
            <c:bubble3D val="0"/>
            <c:spPr>
              <a:solidFill>
                <a:srgbClr val="4A7F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ED-6048-86B7-7D8BF86010B0}"/>
              </c:ext>
            </c:extLst>
          </c:dPt>
          <c:dPt>
            <c:idx val="3"/>
            <c:bubble3D val="0"/>
            <c:spPr>
              <a:solidFill>
                <a:srgbClr val="E89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ED-6048-86B7-7D8BF86010B0}"/>
              </c:ext>
            </c:extLst>
          </c:dPt>
          <c:dPt>
            <c:idx val="4"/>
            <c:bubble3D val="0"/>
            <c:spPr>
              <a:solidFill>
                <a:srgbClr val="7C5B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ED-6048-86B7-7D8BF86010B0}"/>
              </c:ext>
            </c:extLst>
          </c:dPt>
          <c:dPt>
            <c:idx val="5"/>
            <c:bubble3D val="0"/>
            <c:spPr>
              <a:solidFill>
                <a:srgbClr val="6B5B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9ED-6048-86B7-7D8BF86010B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9ED-6048-86B7-7D8BF86010B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ED-6048-86B7-7D8BF86010B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9ED-6048-86B7-7D8BF86010B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9ED-6048-86B7-7D8BF86010B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9ED-6048-86B7-7D8BF86010B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9ED-6048-86B7-7D8BF86010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Şampiyon</c:v>
                </c:pt>
                <c:pt idx="1">
                  <c:v>Sadık</c:v>
                </c:pt>
                <c:pt idx="2">
                  <c:v>Potansiyel</c:v>
                </c:pt>
                <c:pt idx="3">
                  <c:v>Riskli</c:v>
                </c:pt>
                <c:pt idx="4">
                  <c:v>Uyuyan</c:v>
                </c:pt>
                <c:pt idx="5">
                  <c:v>Kayb.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22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9ED-6048-86B7-7D8BF8601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70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 DERSİ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Terk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Analizi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Analysis: Nedenler, Göstergeler,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Modelleri ve Önleme Stratejileri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Altün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 ve Yapay Zekâ Eğitimi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 sessizce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ettiği oran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5x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edinmenin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tutmaya oranı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%25-95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 artışının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kâra etkisi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%80+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modellerin terk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doğruluğu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İçindekiler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12064" y="1097280"/>
            <a:ext cx="640080" cy="54864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12064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051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Kavramlar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435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 · Türler · İstatistikler · Formül · Sektörler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0" y="11795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3-8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54864" cy="841248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12064" y="2103120"/>
            <a:ext cx="640080" cy="54864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12064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 ve Veri Hazırlık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441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uyarılar · Yaşam döngüsü · RFM · Kohort · Feature Engineering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2185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9-14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12064" y="3108960"/>
            <a:ext cx="640080" cy="54864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12064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3063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Tahmin Modelleri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3447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 · Random Forest · XGBoost · Değerlendirme · ROC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0" y="3191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15-20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54864" cy="84124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12064" y="4114800"/>
            <a:ext cx="640080" cy="548640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12064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Önleme ve Uygulama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4453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Önleme stratejileri · Segmentasyon · Vaka çalışması · Özet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0" y="41970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C5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21-24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Terki Nedir?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4846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54864" cy="402336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Tanım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terki (churn), bir müşterinin belirli bir zaman dilimi içinde bir ürün veya hizmeti kullanmayı bırakmasıdır. Abonelik iptali, hesap kapatma veya uzun süreli etkileşimsizlik şeklinde görülebilir.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4480560" cy="77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Benzetme: </a:t>
            </a: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restoran düşünün. Müşteriler bir kez gelip bir daha gelmiyorsa, bu terk demektir. Sorun yemekte mi, serviste mi, fiyatta mı? Terk analizi tam olarak bunu sorgular.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4480560" cy="457200"/>
          </a:xfrm>
          <a:prstGeom prst="rect">
            <a:avLst/>
          </a:prstGeom>
          <a:solidFill>
            <a:srgbClr val="FFF3E8"/>
          </a:solidFill>
          <a:ln w="12700">
            <a:solidFill>
              <a:srgbClr val="C97B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58368" y="33649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 = </a:t>
            </a: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(Kaybedilen Müşteri / Dönem Başı Toplam Müşteri) × 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Terimler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3159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</a:t>
            </a: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dönemdeki terk oranı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5171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Rate: </a:t>
            </a: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 oranı (1 - terk oranı)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47183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 </a:t>
            </a: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yaşam boyu değeri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91440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394960" y="914400"/>
            <a:ext cx="338328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577840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Tipik Müşteri Dağılımı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5669280" y="1417320"/>
          <a:ext cx="3017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557784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Tipik bir işletmede müşterilerin yaklaşık %20’si her yıl terk eder, %25’i ise risk altındadır.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Terk Türleri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274320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011680" y="987552"/>
            <a:ext cx="914400" cy="2743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011680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~%60-70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987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Gönüllü Terk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bilinçli olarak ayrılır. Abonelik iptal eder, hesabını kapatır veya rakibe geçer.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2468880" cy="1828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971800"/>
            <a:ext cx="45720" cy="20116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12648" y="29077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Abonelik iptali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" y="3337560"/>
            <a:ext cx="45720" cy="20116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12648" y="32735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silme talebi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703320"/>
            <a:ext cx="45720" cy="20116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12648" y="36393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ürüne geçiş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160520"/>
            <a:ext cx="2560320" cy="65836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4632" y="41879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görülen tür.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memnuniyetsizliği ile doğrudan ilişkili.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92040" y="987552"/>
            <a:ext cx="914400" cy="2743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92040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~%20-30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987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Zorunlu Terk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başarısızlığı, kredi kartı süresi dolması veya dış etkenler nedeniyle oluşur.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2487168"/>
            <a:ext cx="2468880" cy="1828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337560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2971800"/>
            <a:ext cx="45720" cy="2011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493008" y="29077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başarısızlığı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64992" y="3337560"/>
            <a:ext cx="45720" cy="2011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493008" y="32735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kartı geçersiz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64992" y="3703320"/>
            <a:ext cx="45720" cy="2011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493008" y="36393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 dışı bölge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4160520"/>
            <a:ext cx="2560320" cy="65836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364992" y="41879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Önlenebilir tür!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ödeme hatırlatmaları ile azaltılabilir.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6080760" y="868680"/>
            <a:ext cx="2743200" cy="54864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7772400" y="987552"/>
            <a:ext cx="914400" cy="274320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772400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~%10-20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987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Sessiz Terk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17920" y="1417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Resmi bir iptal olmadan kullanım azalır ve sonunda sıfırlanır. En tehlikeli tür.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2487168"/>
            <a:ext cx="2468880" cy="1828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217920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45352" y="2971800"/>
            <a:ext cx="45720" cy="20116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373368" y="29077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sıklığı düşüşü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45352" y="3337560"/>
            <a:ext cx="45720" cy="20116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6373368" y="32735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 duraksar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45352" y="3703320"/>
            <a:ext cx="45720" cy="20116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6373368" y="36393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 sıfırlanır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72200" y="4160520"/>
            <a:ext cx="2560320" cy="65836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6245352" y="41879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sinsi tür.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uyarı sistemi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kurmak şart.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Bu Kadar Önemli?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terki, işletmelerin gelir kaybının en büyük nedenlerinden biridir. Rakamlarla bakıldığında: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196596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5-25x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11480" y="2075688"/>
            <a:ext cx="1783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edinme maliyeti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tutmaya kıyasla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3258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468880" y="1325880"/>
            <a:ext cx="196596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46888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560320" y="2075688"/>
            <a:ext cx="1783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iyi deneyim sunan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rakibe geçiş oranı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3258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61772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%95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709160" y="2075688"/>
            <a:ext cx="1783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 %5 artınca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artış üst sınırı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32588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20574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766560" y="1463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$1.6T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58000" y="2075688"/>
            <a:ext cx="1874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ABD’de yıllık müşteri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kaybı (tahmini)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411480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02920" y="3182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 Tutma ve Kâr İlişkisi</a:t>
            </a:r>
            <a:endParaRPr lang="en-US" sz="12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3566160"/>
          <a:ext cx="393192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4617720" y="306324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4617720" y="3063240"/>
            <a:ext cx="4206240" cy="54864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4800600" y="3182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Maliyet Karşılaştırması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800600" y="3666744"/>
            <a:ext cx="320040" cy="32004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0"/>
          <p:cNvSpPr/>
          <p:nvPr/>
        </p:nvSpPr>
        <p:spPr>
          <a:xfrm>
            <a:off x="521208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edinme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726680" y="3611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₺250-500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800600" y="4123944"/>
            <a:ext cx="320040" cy="320040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521208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müşteriyi elde tutma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72668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₺50-100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800600" y="4581144"/>
            <a:ext cx="320040" cy="32004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36"/>
          <p:cNvSpPr/>
          <p:nvPr/>
        </p:nvSpPr>
        <p:spPr>
          <a:xfrm>
            <a:off x="521208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Kaybedilen müşteriyi geri kazanma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72668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₺150-350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Terk Oranı Nasıl Hesaplanır?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54864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Formül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353312"/>
            <a:ext cx="8046720" cy="731520"/>
          </a:xfrm>
          <a:prstGeom prst="rect">
            <a:avLst/>
          </a:prstGeom>
          <a:solidFill>
            <a:srgbClr val="E0F2F1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Terk Oranı (%) = (Ay içinde kaybedilen müşteri sayısı / Ay başı toplam müşteri sayısı) × 100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269748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75488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1 — SaaS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Başı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2944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3284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Kaybedilen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3328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7124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7124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%5.0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2423160" cy="1828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edilebilir (SaaS ort. %5-7)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42316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200400" y="2423160"/>
            <a:ext cx="269748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310128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2 — E-ticaret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Başı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944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3284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Kaybedilen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328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7124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7124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%8.0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37560" y="4160520"/>
            <a:ext cx="2423160" cy="1828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337560" y="4224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Yüksek, önlem alınmalı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242316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035040" y="2423160"/>
            <a:ext cx="269748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144768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3 — Telekom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Başı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43800" y="2944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72200" y="33284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Kaybedilen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3328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3.200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72200" y="37124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Oranı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43800" y="37124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%3.2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4160520"/>
            <a:ext cx="2423160" cy="1828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6172200" y="4224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ortalamasının altında — iyi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Sektörel Terk Oranları Karşılaştırması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82296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035040" y="82296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035040" y="822960"/>
            <a:ext cx="54864" cy="39319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217920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Fark Var?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325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bağlılık, kolay geçiş. Fiyat hassasiyeti yüksek.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1901952"/>
            <a:ext cx="2377440" cy="9144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6217920" y="1965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 süreleri terki frenler ama sözleşme bitiminde artış.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2542032"/>
            <a:ext cx="2377440" cy="9144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217920" y="26060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B2B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entegrasyon maliyeti geçişi zorlaştırır.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3182112"/>
            <a:ext cx="2377440" cy="9144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6217920" y="32461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düşük terk. Doktor-hasta bağı güçlü.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Statista, Recurly Research, 2024-2025 verileri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Terk Nedenleri — Müşteri Perspektifi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603504"/>
          </a:xfrm>
          <a:prstGeom prst="rect">
            <a:avLst/>
          </a:prstGeom>
          <a:solidFill>
            <a:srgbClr val="FEF5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54864" cy="60350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" y="8686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Müşteri Hizmetleri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8686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bekleme, çözülmeyen sorunlar, ilgisiz destek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1069848"/>
            <a:ext cx="2286000" cy="20116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897880" y="1069848"/>
            <a:ext cx="1874520" cy="20116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75320" y="86868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1527048"/>
            <a:ext cx="54864" cy="60350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02920" y="15270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Fiyat-Değer Uyumsuzluğu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88920" y="15270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Ödenen tutarın karşılığını alamama hissi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1728216"/>
            <a:ext cx="2286000" cy="20116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897880" y="1728216"/>
            <a:ext cx="1508760" cy="2011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75320" y="152704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2185416"/>
            <a:ext cx="8503920" cy="603504"/>
          </a:xfrm>
          <a:prstGeom prst="rect">
            <a:avLst/>
          </a:prstGeom>
          <a:solidFill>
            <a:srgbClr val="FEF5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20040" y="2185416"/>
            <a:ext cx="54864" cy="60350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02920" y="218541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Rakipten Daha İyi Teklif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88920" y="218541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ucuz, daha iyi özellik veya deneyim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97880" y="2386584"/>
            <a:ext cx="2286000" cy="20116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5897880" y="2386584"/>
            <a:ext cx="1394460" cy="201168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8275320" y="218541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2843784"/>
            <a:ext cx="54864" cy="603504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02920" y="28437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Düşüklüğü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88920" y="284378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 yeterince kullanmayan müşteriler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97880" y="3044952"/>
            <a:ext cx="2286000" cy="20116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5897880" y="3044952"/>
            <a:ext cx="1234440" cy="20116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8275320" y="284378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5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3502152"/>
            <a:ext cx="8503920" cy="603504"/>
          </a:xfrm>
          <a:prstGeom prst="rect">
            <a:avLst/>
          </a:prstGeom>
          <a:solidFill>
            <a:srgbClr val="FEF5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20040" y="3502152"/>
            <a:ext cx="54864" cy="603504"/>
          </a:xfrm>
          <a:prstGeom prst="rect">
            <a:avLst/>
          </a:prstGeom>
          <a:solidFill>
            <a:srgbClr val="4A7F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02920" y="350215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Ürün/Teknik Sorunlar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88920" y="350215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bug’lar, eksik özellikler, düşük performans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97880" y="3703320"/>
            <a:ext cx="2286000" cy="20116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897880" y="3703320"/>
            <a:ext cx="1074420" cy="201168"/>
          </a:xfrm>
          <a:prstGeom prst="rect">
            <a:avLst/>
          </a:prstGeom>
          <a:solidFill>
            <a:srgbClr val="4A7F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275320" y="350215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A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%47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0040" y="4160520"/>
            <a:ext cx="54864" cy="603504"/>
          </a:xfrm>
          <a:prstGeom prst="rect">
            <a:avLst/>
          </a:prstGeom>
          <a:solidFill>
            <a:srgbClr val="6B5B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502920" y="41605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 Değişimi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788920" y="41605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ihtiyaçları artık ürünle örtüşmüyor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97880" y="4361688"/>
            <a:ext cx="2286000" cy="20116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897880" y="4361688"/>
            <a:ext cx="868680" cy="201168"/>
          </a:xfrm>
          <a:prstGeom prst="rect">
            <a:avLst/>
          </a:prstGeom>
          <a:solidFill>
            <a:srgbClr val="6B5B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8275320" y="416052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6576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PwC Future of CX Report, Bain &amp; Company analizleri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Erken Uyarı Sinyalleri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terk etmeden önce davranışsal değişiklikler gösterir. Bu sinyalleri yakalamak proaktif müdahale için kritiktir.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54864" cy="82296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57200" y="1481328"/>
            <a:ext cx="329184" cy="329184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2893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Sıklığı Azalıyor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16367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giriş sayısı %30+ düştüyse alarm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1508760"/>
            <a:ext cx="749808" cy="2743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611880" y="15087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16712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20040" y="2167128"/>
            <a:ext cx="54864" cy="82296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57200" y="2414016"/>
            <a:ext cx="329184" cy="329184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720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221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Talepleri Artıyor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25694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Çözülmeyen sorunların birikmesi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11880" y="2441448"/>
            <a:ext cx="749808" cy="2743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611880" y="24414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09981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54864" cy="82296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329184" cy="329184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5720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154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Skoru Düştü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" y="3502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9-10’dan 0-6’ya düşen müşteriler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11880" y="3374136"/>
            <a:ext cx="749808" cy="2743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611880" y="33741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03250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320040" y="4032504"/>
            <a:ext cx="54864" cy="8229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57200" y="4279392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5720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4087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Harcama Tutarı Azaldı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68680" y="4434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veya ek satın almaların durması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11880" y="4306824"/>
            <a:ext cx="749808" cy="2743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611880" y="430682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12344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709160" y="1234440"/>
            <a:ext cx="54864" cy="8229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4846320" y="1481328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84632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57800" y="12893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Kullanımı Daraldı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57800" y="16367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temel özelliklere geri dönüş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01000" y="1508760"/>
            <a:ext cx="749808" cy="2743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8001000" y="15087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2167128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4709160" y="2167128"/>
            <a:ext cx="54864" cy="8229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4846320" y="2414016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484632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57800" y="2221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Ayarları İnceleniyor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257800" y="25694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İptal sayfası, fatura geçmişi, sözleşme koşulları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01000" y="2441448"/>
            <a:ext cx="749808" cy="2743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8001000" y="24414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309981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4709160" y="3099816"/>
            <a:ext cx="54864" cy="822960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4846320" y="3346704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484632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57800" y="3154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 E-postaları Açılmıyor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257800" y="3502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açılma oranı %10’un altına düştü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01000" y="3374136"/>
            <a:ext cx="749808" cy="274320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8001000" y="33741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09160" y="403250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4709160" y="4032504"/>
            <a:ext cx="54864" cy="822960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7" name="Shape 65"/>
          <p:cNvSpPr/>
          <p:nvPr/>
        </p:nvSpPr>
        <p:spPr>
          <a:xfrm>
            <a:off x="4846320" y="4279392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484632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257800" y="4087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Medyada Şikayet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257800" y="4434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Kamuya açık olumsuz geri bildirim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001000" y="4306824"/>
            <a:ext cx="749808" cy="274320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2" name="Text 70"/>
          <p:cNvSpPr/>
          <p:nvPr/>
        </p:nvSpPr>
        <p:spPr>
          <a:xfrm>
            <a:off x="8001000" y="430682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Yaşam Döngüsü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7863840" cy="36576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475488" cy="475488"/>
          </a:xfrm>
          <a:prstGeom prst="ellipse">
            <a:avLst/>
          </a:prstGeom>
          <a:solidFill>
            <a:srgbClr val="4A7F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Edinme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müşteri kazanılır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1188720" cy="274320"/>
          </a:xfrm>
          <a:prstGeom prst="rect">
            <a:avLst/>
          </a:prstGeom>
          <a:solidFill>
            <a:srgbClr val="4A7FC7">
              <a:alpha val="15000"/>
            </a:srgbClr>
          </a:solidFill>
          <a:ln w="12700">
            <a:solidFill>
              <a:srgbClr val="4A7F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Düşük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2331720"/>
            <a:ext cx="475488" cy="475488"/>
          </a:xfrm>
          <a:prstGeom prst="ellipse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488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Aktivasyon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değer deneyimi yaşanır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31720" y="2971800"/>
            <a:ext cx="1188720" cy="274320"/>
          </a:xfrm>
          <a:prstGeom prst="rect">
            <a:avLst/>
          </a:prstGeom>
          <a:solidFill>
            <a:srgbClr val="2B7A78">
              <a:alpha val="15000"/>
            </a:srgbClr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33172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Orta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331720"/>
            <a:ext cx="475488" cy="475488"/>
          </a:xfrm>
          <a:prstGeom prst="ellipse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25196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Büyüme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ve harcama artar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2971800"/>
            <a:ext cx="1188720" cy="274320"/>
          </a:xfrm>
          <a:prstGeom prst="rect">
            <a:avLst/>
          </a:prstGeom>
          <a:solidFill>
            <a:srgbClr val="3A9E6B">
              <a:alpha val="15000"/>
            </a:srgbClr>
          </a:solidFill>
          <a:ln w="12700">
            <a:solidFill>
              <a:srgbClr val="3A9E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0233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Düşük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2331720"/>
            <a:ext cx="475488" cy="475488"/>
          </a:xfrm>
          <a:prstGeom prst="ellipse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94360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Olgunluk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kullanım, sadık müşteri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2971800"/>
            <a:ext cx="1188720" cy="274320"/>
          </a:xfrm>
          <a:prstGeom prst="rect">
            <a:avLst/>
          </a:prstGeom>
          <a:solidFill>
            <a:srgbClr val="E8913A">
              <a:alpha val="15000"/>
            </a:srgbClr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71500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Orta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35240" y="2331720"/>
            <a:ext cx="475488" cy="475488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763524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Düşüş / Terk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 azalır, terk riski yüksek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2971800"/>
            <a:ext cx="1188720" cy="274320"/>
          </a:xfrm>
          <a:prstGeom prst="rect">
            <a:avLst/>
          </a:prstGeom>
          <a:solidFill>
            <a:srgbClr val="D94F4F">
              <a:alpha val="15000"/>
            </a:srgbClr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740664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Yüksek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47472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365760" y="3474720"/>
            <a:ext cx="8412480" cy="54864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548640" y="3584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Terk Riski Nerede En Yüksek?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aşaması: </a:t>
            </a: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30 günde değer göremeyen müşterilerin %40-60’ı geri dönmez. Bu nedenle onboarding (ilk karşılama) deneyimi kritik önemdedir. </a:t>
            </a:r>
            <a:r>
              <a:rPr lang="en-US" sz="11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Olgunluk aşaması: </a:t>
            </a: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süredir aktif müşteriler “kazanilmiş” sayılır ama dikkat edilmezse sessiz terke dönüşebilir.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Kaynakları ve Hazırlık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4323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Türü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 Değişkenler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Demografik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Yaş, cinsiyet, şehir, 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Davranışsal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Uygulama logları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Giriş sıklığı, oturum süresi, tıklama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Ödeme sistemi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Harcama, frekans, son satın alma tarihi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Helpdesk / CRM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sayısı, çözüm süresi, CSAT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Sözleşme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sistemi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Sözleşme tipi, kalan süre, yenileme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Bildirim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Anketler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NPS, CSAT, CES skorları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65760" y="3657600"/>
            <a:ext cx="841248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Hazırlık Adımları</a:t>
            </a:r>
            <a:endParaRPr lang="en-US" sz="1200" dirty="0"/>
          </a:p>
        </p:txBody>
      </p:sp>
      <p:sp>
        <p:nvSpPr>
          <p:cNvPr id="8" name="Text 9"/>
          <p:cNvSpPr/>
          <p:nvPr/>
        </p:nvSpPr>
        <p:spPr>
          <a:xfrm>
            <a:off x="548640" y="409651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Eksik veri analizi ve doldurma (imputation)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Aykırı değer tespiti (outlier detection)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Kategorik değişken kodlama (one-hot / label encoding)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Dengesiz sınıf problemi: SMOTE veya class_weight kullanımı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RFM Analizi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müşterileri üç temel davranış boyutunda puanlayarak segmentlere ayıran klasik bir yöntemdir.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307592" y="1389888"/>
            <a:ext cx="768096" cy="768096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307592" y="13898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487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(Yakınlık)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satın alma ne zaman yapıldı?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R skoru = uzun süredir alışveriş yok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Yüksek terk riski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840480"/>
            <a:ext cx="2523744" cy="82296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Örneği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096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7 gün = 5 puan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90+ gün = 1 puan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187952" y="1389888"/>
            <a:ext cx="768096" cy="768096"/>
          </a:xfrm>
          <a:prstGeom prst="ellipse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187952" y="13898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3756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2487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(Sıklık)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761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sıklıkla alışveriş yapıyor?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F skoru = nadir alışveriş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Düşük bağlılık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0128" y="3840480"/>
            <a:ext cx="2523744" cy="82296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383280" y="3858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Örneği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4096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Ayda 10+ = 5 puan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Yılda 1 = 1 puan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080760" y="1280160"/>
            <a:ext cx="274320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7068312" y="1389888"/>
            <a:ext cx="768096" cy="768096"/>
          </a:xfrm>
          <a:prstGeom prst="ellipse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7068312" y="13898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21792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Monetary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2487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(Parasal Değer)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761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ne kadar harcadı?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M skoru = değerli müşteri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Kaybetme maliyeti yüksek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0488" y="3840480"/>
            <a:ext cx="2523744" cy="82296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263640" y="3858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Örneği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4096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10.000+ TL = 5 puan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TL = 1 puan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Kohort Analizi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5029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54864" cy="109728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61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 kazanma tarihine göre gruplara (kohort) ayırıp, her grubun zaman içindeki davranışını izler. Hangi dönemde kazanilan müşterilerin daha çok terk ettiğini gösterir.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82296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577840" y="822960"/>
            <a:ext cx="54864" cy="109728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76072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Önemli?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2618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etkisini ölçer. Örneğin Mart’ta yapılan değişiklik Nisan kohortunda terki azaltmış mı?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057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Kohort Isı Haritası (Elde Tutma %)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Şubat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Mayıs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Nisan kohortu en yüksek elde tutma oranına sahip → O dönemde yapılan onboarding iyileştirmesi etkili olmuş olabilir.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Özellik Mühendisliği (Feature Engineering)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veriden anlamlı özellikler (feature) türetmek, terk tahmin modelinin başarısını doğrudan etkiler.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3291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Adı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days_since_last_login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girişten bu yana geçen gün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login_count_30d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30 gündeki giriş sayısı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total_revenue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gelir (₺)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login_trend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3 aydaki giriş değişim oranı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feature_adoption_rate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Kullanılan özellik sayısı / toplam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ticket_count_60d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60 gündeki destek talebi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nps_score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NPS anketi skoru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days_until_renewal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Sözleşme yenilemeye kalan gün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1F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referral_count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Referans verilen kullanıcı sayısı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Trend özellikleri (değişim oranı) genellikle statik özelliklerden daha güçlü tahmin edicilerdir.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Terk Tahmin Modelleri — Genel Bakış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205740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Lojistik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Regresyon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38912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178308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0.75-0.82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38912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22860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38912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Yorumlanabilirlik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278892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Görsel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21024"/>
            <a:ext cx="1874520" cy="182880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65760" y="3621024"/>
            <a:ext cx="1371600" cy="18288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Başlangıç / 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868680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2468880" y="868680"/>
            <a:ext cx="205740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560320" y="1005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Ağacı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0" y="178308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633472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178308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0.72-0.80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22860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633472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2860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278892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2633472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Yorumlanabilirlik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20440" y="278892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60320" y="33832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Görsel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0" y="3621024"/>
            <a:ext cx="1874520" cy="182880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2560320" y="3621024"/>
            <a:ext cx="1316736" cy="182880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256032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Görsel açıklama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868680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663440" y="868680"/>
            <a:ext cx="20574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754880" y="1005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754880" y="178308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828032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178308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0.84-0.90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2860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828032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15000" y="22860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278892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4828032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Yorumlanabilirlik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715000" y="278892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54880" y="33832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Görsel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3621024"/>
            <a:ext cx="1874520" cy="182880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4754880" y="3621024"/>
            <a:ext cx="1536192" cy="1828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475488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Dengeli performans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58000" y="868680"/>
            <a:ext cx="2057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6858000" y="868680"/>
            <a:ext cx="2057400" cy="54864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6949440" y="1005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949440" y="178308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7022592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909560" y="178308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0.88-0.95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49440" y="22860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7022592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909560" y="228600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949440" y="2788920"/>
            <a:ext cx="1874520" cy="411480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7022592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Yorumlanabilirlik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909560" y="278892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949440" y="33832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Görsel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949440" y="3621024"/>
            <a:ext cx="1874520" cy="182880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0" name="Shape 68"/>
          <p:cNvSpPr/>
          <p:nvPr/>
        </p:nvSpPr>
        <p:spPr>
          <a:xfrm>
            <a:off x="6949440" y="3621024"/>
            <a:ext cx="1609344" cy="18288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694944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yüksek doğruluk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Lojistik Regresyon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4754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54864" cy="201168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Nasıl Çalışır?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özellik için bir ağırlık (katsayı) öğrenir. Bu ağırlıkları sigmoid fonksiyonundan geçirerek 0-1 arasında terk olasılığı üretir.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P(terk) = 1 / (1 + e^-(b0 + b1*x1 + b2*x2 + ...))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Örneğin: giriş sıklığı azaldıkca terk olasılığı artar.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82296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303520" y="822960"/>
            <a:ext cx="352044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0" y="914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Avantajları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2618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 (hangi özellik etkili)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eğitim ve tahmin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veri setlerinde çalışır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1874520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303520" y="1874520"/>
            <a:ext cx="35204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86400" y="1965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Sınırlılıkları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3134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doğrusal ilişkileri yakalar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örüntüleri kaçırabilir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etkileşimlerini modelleyemez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58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8458200" cy="54864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Kodu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56432"/>
            <a:ext cx="8229600" cy="13716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94360" y="3493008"/>
            <a:ext cx="79552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
from sklearn.model_selection import train_test_split
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test_size=0.2)
model = LogisticRegression(class_weight='balanced', max_iter=1000)
</a:t>
            </a: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
</a:t>
            </a: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model.predict_proba(X_test)[:, 1]  # terk olasılığı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Ağaçları ve Random Forest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411480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Ağacı (Decision Tree)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evet/hayır sorularla böler: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“Son 30 günde giriş var mı?”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Hayır → “Destek talebi açtı mı?”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Evet → YÜKSEK TERK RİSKİ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ama tek başına overfitting’e açık.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6052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84632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29844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Yüzlerce karar ağacını paralel eğitir: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ağaç verinin rastgele bir alt kümesiyle eğitilir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Sonuç olarak “oy çokluğu” ile karar verilir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 ağaca göre çok daha dayanıklı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Aşırı öğrenmeye direnci yüksek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754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754880" cy="54864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Özellik Önemi (Feature Importance)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11480" y="3456432"/>
          <a:ext cx="45720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303520" y="301752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8"/>
          <p:cNvSpPr/>
          <p:nvPr/>
        </p:nvSpPr>
        <p:spPr>
          <a:xfrm>
            <a:off x="5303520" y="3017520"/>
            <a:ext cx="3520440" cy="54864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548640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Kodu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94960" y="3456432"/>
            <a:ext cx="3337560" cy="13716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5486400" y="3493008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\
  import RandomForestClassifier
</a:t>
            </a: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
</a:t>
            </a:r>
            <a:r>
              <a:rPr lang="en-US" sz="8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n_estimators=500,
</a:t>
            </a: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class_weight='balanced'
)
</a:t>
            </a: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rf.fit(X_train, y_train)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/ Gradient Boosting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54864" cy="137160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Nedir ve Neden En Güçlü?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ağaçları sıralı olarak eğitir. Her yeni ağaç, önceki ağacın hatalarını düzeltmeye çalışır. XGBoost bu yöntemi hız ve performans için optimize eder. Kaggle yarışmalarında en çok kazanan algoritmadır.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274320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29768" y="24871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Otomatik Eksik Veri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7889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değerleri otomatik yönetir. Ayrıca imputation gerekmez.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7432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310128" y="24871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Regülarizasyon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7889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regülarizasyon ile aşırı öğrenmeyi önler.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080760" y="2377440"/>
            <a:ext cx="274320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190488" y="24871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Paralel Hesaplama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0488" y="278892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çekirdekli CPU’ları etkin kullanır. GPU desteği var.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Kodu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8229600" cy="96012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94360" y="4005072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xgboost as xgb
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xgb.XGBClassifier(
</a:t>
            </a: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n_estimators=1000, learning_rate=0.05, max_depth=6,
    scale_pos_weight=ratio, eval_metric='auc'  # dengesiz veri için
</a:t>
            </a: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y_train, eval_set=[(X_test, y_test)], verbose=False)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Değerlendirme Metrikleri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2057400" cy="54864"/>
          </a:xfrm>
          <a:prstGeom prst="rect">
            <a:avLst/>
          </a:prstGeom>
          <a:solidFill>
            <a:srgbClr val="4A7F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371600"/>
            <a:ext cx="1837944" cy="3840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84048" y="137160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(TP+TN) / Toplam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874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doğruluk. Dengesiz veride yanıltıcı olabilir!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880360"/>
            <a:ext cx="1837944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38912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%95 terk etmeyen veride %95 accuracy elde eden model hiçbir terk tahmin edemeyebilir!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822960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468880" y="822960"/>
            <a:ext cx="205740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56032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78608" y="1371600"/>
            <a:ext cx="1837944" cy="3840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578608" y="137160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(TP+FP)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1874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“Terk dediğimde gerçekten terk mi?”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alarmı azaltır.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20574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75488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73168" y="1371600"/>
            <a:ext cx="1837944" cy="3840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73168" y="137160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1874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“Terk edenlerin kaçını yakaladım?”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Kaçırmayı en aza indirir.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822960"/>
            <a:ext cx="2057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858000" y="822960"/>
            <a:ext cx="205740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9494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Score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67728" y="1371600"/>
            <a:ext cx="1837944" cy="3840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967728" y="137160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(P×R)/(P+R)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67728" y="1874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ve Recall’in dengesi.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performans göstergesi.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8412480" cy="54864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48640" y="3840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(Karışıklık Matrisi)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9664"/>
          <a:ext cx="4114800" cy="777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Tahmin: Kalan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Tahmin: Terk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Gerçek: Kalan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(Doğru Negatif)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tahmin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(Yanlış Pozitif)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Gereksiz alarm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Gerçek: Terk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(Yanlış Negatif)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Kaçırılan terk!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(Doğru Pozitif)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terk tahmini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4754880" y="416966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(kaçırılan terk) en tehlikeli hatadır — müşteri zaten gittiğinde öğrenirsiniz.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terk analizinde Recall metriği özellikle önemlidir.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Eğrisi ve AUC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4389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54864" cy="402336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Eğrisi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(Receiver Operating Characteristic) eğrisi, modelin farklı eşik değerlerindeki performansını gösterir.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ekseni: Yanlış Pozitif Oranı (FPR)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ekseni: Doğru Pozitif Oranı (TPR = Recall)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023360" cy="18288"/>
          </a:xfrm>
          <a:prstGeom prst="rect">
            <a:avLst/>
          </a:prstGeom>
          <a:solidFill>
            <a:srgbClr val="E8DDD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(Area Under Curve)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Eğrinin altındaki alan. 1.0 = mükemmel model, 0.5 = rastgele tahmin (işe yaramaz).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67912"/>
            <a:ext cx="320040" cy="14630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960120" y="3840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0.90-1.00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320040" cy="14630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6012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0.80-0.90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70248"/>
            <a:ext cx="320040" cy="14630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960120" y="4242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0.70-0.80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4242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edilebilir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471416"/>
            <a:ext cx="320040" cy="14630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960120" y="4443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0.60-0.70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4443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672584"/>
            <a:ext cx="320040" cy="146304"/>
          </a:xfrm>
          <a:prstGeom prst="rect">
            <a:avLst/>
          </a:prstGeom>
          <a:solidFill>
            <a:srgbClr val="6B5B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960120" y="4645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0.50-0.60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Kullanışsız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822960"/>
            <a:ext cx="3886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937760" y="822960"/>
            <a:ext cx="388620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120640" y="914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Karşılaştırma (ROC)</a:t>
            </a:r>
            <a:endParaRPr lang="en-US" sz="12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4983480" y="1280160"/>
          <a:ext cx="37033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Önleme Stratejileri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274320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29768" y="9326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29768" y="932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" y="914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Proaktif İletişim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" y="1444752"/>
            <a:ext cx="36576" cy="201168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düştüğünde otomatik e-posta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1847088"/>
            <a:ext cx="36576" cy="201168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94360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öneriler ve özel teklifler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2249424"/>
            <a:ext cx="36576" cy="201168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94360" y="2157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“nasıl gidiyor?” anketi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310128" y="9326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310128" y="932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12464" y="914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Başarı Ekibi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64992" y="1444752"/>
            <a:ext cx="36576" cy="201168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47472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riskli hesaplara özel CSM atama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1847088"/>
            <a:ext cx="36576" cy="201168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474720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sağlık skoru takibi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2249424"/>
            <a:ext cx="36576" cy="201168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474720" y="2157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deneyimini iyileştirme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82296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080760" y="822960"/>
            <a:ext cx="27432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190488" y="932688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190488" y="932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92824" y="914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Sadakat Programları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5352" y="1444752"/>
            <a:ext cx="36576" cy="2011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355080" y="1353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 ve ödüllendirme sistemleri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45352" y="1847088"/>
            <a:ext cx="36576" cy="2011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355080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müşteri avantajları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5352" y="2249424"/>
            <a:ext cx="36576" cy="2011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355080" y="2157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abonelik teşvikleri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290779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320040" y="2907792"/>
            <a:ext cx="274320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429768" y="3017520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29768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2104" y="2999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İyileştirme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4632" y="3529584"/>
            <a:ext cx="36576" cy="201168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94360" y="34381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anketi ile geri bildirim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4632" y="3931920"/>
            <a:ext cx="36576" cy="201168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594360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sorunların kök neden analizi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4632" y="4334256"/>
            <a:ext cx="36576" cy="201168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594360" y="4242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istenen özellik geliştirme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0" y="290779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3200400" y="2907792"/>
            <a:ext cx="2743200" cy="54864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3310128" y="3017520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3310128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712464" y="2999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Esnek Fiyatlandırma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364992" y="3529584"/>
            <a:ext cx="36576" cy="20116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3474720" y="34381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Duraklatma seçeneği (iptal yerine)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364992" y="3931920"/>
            <a:ext cx="36576" cy="20116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3474720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Kademeli indirim dönemleri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364992" y="4334256"/>
            <a:ext cx="36576" cy="201168"/>
          </a:xfrm>
          <a:prstGeom prst="rect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3474720" y="4242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Kişiye özel paket önerileri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080760" y="290779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4" name="Shape 62"/>
          <p:cNvSpPr/>
          <p:nvPr/>
        </p:nvSpPr>
        <p:spPr>
          <a:xfrm>
            <a:off x="6080760" y="2907792"/>
            <a:ext cx="2743200" cy="54864"/>
          </a:xfrm>
          <a:prstGeom prst="rect">
            <a:avLst/>
          </a:prstGeom>
          <a:solidFill>
            <a:srgbClr val="D4688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5" name="Shape 63"/>
          <p:cNvSpPr/>
          <p:nvPr/>
        </p:nvSpPr>
        <p:spPr>
          <a:xfrm>
            <a:off x="6190488" y="3017520"/>
            <a:ext cx="329184" cy="329184"/>
          </a:xfrm>
          <a:prstGeom prst="ellipse">
            <a:avLst/>
          </a:prstGeom>
          <a:solidFill>
            <a:srgbClr val="D4688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6190488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592824" y="2999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Win-Back Kampanyası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245352" y="3529584"/>
            <a:ext cx="36576" cy="201168"/>
          </a:xfrm>
          <a:prstGeom prst="rect">
            <a:avLst/>
          </a:prstGeom>
          <a:solidFill>
            <a:srgbClr val="D4688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6355080" y="34381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“Sizi özledik” indirimleri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245352" y="3931920"/>
            <a:ext cx="36576" cy="201168"/>
          </a:xfrm>
          <a:prstGeom prst="rect">
            <a:avLst/>
          </a:prstGeom>
          <a:solidFill>
            <a:srgbClr val="D4688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6355080" y="38404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ayrıldılar görüşmesi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245352" y="4334256"/>
            <a:ext cx="36576" cy="201168"/>
          </a:xfrm>
          <a:prstGeom prst="rect">
            <a:avLst/>
          </a:prstGeom>
          <a:solidFill>
            <a:srgbClr val="D4688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6355080" y="4242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Geliştirilmiş ürünü tanıtma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Segmentasyonu ve Aksiyon Planı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560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Önerilen Aksiyon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Öncelik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Şampiyon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RFM, sadık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Ödüllendirme, referans programı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Sadık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Düzenli alışveriş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avantajlar, cross-sell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Potansiyel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Yeni, aktif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iyileştirme, eğitim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Altında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 düşüşte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Proaktif iletişim, özel teklif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Uyuyan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 süredir inaktif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Win-back kampanyası, indirim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Kaybedilmiş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Terk etmiş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kazanma e-postası, anket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5661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65760" y="3566160"/>
            <a:ext cx="4114800" cy="54864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Tipik Segment Dağılımı</a:t>
            </a:r>
            <a:endParaRPr lang="en-US" sz="11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11480" y="3931920"/>
          <a:ext cx="393192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4663440" y="35661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4663440" y="3566160"/>
            <a:ext cx="54864" cy="150876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1"/>
          <p:cNvSpPr/>
          <p:nvPr/>
        </p:nvSpPr>
        <p:spPr>
          <a:xfrm>
            <a:off x="48463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Önemli Not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3977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Kaynakları eşit dağıtmayın!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Riskli ve uyuyan segmentlere öncelik verin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Şampiyon müşterileri ihmal etmeyin ama aşırı yatırım yapmayın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segmente farklı mesaj ve kanal kullanın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Dünya Örneği: Telekom Sektörü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54864" cy="1097280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Senaryo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telekom şirketi aylık %2.8 terk oranı yaşıyor. 500.000 aboneden her ay ~14.000’i ayrılıyor. Her kaybedilen müşterinin ortalama yaşam boyu değeri ₺2.400. Aylık kayıp: ~₺33.6M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402336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0292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ÖNCESİ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606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Terk oranı: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606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%2.8 / 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953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Aylık kaybı: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9535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14.000 abone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009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Aylık gelir kaybı: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3300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₺33.6M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6484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 (reaktif)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1031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663440" y="2103120"/>
            <a:ext cx="4023360" cy="54864"/>
          </a:xfrm>
          <a:prstGeom prst="rect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80060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SONRASI (6 ay)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2606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Terk oranı: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2606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%1.6 / ay (↓%43)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953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Aylık kaybı: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9535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8.000 abone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3009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Aylık gelir kaybı: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3300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₺19.2M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6484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(AUC: 0.91)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65760" y="4297680"/>
            <a:ext cx="841248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4864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Yapılan Müdahaleler: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terk modeli kuruldu  →  Yüksek riskli 3.000 aboneye proaktif arama  →  Sözleşme yenileme teşvikleri  →  Onboarding süreci yenilendi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B2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Özet ve Temel Çıkarımlar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 analizi reaktif değil proaktif olmalıdır. Müşteri ayrılmadan önce harekete geçin.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Veriye dayalı karar alın. Makine öğrenmesi modelleri %80+ doğrulukla risk tespiti yapabilir.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müşteri segmentine farklı yaklaşın. Tek tip iletişim etkisizdir.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66928" y="3044952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66928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9352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metriğini ön planda tutun. Kaçırılan terk, yanlış alarmdan daha maliyetlidir.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66928" y="3703320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66928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5935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tutmak kazanmaktan ucuzdur. %5 iyileştirme %25-95 kâr artışı getirebilir.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“Müşteriyi elde tutmak, büyümek için kazanmaktan çok daha önemlidir.”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Altün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2791</Words>
  <Application>Microsoft Macintosh PowerPoint</Application>
  <PresentationFormat>Ekran Gösterisi (16:9)</PresentationFormat>
  <Paragraphs>690</Paragraphs>
  <Slides>24</Slides>
  <Notes>24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Müşteri Terk Analizi</dc:title>
  <dc:subject>PptxGenJS Presentation</dc:subject>
  <dc:creator>Dr. Murat Altun</dc:creator>
  <cp:lastModifiedBy>Murat Altun</cp:lastModifiedBy>
  <cp:revision>2</cp:revision>
  <dcterms:created xsi:type="dcterms:W3CDTF">2026-04-08T21:47:46Z</dcterms:created>
  <dcterms:modified xsi:type="dcterms:W3CDTF">2026-04-08T21:58:42Z</dcterms:modified>
</cp:coreProperties>
</file>