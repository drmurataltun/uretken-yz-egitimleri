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103120"/>
            <a:ext cx="1371600" cy="508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Zaman Serisi Analizi ve Tahmini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FF"/>
                </a:solidFill>
              </a:defRPr>
            </a:pPr>
            <a:r>
              <a:t>Verinin Zamanla Dansı — Geçmişten Geleceğe Tahmin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ECS Veri Bilimi ve Yapay Zeka Uzmanlığı Programı — Hafta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14400"/>
            <a:ext cx="2286000" cy="22860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Zaman Serisi Nedir?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Belirli zaman aralıklarıyla kaydedilen veri noktaları dizisidir.</a:t>
            </a:r>
            <a:br/>
            <a:r>
              <a:t>Sıralama önemlidir — gözlemler birbirine bağımlıdır.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Gerçek Dünya Örnekleri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Hisse senedi fiyatları (günlük/saatlik)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Sıcaklık ölçümleri (saatlik)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E-ticaret satış verileri (aylık)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Web sitesi trafiği (günlük)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Elektrik tüketimi (saatlik)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Kullanım Alanları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02920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13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Finans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18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Borsa tahmini, risk analizi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51760"/>
            <a:ext cx="502920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727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Meteoroloji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32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Hava durumu tahmini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566160"/>
            <a:ext cx="502920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642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Sağlık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947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Hasta sayısı, salgın modelleme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480560"/>
            <a:ext cx="502920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556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Üretim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86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Stok optimizasyonu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394960"/>
            <a:ext cx="502920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471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Enerji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77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Tüketim tahmini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Zaman Serisinin Bileşenleri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635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Uzun vadeli artış veya azalış yönü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AEC0"/>
                </a:solidFill>
              </a:defRPr>
            </a:pPr>
            <a:r>
              <a:t>Örnek: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Yolcu sayısı yıldan yıla artıyor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371600"/>
            <a:ext cx="2560320" cy="635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Mevsimsellik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Düzenli tekrarlayan kalıplar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AEC0"/>
                </a:solidFill>
              </a:defRPr>
            </a:pPr>
            <a:r>
              <a:t>Örnek: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566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Her yaz zirve, her kış dip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25603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371600"/>
            <a:ext cx="2560320" cy="635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Döngü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Mevsimsel olmayan uzun dalgalanmalar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AEC0"/>
                </a:solidFill>
              </a:defRPr>
            </a:pPr>
            <a:r>
              <a:t>Örnek: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Ekonomik genişleme/daralma dönemleri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371600"/>
            <a:ext cx="25603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40" y="1371600"/>
            <a:ext cx="2560320" cy="635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</a:defRPr>
            </a:pPr>
            <a:r>
              <a:t>Düzensizlik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Rastgele, açıklanamayan dalgalanmalar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AEC0"/>
                </a:solidFill>
              </a:defRPr>
            </a:pPr>
            <a:r>
              <a:t>Örnek: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566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Gürültü — tahmin edilemez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46320"/>
            <a:ext cx="10698480" cy="10972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Ayrıştırma Formülü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y(t)  =  Trend(t)  +  Mevsimsellik(t)  +  Döngü(t)  +  Düzensizlik(t)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Durağanlık (Stationarity)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Durağan Seri Nedir?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Ortalama zamanla değişmez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Varyans zamanla değişmez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Otokorelasyon zamanla değişmez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Çoğu istatistiksel model durağan veri varsayar!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0292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Nasıl Test Edilir?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ADF (Augmented Dickey-Fuller) Testi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p-value &lt; 0.05 → Durağan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p-value &gt; 0.05 → Durağan değil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H₀: Seri durağan değildir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Durağan Hale Getirme Yöntemleri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1. Fark Alma (Differencing)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y'(t) = y(t) - y(t-1)  →  Trendi kaldırır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2. Log Dönüşümü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y' = log(y)  →  Varyansı stabilize eder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3. Mevsimsel Fark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577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y'(t) = y(t) - y(t-12)  →  Yıllık mevsimselliği kaldırır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Klasik Tahmin Yöntemleri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63500" cy="914400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9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AEC0"/>
                </a:solidFill>
              </a:defRPr>
            </a:pPr>
            <a:r>
              <a:t>Naif Tahmin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9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Son değeri gelecek olarak kullan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90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Baseline model — karşılaştırma referansı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69848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63500" cy="9144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4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Hareketli 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34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Son n dönemin ortalaması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4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Gürültüyü filtreler, trendi takip eder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69848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6350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9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Üstel Düzleştirme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9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Yakın geçmişe daha fazla ağırlık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39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Kısa vadeli tahminlerde güçlü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399"/>
            <a:ext cx="1069848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343399"/>
            <a:ext cx="6350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4449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ARIMA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4449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AutoRegressive Integrated 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4499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Durağan seriler için standart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394960"/>
            <a:ext cx="63500" cy="9144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496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SARIMA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496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Mevsimsel ARIMA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496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Mevsimsellik + trend birlikte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Facebook Prophet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Meta tarafından geliştirilen açık kaynak zaman serisi tahmin aracı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Avantajları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Eksik veriyi tolere eder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Tatil/özel gün desteği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Otomatik trend değişim noktası tespiti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Yorum yapılabilir bileşenler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Python ve R desteği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Hiperparametre ayarı kolay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Ayrıştırılabilir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y(t) = g(t) + s(t) + h(t) + ε(t)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108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g(t)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Trend fonksiyonu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520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s(t)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Mevsimsellik (Fourier serisi)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h(t)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Tatil/özel gün etkileri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343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ε(t)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Hata terimi (gürültü)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Kurulum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pip install prophet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Prophet ile Adım Adım Tahmin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1480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Veri Hazırla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097280"/>
            <a:ext cx="502920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1353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df = pd.DataFrame({'ds': tarihler, 'y': degerler})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76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İki sütun yeterli: ds (tarih) ve y (değer)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0624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Model Oluştur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011680"/>
            <a:ext cx="502920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497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model = Prophet(yearly_seasonality=True)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91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Mevsimsellik ayarlarını belirle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9768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Eğit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926080"/>
            <a:ext cx="502920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9641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model.fit(prophet_df)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205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Model veriyi öğrenir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8912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Gelecek Oluştur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840480"/>
            <a:ext cx="502920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8785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future = model.make_future_dataframe(periods=90)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119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Kaç gün ileriye tahmin?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8056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Tahmin Yap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4754880"/>
            <a:ext cx="502920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7929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forecast = model.predict(future)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034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Güven aralıklı tahmin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7200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669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Görselleştir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5669280"/>
            <a:ext cx="502920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57073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model.plot(forecast)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948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Tahmin + bileşen grafikleri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Prophet Parametreleri ve Ayarlama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522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changepoint_prior_scale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2522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522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Trend esnekliği — yüksek = daha esnek, overfitting riski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069848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209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seasonality_prior_scale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209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209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Mevsimsellik gücü — düşük = daha düz mevsimsellik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69848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895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holidays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895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DataFrame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895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Özel günler — Türkiye bayramları eklenebilir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59"/>
            <a:ext cx="1069848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582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yearly_seasonality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8582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True/False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8582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Yıllık mevsimselliği aç/kapa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69848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269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weekly_seasonality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7269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True/False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269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Haftalık mevsimselliği aç/kapa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32120"/>
            <a:ext cx="10698480" cy="731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56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EC0"/>
                </a:solidFill>
              </a:defRPr>
            </a:pPr>
            <a:r>
              <a:t>interval_width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5956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0.80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5956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Güven aralığı genişliği — %80 varsayılan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Model Değerlendirme ve Çapraz Doğrulama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Başarı Metrikleri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Ortalama Mutlak Hata — kolay yorumlanır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Kök Ortalama Kare Hata — büyük hatalara hassas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MAPE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Yüzdesel hata — farklı ölçekler arası karşılaştırma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50292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Prophet Çapraz Doğrulama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</a:defRPr>
            </a:pPr>
            <a:r>
              <a:t>cross_validation(model, initial='365 days',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</a:defRPr>
            </a:pPr>
            <a:r>
              <a:t>                 period='90 days',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</a:defRPr>
            </a:pPr>
            <a:r>
              <a:t>                 horizon='90 days')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</a:defRPr>
            </a:pPr>
            <a:r>
              <a:t>initial: Eğitim dönemi uzunluğu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</a:defRPr>
            </a:pPr>
            <a:r>
              <a:t>period: Kesme noktaları arası mesafe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</a:defRPr>
            </a:pPr>
            <a:r>
              <a:t>horizon: Tahmin ufku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Gerçek Dünya Uygulamaları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383280" cy="508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Perakende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</a:defRPr>
            </a:pPr>
            <a:r>
              <a:t>Ürün satış tahmini</a:t>
            </a:r>
            <a:br/>
            <a:r>
              <a:t>Stok optimizasyonu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188720"/>
            <a:ext cx="338328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188720"/>
            <a:ext cx="3383280" cy="508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Finans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011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</a:defRPr>
            </a:pPr>
            <a:r>
              <a:t>Hisse senedi fiyatı</a:t>
            </a:r>
            <a:br/>
            <a:r>
              <a:t>Döviz kuru tahmini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9" y="1188720"/>
            <a:ext cx="338328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599" y="1188720"/>
            <a:ext cx="3383280" cy="508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Enerji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011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</a:defRPr>
            </a:pPr>
            <a:r>
              <a:t>Elektrik tüketimi</a:t>
            </a:r>
            <a:br/>
            <a:r>
              <a:t>Güneş enerjisi üretimi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338328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749040"/>
            <a:ext cx="3383280" cy="508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</a:defRPr>
            </a:pPr>
            <a:r>
              <a:t>Sağlık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</a:defRPr>
            </a:pPr>
            <a:r>
              <a:t>Hasta sayısı tahmini</a:t>
            </a:r>
            <a:br/>
            <a:r>
              <a:t>Salgın modelleme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749040"/>
            <a:ext cx="338328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59" y="3749040"/>
            <a:ext cx="3383280" cy="508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</a:defRPr>
            </a:pPr>
            <a:r>
              <a:t>Web/IT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</a:defRPr>
            </a:pPr>
            <a:r>
              <a:t>Trafik tahmini</a:t>
            </a:r>
            <a:br/>
            <a:r>
              <a:t>Sunucu kapasitesi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9" y="3749040"/>
            <a:ext cx="338328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599" y="3749040"/>
            <a:ext cx="3383280" cy="50800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0AEC0"/>
                </a:solidFill>
              </a:defRPr>
            </a:pPr>
            <a:r>
              <a:t>Ulaşım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</a:defRPr>
            </a:pPr>
            <a:r>
              <a:t>Yolcu sayısı</a:t>
            </a:r>
            <a:br/>
            <a:r>
              <a:t>Talep tahmini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Uygulama: Airline Passengers Tahmini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Veri Seti Bilgileri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Dönem: 1949 — 1960 (144 aylık kayıt)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Belirgin yükseliş trendi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Güçlü yıllık mevsimsellik (yaz zirve)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Klasik zaman serisi referans veri seti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Kaynak: Box &amp; Jenkins (1976)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Python Kodu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from prophet import Prophet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import pandas as pd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# Veri yükle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url = '...airline-passengers.csv'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df = pd.read_csv(url,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     names=['ds','y'], header=0)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df['ds'] = pd.to_datetime(df['ds'])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# Model eğit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model = Prophet(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    yearly_seasonality=True)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model.fit(df)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# 2 yıl ileriye tahmin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future = model.make_future_dataframe(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    periods=24, freq='MS')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forecast = model.predict(future)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# Görselleştir</a:t>
            </a:r>
          </a:p>
          <a:p>
            <a:pPr>
              <a:spcAft>
                <a:spcPts val="800"/>
              </a:spcAft>
              <a:defRPr sz="1200">
                <a:solidFill>
                  <a:srgbClr val="10B981"/>
                </a:solidFill>
              </a:defRPr>
            </a:pPr>
            <a:r>
              <a:t>model.plot(forecast)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Özet ve Sonraki Adımlar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Bu Derste Öğrendiklerimiz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Zaman serisi bileşenleri: trend, mevsimsellik, döngü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Durağanlık kavramı ve ADF testi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Klasik yöntemler: ARIMA, SARIMA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Prophet ile uçtan uca tahmin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Model değerlendirme ve çapraz doğrulama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Ödev ve Kaynaklar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Kendi veri setinizde Prophet deneyin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Kaggle: Store Sales Time Series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Prophet Dokümentasyon: facebook.github.io/prophet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Sonraki Hafta: MLOps ve Capstone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6984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508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Anahtar Çıkarım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Zaman serisi tahmini, verinin geçmişini anlayarak geleceği öngörmektir.</a:t>
            </a:r>
            <a:br/>
            <a:r>
              <a:t>Trend ve mevsimselliği doğru ayrıştırmak, başarılı tahminlerin temelidir.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