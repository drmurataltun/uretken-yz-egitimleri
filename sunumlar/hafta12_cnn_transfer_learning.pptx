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0"/>
            <a:ext cx="109728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13716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FF"/>
                </a:solidFill>
              </a:defRPr>
            </a:pPr>
            <a:r>
              <a:t>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20116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</a:defRPr>
            </a:pPr>
            <a:r>
              <a:t>CNN ve Transfer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657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0AEC0"/>
                </a:solidFill>
              </a:defRPr>
            </a:pPr>
            <a:r>
              <a:t>Konvolüsyonel Ağlar, VGG16, ResNet, MobileNet ve Fine-Tuning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53035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</a:defRPr>
            </a:pPr>
            <a:r>
              <a:t>Dr. Murat Altun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56692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</a:defRPr>
            </a:pPr>
            <a:r>
              <a:t>ECS Veri Bilimi ve YZ Uzmanlığı — Hafta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73152" cy="61264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CNN Nedir? (Conv2D / MaxPool / Flatten)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51560"/>
            <a:ext cx="18288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371600"/>
            <a:ext cx="10515600" cy="475488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645920"/>
            <a:ext cx="9875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Convolutional Neural Network — görüntü verisi için tasarlanmış derin ağ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Conv2D: Görüntü üzerinde filtre kaydırarak öznitelik çıkarma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MaxPooling2D: Boyut küçültme → hesaplama azaltma + önemli bilgiyi koruma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Flatten: 2D öznitelik haritasını 1D vektöre dönüştürme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Dense: Sınıflandırma katmanları (fully connected)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Tipik akış: Conv → ReLU → Pool → Conv → ReLU → Pool → Flatten → Dense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Görüntülerde mekansal ilişkileri öğrenebilir (kenar, doku, nesne)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</a:defRPr>
            </a:pPr>
            <a:r>
              <a:t>Dr. Murat Altun  |  Hafta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73152" cy="61264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Filtre (Kernel) Kavramı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51560"/>
            <a:ext cx="18288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371600"/>
            <a:ext cx="5029200" cy="475488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371600"/>
            <a:ext cx="54864" cy="47548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5544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FF"/>
                </a:solidFill>
              </a:defRPr>
            </a:pPr>
            <a:r>
              <a:t>Filtre Nedir?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10312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▸ Küçük matris (3x3, 5x5, 7x7)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▸ Görüntü üzerinde kayarak çarpım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▸ Her filtre bir öznitelik öğrenir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▸ İlk katman: kenar, çizgi, köşe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▸ Derin katmanlar: doku, nesne parçası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371600"/>
            <a:ext cx="5029200" cy="475488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371600"/>
            <a:ext cx="54864" cy="47548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5544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C3AED"/>
                </a:solidFill>
              </a:defRPr>
            </a:pPr>
            <a:r>
              <a:t>Konvolüsyon İşlemi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10312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▸ Stride: Filtrenin kayma adımı (1, 2)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▸ Padding: 'same' (boyut korunur) / 'valid'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▸ Çıktı boyutu = (G - F + 2P) / S + 1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▸ Parametre sayısı: F*F*C_in*C_out + bias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▸ Ağırlık paylaşımı → verimli öğrenme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</a:defRPr>
            </a:pPr>
            <a:r>
              <a:t>Dr. Murat Altun  |  Hafta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73152" cy="61264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CNN Nasıl "Görür"?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51560"/>
            <a:ext cx="182880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371600"/>
            <a:ext cx="10515600" cy="475488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645920"/>
            <a:ext cx="9875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Katman 1: Kenarlar, basit çizgiler ve gradyanlar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Katman 2-3: Dokular, basit şekiller (daire, üçgen)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Katman 4-5: Nesne parçaları (göz, tekerlek, pencere)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Son katmanlar: Tam nesneler (yüz, araba, bina)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Her katman bir öncekinin üzerine inşa eder → hiyerarşik öğrenme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Feature map görselleştirme ile öğrenilen öznitelikler incelenebilir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Bu hiyerarşi transfer learning'in temelini oluşturur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</a:defRPr>
            </a:pPr>
            <a:r>
              <a:t>Dr. Murat Altun  |  Hafta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73152" cy="61264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Transfer Learning Nedir?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51560"/>
            <a:ext cx="18288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371600"/>
            <a:ext cx="10515600" cy="475488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645920"/>
            <a:ext cx="9875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Büyük veri setinde eğitilmiş modelin bilgisini yeni göreve aktarma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ImageNet: 1.2 milyon görüntü, 1000 sınıf üzerinde eğitilmiş modeller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Neden? Az veri ile bile yüksek performans — öğrenilmiş öznitelikler evrensel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Avantajlar: Daha az veri gereksinimi, daha hızlı eğitim, daha iyi sonuçlar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Süreç: Önceden eğitilmiş model → son katmanları değiştir → yeni veri ile eğit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Bilgisayarla görmenin en güçlü tekniklerinden biri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Keras: keras.applications modülü ile hazır modeller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</a:defRPr>
            </a:pPr>
            <a:r>
              <a:t>Dr. Murat Altun  |  Hafta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73152" cy="61264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Popüler Modeller: VGG16, ResNet, MobileNet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51560"/>
            <a:ext cx="182880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371600"/>
            <a:ext cx="5029200" cy="475488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371600"/>
            <a:ext cx="54864" cy="47548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5544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C3AED"/>
                </a:solidFill>
              </a:defRPr>
            </a:pPr>
            <a:r>
              <a:t>VGG16 / ResNet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10312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▸ VGG16: 16 katman, basit mimari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▸ 3x3 filtreler, ardışık Conv blokları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▸ 138M parametre — büyük model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▸ ResNet50: 50 katman + skip connections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▸ Residual bağlantılar → çok derin ağlar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▸ Vanishing gradient sorununu çözer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371600"/>
            <a:ext cx="5029200" cy="475488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371600"/>
            <a:ext cx="54864" cy="47548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5544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</a:defRPr>
            </a:pPr>
            <a:r>
              <a:t>MobileNet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10312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▸ Depthwise separable convolutions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▸ Çok daha az parametre (~3.4M)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▸ Mobil ve edge cihazlar için optimize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▸ Hız-doğruluk dengesi mükemmel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▸ MobileNetV2, V3 versiyonları mevcut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▸ TF Lite ile mobil deploy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</a:defRPr>
            </a:pPr>
            <a:r>
              <a:t>Dr. Murat Altun  |  Hafta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73152" cy="61264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Fine-Tuning vs Feature Extraction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51560"/>
            <a:ext cx="18288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371600"/>
            <a:ext cx="5029200" cy="475488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371600"/>
            <a:ext cx="54864" cy="47548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5544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FF"/>
                </a:solidFill>
              </a:defRPr>
            </a:pPr>
            <a:r>
              <a:t>Feature Extraction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10312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▸ Önceden eğitilmiş model dondurulur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▸ base_model.trainable = False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▸ Sadece yeni eklenen katmanlar eğitilir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▸ Az veri varsa ideal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▸ Hızlı eğitim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▸ Overfitting riski düşük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371600"/>
            <a:ext cx="5029200" cy="475488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371600"/>
            <a:ext cx="54864" cy="47548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5544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F4444"/>
                </a:solidFill>
              </a:defRPr>
            </a:pPr>
            <a:r>
              <a:t>Fine-Tuning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10312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▸ Bazı katmanlar açılarak yeniden eğitilir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▸ Son N katman trainable = True yapılır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▸ Düşük learning rate kullanılır (1e-5)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▸ Daha fazla veri gerektirir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▸ Daha yüksek performans potansiyeli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▸ 2 aşamalı: Önce extract, sonra fine-tune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</a:defRPr>
            </a:pPr>
            <a:r>
              <a:t>Dr. Murat Altun  |  Hafta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73152" cy="61264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Data Augmentation (Veri Çoğaltma)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51560"/>
            <a:ext cx="182880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371600"/>
            <a:ext cx="10515600" cy="475488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645920"/>
            <a:ext cx="9875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Eğitim verisini yapay olarak artırma — az veri sorununa çözüm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Döndürme: rotation_range=20 → 20 derece rastgele döndürme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Kaydırma: width_shift_range=0.2, height_shift_range=0.2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Yatay çevirme: horizontal_flip=True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Zoom: zoom_range=0.2 → yakınlaştırma/uzaklaştırma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Parlaklık: brightness_range=[0.8, 1.2]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Keras: ImageDataGenerator veya tf.keras.layers (preprocessing)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Orijinal veri değişmez — eğitim sırasında anlık dönüşüm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</a:defRPr>
            </a:pPr>
            <a:r>
              <a:t>Dr. Murat Altun  |  Hafta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73152" cy="61264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Pratik Uygulamalar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51560"/>
            <a:ext cx="182880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371600"/>
            <a:ext cx="10515600" cy="475488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645920"/>
            <a:ext cx="9875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Kedi vs Köpek sınıflandırma — klasik bilgisayarla görme problemi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Maske tespiti — COVID döneminde gerçek dünya uygulaması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Bitki hastalığı tespiti — tarım alanında yaprak görüntü analizi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Trafik işareti tanıma — otonom sürüş teknolojisi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Yüz tanıma ve doğrulama — güvenlik sistemleri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Tıbbi görüntü analizi — X-ray, MRI sınıflandırma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Transfer Learning ile bu görevlerin çoğu az veri ile çözülebilir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</a:defRPr>
            </a:pPr>
            <a:r>
              <a:t>Dr. Murat Altun  |  Hafta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73152" cy="61264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Pratik: Transfer Learning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51560"/>
            <a:ext cx="18288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371600"/>
            <a:ext cx="10515600" cy="475488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645920"/>
            <a:ext cx="9875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1. Veri hazırlama: ImageDataGenerator ile yükleme ve augmentation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2. Base model: MobileNetV2(weights='imagenet', include_top=False)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3. Dondurma: base_model.trainable = False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4. Yeni katmanlar: GlobalAveragePooling2D → Dense(128) → Dense(num_classes)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5. Compile: Adam(lr=0.001), categorical_crossentropy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6. Eğitim: fit() ile EarlyStopping callback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▸ 7. Fine-tuning: Son 20 katmanı aç, lr=1e-5 ile yeniden eğit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</a:defRPr>
            </a:pPr>
            <a:r>
              <a:t>Dr. Murat Altun  |  Hafta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73152" cy="61264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Özet ve Sonuç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51560"/>
            <a:ext cx="182880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371600"/>
            <a:ext cx="10515600" cy="475488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645920"/>
            <a:ext cx="9875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0B981"/>
                </a:solidFill>
              </a:defRPr>
            </a:pPr>
            <a:r>
              <a:t>CNN — görüntü verisi için optimize edilmiş derin ağ mimarisi</a:t>
            </a:r>
          </a:p>
          <a:p>
            <a:pPr>
              <a:spcAft>
                <a:spcPts val="800"/>
              </a:spcAft>
              <a:defRPr sz="1600">
                <a:solidFill>
                  <a:srgbClr val="10B981"/>
                </a:solidFill>
              </a:defRPr>
            </a:pPr>
            <a:r>
              <a:t>Filtreler hiyerarşik öznitelikler öğrenir (kenar → doku → nesne)</a:t>
            </a:r>
          </a:p>
          <a:p>
            <a:pPr>
              <a:spcAft>
                <a:spcPts val="800"/>
              </a:spcAft>
              <a:defRPr sz="1600">
                <a:solidFill>
                  <a:srgbClr val="10B981"/>
                </a:solidFill>
              </a:defRPr>
            </a:pPr>
            <a:r>
              <a:t>Transfer Learning — az veri ile yüksek performans sağlar</a:t>
            </a:r>
          </a:p>
          <a:p>
            <a:pPr>
              <a:spcAft>
                <a:spcPts val="800"/>
              </a:spcAft>
              <a:defRPr sz="1600">
                <a:solidFill>
                  <a:srgbClr val="10B981"/>
                </a:solidFill>
              </a:defRPr>
            </a:pPr>
            <a:r>
              <a:t>VGG16, ResNet, MobileNet — görev ve kaynağa göre model seçimi</a:t>
            </a:r>
          </a:p>
          <a:p>
            <a:pPr>
              <a:spcAft>
                <a:spcPts val="800"/>
              </a:spcAft>
              <a:defRPr sz="1600">
                <a:solidFill>
                  <a:srgbClr val="10B981"/>
                </a:solidFill>
              </a:defRPr>
            </a:pPr>
            <a:r>
              <a:t>Fine-tuning vs Feature Extraction — veri miktarına göre strateji</a:t>
            </a:r>
          </a:p>
          <a:p>
            <a:pPr>
              <a:spcAft>
                <a:spcPts val="800"/>
              </a:spcAft>
              <a:defRPr sz="1600">
                <a:solidFill>
                  <a:srgbClr val="10B981"/>
                </a:solidFill>
              </a:defRPr>
            </a:pPr>
            <a:r>
              <a:t>Data Augmentation ile eğitim verisini yapay olarak çoğaltma</a:t>
            </a:r>
          </a:p>
          <a:p>
            <a:pPr>
              <a:spcAft>
                <a:spcPts val="800"/>
              </a:spcAft>
              <a:defRPr sz="1600">
                <a:solidFill>
                  <a:srgbClr val="10B981"/>
                </a:solidFill>
              </a:defRPr>
            </a:pPr>
            <a:r>
              <a:t>Program tamamlandı — öğrenmeye devam edin!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</a:defRPr>
            </a:pPr>
            <a:r>
              <a:t>Dr. Murat Altun  |  Hafta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