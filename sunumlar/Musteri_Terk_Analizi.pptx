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Terk Oranı</c:v>
                </c:pt>
              </c:strCache>
            </c:strRef>
          </c:tx>
          <c:spPr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Oca</c:v>
                </c:pt>
                <c:pt idx="1">
                  <c:v>Şub</c:v>
                </c:pt>
                <c:pt idx="2">
                  <c:v>Mar</c:v>
                </c:pt>
                <c:pt idx="3">
                  <c:v>Nis</c:v>
                </c:pt>
                <c:pt idx="4">
                  <c:v>May</c:v>
                </c:pt>
                <c:pt idx="5">
                  <c:v>Haz</c:v>
                </c:pt>
                <c:pt idx="6">
                  <c:v>Tem</c:v>
                </c:pt>
                <c:pt idx="7">
                  <c:v>Ağu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8.1999999999999993</c:v>
                </c:pt>
                <c:pt idx="1">
                  <c:v>7.8</c:v>
                </c:pt>
                <c:pt idx="2">
                  <c:v>7.1</c:v>
                </c:pt>
                <c:pt idx="3">
                  <c:v>6.9</c:v>
                </c:pt>
                <c:pt idx="4">
                  <c:v>6.4</c:v>
                </c:pt>
                <c:pt idx="5">
                  <c:v>5.8</c:v>
                </c:pt>
                <c:pt idx="6">
                  <c:v>5.5</c:v>
                </c:pt>
                <c:pt idx="7">
                  <c:v>4.9000000000000004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849-3B4B-8076-1254C1212D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607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2971800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312724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Analizi: Nedenler, Göstergeler ve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Önleme Stratejileri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355080" y="594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0" y="12527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kaybı fark edilmeden gerçekleşir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874520"/>
            <a:ext cx="2011680" cy="27432"/>
          </a:xfrm>
          <a:prstGeom prst="rect">
            <a:avLst/>
          </a:prstGeom>
          <a:solidFill>
            <a:srgbClr val="2D6A8A"/>
          </a:solidFill>
          <a:ln w="12700">
            <a:solidFill>
              <a:srgbClr val="2D6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35508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2670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müşteri edinme, elde tutmadan 5x pahalı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3291840"/>
            <a:ext cx="2011680" cy="27432"/>
          </a:xfrm>
          <a:prstGeom prst="rect">
            <a:avLst/>
          </a:prstGeom>
          <a:solidFill>
            <a:srgbClr val="2D6A8A"/>
          </a:solidFill>
          <a:ln w="12700">
            <a:solidFill>
              <a:srgbClr val="2D6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355080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087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tutma artışı kârı %25-95 artırır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Tanım ve Kapsam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terki (churn), bir müşterinin belirli bir zaman dilimi içinde bir ürün veya hizmeti kullanmayı bırakmasıdır.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müşterinin belirli bir süre boyunca alışveriş yapmamış, hesabını kapatmış veya aboneliğini iptal etmiş olması terk olarak kabul edilir.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Türleri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350215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68096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Gönüllü Terk: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bilinçli olarak ayrılır (iptal, değiştirme)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384962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68096" y="3803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 Terk: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başarısızlığı, hesap kapatma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419709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68096" y="4151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Sessiz Terk: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iptal olmadan kullanımın azalması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Oranı Formülü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508760"/>
            <a:ext cx="365760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9834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Oranı =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781048"/>
            <a:ext cx="1874520" cy="27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144768" y="152580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Eden Müşteri Sayısı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82662" y="182755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Başı Toplam Müşteri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64773" y="161188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1.000 müşteriden 50'si terk ettiyse → %5 terk oranı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01752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892040" y="3090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 Ortalamaları (yıllık)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3456432"/>
            <a:ext cx="169164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892040" y="3474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20840" y="3456432"/>
            <a:ext cx="169164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720840" y="3474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5-7%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Yazılım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92040" y="3931920"/>
            <a:ext cx="169164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892040" y="39502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Telekom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20840" y="3931920"/>
            <a:ext cx="169164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6720840" y="39502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25-35%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Perakende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Kadar Önemli?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terki işletmelere doğrudan finansal zarar verir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9776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5-25x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müşteri edinmenin maliyeti, elde tutmaya kıyasla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3977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663440" y="12801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36592" y="192024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Müşterilerin daha iyi deneyim sunan rakibe geçme oranı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65760" y="3035808"/>
            <a:ext cx="39776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65760" y="32004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912" y="384048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tutma oranı %5 artırıldığında kâr artış üst sınırı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035808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663440" y="3035808"/>
            <a:ext cx="39776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663440" y="32004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$1.6T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736592" y="384048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ABD'de müşteri terki nedeniyle yıllık kayıp (tahmini)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Müşteriyi elde tutmak, işletmenin büyümesi için en karlı stratejilerden biridir — yeni müşteri kazanmaktan çok daha verimlidir.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 Nedenleri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Araştırmalar müşterilerin neden ayrıldığını ortaya koyuyor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64008" cy="11612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521208" y="1956816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21208" y="1956816"/>
            <a:ext cx="3149194" cy="16459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 Müşteri Hizmetleri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5179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Müşterilerin %82'si kötü deneyim sonrası başka markaya geçiyor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77640" y="1188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115568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754880" y="1115568"/>
            <a:ext cx="64008" cy="1161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910328" y="1956816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910328" y="1956816"/>
            <a:ext cx="2534717" cy="16459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93776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/ Değer Uyumsuzluğu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5179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Ödediklerinin karşılığını alamadıklarını hisseden müşteriler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1188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414016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65760" y="2414016"/>
            <a:ext cx="64008" cy="1161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521208" y="3255264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521208" y="3255264"/>
            <a:ext cx="2342693" cy="16459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48640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İyi Rakip Teklifi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28163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Rakibin sunduğu daha cazip fiyat, özellik veya deneyim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77640" y="2487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2414016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4754880" y="2414016"/>
            <a:ext cx="64008" cy="11612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4910328" y="3255264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910328" y="3255264"/>
            <a:ext cx="2073859" cy="164592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937760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Düşüklüğü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28163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 yeterince kullanmayan müşteriler zamanla ayrılır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2487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3712464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365760" y="3712464"/>
            <a:ext cx="64008" cy="1161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521208" y="4553712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521208" y="4553712"/>
            <a:ext cx="1805026" cy="164592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548640" y="3785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Ürün/Hizmet Sorunları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teknik sorunlar, eksik özellikler, düşük kalite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77640" y="37856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%47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54880" y="3712464"/>
            <a:ext cx="41605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4754880" y="3712464"/>
            <a:ext cx="64008" cy="1161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4910328" y="4553712"/>
            <a:ext cx="3840480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4910328" y="4553712"/>
            <a:ext cx="1459382" cy="164592"/>
          </a:xfrm>
          <a:prstGeom prst="rect">
            <a:avLst/>
          </a:prstGeom>
          <a:solidFill>
            <a:srgbClr val="475569">
              <a:alpha val="8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4937760" y="3785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 Değişimi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3776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ihtiyaçları artık ürünle örtüşmüyor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66760" y="37856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%38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Uyarı Sinyalleri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terk etmeden önce verdiği davranışsal ipuçları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64008" cy="3749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Davranışsal Göstergeler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645920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30352" y="1645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57276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Kullanım sıklığı azalıyor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veya işlem sayısında düşüş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2176272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30352" y="21762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1031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Belirli özellikleri kullanmayı bıraktı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önce aktif kullandığı bölümler artık boş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2706624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30352" y="27066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63347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Müşteri hizmetleri aramaları artıyor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Çözülemeyen sorunların işareti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3236976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30352" y="32369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16382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Uzun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açmama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Haftalarca hesaba giriş yokluğu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767328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30352" y="37673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69417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Abonelik bilgilerini sorguladı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ayarlarını ziyaret, fatura kontrolleri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4297680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30352" y="4297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22452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Harcama tutarı düştü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paketlere geçiş veya ek satış reddi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07899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4663440" y="1078992"/>
            <a:ext cx="6400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846320" y="1133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Geri Bildirimi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28032" y="16367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065776" y="157276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NPS skoru (0-6)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28032" y="196596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5065776" y="19019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Olumsuz yorumlar / şikâyetler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28032" y="22951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5065776" y="22311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Anket katılımının azalması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28032" y="262432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065776" y="256032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medyada olumsuz paylaşım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299923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4663440" y="2999232"/>
            <a:ext cx="64008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4846320" y="3054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Analizi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28032" y="3547872"/>
            <a:ext cx="5486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828032" y="3547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49824" y="351129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satın almanın ne kadar önce olduğu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28032" y="3931920"/>
            <a:ext cx="5486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4828032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49824" y="389534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sıklıkla alışveriş yapıldığı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28032" y="4315968"/>
            <a:ext cx="5486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4828032" y="4315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49824" y="427939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kadar harcandığı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Tahmini Yöntemleri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ile proaktif müşteri yönetimi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tahmin modelleri, hangi müşterinin ayrılmak üzere olduğunu önceden tespit ederek proaktif önlem alınmasını sağlar.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822960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15819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Açıklanabilir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Avantajlar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Yorumlaması kolay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44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Hızlı eğitim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2369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Küçük veri setleri için uygun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Dikkat Edilmesi Gerekenler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ilişkilerle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sınırlı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133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Karmaşık örüntüleri kaçırabilir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645152"/>
            <a:ext cx="246888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57200" y="46451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0.75-0.82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148132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200400" y="1481328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337560" y="1581912"/>
            <a:ext cx="82296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337560" y="15819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2359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Avantajlar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Yüksek doğruluk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944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Aşırı öğrenmeye dirençli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2369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Özellik önemini hesaplar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Dikkat Edilmesi Gerekenler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83280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Yorumlanması zor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4133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Yüksek bellek kullanımı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4645152"/>
            <a:ext cx="246888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3337560" y="46451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0.84-0.90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148132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6080760" y="1481328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6217920" y="1581912"/>
            <a:ext cx="822960" cy="2468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6217920" y="15819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Güçlü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0" y="2359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Avantajlar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6364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 yüksek doğruluk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2944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Eksik veriye toleranslı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32369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Büyük veri setleri için ideal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Dikkat Edilmesi Gerekenler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63640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Hiperparametre ayarı gerekli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4133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Fazla özellik ile aşırı öğrenme riski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4645152"/>
            <a:ext cx="246888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6217920" y="46451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0.88-0.95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Önleme Stratejileri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Müşteriyi elde tutmak için kanıtlanmış yaklaşımlar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Proaktif İletişim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" y="1746504"/>
            <a:ext cx="457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azaldığında otomatik e-posta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2130552"/>
            <a:ext cx="457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9436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Kişiselleştirilmiş geri kazanma kampanyaları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" y="2514600"/>
            <a:ext cx="457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94360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Sadakat prog. müşterilere özel teklifler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0789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246120" y="1078992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3383280" y="118872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38328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Başarı Programı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10712" y="1746504"/>
            <a:ext cx="457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52044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riskli müşteriler için CSM atama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0712" y="2130552"/>
            <a:ext cx="457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52044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sağlık skoru takibi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10712" y="2514600"/>
            <a:ext cx="457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520440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Proaktif eğitim ve destek sunumu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0789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6172200" y="1078992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6309360" y="118872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30936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Bağlılık &amp; Sadakat Programları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36792" y="1746504"/>
            <a:ext cx="4572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644652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Puanlama ve ödüllendirme sistemleri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36792" y="2130552"/>
            <a:ext cx="4572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44652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müşteri avantajları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36792" y="2514600"/>
            <a:ext cx="4572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6446520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aboneliklere geçiş teşviki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04495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320040" y="3044952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457200" y="315468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5720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8680" y="3136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&amp; Deneyim İyileştirme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4632" y="3712464"/>
            <a:ext cx="45720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59436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anketleriyle geri bildirim toplama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" y="4096512"/>
            <a:ext cx="45720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594360" y="3995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sorunların kök neden analizi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" y="4480560"/>
            <a:ext cx="45720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594360" y="4379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Kullanılmayan özelliklerin iyileştirilmesi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46120" y="304495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3246120" y="3044952"/>
            <a:ext cx="2743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3383280" y="315468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338328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794760" y="3136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Fiyatlandırma &amp; Esneklik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410712" y="3712464"/>
            <a:ext cx="4572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352044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Duraklatma seçeneği sunma (iptal yerine)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410712" y="4096512"/>
            <a:ext cx="4572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3520440" y="3995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Kademeli indirimler veya geçiş dönemleri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10712" y="4480560"/>
            <a:ext cx="4572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3520440" y="4379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Müşteriye özel paket önerileri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72200" y="304495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2" name="Shape 60"/>
          <p:cNvSpPr/>
          <p:nvPr/>
        </p:nvSpPr>
        <p:spPr>
          <a:xfrm>
            <a:off x="6172200" y="3044952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Shape 61"/>
          <p:cNvSpPr/>
          <p:nvPr/>
        </p:nvSpPr>
        <p:spPr>
          <a:xfrm>
            <a:off x="6309360" y="315468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630936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720840" y="3136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Kazanım Kampanyaları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336792" y="3712464"/>
            <a:ext cx="4572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644652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 müşterilere özel win-back e-postaları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336792" y="4096512"/>
            <a:ext cx="4572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Text 67"/>
          <p:cNvSpPr/>
          <p:nvPr/>
        </p:nvSpPr>
        <p:spPr>
          <a:xfrm>
            <a:off x="6446520" y="3995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"Sizi özledik" indirimleri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36792" y="4480560"/>
            <a:ext cx="4572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6446520" y="4379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ayrıldıklarını anlamak için görüşme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Metrikleri ve KPI'lar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elde tutma performansını ölçmek için temel göstergeler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Terk Oranı Trendi (%)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353312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767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Etkili önleme programı ile terk oranı 8.2%'den 4.9%'a düştü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17720" y="987552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17720" y="987552"/>
            <a:ext cx="1965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4617720" y="1078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17720" y="13533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₺4.820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709160" y="1828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Yaşam Boyu Değeri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20840" y="987552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6720840" y="987552"/>
            <a:ext cx="19659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6720840" y="1078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20840" y="13533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%87.3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812280" y="1828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Elde Tutma Oranı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17720" y="2377440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7"/>
          <p:cNvSpPr/>
          <p:nvPr/>
        </p:nvSpPr>
        <p:spPr>
          <a:xfrm>
            <a:off x="4617720" y="237744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461772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61772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4709160" y="32186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720840" y="2377440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2"/>
          <p:cNvSpPr/>
          <p:nvPr/>
        </p:nvSpPr>
        <p:spPr>
          <a:xfrm>
            <a:off x="6720840" y="2377440"/>
            <a:ext cx="1965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/>
          <p:nvPr/>
        </p:nvSpPr>
        <p:spPr>
          <a:xfrm>
            <a:off x="6720840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72084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4.3/5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812280" y="32186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Memnuniyet Skoru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17720" y="3767328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7"/>
          <p:cNvSpPr/>
          <p:nvPr/>
        </p:nvSpPr>
        <p:spPr>
          <a:xfrm>
            <a:off x="4617720" y="3767328"/>
            <a:ext cx="1965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/>
          <p:nvPr/>
        </p:nvSpPr>
        <p:spPr>
          <a:xfrm>
            <a:off x="4617720" y="3858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617720" y="41330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ay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4709160" y="46085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Abonelik Süresi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720840" y="3767328"/>
            <a:ext cx="1965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2"/>
          <p:cNvSpPr/>
          <p:nvPr/>
        </p:nvSpPr>
        <p:spPr>
          <a:xfrm>
            <a:off x="6720840" y="3767328"/>
            <a:ext cx="1965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3"/>
          <p:cNvSpPr/>
          <p:nvPr/>
        </p:nvSpPr>
        <p:spPr>
          <a:xfrm>
            <a:off x="6720840" y="3858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WBR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720840" y="41330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%18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6812280" y="46085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Oranı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Değerler örnek verilerdir. Gerçek metrikler sektöre ve şirkete göre değişir.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Yol Haritası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 analizi programı için 4 aşamalı 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0574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0574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042416" y="1188720"/>
            <a:ext cx="621792" cy="6217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42416" y="1188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88366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340864"/>
            <a:ext cx="15087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94360" y="23408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1-2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2816352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85800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davranış verilerini topla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419856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85800" y="33467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destek ve kullanım loglarını entegre 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" y="4023360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85800" y="39502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kalitesini değerlendir ve temizle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2889504"/>
            <a:ext cx="1188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441448" y="27432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2496312" y="1078992"/>
            <a:ext cx="20574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2496312" y="1078992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218688" y="1188720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218688" y="1188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587752" y="188366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&amp; Model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70632" y="2340864"/>
            <a:ext cx="15087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2770632" y="23408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3-5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60904" y="2816352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2862072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 (EDA) yap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60904" y="3419856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2862072" y="33467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tahmin modelini eğit ve doğrula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60904" y="402336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2862072" y="39502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segmentasyonu oluştur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53712" y="2889504"/>
            <a:ext cx="1188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617720" y="27432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4672584" y="1078992"/>
            <a:ext cx="20574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4672584" y="1078992"/>
            <a:ext cx="20574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5394960" y="1188720"/>
            <a:ext cx="621792" cy="6217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5394960" y="1188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764024" y="188366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 Tasarımı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946904" y="2340864"/>
            <a:ext cx="15087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946904" y="23408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6-7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37176" y="2816352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038344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bazlı müdahale planları hazırla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37176" y="3419856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5038344" y="33467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ve bildirim şablonları oluştur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37176" y="4023360"/>
            <a:ext cx="137160" cy="1371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5038344" y="39502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rolleri ve sorumlulukları belirle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729984" y="2889504"/>
            <a:ext cx="1188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6793992" y="27432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6848856" y="1078992"/>
            <a:ext cx="20574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6848856" y="1078992"/>
            <a:ext cx="20574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7571232" y="1188720"/>
            <a:ext cx="621792" cy="6217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7571232" y="1188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6940296" y="188366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Ölçüm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123176" y="2340864"/>
            <a:ext cx="15087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7123176" y="23408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8-12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013448" y="2816352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7214616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müşteri grubuyla pilot başlat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013448" y="3419856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7214616" y="33467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 ile etkinliği ölç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013448" y="4023360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7214616" y="39502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Sonuçlara göre modeli ve stratejiyi güncelle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65760" y="4956048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fazın sonunda bir değerlendirme noktası belirlenmeli ve bir sonraki fazın kapsamı buna göre ayarlanmalıdır.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Temel Çıkarımlar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828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97480" cy="3200400"/>
          </a:xfrm>
          <a:prstGeom prst="rect">
            <a:avLst/>
          </a:prstGeom>
          <a:solidFill>
            <a:srgbClr val="1E3F5A"/>
          </a:solidFill>
          <a:ln w="12700">
            <a:solidFill>
              <a:srgbClr val="2A54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1208" y="173736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Tespite Odaklanın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26771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 etmeden önce sinyaller verir. Davranışsal verileri sürekli izleyin ve erken uyarı sistemleri kurun.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97480" cy="3200400"/>
          </a:xfrm>
          <a:prstGeom prst="rect">
            <a:avLst/>
          </a:prstGeom>
          <a:solidFill>
            <a:srgbClr val="1E3F5A"/>
          </a:solidFill>
          <a:ln w="12700">
            <a:solidFill>
              <a:srgbClr val="2A54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291840" y="11155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01568" y="173736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Veriyle Destekleyin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6432" y="226771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Sezgiye değil verilere güvenin. Makine öğrenmesi modelleri risk altındaki müşterileri %80+ doğrulukla tespit edebilir.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697480" cy="3200400"/>
          </a:xfrm>
          <a:prstGeom prst="rect">
            <a:avLst/>
          </a:prstGeom>
          <a:solidFill>
            <a:srgbClr val="1E3F5A"/>
          </a:solidFill>
          <a:ln w="12700">
            <a:solidFill>
              <a:srgbClr val="2A54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6172200" y="1005840"/>
            <a:ext cx="2697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172200" y="11155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81928" y="173736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Kişiselleştirin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226771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tip iletişim işe yaramaz. Her müşteri segmentine özel, doğru zamanda yapılan müdahaleler terk oranını düşürür.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122034"/>
          </a:solidFill>
          <a:ln w="12700">
            <a:solidFill>
              <a:srgbClr val="12203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00" y="44074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Müşteriyi elde tutmak, büyümek için kazanmaktan daha önemlidir.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981</Words>
  <Application>Microsoft Macintosh PowerPoint</Application>
  <PresentationFormat>Ekran Gösterisi (16:9)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Müşteri Terk Analizi</dc:title>
  <dc:subject>PptxGenJS Presentation</dc:subject>
  <dc:creator>Dr. Murat Altun</dc:creator>
  <cp:lastModifiedBy>Murat Altun</cp:lastModifiedBy>
  <cp:revision>2</cp:revision>
  <dcterms:created xsi:type="dcterms:W3CDTF">2026-04-01T16:40:03Z</dcterms:created>
  <dcterms:modified xsi:type="dcterms:W3CDTF">2026-04-01T17:50:13Z</dcterms:modified>
</cp:coreProperties>
</file>