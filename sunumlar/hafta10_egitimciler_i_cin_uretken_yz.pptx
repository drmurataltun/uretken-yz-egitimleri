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5B2C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3" name="Shape 1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4A2518"/>
          </a:solidFill>
          <a:ln/>
        </p:spPr>
      </p:sp>
      <p:sp>
        <p:nvSpPr>
          <p:cNvPr id="4" name="Shape 2"/>
          <p:cNvSpPr/>
          <p:nvPr/>
        </p:nvSpPr>
        <p:spPr>
          <a:xfrm>
            <a:off x="5943600" y="0"/>
            <a:ext cx="45720" cy="5143500"/>
          </a:xfrm>
          <a:prstGeom prst="rect">
            <a:avLst/>
          </a:prstGeom>
          <a:solidFill>
            <a:srgbClr val="C97B5A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548640"/>
            <a:ext cx="2743200" cy="310896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548640"/>
            <a:ext cx="2743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ÜRETKEN YZ ATÖLYESİ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1097280"/>
            <a:ext cx="51206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Eğitimciler İçin Üretken YZ</a:t>
            </a:r>
            <a:endParaRPr lang="en-US" sz="4200" dirty="0"/>
          </a:p>
        </p:txBody>
      </p:sp>
      <p:sp>
        <p:nvSpPr>
          <p:cNvPr id="8" name="Shape 6"/>
          <p:cNvSpPr/>
          <p:nvPr/>
        </p:nvSpPr>
        <p:spPr>
          <a:xfrm>
            <a:off x="457200" y="2606040"/>
            <a:ext cx="2743200" cy="45720"/>
          </a:xfrm>
          <a:prstGeom prst="rect">
            <a:avLst/>
          </a:prstGeom>
          <a:solidFill>
            <a:srgbClr val="C97B5A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2788920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E8C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Modül 10 — "Sınıfa, Atölyeye, Dersaneye"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3383280"/>
            <a:ext cx="5120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MEB rehberi 45+ aracın disipliner uygulanması. MagicSchool, Khanmigo, Diffit, Curipod. Ders planı, ölçme-değerlendirme, akademik dürüstlük.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4251960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7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Dr. Murat Altun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4535424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39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Üretken YZ Atölyesi · Prompttan Ürüne · 2026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126480" y="32004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97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6126480" y="822960"/>
            <a:ext cx="2834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C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583680" y="1371600"/>
            <a:ext cx="1920240" cy="18288"/>
          </a:xfrm>
          <a:prstGeom prst="rect">
            <a:avLst/>
          </a:prstGeom>
          <a:solidFill>
            <a:srgbClr val="6B3A28"/>
          </a:solidFill>
          <a:ln/>
        </p:spPr>
      </p:sp>
      <p:sp>
        <p:nvSpPr>
          <p:cNvPr id="16" name="Text 14"/>
          <p:cNvSpPr/>
          <p:nvPr/>
        </p:nvSpPr>
        <p:spPr>
          <a:xfrm>
            <a:off x="6126480" y="1527048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97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6126480" y="2029968"/>
            <a:ext cx="2834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C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Atölye Notebook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583680" y="2578608"/>
            <a:ext cx="1920240" cy="18288"/>
          </a:xfrm>
          <a:prstGeom prst="rect">
            <a:avLst/>
          </a:prstGeom>
          <a:solidFill>
            <a:srgbClr val="6B3A28"/>
          </a:solidFill>
          <a:ln/>
        </p:spPr>
      </p:sp>
      <p:sp>
        <p:nvSpPr>
          <p:cNvPr id="19" name="Text 17"/>
          <p:cNvSpPr/>
          <p:nvPr/>
        </p:nvSpPr>
        <p:spPr>
          <a:xfrm>
            <a:off x="6126480" y="2734056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97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6126480" y="3236976"/>
            <a:ext cx="2834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C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Pratik Ödev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583680" y="3785616"/>
            <a:ext cx="1920240" cy="18288"/>
          </a:xfrm>
          <a:prstGeom prst="rect">
            <a:avLst/>
          </a:prstGeom>
          <a:solidFill>
            <a:srgbClr val="6B3A28"/>
          </a:solidFill>
          <a:ln/>
        </p:spPr>
      </p:sp>
      <p:sp>
        <p:nvSpPr>
          <p:cNvPr id="22" name="Text 20"/>
          <p:cNvSpPr/>
          <p:nvPr/>
        </p:nvSpPr>
        <p:spPr>
          <a:xfrm>
            <a:off x="6126480" y="3941064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97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6126480" y="4443984"/>
            <a:ext cx="2834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C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Araç Seti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9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5B2C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 Haftada Ne Öğreneceğiz?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498080" y="164592"/>
            <a:ext cx="1463040" cy="347472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0" y="164592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3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046720" y="4773168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pPr algn="r" indent="0" marL="0">
              <a:buNone/>
            </a:pPr>
            <a:r>
              <a:rPr lang="en-US" sz="800" dirty="0">
                <a:solidFill>
                  <a:srgbClr val="A39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16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57200" y="914400"/>
            <a:ext cx="822960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914400"/>
            <a:ext cx="8229600" cy="54864"/>
          </a:xfrm>
          <a:prstGeom prst="rect">
            <a:avLst/>
          </a:prstGeom>
          <a:solidFill>
            <a:srgbClr val="5B2C1E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1051560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2C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MESLEĞE ÖZEL · LOKAL · API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141732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MEB rehberi 45+ aracın disipliner uygulanması. MagicSchool, Khanmigo, Diffit, Curipod. Ders planı, ölçme-değerlendirme, akademik dürüstlük.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468880"/>
            <a:ext cx="38862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2468880"/>
            <a:ext cx="54864" cy="914400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14" name="Shape 12"/>
          <p:cNvSpPr/>
          <p:nvPr/>
        </p:nvSpPr>
        <p:spPr>
          <a:xfrm>
            <a:off x="594360" y="2761488"/>
            <a:ext cx="329184" cy="329184"/>
          </a:xfrm>
          <a:prstGeom prst="ellipse">
            <a:avLst/>
          </a:prstGeom>
          <a:solidFill>
            <a:srgbClr val="2B7A78"/>
          </a:solidFill>
          <a:ln/>
        </p:spPr>
      </p:sp>
      <p:sp>
        <p:nvSpPr>
          <p:cNvPr id="15" name="Text 13"/>
          <p:cNvSpPr/>
          <p:nvPr/>
        </p:nvSpPr>
        <p:spPr>
          <a:xfrm>
            <a:off x="594360" y="27614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51560" y="260604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7A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Konseptler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51560" y="292608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ana konu, kavram haritası ve etkin örnekler.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800600" y="2468880"/>
            <a:ext cx="38862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800600" y="2468880"/>
            <a:ext cx="54864" cy="914400"/>
          </a:xfrm>
          <a:prstGeom prst="rect">
            <a:avLst/>
          </a:prstGeom>
          <a:solidFill>
            <a:srgbClr val="C97B5A"/>
          </a:solidFill>
          <a:ln/>
        </p:spPr>
      </p:sp>
      <p:sp>
        <p:nvSpPr>
          <p:cNvPr id="20" name="Shape 18"/>
          <p:cNvSpPr/>
          <p:nvPr/>
        </p:nvSpPr>
        <p:spPr>
          <a:xfrm>
            <a:off x="4937760" y="2761488"/>
            <a:ext cx="329184" cy="329184"/>
          </a:xfrm>
          <a:prstGeom prst="ellipse">
            <a:avLst/>
          </a:prstGeom>
          <a:solidFill>
            <a:srgbClr val="C97B5A"/>
          </a:solidFill>
          <a:ln/>
        </p:spPr>
      </p:sp>
      <p:sp>
        <p:nvSpPr>
          <p:cNvPr id="21" name="Text 19"/>
          <p:cNvSpPr/>
          <p:nvPr/>
        </p:nvSpPr>
        <p:spPr>
          <a:xfrm>
            <a:off x="4937760" y="27614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394960" y="260604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7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Atölye Pratiği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394960" y="292608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adım-adım notebook ile uygulamalı çalışma.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3520440"/>
            <a:ext cx="38862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7200" y="3520440"/>
            <a:ext cx="54864" cy="914400"/>
          </a:xfrm>
          <a:prstGeom prst="rect">
            <a:avLst/>
          </a:prstGeom>
          <a:solidFill>
            <a:srgbClr val="7C5BBF"/>
          </a:solidFill>
          <a:ln/>
        </p:spPr>
      </p:sp>
      <p:sp>
        <p:nvSpPr>
          <p:cNvPr id="26" name="Shape 24"/>
          <p:cNvSpPr/>
          <p:nvPr/>
        </p:nvSpPr>
        <p:spPr>
          <a:xfrm>
            <a:off x="594360" y="3813048"/>
            <a:ext cx="329184" cy="329184"/>
          </a:xfrm>
          <a:prstGeom prst="ellipse">
            <a:avLst/>
          </a:prstGeom>
          <a:solidFill>
            <a:srgbClr val="7C5BBF"/>
          </a:solidFill>
          <a:ln/>
        </p:spPr>
      </p:sp>
      <p:sp>
        <p:nvSpPr>
          <p:cNvPr id="27" name="Text 25"/>
          <p:cNvSpPr/>
          <p:nvPr/>
        </p:nvSpPr>
        <p:spPr>
          <a:xfrm>
            <a:off x="594360" y="38130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051560" y="365760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5BB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Araç Seti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051560" y="397764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farklı aracın derinlikli kullanımı.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800600" y="3520440"/>
            <a:ext cx="38862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800600" y="3520440"/>
            <a:ext cx="54864" cy="914400"/>
          </a:xfrm>
          <a:prstGeom prst="rect">
            <a:avLst/>
          </a:prstGeom>
          <a:solidFill>
            <a:srgbClr val="3A9E6B"/>
          </a:solidFill>
          <a:ln/>
        </p:spPr>
      </p:sp>
      <p:sp>
        <p:nvSpPr>
          <p:cNvPr id="32" name="Shape 30"/>
          <p:cNvSpPr/>
          <p:nvPr/>
        </p:nvSpPr>
        <p:spPr>
          <a:xfrm>
            <a:off x="4937760" y="3813048"/>
            <a:ext cx="329184" cy="329184"/>
          </a:xfrm>
          <a:prstGeom prst="ellipse">
            <a:avLst/>
          </a:prstGeom>
          <a:solidFill>
            <a:srgbClr val="3A9E6B"/>
          </a:solidFill>
          <a:ln/>
        </p:spPr>
      </p:sp>
      <p:sp>
        <p:nvSpPr>
          <p:cNvPr id="33" name="Text 31"/>
          <p:cNvSpPr/>
          <p:nvPr/>
        </p:nvSpPr>
        <p:spPr>
          <a:xfrm>
            <a:off x="4937760" y="38130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394960" y="365760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A9E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Çıktı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394960" y="397764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ödev ile somut, paylaşılabilir ürün.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9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5B2C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Konular · 1/3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498080" y="164592"/>
            <a:ext cx="1463040" cy="347472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0" y="164592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3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046720" y="4773168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pPr algn="r" indent="0" marL="0">
              <a:buNone/>
            </a:pPr>
            <a:r>
              <a:rPr lang="en-US" sz="800" dirty="0">
                <a:solidFill>
                  <a:srgbClr val="A39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16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57200" y="914400"/>
            <a:ext cx="82296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914400"/>
            <a:ext cx="54864" cy="713232"/>
          </a:xfrm>
          <a:prstGeom prst="rect">
            <a:avLst/>
          </a:prstGeom>
          <a:solidFill>
            <a:srgbClr val="5B2C1E"/>
          </a:solidFill>
          <a:ln/>
        </p:spPr>
      </p:sp>
      <p:sp>
        <p:nvSpPr>
          <p:cNvPr id="10" name="Shape 8"/>
          <p:cNvSpPr/>
          <p:nvPr/>
        </p:nvSpPr>
        <p:spPr>
          <a:xfrm>
            <a:off x="640080" y="1106424"/>
            <a:ext cx="329184" cy="329184"/>
          </a:xfrm>
          <a:prstGeom prst="ellipse">
            <a:avLst/>
          </a:prstGeom>
          <a:solidFill>
            <a:srgbClr val="5B2C1E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110642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43000" y="107899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MEB rehberi araçlarını disiplinde uygulama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1783080"/>
            <a:ext cx="82296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1783080"/>
            <a:ext cx="54864" cy="713232"/>
          </a:xfrm>
          <a:prstGeom prst="rect">
            <a:avLst/>
          </a:prstGeom>
          <a:solidFill>
            <a:srgbClr val="5B2C1E"/>
          </a:solidFill>
          <a:ln/>
        </p:spPr>
      </p:sp>
      <p:sp>
        <p:nvSpPr>
          <p:cNvPr id="15" name="Shape 13"/>
          <p:cNvSpPr/>
          <p:nvPr/>
        </p:nvSpPr>
        <p:spPr>
          <a:xfrm>
            <a:off x="640080" y="1975104"/>
            <a:ext cx="329184" cy="329184"/>
          </a:xfrm>
          <a:prstGeom prst="ellipse">
            <a:avLst/>
          </a:prstGeom>
          <a:solidFill>
            <a:srgbClr val="5B2C1E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197510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143000" y="194767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Türkçe: Ello, Edufy, Vocabulary.com, Quizlet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2651760"/>
            <a:ext cx="82296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2651760"/>
            <a:ext cx="54864" cy="713232"/>
          </a:xfrm>
          <a:prstGeom prst="rect">
            <a:avLst/>
          </a:prstGeom>
          <a:solidFill>
            <a:srgbClr val="5B2C1E"/>
          </a:solidFill>
          <a:ln/>
        </p:spPr>
      </p:sp>
      <p:sp>
        <p:nvSpPr>
          <p:cNvPr id="20" name="Shape 18"/>
          <p:cNvSpPr/>
          <p:nvPr/>
        </p:nvSpPr>
        <p:spPr>
          <a:xfrm>
            <a:off x="640080" y="2843784"/>
            <a:ext cx="329184" cy="329184"/>
          </a:xfrm>
          <a:prstGeom prst="ellipse">
            <a:avLst/>
          </a:prstGeom>
          <a:solidFill>
            <a:srgbClr val="5B2C1E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284378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143000" y="281635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Matematik: MathGPTPro, QANDA, Wolfram, SymboLab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57200" y="3520440"/>
            <a:ext cx="82296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57200" y="3520440"/>
            <a:ext cx="54864" cy="713232"/>
          </a:xfrm>
          <a:prstGeom prst="rect">
            <a:avLst/>
          </a:prstGeom>
          <a:solidFill>
            <a:srgbClr val="5B2C1E"/>
          </a:solidFill>
          <a:ln/>
        </p:spPr>
      </p:sp>
      <p:sp>
        <p:nvSpPr>
          <p:cNvPr id="25" name="Shape 23"/>
          <p:cNvSpPr/>
          <p:nvPr/>
        </p:nvSpPr>
        <p:spPr>
          <a:xfrm>
            <a:off x="640080" y="3712464"/>
            <a:ext cx="329184" cy="329184"/>
          </a:xfrm>
          <a:prstGeom prst="ellipse">
            <a:avLst/>
          </a:prstGeom>
          <a:solidFill>
            <a:srgbClr val="5B2C1E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371246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143000" y="368503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Fen: Science360, DIY Nano, Toca Lab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9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5B2C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Konular · 2/3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498080" y="164592"/>
            <a:ext cx="1463040" cy="347472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0" y="164592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3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046720" y="4773168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pPr algn="r" indent="0" marL="0">
              <a:buNone/>
            </a:pPr>
            <a:r>
              <a:rPr lang="en-US" sz="800" dirty="0">
                <a:solidFill>
                  <a:srgbClr val="A39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16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57200" y="914400"/>
            <a:ext cx="82296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914400"/>
            <a:ext cx="54864" cy="713232"/>
          </a:xfrm>
          <a:prstGeom prst="rect">
            <a:avLst/>
          </a:prstGeom>
          <a:solidFill>
            <a:srgbClr val="5B2C1E"/>
          </a:solidFill>
          <a:ln/>
        </p:spPr>
      </p:sp>
      <p:sp>
        <p:nvSpPr>
          <p:cNvPr id="10" name="Shape 8"/>
          <p:cNvSpPr/>
          <p:nvPr/>
        </p:nvSpPr>
        <p:spPr>
          <a:xfrm>
            <a:off x="640080" y="1106424"/>
            <a:ext cx="329184" cy="329184"/>
          </a:xfrm>
          <a:prstGeom prst="ellipse">
            <a:avLst/>
          </a:prstGeom>
          <a:solidFill>
            <a:srgbClr val="5B2C1E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110642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43000" y="107899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İngilizce: TalkPal AI, Babbel AI, Preply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1783080"/>
            <a:ext cx="82296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1783080"/>
            <a:ext cx="54864" cy="713232"/>
          </a:xfrm>
          <a:prstGeom prst="rect">
            <a:avLst/>
          </a:prstGeom>
          <a:solidFill>
            <a:srgbClr val="5B2C1E"/>
          </a:solidFill>
          <a:ln/>
        </p:spPr>
      </p:sp>
      <p:sp>
        <p:nvSpPr>
          <p:cNvPr id="15" name="Shape 13"/>
          <p:cNvSpPr/>
          <p:nvPr/>
        </p:nvSpPr>
        <p:spPr>
          <a:xfrm>
            <a:off x="640080" y="1975104"/>
            <a:ext cx="329184" cy="329184"/>
          </a:xfrm>
          <a:prstGeom prst="ellipse">
            <a:avLst/>
          </a:prstGeom>
          <a:solidFill>
            <a:srgbClr val="5B2C1E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197510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143000" y="194767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Eğitim platformları: MagicSchool, Khanmigo, Diffit, Curipod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2651760"/>
            <a:ext cx="82296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2651760"/>
            <a:ext cx="54864" cy="713232"/>
          </a:xfrm>
          <a:prstGeom prst="rect">
            <a:avLst/>
          </a:prstGeom>
          <a:solidFill>
            <a:srgbClr val="5B2C1E"/>
          </a:solidFill>
          <a:ln/>
        </p:spPr>
      </p:sp>
      <p:sp>
        <p:nvSpPr>
          <p:cNvPr id="20" name="Shape 18"/>
          <p:cNvSpPr/>
          <p:nvPr/>
        </p:nvSpPr>
        <p:spPr>
          <a:xfrm>
            <a:off x="640080" y="2843784"/>
            <a:ext cx="329184" cy="329184"/>
          </a:xfrm>
          <a:prstGeom prst="ellipse">
            <a:avLst/>
          </a:prstGeom>
          <a:solidFill>
            <a:srgbClr val="5B2C1E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284378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143000" y="281635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Ders planı + etkinlik üretimi (Gemini Gems)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57200" y="3520440"/>
            <a:ext cx="82296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57200" y="3520440"/>
            <a:ext cx="54864" cy="713232"/>
          </a:xfrm>
          <a:prstGeom prst="rect">
            <a:avLst/>
          </a:prstGeom>
          <a:solidFill>
            <a:srgbClr val="5B2C1E"/>
          </a:solidFill>
          <a:ln/>
        </p:spPr>
      </p:sp>
      <p:sp>
        <p:nvSpPr>
          <p:cNvPr id="25" name="Shape 23"/>
          <p:cNvSpPr/>
          <p:nvPr/>
        </p:nvSpPr>
        <p:spPr>
          <a:xfrm>
            <a:off x="640080" y="3712464"/>
            <a:ext cx="329184" cy="329184"/>
          </a:xfrm>
          <a:prstGeom prst="ellipse">
            <a:avLst/>
          </a:prstGeom>
          <a:solidFill>
            <a:srgbClr val="5B2C1E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371246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143000" y="368503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Ölçme-değerlendirme: rubrik, soru bankası, otomatik puanlama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9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5B2C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Konular · 3/3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498080" y="164592"/>
            <a:ext cx="1463040" cy="347472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0" y="164592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3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046720" y="4773168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pPr algn="r" indent="0" marL="0">
              <a:buNone/>
            </a:pPr>
            <a:r>
              <a:rPr lang="en-US" sz="800" dirty="0">
                <a:solidFill>
                  <a:srgbClr val="A39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16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57200" y="914400"/>
            <a:ext cx="82296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914400"/>
            <a:ext cx="54864" cy="713232"/>
          </a:xfrm>
          <a:prstGeom prst="rect">
            <a:avLst/>
          </a:prstGeom>
          <a:solidFill>
            <a:srgbClr val="5B2C1E"/>
          </a:solidFill>
          <a:ln/>
        </p:spPr>
      </p:sp>
      <p:sp>
        <p:nvSpPr>
          <p:cNvPr id="10" name="Shape 8"/>
          <p:cNvSpPr/>
          <p:nvPr/>
        </p:nvSpPr>
        <p:spPr>
          <a:xfrm>
            <a:off x="640080" y="1106424"/>
            <a:ext cx="329184" cy="329184"/>
          </a:xfrm>
          <a:prstGeom prst="ellipse">
            <a:avLst/>
          </a:prstGeom>
          <a:solidFill>
            <a:srgbClr val="5B2C1E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110642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43000" y="107899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Etkileşimli: Mentimeter AI, Kahoot AI, Quizizz AI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1783080"/>
            <a:ext cx="82296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1783080"/>
            <a:ext cx="54864" cy="713232"/>
          </a:xfrm>
          <a:prstGeom prst="rect">
            <a:avLst/>
          </a:prstGeom>
          <a:solidFill>
            <a:srgbClr val="5B2C1E"/>
          </a:solidFill>
          <a:ln/>
        </p:spPr>
      </p:sp>
      <p:sp>
        <p:nvSpPr>
          <p:cNvPr id="15" name="Shape 13"/>
          <p:cNvSpPr/>
          <p:nvPr/>
        </p:nvSpPr>
        <p:spPr>
          <a:xfrm>
            <a:off x="640080" y="1975104"/>
            <a:ext cx="329184" cy="329184"/>
          </a:xfrm>
          <a:prstGeom prst="ellipse">
            <a:avLst/>
          </a:prstGeom>
          <a:solidFill>
            <a:srgbClr val="5B2C1E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197510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143000" y="194767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Akademik dürüstlük: Turnitin AI, GPTZero, atıf protokolü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2651760"/>
            <a:ext cx="82296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2651760"/>
            <a:ext cx="54864" cy="713232"/>
          </a:xfrm>
          <a:prstGeom prst="rect">
            <a:avLst/>
          </a:prstGeom>
          <a:solidFill>
            <a:srgbClr val="5B2C1E"/>
          </a:solidFill>
          <a:ln/>
        </p:spPr>
      </p:sp>
      <p:sp>
        <p:nvSpPr>
          <p:cNvPr id="20" name="Shape 18"/>
          <p:cNvSpPr/>
          <p:nvPr/>
        </p:nvSpPr>
        <p:spPr>
          <a:xfrm>
            <a:off x="640080" y="2843784"/>
            <a:ext cx="329184" cy="329184"/>
          </a:xfrm>
          <a:prstGeom prst="ellipse">
            <a:avLst/>
          </a:prstGeom>
          <a:solidFill>
            <a:srgbClr val="5B2C1E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284378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143000" y="281635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Veli iletişimi ve idari yazışma otomasyonu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9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5B2C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 Haftanın Araç Seti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498080" y="164592"/>
            <a:ext cx="1463040" cy="347472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0" y="164592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3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046720" y="4773168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pPr algn="r" indent="0" marL="0">
              <a:buNone/>
            </a:pPr>
            <a:r>
              <a:rPr lang="en-US" sz="800" dirty="0">
                <a:solidFill>
                  <a:srgbClr val="A39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16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57200" y="914400"/>
            <a:ext cx="38862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914400"/>
            <a:ext cx="54864" cy="640080"/>
          </a:xfrm>
          <a:prstGeom prst="rect">
            <a:avLst/>
          </a:prstGeom>
          <a:solidFill>
            <a:srgbClr val="5B2C1E"/>
          </a:solidFill>
          <a:ln/>
        </p:spPr>
      </p:sp>
      <p:sp>
        <p:nvSpPr>
          <p:cNvPr id="10" name="Shape 8"/>
          <p:cNvSpPr/>
          <p:nvPr/>
        </p:nvSpPr>
        <p:spPr>
          <a:xfrm>
            <a:off x="621792" y="1051560"/>
            <a:ext cx="365760" cy="365760"/>
          </a:xfrm>
          <a:prstGeom prst="rect">
            <a:avLst/>
          </a:prstGeom>
          <a:solidFill>
            <a:srgbClr val="5B2C1E"/>
          </a:solidFill>
          <a:ln/>
        </p:spPr>
      </p:sp>
      <p:sp>
        <p:nvSpPr>
          <p:cNvPr id="11" name="Text 9"/>
          <p:cNvSpPr/>
          <p:nvPr/>
        </p:nvSpPr>
        <p:spPr>
          <a:xfrm>
            <a:off x="621792" y="10515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97280" y="1078992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MagicSchool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800600" y="914400"/>
            <a:ext cx="38862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800600" y="914400"/>
            <a:ext cx="54864" cy="640080"/>
          </a:xfrm>
          <a:prstGeom prst="rect">
            <a:avLst/>
          </a:prstGeom>
          <a:solidFill>
            <a:srgbClr val="5B2C1E"/>
          </a:solidFill>
          <a:ln/>
        </p:spPr>
      </p:sp>
      <p:sp>
        <p:nvSpPr>
          <p:cNvPr id="15" name="Shape 13"/>
          <p:cNvSpPr/>
          <p:nvPr/>
        </p:nvSpPr>
        <p:spPr>
          <a:xfrm>
            <a:off x="4965192" y="1051560"/>
            <a:ext cx="365760" cy="365760"/>
          </a:xfrm>
          <a:prstGeom prst="rect">
            <a:avLst/>
          </a:prstGeom>
          <a:solidFill>
            <a:srgbClr val="5B2C1E"/>
          </a:solidFill>
          <a:ln/>
        </p:spPr>
      </p:sp>
      <p:sp>
        <p:nvSpPr>
          <p:cNvPr id="16" name="Text 14"/>
          <p:cNvSpPr/>
          <p:nvPr/>
        </p:nvSpPr>
        <p:spPr>
          <a:xfrm>
            <a:off x="4965192" y="10515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440680" y="1078992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Diffit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1691640"/>
            <a:ext cx="38862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1691640"/>
            <a:ext cx="54864" cy="640080"/>
          </a:xfrm>
          <a:prstGeom prst="rect">
            <a:avLst/>
          </a:prstGeom>
          <a:solidFill>
            <a:srgbClr val="5B2C1E"/>
          </a:solidFill>
          <a:ln/>
        </p:spPr>
      </p:sp>
      <p:sp>
        <p:nvSpPr>
          <p:cNvPr id="20" name="Shape 18"/>
          <p:cNvSpPr/>
          <p:nvPr/>
        </p:nvSpPr>
        <p:spPr>
          <a:xfrm>
            <a:off x="621792" y="1828800"/>
            <a:ext cx="365760" cy="365760"/>
          </a:xfrm>
          <a:prstGeom prst="rect">
            <a:avLst/>
          </a:prstGeom>
          <a:solidFill>
            <a:srgbClr val="5B2C1E"/>
          </a:solidFill>
          <a:ln/>
        </p:spPr>
      </p:sp>
      <p:sp>
        <p:nvSpPr>
          <p:cNvPr id="21" name="Text 19"/>
          <p:cNvSpPr/>
          <p:nvPr/>
        </p:nvSpPr>
        <p:spPr>
          <a:xfrm>
            <a:off x="621792" y="18288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97280" y="1856232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Curipod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800600" y="1691640"/>
            <a:ext cx="38862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800600" y="1691640"/>
            <a:ext cx="54864" cy="640080"/>
          </a:xfrm>
          <a:prstGeom prst="rect">
            <a:avLst/>
          </a:prstGeom>
          <a:solidFill>
            <a:srgbClr val="5B2C1E"/>
          </a:solidFill>
          <a:ln/>
        </p:spPr>
      </p:sp>
      <p:sp>
        <p:nvSpPr>
          <p:cNvPr id="25" name="Shape 23"/>
          <p:cNvSpPr/>
          <p:nvPr/>
        </p:nvSpPr>
        <p:spPr>
          <a:xfrm>
            <a:off x="4965192" y="1828800"/>
            <a:ext cx="365760" cy="365760"/>
          </a:xfrm>
          <a:prstGeom prst="rect">
            <a:avLst/>
          </a:prstGeom>
          <a:solidFill>
            <a:srgbClr val="5B2C1E"/>
          </a:solidFill>
          <a:ln/>
        </p:spPr>
      </p:sp>
      <p:sp>
        <p:nvSpPr>
          <p:cNvPr id="26" name="Text 24"/>
          <p:cNvSpPr/>
          <p:nvPr/>
        </p:nvSpPr>
        <p:spPr>
          <a:xfrm>
            <a:off x="4965192" y="18288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440680" y="1856232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Khanmigo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57200" y="2468880"/>
            <a:ext cx="38862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57200" y="2468880"/>
            <a:ext cx="54864" cy="640080"/>
          </a:xfrm>
          <a:prstGeom prst="rect">
            <a:avLst/>
          </a:prstGeom>
          <a:solidFill>
            <a:srgbClr val="5B2C1E"/>
          </a:solidFill>
          <a:ln/>
        </p:spPr>
      </p:sp>
      <p:sp>
        <p:nvSpPr>
          <p:cNvPr id="30" name="Shape 28"/>
          <p:cNvSpPr/>
          <p:nvPr/>
        </p:nvSpPr>
        <p:spPr>
          <a:xfrm>
            <a:off x="621792" y="2606040"/>
            <a:ext cx="365760" cy="365760"/>
          </a:xfrm>
          <a:prstGeom prst="rect">
            <a:avLst/>
          </a:prstGeom>
          <a:solidFill>
            <a:srgbClr val="5B2C1E"/>
          </a:solidFill>
          <a:ln/>
        </p:spPr>
      </p:sp>
      <p:sp>
        <p:nvSpPr>
          <p:cNvPr id="31" name="Text 29"/>
          <p:cNvSpPr/>
          <p:nvPr/>
        </p:nvSpPr>
        <p:spPr>
          <a:xfrm>
            <a:off x="621792" y="26060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097280" y="2633472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Kahoot AI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4800600" y="2468880"/>
            <a:ext cx="38862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800600" y="2468880"/>
            <a:ext cx="54864" cy="640080"/>
          </a:xfrm>
          <a:prstGeom prst="rect">
            <a:avLst/>
          </a:prstGeom>
          <a:solidFill>
            <a:srgbClr val="5B2C1E"/>
          </a:solidFill>
          <a:ln/>
        </p:spPr>
      </p:sp>
      <p:sp>
        <p:nvSpPr>
          <p:cNvPr id="35" name="Shape 33"/>
          <p:cNvSpPr/>
          <p:nvPr/>
        </p:nvSpPr>
        <p:spPr>
          <a:xfrm>
            <a:off x="4965192" y="2606040"/>
            <a:ext cx="365760" cy="365760"/>
          </a:xfrm>
          <a:prstGeom prst="rect">
            <a:avLst/>
          </a:prstGeom>
          <a:solidFill>
            <a:srgbClr val="5B2C1E"/>
          </a:solidFill>
          <a:ln/>
        </p:spPr>
      </p:sp>
      <p:sp>
        <p:nvSpPr>
          <p:cNvPr id="36" name="Text 34"/>
          <p:cNvSpPr/>
          <p:nvPr/>
        </p:nvSpPr>
        <p:spPr>
          <a:xfrm>
            <a:off x="4965192" y="26060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440680" y="2633472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Quizizz AI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457200" y="42976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39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Tüm araçların ücretsiz katmanı atölyede gösterilir. Premium gerekmez.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9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5B2C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Atölye Notebook'ları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498080" y="164592"/>
            <a:ext cx="1463040" cy="347472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0" y="164592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3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046720" y="4773168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pPr algn="r" indent="0" marL="0">
              <a:buNone/>
            </a:pPr>
            <a:r>
              <a:rPr lang="en-US" sz="800" dirty="0">
                <a:solidFill>
                  <a:srgbClr val="A39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16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57200" y="914400"/>
            <a:ext cx="82296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914400"/>
            <a:ext cx="54864" cy="594360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10058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B7A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📓 hafta10_meb_rehberi_disipliner_tarama.ipynb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389120" y="1033272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45+ aracın disipliner haritası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1627632"/>
            <a:ext cx="82296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1627632"/>
            <a:ext cx="54864" cy="594360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171907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B7A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📓 hafta10_dersplani_5e_uretici.ipynb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389120" y="1746504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5E modeline uygun ders planı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2340864"/>
            <a:ext cx="82296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2340864"/>
            <a:ext cx="54864" cy="594360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2432304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B7A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📓 hafta10_soru_bankasi_yapilandirilmis.ipynb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389120" y="2459736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çıktılı soru bankası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7200" y="3054096"/>
            <a:ext cx="82296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" y="3054096"/>
            <a:ext cx="54864" cy="594360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314553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B7A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📓 hafta10_rubrik_otomasyon.ipynb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389120" y="3172968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Otomatik rubrik üretimi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57200" y="3767328"/>
            <a:ext cx="82296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7200" y="3767328"/>
            <a:ext cx="54864" cy="594360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385876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B7A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📓 hafta10_kahoot_quizizz_ai.ipynb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389120" y="38862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Kahoot AI + Quizizz AI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9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5B2C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Pratik Ödevler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498080" y="164592"/>
            <a:ext cx="1463040" cy="347472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0" y="164592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3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046720" y="4773168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pPr algn="r" indent="0" marL="0">
              <a:buNone/>
            </a:pPr>
            <a:r>
              <a:rPr lang="en-US" sz="800" dirty="0">
                <a:solidFill>
                  <a:srgbClr val="A39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16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57200" y="914400"/>
            <a:ext cx="8229600" cy="841248"/>
          </a:xfrm>
          <a:prstGeom prst="rect">
            <a:avLst/>
          </a:prstGeom>
          <a:solidFill>
            <a:srgbClr val="FEF5EE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914400"/>
            <a:ext cx="54864" cy="841248"/>
          </a:xfrm>
          <a:prstGeom prst="rect">
            <a:avLst/>
          </a:prstGeom>
          <a:solidFill>
            <a:srgbClr val="C97B5A"/>
          </a:solidFill>
          <a:ln/>
        </p:spPr>
      </p:sp>
      <p:sp>
        <p:nvSpPr>
          <p:cNvPr id="10" name="Shape 8"/>
          <p:cNvSpPr/>
          <p:nvPr/>
        </p:nvSpPr>
        <p:spPr>
          <a:xfrm>
            <a:off x="640080" y="1170432"/>
            <a:ext cx="329184" cy="329184"/>
          </a:xfrm>
          <a:prstGeom prst="ellipse">
            <a:avLst/>
          </a:prstGeom>
          <a:solidFill>
            <a:srgbClr val="C97B5A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11704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43000" y="1078992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Kendi branşına özel 10 araç testi + sınıfta deneme + rapor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1874520"/>
            <a:ext cx="8229600" cy="841248"/>
          </a:xfrm>
          <a:prstGeom prst="rect">
            <a:avLst/>
          </a:prstGeom>
          <a:solidFill>
            <a:srgbClr val="FEF5EE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1874520"/>
            <a:ext cx="54864" cy="841248"/>
          </a:xfrm>
          <a:prstGeom prst="rect">
            <a:avLst/>
          </a:prstGeom>
          <a:solidFill>
            <a:srgbClr val="C97B5A"/>
          </a:solidFill>
          <a:ln/>
        </p:spPr>
      </p:sp>
      <p:sp>
        <p:nvSpPr>
          <p:cNvPr id="15" name="Shape 13"/>
          <p:cNvSpPr/>
          <p:nvPr/>
        </p:nvSpPr>
        <p:spPr>
          <a:xfrm>
            <a:off x="640080" y="2130552"/>
            <a:ext cx="329184" cy="329184"/>
          </a:xfrm>
          <a:prstGeom prst="ellipse">
            <a:avLst/>
          </a:prstGeom>
          <a:solidFill>
            <a:srgbClr val="C97B5A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21305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143000" y="2039112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ünitelik (4 ders) plan + etkinlik + ölçme paketi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2834640"/>
            <a:ext cx="8229600" cy="841248"/>
          </a:xfrm>
          <a:prstGeom prst="rect">
            <a:avLst/>
          </a:prstGeom>
          <a:solidFill>
            <a:srgbClr val="FEF5EE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2834640"/>
            <a:ext cx="54864" cy="841248"/>
          </a:xfrm>
          <a:prstGeom prst="rect">
            <a:avLst/>
          </a:prstGeom>
          <a:solidFill>
            <a:srgbClr val="C97B5A"/>
          </a:solidFill>
          <a:ln/>
        </p:spPr>
      </p:sp>
      <p:sp>
        <p:nvSpPr>
          <p:cNvPr id="20" name="Shape 18"/>
          <p:cNvSpPr/>
          <p:nvPr/>
        </p:nvSpPr>
        <p:spPr>
          <a:xfrm>
            <a:off x="640080" y="3090672"/>
            <a:ext cx="329184" cy="329184"/>
          </a:xfrm>
          <a:prstGeom prst="ellipse">
            <a:avLst/>
          </a:prstGeom>
          <a:solidFill>
            <a:srgbClr val="C97B5A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30906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143000" y="2999232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Velilere YZ kullanımı bilgilendirme broşürü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A39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ödev kişisel öğrenme defterine kaydedilir, capstone projesinde tekrar kullanılır.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9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5B2C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Kaynaklar ve Referanslar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498080" y="164592"/>
            <a:ext cx="1463040" cy="347472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0" y="164592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3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046720" y="4773168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pPr algn="r" indent="0" marL="0">
              <a:buNone/>
            </a:pPr>
            <a:r>
              <a:rPr lang="en-US" sz="800" dirty="0">
                <a:solidFill>
                  <a:srgbClr val="A39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16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57200" y="914400"/>
            <a:ext cx="82296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914400"/>
            <a:ext cx="54864" cy="658368"/>
          </a:xfrm>
          <a:prstGeom prst="rect">
            <a:avLst/>
          </a:prstGeom>
          <a:solidFill>
            <a:srgbClr val="7C5BBF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107899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97280" y="1005840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docs/MEB YZ Araçları Öğretmen El Kitabı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97280" y="1280160"/>
            <a:ext cx="7132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395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docs/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7200" y="1691640"/>
            <a:ext cx="82296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1691640"/>
            <a:ext cx="54864" cy="658368"/>
          </a:xfrm>
          <a:prstGeom prst="rect">
            <a:avLst/>
          </a:prstGeom>
          <a:solidFill>
            <a:srgbClr val="7C5BBF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185623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97280" y="1783080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docs/Eğitici Eğitimi ÜYZ 4 gün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97280" y="2057400"/>
            <a:ext cx="7132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395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docs/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7200" y="2468880"/>
            <a:ext cx="82296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2468880"/>
            <a:ext cx="54864" cy="658368"/>
          </a:xfrm>
          <a:prstGeom prst="rect">
            <a:avLst/>
          </a:prstGeom>
          <a:solidFill>
            <a:srgbClr val="7C5BBF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263347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097280" y="2560320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MagicSchool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97280" y="2834640"/>
            <a:ext cx="7132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395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magicschool.ai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5B2C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Hafta 10 · Eğitimciler İçin Üretken YZ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749808"/>
            <a:ext cx="2286000" cy="36576"/>
          </a:xfrm>
          <a:prstGeom prst="rect">
            <a:avLst/>
          </a:prstGeom>
          <a:solidFill>
            <a:srgbClr val="C97B5A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960120"/>
            <a:ext cx="8229600" cy="548640"/>
          </a:xfrm>
          <a:prstGeom prst="rect">
            <a:avLst/>
          </a:prstGeom>
          <a:solidFill>
            <a:srgbClr val="3D231A"/>
          </a:solidFill>
          <a:ln w="12700">
            <a:solidFill>
              <a:srgbClr val="5A382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069848"/>
            <a:ext cx="329184" cy="329184"/>
          </a:xfrm>
          <a:prstGeom prst="ellipse">
            <a:avLst/>
          </a:prstGeom>
          <a:solidFill>
            <a:srgbClr val="5B2C1E"/>
          </a:solidFill>
          <a:ln/>
        </p:spPr>
      </p:sp>
      <p:sp>
        <p:nvSpPr>
          <p:cNvPr id="7" name="Text 5"/>
          <p:cNvSpPr/>
          <p:nvPr/>
        </p:nvSpPr>
        <p:spPr>
          <a:xfrm>
            <a:off x="566928" y="10698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24128" y="96012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C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MEB rehberi, Türk eğitimcisi için altın referans — 45+ aracı kendi branşına haritalandır.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1618488"/>
            <a:ext cx="8229600" cy="548640"/>
          </a:xfrm>
          <a:prstGeom prst="rect">
            <a:avLst/>
          </a:prstGeom>
          <a:solidFill>
            <a:srgbClr val="3D231A"/>
          </a:solidFill>
          <a:ln w="12700">
            <a:solidFill>
              <a:srgbClr val="5A382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66928" y="1728216"/>
            <a:ext cx="329184" cy="329184"/>
          </a:xfrm>
          <a:prstGeom prst="ellipse">
            <a:avLst/>
          </a:prstGeom>
          <a:solidFill>
            <a:srgbClr val="5B2C1E"/>
          </a:solidFill>
          <a:ln/>
        </p:spPr>
      </p:sp>
      <p:sp>
        <p:nvSpPr>
          <p:cNvPr id="11" name="Text 9"/>
          <p:cNvSpPr/>
          <p:nvPr/>
        </p:nvSpPr>
        <p:spPr>
          <a:xfrm>
            <a:off x="566928" y="172821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24128" y="1618488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C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Ders planı + soru bankası + rubrik = 3 saatlik haftalık iş yarım saate iner.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276856"/>
            <a:ext cx="8229600" cy="548640"/>
          </a:xfrm>
          <a:prstGeom prst="rect">
            <a:avLst/>
          </a:prstGeom>
          <a:solidFill>
            <a:srgbClr val="3D231A"/>
          </a:solidFill>
          <a:ln w="12700">
            <a:solidFill>
              <a:srgbClr val="5A382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66928" y="2386584"/>
            <a:ext cx="329184" cy="329184"/>
          </a:xfrm>
          <a:prstGeom prst="ellipse">
            <a:avLst/>
          </a:prstGeom>
          <a:solidFill>
            <a:srgbClr val="5B2C1E"/>
          </a:solidFill>
          <a:ln/>
        </p:spPr>
      </p:sp>
      <p:sp>
        <p:nvSpPr>
          <p:cNvPr id="15" name="Text 13"/>
          <p:cNvSpPr/>
          <p:nvPr/>
        </p:nvSpPr>
        <p:spPr>
          <a:xfrm>
            <a:off x="566928" y="238658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24128" y="2276856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C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Akademik dürüstlük protokolü olmadan YZ sınıfa girmemeli — atıf kuralları başta belirlenir.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0" y="4251960"/>
            <a:ext cx="9144000" cy="891540"/>
          </a:xfrm>
          <a:prstGeom prst="rect">
            <a:avLst/>
          </a:prstGeom>
          <a:solidFill>
            <a:srgbClr val="2E1710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431596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C97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“En iyi öğretmen, öğrenmeye en açık olandır.”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39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Murat Altun  ·  Veri Bilimi ve Yapay Zekâ Eğitimi  · 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Hafta 10 — Eğitimciler İçin Üretken YZ</dc:title>
  <dc:subject>PptxGenJS Presentation</dc:subject>
  <dc:creator>Dr. Murat Altun</dc:creator>
  <cp:lastModifiedBy>Dr. Murat Altun</cp:lastModifiedBy>
  <cp:revision>1</cp:revision>
  <dcterms:created xsi:type="dcterms:W3CDTF">2026-05-10T10:37:31Z</dcterms:created>
  <dcterms:modified xsi:type="dcterms:W3CDTF">2026-05-10T10:37:31Z</dcterms:modified>
</cp:coreProperties>
</file>