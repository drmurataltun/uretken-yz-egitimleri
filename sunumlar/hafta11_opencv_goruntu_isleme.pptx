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13716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</a:defRPr>
            </a:pPr>
            <a:r>
              <a:t>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0116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</a:defRPr>
            </a:pPr>
            <a:r>
              <a:t>OpenCV ile Görüntü İşleme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657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EC0"/>
                </a:solidFill>
              </a:defRPr>
            </a:pPr>
            <a:r>
              <a:t>Piksel, Renk Uzayları, Filtreler, Kenar Tespiti ve Kontur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5303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</a:defRPr>
            </a:pPr>
            <a:r>
              <a:t>Dr. Murat Altun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5669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</a:defRPr>
            </a:pPr>
            <a:r>
              <a:t>ECS Veri Bilimi ve YZ Uzmanlığı — Hafta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6126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Dijital Görüntü Nedir? (Piksel ve Kanal)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5156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10515600" cy="47548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9875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Dijital görüntü = 2D piksel matrisi (satır x sütun)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Gri tonlama: Her piksel 0-255 arası tek değer (1 kanal)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Renkli (RGB): Her piksel 3 kanal → Kırmızı, Yeşil, Mavi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Görüntü boyutu: (yükseklik, genişlik, kanal) → örn. (480, 640, 3)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1 piksel = en küçük görüntü birimi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Çözünürlük: Piksel sayısı → 1920x1080 = ~2 milyon piksel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Bit derinliği: 8-bit (0-255) en yaygın, 16-bit medikal görüntüleme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  |  Hafta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6126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OpenCV Kurulum ve Temel Bilgiler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51560"/>
            <a:ext cx="18288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10515600" cy="47548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9875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pip install opencv-python (temel) veya opencv-contrib-python (ek modüller)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import cv2 → OpenCV Python API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C++ ile yazılmış, Python binding ile kullanılır → çok hızlı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2500+ optimize edilmiş algoritma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Bilgisayarla görme alanının en yaygın kütüphanesi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Desteklenen platformlar: Linux, Windows, macOS, Android, iOS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Lisans: Apache 2.0 — ticari kullanıma açık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  |  Hafta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6126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Görüntü Okuma ve Yazma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51560"/>
            <a:ext cx="18288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5029200" cy="47548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371600"/>
            <a:ext cx="54864" cy="4754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554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</a:defRPr>
            </a:pPr>
            <a:r>
              <a:t>Okuma İşlemleri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0312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img = cv2.imread('foto.jpg')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cv2.IMREAD_COLOR → renkli (BGR)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cv2.IMREAD_GRAYSCALE → gri ton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img.shape → (H, W, C)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img.dtype → uint8 (0-255)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029200" cy="47548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54864" cy="4754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554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Gösterme ve Kaydetme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10312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cv2.imshow('Pencere', img)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cv2.waitKey(0) → tuş bekleme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cv2.destroyAllWindows()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cv2.imwrite('cikti.jpg', img)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Jupyter: plt.imshow(rgb_img)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  |  Hafta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6126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Renk Uzayları: BGR, RGB, HSV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5156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10515600" cy="47548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9875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OpenCV varsayılan: BGR (Mavi-Yeşil-Kırmızı) — dikkat!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Matplotlib/PIL: RGB sıralaması kullanır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Dönüşüm: rgb = cv2.cvtColor(img, cv2.COLOR_BGR2RGB)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HSV: Hue (renk tonu) - Saturation (doygunluk) - Value (parlaklık)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HSV avantajı: Renk filtreleme için ideal (ışık değişimlerine dayanıklı)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hsv = cv2.cvtColor(img, cv2.COLOR_BGR2HSV)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Renk maskeleme: cv2.inRange(hsv, lower_bound, upper_bound)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  |  Hafta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6126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Filtreler: Blur, Gaussian, Median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51560"/>
            <a:ext cx="18288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10515600" cy="47548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9875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Filtreler — gürültü azaltma ve görüntü yumuşatma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Blur (ortalama): cv2.blur(img, (5,5)) → basit ortalama filtresi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Gaussian Blur: cv2.GaussianBlur(img, (5,5), 0) → ağırlıklı ortalama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   → Doğal bulanıklık, kenar tespiti öncesi ideal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Median Blur: cv2.medianBlur(img, 5) → tuz-biber gürültüsüne karşı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Kernel boyutu: (3,3), (5,5), (7,7) → büyüdükçe daha fazla bulanıklık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Bilateral Filter: cv2.bilateralFilter() → kenarları koruyarak bulanıklaştırma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  |  Hafta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6126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Kenar Tespiti: Canny Edge Detection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51560"/>
            <a:ext cx="182880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10515600" cy="47548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9875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Kenarlar = piksel yoğunluğundaki ani değişimler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Canny algoritması (John Canny, 1986) — en popüler kenar tespit yöntemi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edges = cv2.Canny(gray, threshold1=100, threshold2=200)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Adımlar: Gaussian blur → Gradyan hesaplama → NMS → Hysteresis eşikleme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threshold1: Alt eşik — zayıf kenarları belirler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threshold2: Üst eşik — güçlü kenarları belirler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Ön işleme: Gri tona çevirme + Gaussian blur uygulama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  |  Hafta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6126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Şekil Çizme ve Metin Ekleme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51560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10515600" cy="47548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9875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cv2.line(img, (0,0), (200,200), (0,255,0), 2) → yeşil çizgi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cv2.rectangle(img, (50,50), (200,200), (255,0,0), 3) → mavi dikdörtgen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cv2.circle(img, (150,150), 50, (0,0,255), -1) → dolu kırmızı daire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cv2.putText(img, 'Merhaba', (10,50), cv2.FONT_HERSHEY_SIMPLEX, 1, (255,255,255), 2)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thickness=-1 → şekli doldurur, pozitif → sadece kenar çizer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Annotation ve görselleştirme için temel araçlar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Nesne tespiti sonuçlarını görüntü üzerine çizme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  |  Hafta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6126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Kontur Tespiti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51560"/>
            <a:ext cx="18288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10515600" cy="47548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9875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Kontur = nesne sınırlarını takip eden eğri (kapalı şekil)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contours, hierarchy = cv2.findContours(thresh, cv2.RETR_TREE, cv2.CHAIN_APPROX_SIMPLE)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Ön koşul: İkili (binary) görüntü → threshold veya Canny sonucu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cv2.drawContours(img, contours, -1, (0,255,0), 2) → tüm konturları çiz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cv2.contourArea(cnt) → alan hesaplama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cv2.boundingRect(cnt) → sınırlayıcı kutu (x, y, w, h)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Uygulama: Nesne sayma, şekil tanıma, ROI çıkarma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  |  Hafta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6126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Pratik: Görüntü İşleme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5156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10515600" cy="47548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9875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1. Görüntü okuma: cv2.imread() → BGR format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2. Gri tona çevirme: cv2.cvtColor(img, cv2.COLOR_BGR2GRAY)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3. Gürültü azaltma: cv2.GaussianBlur(gray, (5,5), 0)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4. Kenar tespiti: cv2.Canny(blurred, 50, 150)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5. Kontur bulma: cv2.findContours(edges, ...)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6. Filtreleme: Alan ve şekle göre konturları seçme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7. Görselleştirme: Sonuçları orijinal görüntü üzerine çizme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  |  Hafta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6126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Özet ve Sonuç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51560"/>
            <a:ext cx="18288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10515600" cy="47548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9875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0B981"/>
                </a:solidFill>
              </a:defRPr>
            </a:pPr>
            <a:r>
              <a:t>Dijital görüntü — piksel matrisi (satır x sütun x kanal)</a:t>
            </a:r>
          </a:p>
          <a:p>
            <a:pPr>
              <a:spcAft>
                <a:spcPts val="800"/>
              </a:spcAft>
              <a:defRPr sz="1600">
                <a:solidFill>
                  <a:srgbClr val="10B981"/>
                </a:solidFill>
              </a:defRPr>
            </a:pPr>
            <a:r>
              <a:t>OpenCV — bilgisayarla görmenin temel kütüphanesi</a:t>
            </a:r>
          </a:p>
          <a:p>
            <a:pPr>
              <a:spcAft>
                <a:spcPts val="800"/>
              </a:spcAft>
              <a:defRPr sz="1600">
                <a:solidFill>
                  <a:srgbClr val="10B981"/>
                </a:solidFill>
              </a:defRPr>
            </a:pPr>
            <a:r>
              <a:t>BGR, RGB, HSV renk uzayı dönüşümleri</a:t>
            </a:r>
          </a:p>
          <a:p>
            <a:pPr>
              <a:spcAft>
                <a:spcPts val="800"/>
              </a:spcAft>
              <a:defRPr sz="1600">
                <a:solidFill>
                  <a:srgbClr val="10B981"/>
                </a:solidFill>
              </a:defRPr>
            </a:pPr>
            <a:r>
              <a:t>Filtreler ile gürültü azaltma ve görüntü iyileştirme</a:t>
            </a:r>
          </a:p>
          <a:p>
            <a:pPr>
              <a:spcAft>
                <a:spcPts val="800"/>
              </a:spcAft>
              <a:defRPr sz="1600">
                <a:solidFill>
                  <a:srgbClr val="10B981"/>
                </a:solidFill>
              </a:defRPr>
            </a:pPr>
            <a:r>
              <a:t>Canny kenar tespiti ve kontur analizi</a:t>
            </a:r>
          </a:p>
          <a:p>
            <a:pPr>
              <a:spcAft>
                <a:spcPts val="800"/>
              </a:spcAft>
              <a:defRPr sz="1600">
                <a:solidFill>
                  <a:srgbClr val="10B981"/>
                </a:solidFill>
              </a:defRPr>
            </a:pPr>
            <a:r>
              <a:t>Şekil çizme ve metin ekleme ile görselleştirme</a:t>
            </a:r>
          </a:p>
          <a:p>
            <a:pPr>
              <a:spcAft>
                <a:spcPts val="800"/>
              </a:spcAft>
              <a:defRPr sz="1600">
                <a:solidFill>
                  <a:srgbClr val="10B981"/>
                </a:solidFill>
              </a:defRPr>
            </a:pPr>
            <a:r>
              <a:t>Gelecek hafta: CNN ve Transfer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  |  Hafta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