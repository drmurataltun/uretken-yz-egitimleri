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5000" dirty="0"/>
          </a:p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Programlama</a:t>
            </a:r>
            <a:endParaRPr lang="en-US" sz="5000" dirty="0"/>
          </a:p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Temelleri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0"/>
            <a:ext cx="2286000" cy="5486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3375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Değişkenler, Döngüler, Fonksiyonlar ve GitHub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389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Murat Altun  ·  2026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55080" y="731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400800" y="14630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Guido van Rossum tarafından geliştirildi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21945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50x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6400800" y="2926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Daha hızlı ve verimli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36576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6400800" y="4389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Bilimi alanında en popüler dil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Nedir?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seviyeli, genel amaçlı programlama dili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64008" cy="35661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Bilgi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0352" y="1609344"/>
            <a:ext cx="182880" cy="18288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15361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Guido van Rossum tarafından 1991'de geliştirildi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30352" y="2139696"/>
            <a:ext cx="182880" cy="18288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06654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seviyeli, genel amaçlı programlama dili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0352" y="2670048"/>
            <a:ext cx="182880" cy="18288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59689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Okunabilirlik ve sadelik odaklı tasarım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30352" y="3200400"/>
            <a:ext cx="182880" cy="18288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12724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Geniş kütüphane ekosistemi (PyPI)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0352" y="3730752"/>
            <a:ext cx="182880" cy="18288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3657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bilimi, yapay zekâ, web geliştirmede lider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1078992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1078992"/>
            <a:ext cx="64008" cy="35661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Veri Biliminde Python?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28032" y="1609344"/>
            <a:ext cx="182880" cy="18288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02352" y="1536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Pandas, Scikit-learn gibi güçlü kütüphaneler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28032" y="2295144"/>
            <a:ext cx="182880" cy="18288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02352" y="22219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 Notebook ile etkileşimli geliştirme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828032" y="2980944"/>
            <a:ext cx="182880" cy="18288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02352" y="2907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Topluluk desteği ve açık kaynak kültürü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828032" y="3666744"/>
            <a:ext cx="182880" cy="18288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02352" y="35935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Google, Netflix, NASA gibi şirketlerde aktif kullanım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Değişkenler ve Veri Tipleri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veri tipleri: str, int, float, bool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3891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64008" cy="35661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Örneği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444752"/>
            <a:ext cx="4023360" cy="292608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0876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Temel veri tipleri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isim = "Murat"      # str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yas = 35            # int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boy = 1.78          # float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aktif = True        # bool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Tip kontrolü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print(type(isim))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&lt;class 'str'&gt;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Tip dönüşümü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sayi_str = "42"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sayi_int = int(sayi_str)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846320" y="1078992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46320" y="1078992"/>
            <a:ext cx="64008" cy="35661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143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Açıklamalar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0" y="148132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Metin verileri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29200" y="1975104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sayılar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0" y="246888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Ondalıklı sayılar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029200" y="2962656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veya False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0" y="345643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type():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kontrolü yapar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0" y="395020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int(), str(): </a:t>
            </a:r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dönüştürme fonksiyonları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Fonksiyonlar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yeniden kullanım ve DRY prensibi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3891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64008" cy="35661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Fonksiyon Tanımlama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4023360" cy="292608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27048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Basit fonksiyon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selamla(isim):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f"Merhaba, {isim}!"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print(selamla("Murat"))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Varsayılan parametreler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kare_al(sayi, us=2):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sayi ** us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print(kare_al(3))    # 9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print(kare_al(3, 3)) # 27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846320" y="1078992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46320" y="1078992"/>
            <a:ext cx="64008" cy="35661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143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Fonksiyon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1463040"/>
            <a:ext cx="3749040" cy="292608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1527048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Tek satırlık anonim fonksiyon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cift_mi = lambda x: x % 2 == 0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print(cift_mi(4))   # True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print(cift_mi(5))   # False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map ile kullanım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sayilar = [1, 2, 3, 4, 5]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kareler = list(map(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lambda x: x ** 2,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sayilar))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[1, 4, 9, 16, 25]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Döngüler: for ve while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Tekrarlı işlemler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3891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64008" cy="35661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Döngüsü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4023360" cy="292608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27048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Koleksiyon üzerinde gezinme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sayilar = [1, 2, 3, 4, 5]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s in sayilar: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print(s * 2)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range() ile sayma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range(5):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print(i)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Başlangıç, bitiş, adım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range(0, 10, 2):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print(i)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846320" y="1078992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46320" y="1078992"/>
            <a:ext cx="64008" cy="35661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143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Döngüsü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1463040"/>
            <a:ext cx="3749040" cy="292608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1527048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Koşul sağlandıkça çalışır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sayac = 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sayac &lt; 3: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print(f"Sayaç: {sayac}")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sayac += 1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Kontrol komutları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       # Döngüyü kır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    # Sonraki iterasyona geç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f-string ile format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isim = "Murat"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print(f"Merhaba, {isim}!")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Listeler ve Sözlükler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Koleksiyon veri tipleri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3891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64008" cy="35661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(List)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4023360" cy="292608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27048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Sıralı, değiştirilebilir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meyveler = ["elma", "armut",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"portakal"]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Eleman ekleme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meyveler.append("muz")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İndeksleme (0'dan başlar)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print(meyveler[0])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Uzunluk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len(meyveler)  # 4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846320" y="1078992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46320" y="1078992"/>
            <a:ext cx="64008" cy="35661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143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Sözlük (Dictionary)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1463040"/>
            <a:ext cx="3749040" cy="292608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1527048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Anahtar-değer çifti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ogrenci =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"ad": "Ayşe",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"yas": 22,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"bolum": "Bilg. Müh."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Erişim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ogrenci["ad"]  # "Ayşe"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Yeni anahtar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ogrenci["not"] = 3.5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Koşullu İfadeler: if / elif / else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Akış kontrolü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64008" cy="35661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Örneği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8046720" cy="292608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27048"/>
            <a:ext cx="7863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not_ort = 75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not_ort &gt;= 90: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print("AA")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 not_ort &gt;= 80: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print("BA")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 not_ort &gt;= 70: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print("BB")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print("Kaldı")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Ternary (tek satır)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durum = "Geçti" if not_ort &gt;= 50 else "Kaldı"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ile Versiyon Kontrolü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temelleri ve remote repository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64008" cy="35661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Git Komutları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48132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Yeni repository başlatma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193852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Değişiklikleri hazırlama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239572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Değişiklikleri kaydetme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85292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Uzak sunucuya gönderme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331012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Uzak sunucudan çekme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76732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Repoyu klonlama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078992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1078992"/>
            <a:ext cx="64008" cy="35661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1143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Repository Oluşturma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0" y="148132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github.com adresine gidin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46320" y="192024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Sign Up ile kayıt olun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235915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Profil bilgilerinizi doldurun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0" y="2798064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New Repository butonuna tıklayın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323697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İsim ve açıklama girin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36758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README.md ile başlatın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41148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Clone ile indirin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Geliştirme Ortamı: Jupyter Notebook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Etkileşimli Python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64008" cy="35661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 Nedir?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0352" y="1527048"/>
            <a:ext cx="164592" cy="164592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148132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Etkileşimli Python geliştirme ortamı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30352" y="1911096"/>
            <a:ext cx="164592" cy="164592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186537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Kod, metin, görselleştirmeler bir arada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0352" y="2295144"/>
            <a:ext cx="164592" cy="164592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2494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.ipynb uzantılı dosyalar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30352" y="2679192"/>
            <a:ext cx="164592" cy="164592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263347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tarayıcısında çalışır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0352" y="3063240"/>
            <a:ext cx="164592" cy="164592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30175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Hücre (cell) bazlı kod çalıştırma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30352" y="3447288"/>
            <a:ext cx="164592" cy="164592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34015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desteği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0352" y="3831336"/>
            <a:ext cx="164592" cy="164592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378561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 gösterimi doğrudan sunar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1078992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078992"/>
            <a:ext cx="64008" cy="35661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1143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Kurulum ve Google Colab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46320" y="148132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jupyter: 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Kurulum komutu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186537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 notebook: 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Jupyter'i başlatma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224942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Colab: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263347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colab.research.google.com: 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Bulut tabanlı Jupyter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0175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GPU/TPU desteği: 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 hesaplama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46320" y="340156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Drive entegr.: 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Dosyalara kolay erişim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Operatörler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Aritmetik, Karşılaştırma, Mantıksal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64008" cy="17373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Aritmetik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685800" cy="365760"/>
          </a:xfrm>
          <a:prstGeom prst="rect">
            <a:avLst/>
          </a:prstGeom>
          <a:solidFill>
            <a:srgbClr val="FFF8E1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46304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325880" y="1463040"/>
            <a:ext cx="685800" cy="365760"/>
          </a:xfrm>
          <a:prstGeom prst="rect">
            <a:avLst/>
          </a:prstGeom>
          <a:solidFill>
            <a:srgbClr val="FFF8E1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25880" y="146304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03120" y="1463040"/>
            <a:ext cx="685800" cy="365760"/>
          </a:xfrm>
          <a:prstGeom prst="rect">
            <a:avLst/>
          </a:prstGeom>
          <a:solidFill>
            <a:srgbClr val="FFF8E1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03120" y="146304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1874520"/>
            <a:ext cx="685800" cy="365760"/>
          </a:xfrm>
          <a:prstGeom prst="rect">
            <a:avLst/>
          </a:prstGeom>
          <a:solidFill>
            <a:srgbClr val="FFF8E1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18745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325880" y="1874520"/>
            <a:ext cx="685800" cy="365760"/>
          </a:xfrm>
          <a:prstGeom prst="rect">
            <a:avLst/>
          </a:prstGeom>
          <a:solidFill>
            <a:srgbClr val="FFF8E1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25880" y="18745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103120" y="1874520"/>
            <a:ext cx="685800" cy="365760"/>
          </a:xfrm>
          <a:prstGeom prst="rect">
            <a:avLst/>
          </a:prstGeom>
          <a:solidFill>
            <a:srgbClr val="FFF8E1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18745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286000"/>
            <a:ext cx="685800" cy="365760"/>
          </a:xfrm>
          <a:prstGeom prst="rect">
            <a:avLst/>
          </a:prstGeom>
          <a:solidFill>
            <a:srgbClr val="FFF8E1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28600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0" y="1078992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0" y="1078992"/>
            <a:ext cx="64008" cy="17373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1143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Karşılaştırma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83280" y="1463040"/>
            <a:ext cx="685800" cy="365760"/>
          </a:xfrm>
          <a:prstGeom prst="rect">
            <a:avLst/>
          </a:prstGeom>
          <a:solidFill>
            <a:srgbClr val="E1F5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146304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60520" y="1463040"/>
            <a:ext cx="685800" cy="365760"/>
          </a:xfrm>
          <a:prstGeom prst="rect">
            <a:avLst/>
          </a:prstGeom>
          <a:solidFill>
            <a:srgbClr val="E1F5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60520" y="146304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!=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937760" y="1463040"/>
            <a:ext cx="685800" cy="365760"/>
          </a:xfrm>
          <a:prstGeom prst="rect">
            <a:avLst/>
          </a:prstGeom>
          <a:solidFill>
            <a:srgbClr val="E1F5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146304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383280" y="1874520"/>
            <a:ext cx="685800" cy="365760"/>
          </a:xfrm>
          <a:prstGeom prst="rect">
            <a:avLst/>
          </a:prstGeom>
          <a:solidFill>
            <a:srgbClr val="E1F5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0" y="18745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160520" y="1874520"/>
            <a:ext cx="685800" cy="365760"/>
          </a:xfrm>
          <a:prstGeom prst="rect">
            <a:avLst/>
          </a:prstGeom>
          <a:solidFill>
            <a:srgbClr val="E1F5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60520" y="18745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&lt;=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937760" y="1874520"/>
            <a:ext cx="685800" cy="365760"/>
          </a:xfrm>
          <a:prstGeom prst="rect">
            <a:avLst/>
          </a:prstGeom>
          <a:solidFill>
            <a:srgbClr val="E1F5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37760" y="18745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&gt;=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035040" y="1078992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035040" y="1078992"/>
            <a:ext cx="64008" cy="17373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17920" y="1143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Mantıksal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17920" y="1463040"/>
            <a:ext cx="2377440" cy="365760"/>
          </a:xfrm>
          <a:prstGeom prst="rect">
            <a:avLst/>
          </a:prstGeom>
          <a:solidFill>
            <a:srgbClr val="FFEAA7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17920" y="1874520"/>
            <a:ext cx="2377440" cy="365760"/>
          </a:xfrm>
          <a:prstGeom prst="rect">
            <a:avLst/>
          </a:prstGeom>
          <a:solidFill>
            <a:srgbClr val="FFEAA7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1792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17920" y="2286000"/>
            <a:ext cx="2377440" cy="365760"/>
          </a:xfrm>
          <a:prstGeom prst="rect">
            <a:avLst/>
          </a:prstGeom>
          <a:solidFill>
            <a:srgbClr val="FFEAA7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17920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2926080"/>
            <a:ext cx="84124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65760" y="2926080"/>
            <a:ext cx="64008" cy="20116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29900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Örnekler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48640" y="33375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+ 3 = 8  |  7 // 2 = 3  |  7 % 2 = 1  |  2 ** 3 = 8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48640" y="3886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== 5 → True  |  3 &gt; 7 → False  |  10 &gt;= 10 → True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and False → False  |  True or False → True  |  not True → False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Özet ve Değerlendirme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206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97280"/>
            <a:ext cx="64008" cy="36576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612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Çıkarımlar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0352" y="1563624"/>
            <a:ext cx="146304" cy="14630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517904"/>
            <a:ext cx="3657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D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okunabilir ve güçlü bir dildir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30352" y="1956816"/>
            <a:ext cx="146304" cy="14630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1911096"/>
            <a:ext cx="3657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D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Değişken tipleri: str, int, float, bool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350008"/>
            <a:ext cx="146304" cy="14630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304288"/>
            <a:ext cx="3657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D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Listeler sıralı, sözlükler anahtar-değer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0352" y="2743200"/>
            <a:ext cx="146304" cy="14630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2697480"/>
            <a:ext cx="3657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D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for/while döngüleri tekrarlı işlemler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0352" y="3136392"/>
            <a:ext cx="146304" cy="14630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3090672"/>
            <a:ext cx="3657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D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if/elif/else koşullu akış kontrolü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30352" y="3529584"/>
            <a:ext cx="146304" cy="14630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3483864"/>
            <a:ext cx="3657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D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Fonksiyonlar kodun yeniden kullanımını sağlar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0352" y="3922776"/>
            <a:ext cx="146304" cy="14630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3877056"/>
            <a:ext cx="3657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D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projeler versiyon kontrollü yönetir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1097280"/>
            <a:ext cx="41148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0D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097280"/>
            <a:ext cx="64008" cy="36576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1612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Ödev / Uygulama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151790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D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hesabı ve ilk repo oluşturun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46320" y="19019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D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farklı değişken tanımlayın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46320" y="2286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D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Çift sayıları yazdıran döngü yazın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6700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D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ortalaması hesaplayan fonksiyon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46320" y="305409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D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Sözlük ile öğrenci bilgi sistemi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43814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D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Colab'da notebook oluşturun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8221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DF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kodları GitHub'a push edin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5A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Murat Altun  ·  Hafta 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Programlama Temelleri</dc:title>
  <dc:subject>PptxGenJS Presentation</dc:subject>
  <dc:creator>Dr. Murat Altun</dc:creator>
  <cp:lastModifiedBy>Dr. Murat Altun</cp:lastModifiedBy>
  <cp:revision>1</cp:revision>
  <dcterms:created xsi:type="dcterms:W3CDTF">2026-04-07T16:16:41Z</dcterms:created>
  <dcterms:modified xsi:type="dcterms:W3CDTF">2026-04-07T16:16:41Z</dcterms:modified>
</cp:coreProperties>
</file>