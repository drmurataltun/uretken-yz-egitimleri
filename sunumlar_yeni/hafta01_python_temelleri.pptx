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DERSİ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Temelleri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Veri Bilimi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Ekosistemi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4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· Modül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 ve Yapay Zekâ Eğitimi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Potansiyel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05840"/>
            <a:ext cx="54864" cy="8046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243584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43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Bilimi Ekosistemi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 nedir, neden önemlidir, yol haritası ve Google Colab tanıtımı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65960"/>
            <a:ext cx="54864" cy="80467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2037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Temelleri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veri tipleri, operatörler, input/output işlemleri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26080"/>
            <a:ext cx="54864" cy="804672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163824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Yapıları ve Kontrol Akışı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Listeler, sözlükler, tuple, set, döngüler ve koşullu ifadeler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86200"/>
            <a:ext cx="54864" cy="804672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123944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977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Fonksiyonlar ve GitHub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 tanımlama, lambda, GitHub temelleri, ödevler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Bilimi Nedir?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Tanım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bilimi; istatistik, matematik, programlama ve alan bilgisini birleştirerek veriden anlamlı içgörüler çıkaran ve bu içgörüleri karar alma süreçlerine dönüştüren disiplinler arası bir alandır.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25603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 yıllık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 iş ilanı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4688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468880"/>
            <a:ext cx="25603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₺85K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383280" y="32186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başlangıç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maaşı (aylık brüt)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468880"/>
            <a:ext cx="256032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%36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17920" y="32186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büyüme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oranı (2023–2026)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LinkedIn Talent Insights, Glassdoor TR, McKinsey Global AI Survey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Bilimci Yol Haritası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7315200" cy="54864"/>
          </a:xfrm>
          <a:prstGeom prst="rect">
            <a:avLst/>
          </a:prstGeom>
          <a:solidFill>
            <a:srgbClr val="E8DDD3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48840"/>
            <a:ext cx="420624" cy="42062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İstatistik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Temelleri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Olasılık, dağılımlar,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 testleri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2148840"/>
            <a:ext cx="420624" cy="42062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Programlama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(Python/R)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yapıları, kütüphaneler,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148840"/>
            <a:ext cx="420624" cy="42062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Öğrenmesi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Regresyon, sınıflandırma,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148840"/>
            <a:ext cx="420624" cy="42062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7F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Öğrenme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 ağları, CNN,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RNN, Transformer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80960" y="2148840"/>
            <a:ext cx="420624" cy="42062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Uzmanlaşma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Alanı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Görüntü İşleme,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eğitimde 15 hafta boyunca tüm bu aşamaları kapsayan uygulamalı projelerle ilerleyeceğiz. Her hafta en az bir notebook ve bir mini proje tamamlayacaksınız.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Colab Tanıtımı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Colab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Tarayıcıda çalışan ücretsiz Jupyter ortamı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Drive entegrasyonu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Ücretsiz GPU/TPU erişimi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Kurulum gerektirmez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Paylaşım ve işbirliği kolay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colab.research.google.com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Hücre Türleri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Hücresi: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kodu yazıp çalıştırabilirsiniz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Shift+Enter ile hızlı çalıştırma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(Markdown) Hücresi: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Açıklama, formül, başlık yazabilirsiniz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LaTeX matematik formülleri destekler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66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Hızlı İpuçları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 → Hücreyi çalıştır  |  Shift+Enter → Çalıştır ve sonrakine geç  |  Ctrl+M B → Altına yeni hücre  |  Ctrl+M D → Hücreyi sil  |  !pip install paket → Paket yükle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Değişkenler ve Veri Tipleri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20116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Tip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Anahtar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Örnek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Açıklama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"Merhaba"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Karakter dizisi, tırnak içinde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Sayı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Ondalık kısmı olmayan sayılar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Ondalıklı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Noktalı (ondalıklı) sayılar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Mantıksal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veya yanlış değer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Değişken tanımlama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isim = "Ahmet"              # str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yas = 25                    # int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boy = 1.78                  # float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ogrenci_mi = True           # bool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print(type(isim))           # &lt;class 'str'&gt;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Operatörler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Aritmetik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Toplama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 Çıkarma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 Çarpma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 Bölme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 Tam bölme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 Mod (kalan)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 Üs alma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60120"/>
            <a:ext cx="26060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Karşılaştırma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4630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 Eşit mi?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!=  Farklı mı?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 Büyük mü?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 Küçük mü?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 Büyük eşit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 Küçük eşit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0604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Mantıksal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Her ikisi doğru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  En az biri doğru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 Tersini 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&gt; 5 and x &lt;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ogrenci_mi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input() ve print() Fonksiyonları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input() — Kullanıcıdan Veri Alma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Kullanıcıdan klavye ile veri alır.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Dönen değer her zaman str tipindedir.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almak için int() veya float() ile dönüştürün.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print() — Ekrana Yazdırma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Değerleri ekrana yazdırır.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ile değişken gömme: f"..."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ve end parametreleri ile özelleştirme.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146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input() ile veri alma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isim = input("Adınız: ")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yas = int(input("Yaşınız: "))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ile formatlı çıktı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print(f"Merhaba {isim}, {yas} yaşındasınız!")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sep ve end parametreleri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print("Python", "Veri", "Bilimi", sep=" | ")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Çıktı: Python | Veri | Bilimi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Listeler (list)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54864" cy="100584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Sıralı, değiştirilebilir (mutable) ve farklı veri tiplerini barındırabilen koleksiyon yapısıdır.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54864" cy="100584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Özellikler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371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İndeks 0'dan başlar  • Negatif indeks: -1 son eleman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Dilimleme (slicing): liste[1:4]  • İç içe listeler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8229600" cy="24688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402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Liste oluşturma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meyveler = ["elma", "armut", "kiraz", "muz"]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Eleman ekleme ve silme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meyveler.append("portakal")       # Sona ekle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meyveler.insert(1, "çilek")       # İndekse ekle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meyveler.remove("armut")          # Değere göre sil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Dilimleme (Slicing)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print(meyveler[1:3])              # ["çilek", "kiraz"]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print(meyveler[::-1])             # Ters çevir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Sözlükler (dict) ve Tuple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Sözlük (Dictionary)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Anahtar-değer (key-value) çiftlerinden oluşur.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Anahtarlar benzersiz olmalıdır.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347472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488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ogrenci = {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"ad": "Ayşe",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"yas": 22,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"bolum": "Bilgisayar"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Erişim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print(ogrenci["ad"])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ogrenci["not"] = 3.5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 (Demet)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Sıralı ve değiştirilemez (immutable).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Parantez ile tanımlanır.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103120"/>
            <a:ext cx="347472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488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 oluşturma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koordinat = (41.01, 28.97)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renkler = ("kırmızı", "mavi")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Unpacking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koordinat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print(f"Enlem: {x}")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Değiştirilemez!</a:t>
            </a:r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koordinat[0] = 40  # HATA!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(Küme) Veri Yapısı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Sırasız ve tekrarsız eleman koleksiyonu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Matematikteki küme kavramına karşılık gelir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Hızlı üyelik testi (in operatörü) sağlar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Küme İşlemleri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union()        →  Birleşim (A ∪ 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intersection() →  Kesişim (A ∩ 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difference()   →  Fark (A − 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231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oluşturma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4, 5}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{4, 5, 6, 7, 8}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Küme işlemleri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| B)       # Birleşim:  {1,2,3,4,5,6,7,8}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&amp; B)       # Kesişim:   {4, 5}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- B)       # Fark:      {1, 2, 3}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Tekrarları kaldırma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sehirler = ["Ankara", "İstanbul", "Ankara", "İzmir"]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print(set(sehirler))  # {'Ankara', 'İstanbul', 'İzmir'}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Döngüsü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54864" cy="7315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döngüsü, bir koleksiyon (liste, string, range vb.) üzerinde iterasyon yapar. Python'da en sık kullanılan döngü yapısıdır. range(), enumerate() ve list comprehension ile güçlü kombinasyonlar oluşturur.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range() ile döngü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print(f"Adım {i}")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enumerate() — indeks + değer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dersler = ["Python", "İstatistik", "ML"]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ders in enumerate(dersler, 1):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print(f"{i}. {ders}")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 — tek satırda liste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kareler = [x**2 for x in range(1, 11)]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cift_kareler = [x**2 for x in range(1, 11) if x % 2 == 0]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print(kareler)  # [1, 4, 9, 16, 25, 36, 49, 64, 81, 100]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Döngüsü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doğru olduğu sürece çalışır.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ile döngüden çıkılabilir.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ile sonraki iterasyona geçilir.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Dikkat!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Sonsuz döngü riski var!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Koşulun bir noktada False olacağından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 olun veya break kullanın.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8229600" cy="24688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402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Sayı Tahmin Oyunu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gizli = random.randint(1, 100)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hak = 7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hak &gt; 0: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tahmin = int(input("Tahmininiz: "))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tahmin == gizli: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print("Tebrikler!")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tahmin &lt; gizli: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print("Daha büyük!")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print("Daha küçük!")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hak -=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Koşullu İfadeler: if / elif / else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26060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doğruysa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çalışır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60120"/>
            <a:ext cx="260604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Önceki yanlışsa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 kontrol 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0604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78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Hiçbiri değilse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çalışır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9788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057400"/>
            <a:ext cx="8229600" cy="54864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121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Örnek: Vücut Kitle İndeksi (VKİ) Hesaplayıcı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468880"/>
            <a:ext cx="8229600" cy="21945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51460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VKİ Hesaplayıcı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 = float(input("Kilonuz (kg): "))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boy = float(input("Boyunuz (m): "))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vki = kilo / (boy ** 2)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vki &lt; 18.5: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print(f"VKİ: {vki:.1f} — Zayıf")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vki &lt; 25: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print(f"VKİ: {vki:.1f} — Normal")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vki &lt; 30: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print(f"VKİ: {vki:.1f} — Fazla Kilolu")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print(f"VKİ: {vki:.1f} — Obez")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Fonksiyonlar (def)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54864" cy="10972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Fonksiyon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Fonksiyonlar, tekrar eden kod bloklarını adlandırarak yeniden kullanılabilir hale getirir. def anahtar kelimesi ile tanımlanır. Parametreler alabilir ve return ile değer döndürebilir. Kodun okunabilirliğini, test edilebilirliğini ve bakımını kolaylaştırır.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Temel fonksiyon tanımlama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selamla(isim, dil='tr'):</a:t>
            </a: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"""Kullanıcıyı selamlar."""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dil == 'tr':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f"Merhaba {isim}!"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 {isim}!"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Birden fazla değer döndürme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istatistik(sayilar):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ort = sum(sayilar) / len(sayilar)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min(sayilar), max(sayilar), ort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mn, mx, ort = istatistik([10, 20, 30, 40])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print(f"Min={mn}, Max={mx}, Ort={ort}")  # Min=10, Max=40, Ort=25.0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 Fonksiyonları ve map/filter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 Nedir?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satırlık anonim fonksiyondur.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işlemler için idealdir.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 dizimi: lambda parametre: ifade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apply() ile sık kullanılır.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map() ve filter()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map(): Her elemana fonksiyon uygular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filter(): Koşula uyanları filtreler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 de lambda 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kombinasyonlar oluşturur.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2103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örnekleri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 = lambda x: x ** 2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toplam = lambda a, b: a + b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 — her elemana uygula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sayilar = [1, 2, 3, 4, 5]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kareler = list(map(lambda x: x**2, sayilar))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print(kareler)    # [1, 4, 9, 16, 25]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 — koşula göre filtrele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ciftler = list(filter(lambda x: x % 2 == 0, sayilar))</a:t>
            </a:r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print(ciftler)    # [2, 4]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Temelleri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6949440" cy="54864"/>
          </a:xfrm>
          <a:prstGeom prst="rect">
            <a:avLst/>
          </a:prstGeom>
          <a:solidFill>
            <a:srgbClr val="E8DDD3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627632"/>
            <a:ext cx="457200" cy="457200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Hesap Aç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github.com'da ücretsiz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oluşturun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64408" y="1627632"/>
            <a:ext cx="457200" cy="457200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1005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Oluştur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 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proje başlatın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13248" y="1627632"/>
            <a:ext cx="457200" cy="457200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18" name="Text 16"/>
          <p:cNvSpPr/>
          <p:nvPr/>
        </p:nvSpPr>
        <p:spPr>
          <a:xfrm>
            <a:off x="54132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Değişikliklerinizi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kaydedin (snapshot)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62088" y="1627632"/>
            <a:ext cx="457200" cy="457200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1005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değişiklikleri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 sunucuya gönderin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1546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komutları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                      # Yeni repo başlat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                      # Tüm dosyaları hazırla</a:t>
            </a:r>
            <a:pPr indent="0" marL="0">
              <a:buNone/>
            </a:pPr>
            <a:r>
              <a:rPr lang="en-US" sz="9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"İlk commit"     # Değişiklikleri kaydet</a:t>
            </a:r>
            <a:pPr indent="0" marL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            # Sunucuya gönder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Haftalık Notebook'lar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54864" cy="109728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097280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097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51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1: Python Temel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01_python_temel.ipynb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1399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Değişkenler, veri tipleri, operatörler, koşullu ifadeler ve döngülerle ilgili 15+ alıştırma. Her alıştırmada beklenen çıktı ve açıklama bulunur.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377440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331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2: VKİ Hesaplayıcı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02_vki_hesaplayici.ipynb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7280" y="26791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Kullanıcıdan boy ve kilo alarak VKİ hesaplayan, sonucu kategorize eden ve sonuçları görselleştiren interaktif uygulama.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20440"/>
            <a:ext cx="54864" cy="109728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657600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11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3: Sayı Tahmin Oyunu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03_sayi_tahmin_oyunu.ipynb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7280" y="3959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modülü ile sayı üreten, while döngüsü ve if/else ile ipuçları veren, skor tablosu tutan eğlenceli bir konsol oyunu.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Ödev ve Kaynaklar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Yapılacaklar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Google Colab hesabı açın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notebook'u tamamlayın: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python_temel alıştırmaları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VKİ hesaplayıcı projesi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Sayı tahmin oyunu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hesabı oluşturun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İlk repo'nuzu açıp notebook'ları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yükleyin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Hafta 2 dersinden önce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Önerilen Kaynaklar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Kitaplar: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Crash Course (E. Matthes)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the Boring Stuff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CS50P — Harvard (YouTube)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Corey Schafer Python Tutorials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docs.python.org/3/tutorial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realpython.com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w3schools.com/python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HackerRank Python Challenge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LeetCode Easy Problems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 — Özet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bilimi; istatistik, programlama ve alan bilgisini birleştiren disiplinler arası bir alandır.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4 temel veri tipi (str, int, float, bool) ve 4 koleksiyon yapısı (list, dict, tuple, set) vardır.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 while döngüleri ile if/elif/else yapıları Python'un kontrol akışının temelini oluşturur.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044952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9352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 ve lambda ifadeleri kodun yeniden kullanılabilirliğini ve okunabilirliğini artırır.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703320"/>
            <a:ext cx="329184" cy="329184"/>
          </a:xfrm>
          <a:prstGeom prst="ellipse">
            <a:avLst/>
          </a:prstGeom>
          <a:solidFill>
            <a:srgbClr val="4A7FC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5935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ile versiyon kontrolü, profesyonel yazılım geliştirmenin vazgeçilmez bir parçasıdır.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“Veriye dokunan, geleceği şekillendirir.”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 — Python Temelleri ve Veri Bilimi Ekosistemi</dc:title>
  <dc:subject>PptxGenJS Presentation</dc:subject>
  <dc:creator>Dr. Murat Altun</dc:creator>
  <cp:lastModifiedBy>Dr. Murat Altun</cp:lastModifiedBy>
  <cp:revision>1</cp:revision>
  <dcterms:created xsi:type="dcterms:W3CDTF">2026-04-09T11:39:41Z</dcterms:created>
  <dcterms:modified xsi:type="dcterms:W3CDTF">2026-04-09T11:39:41Z</dcterms:modified>
</cp:coreProperties>
</file>