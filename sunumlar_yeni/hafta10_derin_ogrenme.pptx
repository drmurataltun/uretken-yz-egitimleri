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 DERSİ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Derin Öğrenme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 Yapay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Sinir Ağları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10 · Modül 10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Nörondan Derin Ağlara: TensorFlow/Keras ile Uygulama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 ve Yapay Zekâ Eğitimi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Hedef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İçindekiler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" y="1097280"/>
            <a:ext cx="640080" cy="54864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051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Nöron Temelleri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435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nöron · Yapay nöron · Aktivasyon fonksiyonları · İleri/Geri yayılım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0" y="11795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3–9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65960"/>
            <a:ext cx="54864" cy="841248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2103120"/>
            <a:ext cx="640080" cy="54864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 Mimarisi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441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fonksiyonları · Optimizer'lar · Epoch · Batch Size · Learning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2185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8–12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" y="3108960"/>
            <a:ext cx="640080" cy="5486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3063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/ Keras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3447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· MNIST · Overfitting önleme · Google QuickDraw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0" y="3191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10–16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77640"/>
            <a:ext cx="54864" cy="84124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9" name="Shape 27"/>
          <p:cNvSpPr/>
          <p:nvPr/>
        </p:nvSpPr>
        <p:spPr>
          <a:xfrm>
            <a:off x="512064" y="4114800"/>
            <a:ext cx="640080" cy="54864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Uygulamalar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4453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vs Klasik ML · Notebook'lar · Ödev ve kaynaklar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0" y="41970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5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17–20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Biyolojik Nörondan Yapay Nörona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3931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Biyolojik Nöron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Dendrit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Sinyalleri alır (girdiler)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Soma (Hücre)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Sinyalleri işler (toplama)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60604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606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iletir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Sinaps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nöronlara bağlantı (ağırlık)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3794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Eşik değeri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Ateşleme kararı (aktivasyon)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6052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484632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868680"/>
            <a:ext cx="39319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Nöron (Perceptron)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141732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68112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Girdiler (x)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1417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özellikleri (features)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0" y="201168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68112" y="2011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Ağırlıklar (w)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2011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gücü (öğrenilir)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0" y="260604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68112" y="2606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Toplama (Σ)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49440" y="2606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w₁x₁ + w₂x₂ + ... + b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0" y="320040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68112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Aktivasyon (f)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49440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dönüşüm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29200" y="379476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68112" y="3794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 (ŷ)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49440" y="3794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değeri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Formül:  ŷ = f( Σ wᵢxᵢ + b )    →   Biyolojik nöronun matematiksel modeli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Sinir Ağı (ANN) Mimarisi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69748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05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(Giriş Katmanı)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özelliklerini alır.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özellik bir nöron.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784 piksel → 784 nöron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5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868680"/>
            <a:ext cx="269748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05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Layer(s)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(Gizli Katmanlar)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Öğrenmenin gerçekleştiği yer.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nöron bir özellik öğrenir.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= çok gizli katman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5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126480" y="86868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68680"/>
            <a:ext cx="269748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005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(Çıkış Katmanı)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üretir.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Sınıflandırma: softmax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Regresyon: lineer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37560"/>
            <a:ext cx="54864" cy="164592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Ağırlıklar (Weights) ve Bias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Ağırlık (w): Bağlantının önemi — büyük w = güçlü sinyal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Bias (b): Eşik değeri — nöronun ne kadar kolay ateşleneceği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Eğitim = En iyi w ve b değerlerini bulmak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33756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337560"/>
            <a:ext cx="54864" cy="16459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4290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Terminoloji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840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Derin Öğrenme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840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gizli katmanlı ağ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1879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Connected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187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nöron bir sonraki katmana bağlı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5354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45354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ağırlık + bias sayısı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Aktivasyon Fonksiyonları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Fonksiyon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868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Formül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868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Aralık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868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Kullanım Alanı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325880"/>
            <a:ext cx="8412480" cy="566928"/>
          </a:xfrm>
          <a:prstGeom prst="rect">
            <a:avLst/>
          </a:prstGeom>
          <a:solidFill>
            <a:srgbClr val="FEF5EE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08760"/>
            <a:ext cx="201168" cy="201168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3258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1325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x)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13258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+∞)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1325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katmanlar (varsayılan)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194767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30552"/>
            <a:ext cx="201168" cy="201168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19476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Sigmoid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19476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(1 + e⁻ˣ)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1947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19476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sınıflandırma çıkışı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569464"/>
            <a:ext cx="8412480" cy="566928"/>
          </a:xfrm>
          <a:prstGeom prst="rect">
            <a:avLst/>
          </a:prstGeom>
          <a:solidFill>
            <a:srgbClr val="FEF5EE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752344"/>
            <a:ext cx="201168" cy="201168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569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2569464"/>
            <a:ext cx="219456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eˣⁱ / Σeˣʲ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25694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 toplam=1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5694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sınıf çıkışı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19125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374136"/>
            <a:ext cx="201168" cy="201168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191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3191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(eˣ − e⁻ˣ)/(eˣ + e⁻ˣ)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31912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(-1, 1)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0" y="31912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RNN, gizli katmanlar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13048"/>
            <a:ext cx="8412480" cy="566928"/>
          </a:xfrm>
          <a:prstGeom prst="rect">
            <a:avLst/>
          </a:prstGeom>
          <a:solidFill>
            <a:srgbClr val="FEF5EE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995928"/>
            <a:ext cx="201168" cy="201168"/>
          </a:xfrm>
          <a:prstGeom prst="ellipse">
            <a:avLst/>
          </a:prstGeom>
          <a:solidFill>
            <a:srgbClr val="D94F4F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8130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Leaky ReLU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11680" y="3813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max(0.01x, x)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06240" y="38130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(-∞, +∞)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17920" y="38130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ReLU sorununa çözüm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Pratik Kural:  Gizli katman → ReLU  |  İkili çıkış → Sigmoid  |  Çoklu sınıf → Softmax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İleri Yayılım (Forward Propagation)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54864" cy="1051560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51560"/>
            <a:ext cx="457200" cy="457200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978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Girdi 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x₁, x₂, ..., xₙ özellik değerleri ağa verilir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68680"/>
            <a:ext cx="54864" cy="10515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0600" y="1051560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978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Ağırlıkla Çarp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girdi kendi ağırlığıyla çarpılır: wᵢ × xᵢ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1031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103120"/>
            <a:ext cx="54864" cy="10515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Topla + Bias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Σ(wᵢ × xᵢ) + b  (ağırlıklı toplam)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103120"/>
            <a:ext cx="54864" cy="105156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2286000"/>
            <a:ext cx="457200" cy="457200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94960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Aktivasyon Uygula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f(z) — doğrusal olmayan dönüşüm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3375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337560"/>
            <a:ext cx="54864" cy="10515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97280" y="3447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Sonraki Katmana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bir sonraki katmanın girdisi olur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3375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337560"/>
            <a:ext cx="54864" cy="105156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40" name="Shape 38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94960" y="3447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Tahmin Üret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katman çıktısı = modelin tahmini (ŷ)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2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 Akış:   x → (w·x + b) → f(z) → a → ... → ŷ    (katman katman ilerler)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Geri Yayılım (Backpropagation)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02336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 (Gradyan İnişi)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Loss fonksiyonunu minimize etmek.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Tahmin yap (forward pass)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Hatayı hesapla (loss)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Gradyanları hesapla (∂L/∂w)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Ağırlıkları güncelle: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 = w − η × ∂L/∂w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68680"/>
            <a:ext cx="4160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68680"/>
            <a:ext cx="41605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005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Zincir Kuralı (Chain Rule)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Türev zinciri ile her ağırlığın hataya katkısı hesaplanır: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∂L/∂w₁ = ∂L/∂ŷ × ∂ŷ/∂z × ∂z/∂w₁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Çıkıştan girişe doğru geriye gider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katmandaki gradyan hesaplanır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Tüm ağırlıklar eş zamanlı güncellenir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8412480" cy="1554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Döngüsü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7F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Pass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→ Tahmin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393192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4F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060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Hesapla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ölçümü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93192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Backward Pass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hesapla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393192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9E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208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Güncelle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w − η∇L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(Kayıp) Fonksiyonları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65176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05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(Mean Squared Error)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2377440" cy="502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(1/n) Σ(yᵢ − ŷᵢ)²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2377440" cy="320040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problemleri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hatalara daha fazla ceza verir.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fiyat tahmini, sıcaklık tahmini.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86868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68680"/>
            <a:ext cx="26517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005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Cross-Entropy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691640"/>
            <a:ext cx="2377440" cy="502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−[y·log(ŷ) + (1−y)·log(1−ŷ)]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331720"/>
            <a:ext cx="2377440" cy="32004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sınıflandırma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8346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çıkışı ile kullanılır.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Spam/normal, hasta/sağlıklı.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868680"/>
            <a:ext cx="265176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005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Cross-Entropy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1691640"/>
            <a:ext cx="2377440" cy="502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−Σ yᵢ·log(ŷᵢ)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2331720"/>
            <a:ext cx="2377440" cy="32004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sınıflandırma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8346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çıkışı ile kullanılır.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(0–9), hayvan türü.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Optimizer'lar: SGD vs Adam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02336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SGD (Stochastic Gradient Descent)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 temel optimizer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 = w − η × ∇L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Sabit learning rate kullanır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432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Basit ama yavaş yakınsama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70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Momentum eklenebilir (hız artışı)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Avantaj: Anlaması kolay, az bellek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68680"/>
            <a:ext cx="4023360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(Adaptive Moment)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4173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Momentum + RMSProp birleşimi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Adaptif learning rate (her w için)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Hızlı yakınsama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432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Varsayılan tercih (çoğu projede)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770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β₁=0.9, β₂=0.999, ε=1e-8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Avantaj: Hiper parametre hassasiyeti az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94760"/>
            <a:ext cx="54864" cy="12344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8862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 (η) — Öğrenme Hızı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297680"/>
            <a:ext cx="2377440" cy="594360"/>
          </a:xfrm>
          <a:prstGeom prst="rect">
            <a:avLst/>
          </a:prstGeom>
          <a:solidFill>
            <a:srgbClr val="4A7FC7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297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101600" rIns="635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çok küçük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4297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635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yavaş öğrenir,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israfı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4297680"/>
            <a:ext cx="2377440" cy="594360"/>
          </a:xfrm>
          <a:prstGeom prst="rect">
            <a:avLst/>
          </a:prstGeom>
          <a:solidFill>
            <a:srgbClr val="3A9E6B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83280" y="4297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101600" rIns="635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ideal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4297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635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ve kararlı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yakınsama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4297680"/>
            <a:ext cx="2377440" cy="594360"/>
          </a:xfrm>
          <a:prstGeom prst="rect">
            <a:avLst/>
          </a:prstGeom>
          <a:solidFill>
            <a:srgbClr val="D94F4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26480" y="4297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101600" rIns="635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çok büyük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4297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635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Salınım yapar,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öğrenemez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ve Keras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02336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tarafından geliştirilen açık kaynak kütüphane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Tensör tabanlı hesaplama grafikleri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GPU/TPU desteği ile hızlı eğitim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Üretim ortamı (TF Serving, TF Lite)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Dünya çapında en yaygın DL framework'ü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6868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68680"/>
            <a:ext cx="4160520" cy="54864"/>
          </a:xfrm>
          <a:prstGeom prst="rect">
            <a:avLst/>
          </a:prstGeom>
          <a:solidFill>
            <a:srgbClr val="D94F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005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 Neden?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794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TensorFlow'un yüksek seviye API'si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Hızlı prototipleme (az kodla çok iş)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Okunabilir ve sezgisel sözdizimi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Eğitim için ideal başlangıç noktası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tf.keras olarak TF 2.x'e entegre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17830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337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Ekosistemi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58184"/>
            <a:ext cx="201168" cy="201168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seviye hesaplama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758184"/>
            <a:ext cx="201168" cy="201168"/>
          </a:xfrm>
          <a:prstGeom prst="ellipse">
            <a:avLst/>
          </a:prstGeom>
          <a:solidFill>
            <a:srgbClr val="D94F4F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 (tf.keras)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seviye model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758184"/>
            <a:ext cx="201168" cy="201168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pipeline'ları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398264"/>
            <a:ext cx="201168" cy="201168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4343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 aracı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398264"/>
            <a:ext cx="201168" cy="201168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 Lite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4343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Mobil/Edge cihazlar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4398264"/>
            <a:ext cx="201168" cy="201168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 Serving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343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deploy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 Sequential Model Oluşturma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530352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 as tf
</a:t>
            </a:r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tensorflow.keras.models </a:t>
            </a:r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
</a:t>
            </a:r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tensorflow.keras.layers </a:t>
            </a:r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oluştur
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
</a:t>
            </a:r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</a:t>
            </a:r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128, activation='relu', input_shape=(784,)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</a:t>
            </a:r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64, activation='relu'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</a:t>
            </a:r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activation='softmax'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])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Compile
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
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optimizer=</a:t>
            </a:r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'adam'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loss=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'categorical_crossentropy'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['accuracy']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86868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868680"/>
            <a:ext cx="54864" cy="1051560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Katman 1 — Dense(128)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nöron, ReLU aktivasyon.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girdi → 128 çıktı.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05740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2057400"/>
            <a:ext cx="54864" cy="10515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148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Katman 2 — Dense(64)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nöron, ReLU aktivasyon.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çıkarma katmanı.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24612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3246120"/>
            <a:ext cx="54864" cy="105156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337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Katman 3 — Dense(10)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nöron, Softmax aktivasyon.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sınıf olasılıkları.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model.summary()  →  Toplam parametre: 109,386  (128×784 + 128 + 64×128 + 64 + 10×64 + 10)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Eğitim Hiper Parametreleri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65176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6184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veriyi kaç kez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göreceği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68680"/>
            <a:ext cx="26517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37560" y="16184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adımda kaç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işleneceği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68680"/>
            <a:ext cx="265176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(LR)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217920" y="16184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 güncelleme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büyüklüğü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331720"/>
            <a:ext cx="265176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 Sayısı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epoch = tüm eğitim verisinin 1 tur geçişi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 epoch → underfitting (yetersiz öğrenme)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Çok epoch → overfitting (ezber)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Tipik: 10–100 epoch (veri boyutuna göre)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Early Stopping ile otomatik durdurma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3317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331720"/>
            <a:ext cx="26517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Mini-batch: veriyi parçalar halinde işle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Küçük batch (32): daha iyi genelleme, yavaş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Büyük batch (256+): hızlı ama bellek gerekir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Varsayılan: 32 (dengeli tercih)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8328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GPU belleğine göre ayarlanır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23317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331720"/>
            <a:ext cx="265176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 kritik hiper parametre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Tipik başlangıç: 0.001 (Adam için)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LR Scheduler ile eğitim sırasında azaltma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ReduceLROnPlateau: plato → küçült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Warmup: düşük LR ile başla, artır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MNIST El Yazısı Rakam Tanıma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196596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Görüntüsü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868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868680"/>
            <a:ext cx="19659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60604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Görüntüsü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68680"/>
            <a:ext cx="196596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28×28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5488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868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868680"/>
            <a:ext cx="196596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0–9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0372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286000"/>
            <a:ext cx="54864" cy="2697480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 Hakkında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27432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Yann LeCun tarafından oluşturuldu (1998)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"Hello World" of Deep Learning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 tonlama: 0 (siyah) – 255 (beyaz)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Normalize: piksel/255 → [0,1]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Flatten: 28×28 → 784 boyutlu vektör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Label: One-hot encoding (10 sınıf)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Keras'ta hazır: tf.keras.datasets.mnist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28600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286000"/>
            <a:ext cx="406908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4231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 İşleme Adımları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2834640"/>
            <a:ext cx="329184" cy="329184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8346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yükle: mnist.load_data()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236976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et: X / 255.0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92040" y="3639312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6393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Flatten: reshape(-1, 784)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4041648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4041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One-hot: to_categorical(y, 10)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92040" y="4443984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44439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(hazır geliyor)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MNIST — Tam Kod Örneği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5669280" cy="4114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 as tf
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tensorflow.keras.utils 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to_categorical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Veri yükle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(X_train, y_train), (X_test, y_test) = \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tf.keras.datasets.mnist.load_data()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Ön işleme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X_train.reshape(-1, 784) /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255.0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= X_test.reshape(-1, 784) /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255.0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 = to_categorical(y_train,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  = to_categorical(y_test, 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Model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Dense(256, activation=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input_shape=(784,)),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Dense(10,  activation=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'softmax'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])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Eğit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'adam'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loss=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'categorical_crossentropy'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metrics=[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'accuracy'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y_train, epochs=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batch_size=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validation_split=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Değerlendir
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acc = model.evaluate(X_test, y_test)
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print(f'Test Accuracy: {acc:.4f}')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8686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868680"/>
            <a:ext cx="2560320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Beklenen Sonuçlar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3716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Eğitim acc: ~99.5%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acc: ~98.2%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Eğitim süresi: ~2 dk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Parametre: ~235K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8036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880360"/>
            <a:ext cx="256032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Önemli Notlar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383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validation_split ile aşırı öğrenme takibi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Epoch artışı = daha iyi (bir yere kadar)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batch_size GPU belleğine göre ayarla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 (Aşırı Öğrenme) Önleme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65176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sırasında rastgele nöronları kapat.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epoch'ta farklı alt ağ eğitilir.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tek bir yola bağımlı kalmaz.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2377440" cy="1097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model.add(Dropout(0.3))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%30 nöron rastgele kapatılır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68680"/>
            <a:ext cx="26517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9476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artmaya başlayınca dur.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Patience: kaç epoch bekle.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modeli geri yükle.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743200"/>
            <a:ext cx="2377440" cy="1097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EarlyStopping(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patience=5,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restore_best_weights=True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868680"/>
            <a:ext cx="265176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7512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Ağırlıklara ceza ekle (L1/L2).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ağırlıkları küçültür.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basitliğini teşvik eder.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743200"/>
            <a:ext cx="2377440" cy="1097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kernel_regularizer=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l2(0.01)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Quick, Draw! ile Çizim Tanıma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572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Quick, Draw! Veri Seti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Google'ın interaktif çizim oyunu verileri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345 kategori, 50M+ çizim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çizim: 28×28 piksel (MNIST benzeri)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Gerçek insan çizimleri (gürültülü veri)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.npy formatında indirilebilir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quickdraw.readthedocs.io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86868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0" y="868680"/>
            <a:ext cx="178308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005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212080" y="16184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86600" y="86868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868680"/>
            <a:ext cx="16916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005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178040" y="16184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01168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2011680"/>
            <a:ext cx="1783080" cy="54864"/>
          </a:xfrm>
          <a:prstGeom prst="rect">
            <a:avLst/>
          </a:prstGeom>
          <a:solidFill>
            <a:srgbClr val="4A7FC7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28px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212080" y="27614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86600" y="201168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86600" y="2011680"/>
            <a:ext cx="169164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148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.npy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178040" y="27614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337560"/>
            <a:ext cx="8412480" cy="169164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429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Uygulaması: 10 Kategori Sınıflandırma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329184" cy="329184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794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kategori seç (kedi, köpek, araba, ev, ağaç...)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4160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kategoriden 10.000 çizim indir (.npy)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4526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et (/ 255.0) ve train/test split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79476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794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ANN modeli oluştur ve eğit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4160520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4160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ile sonuçları değerlendir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 vs Klasik Makine Öğrenmesi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68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868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Klasik ML (RF, SVM, XGB)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868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Sinir Ağları (ANN)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solidFill>
            <a:srgbClr val="FEF5EE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Doğruluk (Tabular)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Genellikle daha iyi (XGBoost güçlü)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veride bazen geride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3794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379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 Doğruluk (Görüntü)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1837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(özellik çıkarma gerekir)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18379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üstün (CNN ile)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50008"/>
            <a:ext cx="8412480" cy="457200"/>
          </a:xfrm>
          <a:prstGeom prst="rect">
            <a:avLst/>
          </a:prstGeom>
          <a:solidFill>
            <a:srgbClr val="FEF5EE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50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Eğitim Süresi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350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(dakikalar)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3500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Yavaş (GPU gerekebilir)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86207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62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Veri Gereksinimi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2862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veriyle çalışabilir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28620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veri ister (1000+)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374136"/>
            <a:ext cx="8412480" cy="457200"/>
          </a:xfrm>
          <a:prstGeom prst="rect">
            <a:avLst/>
          </a:prstGeom>
          <a:solidFill>
            <a:srgbClr val="FEF5EE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741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Yorumlanabilirlik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33741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(feature importance)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3741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(kara kutu)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Özellik Mühendisliği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gerekir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öğrenir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398264"/>
            <a:ext cx="8412480" cy="457200"/>
          </a:xfrm>
          <a:prstGeom prst="rect">
            <a:avLst/>
          </a:prstGeom>
          <a:solidFill>
            <a:srgbClr val="FEF5EE"/>
          </a:solidFill>
          <a:ln w="6350">
            <a:solidFill>
              <a:srgbClr val="E8DD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3982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 GPU İhtiyacı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77440" y="4398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Gerekmez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94960" y="43982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modellerde şart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Tabular veri → Klasik ML (XGBoost)  |  Görüntü/Metin/Ses → Derin Öğrenme (ANN/CNN/RNN)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Haftalık Notebook'lar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65176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005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ann_temel.ipynb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 temellerini öğrenme notebook'u.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1488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ANN oluşturma (from scratch)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fonksiyonlarını görselleştirme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Forward/Backward pass implementasyonu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52044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ile gradient descent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868680"/>
            <a:ext cx="265176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94760" y="1005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quickdraw.ipynb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Quick, Draw! çizim tanıma uygulaması.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14884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21488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kategori veri indirme (.npy)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83280" y="260604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94760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Sequential model oluşturma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83280" y="306324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9476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 validation takibi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83280" y="352044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94760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analizi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868680"/>
            <a:ext cx="265176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675120" y="1005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ann_regresyon.ipynb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6364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ile regresyon problemi çözme.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214884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75120" y="21488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Boston/California Housing veri seti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63640" y="260604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51" name="Text 49"/>
          <p:cNvSpPr/>
          <p:nvPr/>
        </p:nvSpPr>
        <p:spPr>
          <a:xfrm>
            <a:off x="62636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675120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ile model eğitimi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63640" y="306324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54" name="Text 52"/>
          <p:cNvSpPr/>
          <p:nvPr/>
        </p:nvSpPr>
        <p:spPr>
          <a:xfrm>
            <a:off x="626364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67512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vs gerçek scatter plot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263640" y="352044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57" name="Text 55"/>
          <p:cNvSpPr/>
          <p:nvPr/>
        </p:nvSpPr>
        <p:spPr>
          <a:xfrm>
            <a:off x="626364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675120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ML ile karşılaştırma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Ödev ve Kaynaklar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411480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Yapılacaklar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329184" cy="329184"/>
          </a:xfrm>
          <a:prstGeom prst="ellipse">
            <a:avLst/>
          </a:prstGeom>
          <a:solidFill>
            <a:srgbClr val="D94F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MNIST %98+ doğruluk hedefi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sayısı, nöron sayısı, dropout ile deneme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QuickDraw 10 kategori sınıflandırma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seçtiğin 10 kategori ile model eğit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329184" cy="329184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2788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 Regresyon notebook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veri seti ile fiyat tahmini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3474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Hiperparametre deneyleri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Epoch, batch, LR değiştirerek sonuçları karşılaştır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TensorBoard görselleştirme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Eğitim/validation loss grafiklerini incele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868680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868680"/>
            <a:ext cx="406908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0058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Önerilen Kaynaklar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1472184"/>
            <a:ext cx="201168" cy="201168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1417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Resmi Dökümantasyon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66360" y="16733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tensorflow.org/tutorials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2039112"/>
            <a:ext cx="201168" cy="201168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1984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3Blue1Brown — Neural Networks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66360" y="22402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 (görsel açıklama)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2606040"/>
            <a:ext cx="201168" cy="201168"/>
          </a:xfrm>
          <a:prstGeom prst="ellipse">
            <a:avLst/>
          </a:prstGeom>
          <a:solidFill>
            <a:srgbClr val="D94F4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5511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with Python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66360" y="280720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Chollet (Keras yaratıcısı)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172968"/>
            <a:ext cx="201168" cy="201168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181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Quick, Draw! Dataset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66360" y="33741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quickdraw.withgoogle.com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3739896"/>
            <a:ext cx="201168" cy="201168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47" name="Text 45"/>
          <p:cNvSpPr/>
          <p:nvPr/>
        </p:nvSpPr>
        <p:spPr>
          <a:xfrm>
            <a:off x="5166360" y="36850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 Örnekleri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166360" y="39410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keras.io/examples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92040" y="4306824"/>
            <a:ext cx="201168" cy="201168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42519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Playground TensorFlow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66360" y="45079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playground.tensorflow.org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10 — Özet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nöron, biyolojik nöronun matematiksel modelidir: ŷ = f(Σwx + b)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Backward → Update döngüsü ile ağ öğrenir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ile 10 satır kodda güçlü modeller oluşturulabilir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044952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9352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Early Stopping + Regularization ile overfitting önlenir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703320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5935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başlıyor: Derin öğrenme yolculuğu artık CNN ve RNN ile devam edecek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“Yapay sinir ağları, insan beyninin öğrenme biçimini taklit eden en güçlü araçtır.”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10: Derin Öğrenme ve Yapay Sinir Ağları</dc:title>
  <dc:subject>PptxGenJS Presentation</dc:subject>
  <dc:creator>Dr. Murat Altun</dc:creator>
  <cp:lastModifiedBy>Dr. Murat Altun</cp:lastModifiedBy>
  <cp:revision>1</cp:revision>
  <dcterms:created xsi:type="dcterms:W3CDTF">2026-04-09T11:39:42Z</dcterms:created>
  <dcterms:modified xsi:type="dcterms:W3CDTF">2026-04-09T11:39:42Z</dcterms:modified>
</cp:coreProperties>
</file>