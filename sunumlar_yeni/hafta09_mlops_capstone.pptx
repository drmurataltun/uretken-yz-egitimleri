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MLOps ve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9 · Modül 9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Deployment, Streamlit ve Proje Yönetimi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Önerisi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54864" cy="105156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234440"/>
            <a:ext cx="640080" cy="6400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80160" y="1188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MLOps Temelleri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1600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yaşam döngüsü · model serialization · joblib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0" y="1371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86000"/>
            <a:ext cx="54864" cy="10515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468880"/>
            <a:ext cx="640080" cy="64008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80160" y="2423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&amp; Araçlar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2834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Gradio · Hugging Face Spaces · deploy adımları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0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7–12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520440"/>
            <a:ext cx="54864" cy="10515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703320"/>
            <a:ext cx="640080" cy="64008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703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80160" y="3657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Projesi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4069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yönetimi · portfolio · Airbnb · Trendyol · Spotify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3840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13–20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MLOps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4630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+ DevOps = MLOps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MLOps, makine öğrenmesi modellerinin geliştirme, eğitim, deploy ve izleme süreçlerini otomatikleştiren mühendislik disiplinidir. DevOps prensiplerini ML yaşam döngüsüne uygular.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50292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514600"/>
            <a:ext cx="54864" cy="16459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6060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Önemli?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29809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Modellerin %87’si üretime geçemiyor (Gartner)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29184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32552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Tekrarlanabilirlik ve versiyon kontrolü sağlar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5661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529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bozulmasını (drift) erken tespit eder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8404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38039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Ekip iş birliğini standartlaştırır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0" y="868680"/>
            <a:ext cx="1554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69280" y="868680"/>
            <a:ext cx="155448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%87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5760720" y="161848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Üretime Geçemez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06640" y="868680"/>
            <a:ext cx="1554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06640" y="868680"/>
            <a:ext cx="1554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3" name="Text 31"/>
          <p:cNvSpPr/>
          <p:nvPr/>
        </p:nvSpPr>
        <p:spPr>
          <a:xfrm>
            <a:off x="740664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498080" y="161848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Döngüsü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0" y="2194560"/>
            <a:ext cx="1554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669280" y="2194560"/>
            <a:ext cx="1554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0" y="23317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5760720" y="294436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Az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İş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06640" y="2194560"/>
            <a:ext cx="1554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406640" y="2194560"/>
            <a:ext cx="15544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1" name="Text 39"/>
          <p:cNvSpPr/>
          <p:nvPr/>
        </p:nvSpPr>
        <p:spPr>
          <a:xfrm>
            <a:off x="7406640" y="23317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</a:t>
            </a:r>
            <a:endParaRPr lang="en-US" sz="3400" dirty="0"/>
          </a:p>
        </p:txBody>
      </p:sp>
      <p:sp>
        <p:nvSpPr>
          <p:cNvPr id="42" name="Text 40"/>
          <p:cNvSpPr/>
          <p:nvPr/>
        </p:nvSpPr>
        <p:spPr>
          <a:xfrm>
            <a:off x="7498080" y="294436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Entegrasyon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Yaşam Döngüsü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371600" y="1435608"/>
            <a:ext cx="365760" cy="54864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1280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" y="1051560"/>
            <a:ext cx="457200" cy="45720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0040" y="1600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Toplama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1965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veri kaynakları,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1435608"/>
            <a:ext cx="365760" cy="54864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15" name="Text 13"/>
          <p:cNvSpPr/>
          <p:nvPr/>
        </p:nvSpPr>
        <p:spPr>
          <a:xfrm>
            <a:off x="3017520" y="1280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29968" y="1051560"/>
            <a:ext cx="457200" cy="45720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2029968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37360" y="1600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 İşleme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37360" y="1965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Temizleme, dönüştürme,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 mühendisliği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06240" y="1435608"/>
            <a:ext cx="365760" cy="54864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21" name="Text 19"/>
          <p:cNvSpPr/>
          <p:nvPr/>
        </p:nvSpPr>
        <p:spPr>
          <a:xfrm>
            <a:off x="4434840" y="1280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47288" y="1051560"/>
            <a:ext cx="457200" cy="457200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3447288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154680" y="1600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Eğitimi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154680" y="1965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seçimi,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hiperparametre ayarı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23560" y="1435608"/>
            <a:ext cx="365760" cy="54864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27" name="Text 25"/>
          <p:cNvSpPr/>
          <p:nvPr/>
        </p:nvSpPr>
        <p:spPr>
          <a:xfrm>
            <a:off x="5852160" y="1280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64608" y="1051560"/>
            <a:ext cx="457200" cy="457200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9" name="Text 27"/>
          <p:cNvSpPr/>
          <p:nvPr/>
        </p:nvSpPr>
        <p:spPr>
          <a:xfrm>
            <a:off x="4864608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0" y="1600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Değerlendirme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0" y="1965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Metrikler, cross-val,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040880" y="1435608"/>
            <a:ext cx="365760" cy="54864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33" name="Text 31"/>
          <p:cNvSpPr/>
          <p:nvPr/>
        </p:nvSpPr>
        <p:spPr>
          <a:xfrm>
            <a:off x="7269480" y="1280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81928" y="1051560"/>
            <a:ext cx="457200" cy="457200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35" name="Text 33"/>
          <p:cNvSpPr/>
          <p:nvPr/>
        </p:nvSpPr>
        <p:spPr>
          <a:xfrm>
            <a:off x="6281928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989320" y="1600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989320" y="1965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web app,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699248" y="1051560"/>
            <a:ext cx="457200" cy="457200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9" name="Text 37"/>
          <p:cNvSpPr/>
          <p:nvPr/>
        </p:nvSpPr>
        <p:spPr>
          <a:xfrm>
            <a:off x="7699248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406640" y="1600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İzleme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406640" y="1965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drift, performans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alert, güncelleme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14400" y="2926080"/>
            <a:ext cx="7315200" cy="36576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43" name="Text 41"/>
          <p:cNvSpPr/>
          <p:nvPr/>
        </p:nvSpPr>
        <p:spPr>
          <a:xfrm>
            <a:off x="228600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  Sürekli Güncelleme Döngüsü  ↻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" y="3566160"/>
            <a:ext cx="8412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65760" y="3566160"/>
            <a:ext cx="8412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MLOps’un Temel İlkesi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48640" y="4023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model bir kez eğitilip bırakılmaz; sürekli izlenir, değerlendirilir ve güncellenir. Veri değiştikçe model de değişmelidir. Bu döngüyü otomatikleştirmek MLOps’un özüdür.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Serialization: Kaydetme ve Yükleme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0058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joblib ile Model Kaydetme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371600"/>
            <a:ext cx="3931920" cy="1188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173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
</a:t>
            </a:r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Modeli kaydet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joblib.dump(model,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'model.joblib'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Modeli yükle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joblib.load(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'model.joblib'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206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80360"/>
            <a:ext cx="42062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0175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Alternatif: JSON / ONNX Formatı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83280"/>
            <a:ext cx="3931920" cy="1051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429000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ONNX ile model export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skl2onnx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onnx_model = skl2onnx.convert(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model, initial_types=...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868680"/>
            <a:ext cx="420624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868680"/>
            <a:ext cx="42062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0058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Serialization Yöntemleri Karşılaştırma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92040" y="1417320"/>
            <a:ext cx="3931920" cy="41148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14173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98080" y="14173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92040" y="1874520"/>
            <a:ext cx="39319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18745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Desteği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26480" y="1874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Mükemmel ✓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98080" y="18745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92040" y="2331720"/>
            <a:ext cx="3931920" cy="41148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23317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Dosya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Sıkıştırma var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498080" y="23317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Kompakt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92040" y="2788920"/>
            <a:ext cx="39319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27889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2648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98080" y="2788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Hızlı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3246120"/>
            <a:ext cx="3931920" cy="41148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8" name="Text 36"/>
          <p:cNvSpPr/>
          <p:nvPr/>
        </p:nvSpPr>
        <p:spPr>
          <a:xfrm>
            <a:off x="4892040" y="32461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Güvenlik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26480" y="3246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Güvenilir kaynak gerekli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498080" y="3246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92040" y="3703320"/>
            <a:ext cx="39319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892040" y="37033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2648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modelleri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498080" y="37033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188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ile Web Uygulama Geliştirme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Python ile interaktif web uygulamaları oluşturmanızı sağlayan açık kaynak bir framework’tür. HTML/CSS/JS bilgisi gerektirmez. Tek bir Python dosyasıyla tam işlevsel bir dashboard oluşturabilirsiniz.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28600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286000"/>
            <a:ext cx="19659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 Dosya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uygulama tek bir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dosyasında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87168" y="228600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87168" y="2286000"/>
            <a:ext cx="19659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2578608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Hızlı Prototip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78608" y="3017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Dakikalar içinde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çalışan demo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08576" y="228600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08576" y="2286000"/>
            <a:ext cx="19659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00016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Ücretsiz Deploy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00016" y="3017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Cloud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 bedava yayınlama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29984" y="228600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29984" y="2286000"/>
            <a:ext cx="19659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6" name="Text 24"/>
          <p:cNvSpPr/>
          <p:nvPr/>
        </p:nvSpPr>
        <p:spPr>
          <a:xfrm>
            <a:off x="6821424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Entegrasyonu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21424" y="3017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TF,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ile uyumlu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Temel Bileşenler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868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5176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Açıklama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394960" y="868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1371600"/>
            <a:ext cx="84124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st.title()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5176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başlığı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9496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st.title('Başlık')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74520"/>
            <a:ext cx="8412480" cy="45720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st.write()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517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Metin, tablo, grafik yazdırma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9496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st.write(df)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377440"/>
            <a:ext cx="84124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st.slider()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5176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Kaydırıcı widget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94960" y="2377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st.slider('Yaş', 0, 100)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2880360"/>
            <a:ext cx="8412480" cy="45720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880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st.selectbox()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2880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Açılır menü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9496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st.selectbox('Şehir', liste)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383280"/>
            <a:ext cx="84124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st.button()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65176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Buton widget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94960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st.button('Tahmin Et')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886200"/>
            <a:ext cx="8412480" cy="45720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886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st.dataframe()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6517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 tablosu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94960" y="3886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st.dataframe(df)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" y="4389120"/>
            <a:ext cx="84124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389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st.metric()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65176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metrik kartı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39496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st.metric('Doğruluk', '%95')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ile ML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412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 Bir Streamlit ML Uygulaması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371600"/>
            <a:ext cx="8046720" cy="31089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41732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Modeli yükle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joblib.load('model.joblib')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st.title('Fiyat Tahmin Uygulaması')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Kullanıcı girdileri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alan = st.slider('Alan (m²)', 30, 300, 100)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oda = st.selectbox('Oda Sayısı', [1,2,3,4,5])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st.button('Tahmin Et'):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 = np.array([[alan, oda]])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fiyat = model.predict(X)[0]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st.metric('Tahmini Fiyat', f'{fiyat:,.0f} TL')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 Alternatifi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3898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amaçlı dashboard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18745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sayfa desteği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3317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3042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Zengin widget kütüphanesi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7889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27614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Cloud ile deploy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32186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fazla özelleştirme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7033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" y="36758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topluluk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54880" y="868680"/>
            <a:ext cx="420624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868680"/>
            <a:ext cx="42062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10058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937760" y="14173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49240" y="1389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modeli odaklı arayüz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937760" y="18745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6" name="Text 34"/>
          <p:cNvSpPr/>
          <p:nvPr/>
        </p:nvSpPr>
        <p:spPr>
          <a:xfrm>
            <a:off x="49377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49240" y="18470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satır kod ile demo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937760" y="23317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9" name="Text 37"/>
          <p:cNvSpPr/>
          <p:nvPr/>
        </p:nvSpPr>
        <p:spPr>
          <a:xfrm>
            <a:off x="493776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3492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Otomatik API endpoint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937760" y="27889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2" name="Text 40"/>
          <p:cNvSpPr/>
          <p:nvPr/>
        </p:nvSpPr>
        <p:spPr>
          <a:xfrm>
            <a:off x="49377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349240" y="27614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Spaces entegrasyonu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937760" y="32461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5" name="Text 43"/>
          <p:cNvSpPr/>
          <p:nvPr/>
        </p:nvSpPr>
        <p:spPr>
          <a:xfrm>
            <a:off x="49377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349240" y="32186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Input/Output tabanlı tasarım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937760" y="37033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8" name="Text 46"/>
          <p:cNvSpPr/>
          <p:nvPr/>
        </p:nvSpPr>
        <p:spPr>
          <a:xfrm>
            <a:off x="4937760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492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prototipleme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365760" y="4709160"/>
            <a:ext cx="8595360" cy="32004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istiyorsanız Streamlit, hızlı ML demo istiyorsanız Gradio tercih edin.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Hugging Face Spaces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3716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HF Spaces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Spaces, Streamlit veya Gradio uygulamalarınızı ücretsiz olarak barındıran bir platformdur. GitHub benzeri repo yapısıyla çalışır, GPU desteği sunar.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23160"/>
            <a:ext cx="5029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423160"/>
            <a:ext cx="54864" cy="21945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514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Kullanılır?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28986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Ücretsiz hosting (2 vCPU, 16 GB RAM)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255264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322783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tabanlı versiyon kontrolü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84448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5570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&amp; Gradio native desteği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91363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38862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 desteği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242816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0120" y="421538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erişimi (ücretli plan)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0" y="868680"/>
            <a:ext cx="1554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669280" y="868680"/>
            <a:ext cx="1554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300K+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5760720" y="161848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Paylaşıldı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06640" y="868680"/>
            <a:ext cx="1554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406640" y="868680"/>
            <a:ext cx="1554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6" name="Text 34"/>
          <p:cNvSpPr/>
          <p:nvPr/>
        </p:nvSpPr>
        <p:spPr>
          <a:xfrm>
            <a:off x="740664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0 €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7498080" y="161848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Ücretsiz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0" y="2194560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669280" y="2194560"/>
            <a:ext cx="32918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0" name="Text 38"/>
          <p:cNvSpPr/>
          <p:nvPr/>
        </p:nvSpPr>
        <p:spPr>
          <a:xfrm>
            <a:off x="5669280" y="2331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GPU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5760720" y="294436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A10G / T4 ile Hızlandırma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669280" y="3520440"/>
            <a:ext cx="32918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5669280" y="3520440"/>
            <a:ext cx="32918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4" name="Text 42"/>
          <p:cNvSpPr/>
          <p:nvPr/>
        </p:nvSpPr>
        <p:spPr>
          <a:xfrm>
            <a:off x="5806440" y="36576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İpucu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06440" y="3977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huggingface.co/spaces adresinden binlerce uygulama inceleyerek ilham alabilirsiniz.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HF Spaces Deploy Adımları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60120" y="1691640"/>
            <a:ext cx="36576" cy="274320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024128"/>
            <a:ext cx="502920" cy="50292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024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188720" y="914400"/>
            <a:ext cx="7589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88720" y="914400"/>
            <a:ext cx="54864" cy="7772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960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 Oluştur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1261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huggingface.co → New Space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veya Gradio seçin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" y="2697480"/>
            <a:ext cx="36576" cy="274320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029968"/>
            <a:ext cx="502920" cy="50292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029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188720" y="1920240"/>
            <a:ext cx="7589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188720" y="1920240"/>
            <a:ext cx="54864" cy="7772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137160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requirements.txt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226771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Bağımlılıkları listeleyin: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joblib, scikit-learn, pandas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0120" y="3703320"/>
            <a:ext cx="36576" cy="274320"/>
          </a:xfrm>
          <a:prstGeom prst="rect">
            <a:avLst/>
          </a:prstGeom>
          <a:solidFill>
            <a:srgbClr val="E8C4A8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035808"/>
            <a:ext cx="502920" cy="502920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35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1188720" y="2926080"/>
            <a:ext cx="7589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188720" y="2926080"/>
            <a:ext cx="54864" cy="7772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1371600" y="2971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app.py Hazırla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71600" y="32735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Streamlit/Gradio uygulamanızı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dosyada yazın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041648"/>
            <a:ext cx="502920" cy="502920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1188720" y="3931920"/>
            <a:ext cx="7589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188720" y="3931920"/>
            <a:ext cx="54864" cy="77724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3" name="Text 31"/>
          <p:cNvSpPr/>
          <p:nvPr/>
        </p:nvSpPr>
        <p:spPr>
          <a:xfrm>
            <a:off x="137160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 Push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71600" y="427939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. &amp;&amp; git commit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→ Otomatik deploy!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Yönetimi ve Dokümantasyon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7548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7548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İyi Bir README Rehberi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Başlığı &amp; Açıklama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34640" y="1417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yapar? Neden önemli?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185623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18562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Kurulum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834640" y="18562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install, gereksinimler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29514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295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22951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834640" y="22951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kod, ekran görüntüleri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734056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7552" y="27340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34640" y="27340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Kaynak, boyut, özellikler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3172968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172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&amp; Metrikler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834640" y="31729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Algoritma, accuracy, F1 skoru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87552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Linki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34640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Spaces / Streamlit Cloud URL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050792"/>
            <a:ext cx="329184" cy="329184"/>
          </a:xfrm>
          <a:prstGeom prst="ellipse">
            <a:avLst/>
          </a:prstGeom>
          <a:solidFill>
            <a:srgbClr val="D94F4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87552" y="4050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Lisans &amp; İletişim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34640" y="40507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MIT, Apache, katkıda bulunma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303520" y="868680"/>
            <a:ext cx="3657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303520" y="868680"/>
            <a:ext cx="36576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0" y="10058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Hazırlama İpuçları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0" y="14173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proje için ayrı repo açın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0" y="1856232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1856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README.md’de görsel kullanın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0" y="2295144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0" y="22951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linki mutlaka ekleyin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0" y="2734056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0" y="273405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temizleme sürecini belgeleyin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0" y="3172968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0" y="31729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seçim gerekçesini açıklayın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486400" y="3611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3611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Sonuçları görsellerle destekleyin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486400" y="4050792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Profile README oluşturun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Portfolio: Veri Bilimci Portföyü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Pinned Repositories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508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iyi 6 projenizi pin’leyin. Çeşitlilik gösterin: EDA, ML, NLP, Deep Learning.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86868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86868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README Kalitesi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508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repoda detaylı README: problem tanımı, veri seti, model, sonuçlar ve demo linki.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834640"/>
            <a:ext cx="41148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Temiz Kod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PEP8 uyumlu, docstring’li, modüler yapıda kod. Jupyter Notebook + .py dosyaları birlikte.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834640"/>
            <a:ext cx="41148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 Graph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Düzenli commit’ler yeşil kare grafiğini doldurur. Süreklilik önemli, miktar değil.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Capstone: Airbnb Fiyatlandırma Tahmini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3716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Tanımı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 listelerinin özelliklerinden (konum, oda tipi, yorum sayısı, minimum gece) gecelik fiyatı tahmin eden bir regresyon modeli geliştirin.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23160"/>
            <a:ext cx="5029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423160"/>
            <a:ext cx="50292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5603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 Özellikleri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4754880" cy="2286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260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514600" y="2926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Açıklama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2920" y="3154680"/>
            <a:ext cx="475488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1546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neighbourhood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3154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Mahalle / bölge bilgisi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4754880" cy="22860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383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room_type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ev, özel oda, paylaşımlı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611880"/>
            <a:ext cx="475488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611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minimum_nights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611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konaklama süresi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02920" y="3840480"/>
            <a:ext cx="4754880" cy="22860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40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number_of_reviews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514600" y="3840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yorum sayısı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2920" y="4069080"/>
            <a:ext cx="475488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0690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availability_365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514600" y="4069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Yıllık müsaitlik günü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02920" y="4297680"/>
            <a:ext cx="4754880" cy="22860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42976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(hedef)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514600" y="4297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Gecelik fiyat (USD)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669280" y="868680"/>
            <a:ext cx="1554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69280" y="868680"/>
            <a:ext cx="1554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48K+</a:t>
            </a:r>
            <a:endParaRPr lang="en-US" sz="3400" dirty="0"/>
          </a:p>
        </p:txBody>
      </p:sp>
      <p:sp>
        <p:nvSpPr>
          <p:cNvPr id="39" name="Text 37"/>
          <p:cNvSpPr/>
          <p:nvPr/>
        </p:nvSpPr>
        <p:spPr>
          <a:xfrm>
            <a:off x="5760720" y="161848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(İstanbul)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06640" y="868680"/>
            <a:ext cx="1554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868680"/>
            <a:ext cx="1554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2" name="Text 40"/>
          <p:cNvSpPr/>
          <p:nvPr/>
        </p:nvSpPr>
        <p:spPr>
          <a:xfrm>
            <a:off x="740664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16+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7498080" y="161848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Kolonu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0" y="2103120"/>
            <a:ext cx="3291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669280" y="2103120"/>
            <a:ext cx="32918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6" name="Text 44"/>
          <p:cNvSpPr/>
          <p:nvPr/>
        </p:nvSpPr>
        <p:spPr>
          <a:xfrm>
            <a:off x="5852160" y="22402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Beklenen Çıktılar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52160" y="260604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48" name="Text 46"/>
          <p:cNvSpPr/>
          <p:nvPr/>
        </p:nvSpPr>
        <p:spPr>
          <a:xfrm>
            <a:off x="585216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263640" y="25786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+ görselleştirme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852160" y="292608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51" name="Text 49"/>
          <p:cNvSpPr/>
          <p:nvPr/>
        </p:nvSpPr>
        <p:spPr>
          <a:xfrm>
            <a:off x="58521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263640" y="2898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324612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54" name="Text 52"/>
          <p:cNvSpPr/>
          <p:nvPr/>
        </p:nvSpPr>
        <p:spPr>
          <a:xfrm>
            <a:off x="58521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263640" y="3218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model karşılaştırma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852160" y="356616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57" name="Text 55"/>
          <p:cNvSpPr/>
          <p:nvPr/>
        </p:nvSpPr>
        <p:spPr>
          <a:xfrm>
            <a:off x="585216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63640" y="35387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iyi modeli deploy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52160" y="388620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60" name="Text 58"/>
          <p:cNvSpPr/>
          <p:nvPr/>
        </p:nvSpPr>
        <p:spPr>
          <a:xfrm>
            <a:off x="585216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263640" y="3858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/ Gradio demo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852160" y="420624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63" name="Text 61"/>
          <p:cNvSpPr/>
          <p:nvPr/>
        </p:nvSpPr>
        <p:spPr>
          <a:xfrm>
            <a:off x="585216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6263640" y="4178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+ sunum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Capstone: Trendyol Yorum Analizi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18872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Tanımı: Sentiment Analizi + NLP + 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Trendyol ürün yorumlarını pozitif/negatif olarak sınıflandıran bir NLP modeli. Metin ön işleme, TF-IDF vektörizasyonu ve makine öğrenmesi sınıflandırıcıları kullanarak duygu analizi yapın.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1600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286000"/>
            <a:ext cx="16002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2423160"/>
            <a:ext cx="457200" cy="45720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Toplama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2918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veya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 veri seti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57400" y="2286000"/>
            <a:ext cx="1600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057400" y="2286000"/>
            <a:ext cx="16002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Shape 18"/>
          <p:cNvSpPr/>
          <p:nvPr/>
        </p:nvSpPr>
        <p:spPr>
          <a:xfrm>
            <a:off x="2606040" y="2423160"/>
            <a:ext cx="457200" cy="45720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260604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14884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Metin Temizleme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32918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harf, noktalama,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 çıkarma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94760" y="2286000"/>
            <a:ext cx="1600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94760" y="2286000"/>
            <a:ext cx="16002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Shape 24"/>
          <p:cNvSpPr/>
          <p:nvPr/>
        </p:nvSpPr>
        <p:spPr>
          <a:xfrm>
            <a:off x="4343400" y="2423160"/>
            <a:ext cx="457200" cy="457200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434340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88620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Vektörizasyon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886200" y="32918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veya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CountVectorizer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2286000"/>
            <a:ext cx="1600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532120" y="2286000"/>
            <a:ext cx="16002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6080760" y="2423160"/>
            <a:ext cx="457200" cy="457200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3" name="Text 31"/>
          <p:cNvSpPr/>
          <p:nvPr/>
        </p:nvSpPr>
        <p:spPr>
          <a:xfrm>
            <a:off x="60807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62356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Eğitimi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23560" y="32918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Reg, SVM,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269480" y="2286000"/>
            <a:ext cx="1600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69480" y="2286000"/>
            <a:ext cx="160020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38" name="Shape 36"/>
          <p:cNvSpPr/>
          <p:nvPr/>
        </p:nvSpPr>
        <p:spPr>
          <a:xfrm>
            <a:off x="7818120" y="2423160"/>
            <a:ext cx="457200" cy="457200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39" name="Text 37"/>
          <p:cNvSpPr/>
          <p:nvPr/>
        </p:nvSpPr>
        <p:spPr>
          <a:xfrm>
            <a:off x="78181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6092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Değerlendirme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60920" y="32918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F1-score, ROC-AUC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5760" y="429768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65760" y="4297680"/>
            <a:ext cx="20116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4" name="Text 42"/>
          <p:cNvSpPr/>
          <p:nvPr/>
        </p:nvSpPr>
        <p:spPr>
          <a:xfrm>
            <a:off x="365760" y="4434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50K+</a:t>
            </a:r>
            <a:endParaRPr lang="en-US" sz="3400" dirty="0"/>
          </a:p>
        </p:txBody>
      </p:sp>
      <p:sp>
        <p:nvSpPr>
          <p:cNvPr id="45" name="Text 43"/>
          <p:cNvSpPr/>
          <p:nvPr/>
        </p:nvSpPr>
        <p:spPr>
          <a:xfrm>
            <a:off x="457200" y="5047488"/>
            <a:ext cx="182880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 Verisi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560320" y="429768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2560320" y="4297680"/>
            <a:ext cx="20116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8" name="Text 46"/>
          <p:cNvSpPr/>
          <p:nvPr/>
        </p:nvSpPr>
        <p:spPr>
          <a:xfrm>
            <a:off x="2560320" y="4434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%90+</a:t>
            </a:r>
            <a:endParaRPr lang="en-US" sz="3400" dirty="0"/>
          </a:p>
        </p:txBody>
      </p:sp>
      <p:sp>
        <p:nvSpPr>
          <p:cNvPr id="49" name="Text 47"/>
          <p:cNvSpPr/>
          <p:nvPr/>
        </p:nvSpPr>
        <p:spPr>
          <a:xfrm>
            <a:off x="2651760" y="5047488"/>
            <a:ext cx="182880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Doğruluk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54880" y="429768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754880" y="4297680"/>
            <a:ext cx="20116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0" y="4434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</a:t>
            </a:r>
            <a:endParaRPr lang="en-US" sz="3400" dirty="0"/>
          </a:p>
        </p:txBody>
      </p:sp>
      <p:sp>
        <p:nvSpPr>
          <p:cNvPr id="53" name="Text 51"/>
          <p:cNvSpPr/>
          <p:nvPr/>
        </p:nvSpPr>
        <p:spPr>
          <a:xfrm>
            <a:off x="4846320" y="5047488"/>
            <a:ext cx="182880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Vektörizasyon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949440" y="429768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6949440" y="4297680"/>
            <a:ext cx="20116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56" name="Text 54"/>
          <p:cNvSpPr/>
          <p:nvPr/>
        </p:nvSpPr>
        <p:spPr>
          <a:xfrm>
            <a:off x="6949440" y="4434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</a:t>
            </a:r>
            <a:endParaRPr lang="en-US" sz="3400" dirty="0"/>
          </a:p>
        </p:txBody>
      </p:sp>
      <p:sp>
        <p:nvSpPr>
          <p:cNvPr id="57" name="Text 55"/>
          <p:cNvSpPr/>
          <p:nvPr/>
        </p:nvSpPr>
        <p:spPr>
          <a:xfrm>
            <a:off x="7040880" y="5047488"/>
            <a:ext cx="182880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 Dil İşleme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Capstone: Spotify Popülerlik Tahmini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37160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Şarkı Özellikleri → Popülerlik Skoru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API’dan alınan şarkı özellikleri (danceability, energy, tempo, loudness vb.) kullanarak popülerlik skorunu tahmin eden bir regresyon modeli geliştirin.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688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468880"/>
            <a:ext cx="1554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danceability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2880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edilebilirlik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(0.0 - 1.0)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57400" y="24688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57400" y="2468880"/>
            <a:ext cx="1554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03120" y="2880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Enerji seviyesi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(0.0 - 1.0)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749040" y="24688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0" y="2468880"/>
            <a:ext cx="15544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94760" y="2880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 (beats per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6118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611880"/>
            <a:ext cx="1554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3721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loudness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1480" y="4023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yüksekliği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(dB)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057400" y="36118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057400" y="3611880"/>
            <a:ext cx="15544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30" name="Text 28"/>
          <p:cNvSpPr/>
          <p:nvPr/>
        </p:nvSpPr>
        <p:spPr>
          <a:xfrm>
            <a:off x="2103120" y="3721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valence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103120" y="4023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Mutluluk skoru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(0.0 - 1.0)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749040" y="36118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749040" y="3611880"/>
            <a:ext cx="15544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4" name="Text 32"/>
          <p:cNvSpPr/>
          <p:nvPr/>
        </p:nvSpPr>
        <p:spPr>
          <a:xfrm>
            <a:off x="3794760" y="3721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5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speechiness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94760" y="4023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Konuşma oranı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(0.0 - 1.0)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0" y="868680"/>
            <a:ext cx="1554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69280" y="868680"/>
            <a:ext cx="1554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170K+</a:t>
            </a:r>
            <a:endParaRPr lang="en-US" sz="3400" dirty="0"/>
          </a:p>
        </p:txBody>
      </p:sp>
      <p:sp>
        <p:nvSpPr>
          <p:cNvPr id="39" name="Text 37"/>
          <p:cNvSpPr/>
          <p:nvPr/>
        </p:nvSpPr>
        <p:spPr>
          <a:xfrm>
            <a:off x="5760720" y="161848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Şarkı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Verisi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06640" y="868680"/>
            <a:ext cx="1554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868680"/>
            <a:ext cx="15544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2" name="Text 40"/>
          <p:cNvSpPr/>
          <p:nvPr/>
        </p:nvSpPr>
        <p:spPr>
          <a:xfrm>
            <a:off x="740664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0-100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7498080" y="161848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Popülerlik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Skoru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0" y="2103120"/>
            <a:ext cx="3291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669280" y="2103120"/>
            <a:ext cx="329184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46" name="Text 44"/>
          <p:cNvSpPr/>
          <p:nvPr/>
        </p:nvSpPr>
        <p:spPr>
          <a:xfrm>
            <a:off x="5852160" y="22402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Adımları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52160" y="260604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48" name="Text 46"/>
          <p:cNvSpPr/>
          <p:nvPr/>
        </p:nvSpPr>
        <p:spPr>
          <a:xfrm>
            <a:off x="585216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263640" y="25786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API ile veri çekme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852160" y="292608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51" name="Text 49"/>
          <p:cNvSpPr/>
          <p:nvPr/>
        </p:nvSpPr>
        <p:spPr>
          <a:xfrm>
            <a:off x="58521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263640" y="2898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Korelasyon analizi + EDA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324612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54" name="Text 52"/>
          <p:cNvSpPr/>
          <p:nvPr/>
        </p:nvSpPr>
        <p:spPr>
          <a:xfrm>
            <a:off x="58521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263640" y="3218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852160" y="356616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57" name="Text 55"/>
          <p:cNvSpPr/>
          <p:nvPr/>
        </p:nvSpPr>
        <p:spPr>
          <a:xfrm>
            <a:off x="585216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63640" y="35387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Reg, RF, XGBoost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52160" y="388620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60" name="Text 58"/>
          <p:cNvSpPr/>
          <p:nvPr/>
        </p:nvSpPr>
        <p:spPr>
          <a:xfrm>
            <a:off x="585216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263640" y="3858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ile demo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852160" y="420624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63" name="Text 61"/>
          <p:cNvSpPr/>
          <p:nvPr/>
        </p:nvSpPr>
        <p:spPr>
          <a:xfrm>
            <a:off x="585216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6263640" y="4178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Spaces’e deploy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Değerlendirme Kriterleri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2011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868680"/>
            <a:ext cx="20116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1051560"/>
            <a:ext cx="731520" cy="73152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051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%40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Teknik Kalite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Doğru algoritma seçimi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6700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Temiz ve modüler kod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305409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Model performans metrikleri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4381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Hata analizi ve iyileştirme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868680"/>
            <a:ext cx="2011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68880" y="868680"/>
            <a:ext cx="20116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9" name="Shape 17"/>
          <p:cNvSpPr/>
          <p:nvPr/>
        </p:nvSpPr>
        <p:spPr>
          <a:xfrm>
            <a:off x="3108960" y="1051560"/>
            <a:ext cx="731520" cy="73152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1051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%20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56032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Sunum &amp; Dokümantasyon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README kalitesi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06040" y="26700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Görselleştirme zenginliği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606040" y="305409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Sunum akışı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606040" y="34381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Sonuçların yorumlanması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868680"/>
            <a:ext cx="2011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868680"/>
            <a:ext cx="20116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8" name="Shape 26"/>
          <p:cNvSpPr/>
          <p:nvPr/>
        </p:nvSpPr>
        <p:spPr>
          <a:xfrm>
            <a:off x="5303520" y="1051560"/>
            <a:ext cx="731520" cy="731520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0" y="1051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%20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75488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Yenilikçilik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Özgün yaklaşım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00600" y="26700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Ek veri kaynakları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305409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Yaratıcı feature engineering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34381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Farklı model denemeleri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8000" y="868680"/>
            <a:ext cx="2011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858000" y="868680"/>
            <a:ext cx="20116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051560"/>
            <a:ext cx="731520" cy="731520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8" name="Text 36"/>
          <p:cNvSpPr/>
          <p:nvPr/>
        </p:nvSpPr>
        <p:spPr>
          <a:xfrm>
            <a:off x="7498080" y="1051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%20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4944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&amp; Demo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951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Çalışan web uygulaması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995160" y="26700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Kullanıcı dostu arayüz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995160" y="305409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HF Spaces veya Streamlit Cloud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995160" y="34381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API endpoint (bonus)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Notebook’lar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2344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41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mlops_pipeline.ipynb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2801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eğitimi, joblib ile kaydetme/yükleme, basit pipeline oluşturma. sklearn Pipeline + ColumnTransformer kullanımı.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96012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C97B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9601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635240" y="96012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C97B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35240" y="9601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C97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4630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ColumnTransformer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35240" y="146304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C97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14630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cross_val_score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2240280"/>
            <a:ext cx="8412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240280"/>
            <a:ext cx="54864" cy="12344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23134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streamlit_app.py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26517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Eğitilmiş modeli Streamlit ile web uygulamasına dönüştürme. Kullanıcıdan input alma ve tahmin gösterme.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33172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2331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st.slider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635240" y="233172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2331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st.selectbox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28346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st.metric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635240" y="283464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35240" y="28346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model.predict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" y="3611880"/>
            <a:ext cx="8412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65760" y="3611880"/>
            <a:ext cx="54864" cy="12344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" y="3685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capstone_sablon.ipynb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4360" y="40233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 şablonu: veri yükleme, EDA, model eğitimi, değerlendirme ve raporlama bölümleri hazır.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17920" y="370332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37033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 yapısı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635240" y="370332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35240" y="37033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 şablonu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217920" y="420624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42062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karşılaştırma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35240" y="4206240"/>
            <a:ext cx="13258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35240" y="42062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Raporlama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 Ödevi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14173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konusu seçin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87552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Airbnb, Trendyol veya Spotify’dan birini seçin (veya kendi konunuzu önerin)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84248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984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19842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planı hazırlayın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87552" y="2212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kaynağı, hedef değişken, kullanılacak algoritmalar, zaman çizelgesi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551176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551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25511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setini hazırlayın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87552" y="2779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Veriyi indirin, ilk EDA’yı yapın, temizleme stratejisi belirleyin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3118104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7552" y="31181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repo açın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87552" y="3346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 şablonunu doldurun, .gitignore ekleyin, ilk commit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3794760"/>
            <a:ext cx="3749040" cy="502920"/>
          </a:xfrm>
          <a:prstGeom prst="rect">
            <a:avLst/>
          </a:prstGeom>
          <a:solidFill>
            <a:srgbClr val="E0F2F1"/>
          </a:solidFill>
          <a:ln w="12700">
            <a:solidFill>
              <a:srgbClr val="E8DD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Teslim: Hafta 10 ders başlangıcı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868680"/>
            <a:ext cx="4297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868680"/>
            <a:ext cx="42976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10058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Faydalı Kaynaklar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46320" y="1417320"/>
            <a:ext cx="73152" cy="3200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0" y="1417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Dokümantasyon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0" y="1417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docs.streamlit.io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846320" y="1856232"/>
            <a:ext cx="73152" cy="3200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Dokümantasyon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15200" y="185623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gradio.app/docs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46320" y="2295144"/>
            <a:ext cx="73152" cy="3200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9" name="Text 37"/>
          <p:cNvSpPr/>
          <p:nvPr/>
        </p:nvSpPr>
        <p:spPr>
          <a:xfrm>
            <a:off x="5029200" y="229514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Spaces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15200" y="22951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huggingface.co/spaces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846320" y="2734056"/>
            <a:ext cx="73152" cy="32004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0" y="27340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315200" y="27340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kaggle.com/datasets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46320" y="3172968"/>
            <a:ext cx="73152" cy="3200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45" name="Text 43"/>
          <p:cNvSpPr/>
          <p:nvPr/>
        </p:nvSpPr>
        <p:spPr>
          <a:xfrm>
            <a:off x="5029200" y="3172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Airbnb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315200" y="31729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insideairbnb.com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46320" y="3611880"/>
            <a:ext cx="73152" cy="32004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292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Web API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315200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developer.spotify.com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846320" y="4050792"/>
            <a:ext cx="73152" cy="32004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51" name="Text 49"/>
          <p:cNvSpPr/>
          <p:nvPr/>
        </p:nvSpPr>
        <p:spPr>
          <a:xfrm>
            <a:off x="5029200" y="40507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Principles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315200" y="40507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ml-ops.org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9 Özet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MLOps, modelin üretim ortamına geçişini ve yaşam döngüsünü yönetir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 ile model serialization, Streamlit ile interaktif demo oluşturma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Spaces ücretsiz deploy platformu olarak güçlü bir seçenek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projesi tüm öğrenilenleri tek bir projede birleştirir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İyi bir GitHub portfolio, iş başvurularında fark yaratır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“En iyi model üretimde çalışan modeldir.”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9: MLOps Temelleri ve Veri Bilimi Capstone Projesi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