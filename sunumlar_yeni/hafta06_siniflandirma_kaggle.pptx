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4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0"/>
            <a:ext cx="45720" cy="51435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BİLİMİ DERSİ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Sınıflandırma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 Kaggle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743200" cy="457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6 · Modül 6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Lojistik Regresyon, KNN, Karar Ağacı ve İlk Kaggle Yarışması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Murat Altun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35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 ve Yapay Zekâ Eğitimi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20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822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Ağırlıklı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371600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26480" y="20299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(Temel + Titanic + Diyabet)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2578608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7340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32369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(LR · KNN · DT)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54864" cy="84124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8" name="Shape 6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Sınıflandırma Temelleri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435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vs Multi-class · Gerçek dünya örnekleri · Karar sınırı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0" y="1179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3–4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65960"/>
            <a:ext cx="54864" cy="84124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20574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Algoritmalar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24414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Lojistik Regresyon · KNN · Karar Ağacı · Karşılaştırma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0" y="2185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5–8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971800"/>
            <a:ext cx="54864" cy="84124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280160" y="3063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Değerlendirme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3447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· Metrikler · ROC/AUC · Cross Validation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0" y="3191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9–13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977640"/>
            <a:ext cx="54864" cy="841248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Shape 27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28016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Kaggle Uygulamaları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80160" y="4453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· Diyabet teşhisi · Kaggle kültürü · Ödev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32320" y="41970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14–20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Sınıflandırma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0233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Binary Sınıflandırma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2 sınıf: Evet/Hayır, Spam/Normal, Hasta/Sağlıklı.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Çıktı: 0 veya 1 (olasılık ile)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86868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86868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Multi-class Sınıflandırma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sınıf: Hayvan türü, rakam tanıma (0-9), hastalık tipi.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Çıktı: N sınıftan biri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560320"/>
            <a:ext cx="8321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560320"/>
            <a:ext cx="54864" cy="228600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26517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Gerçek Dünya Uygulamaları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063240"/>
            <a:ext cx="1828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063240"/>
            <a:ext cx="182880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9436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Spam Tespiti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3931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E-posta spam mı değil mi?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606040" y="3063240"/>
            <a:ext cx="1828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606040" y="3063240"/>
            <a:ext cx="182880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6" name="Text 24"/>
          <p:cNvSpPr/>
          <p:nvPr/>
        </p:nvSpPr>
        <p:spPr>
          <a:xfrm>
            <a:off x="260604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60604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Tıbbi Teşhis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697480" y="3931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Tümör iyi huylu mu kötü mü?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17720" y="3063240"/>
            <a:ext cx="1828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17720" y="3063240"/>
            <a:ext cx="182880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31" name="Text 29"/>
          <p:cNvSpPr/>
          <p:nvPr/>
        </p:nvSpPr>
        <p:spPr>
          <a:xfrm>
            <a:off x="461772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61772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Kredi Riski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709160" y="3931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ödeyecek mi?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29400" y="3063240"/>
            <a:ext cx="1828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629400" y="3063240"/>
            <a:ext cx="182880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62940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62940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Rakam Tanıma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20840" y="3931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yazısı → 0-9 sınıfı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Lojistik Regresyon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3891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201168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9601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Sigmoid Fonksiyonu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32588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Doğrusal kombinasyonu 0–1 arasına sıkıştırır.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σ(z) = 1 / (1 + e^(-z))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 &gt; 0 → olasılık &gt; 0.5 → Sınıf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 &lt; 0 → olasılık &lt; 0.5 → Sınıf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Karar eşiği varsayılan: 0.5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868680"/>
            <a:ext cx="3749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868680"/>
            <a:ext cx="374904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0" y="9601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Avantajlar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12080" y="12801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 · Yorumlanabilir · Olasılık çıktısı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1920240"/>
            <a:ext cx="3749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0" y="1920240"/>
            <a:ext cx="374904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0" y="20116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Dezavantajlar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0" y="2331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Doğrusal sınır · Karmaşık ilişkilerde zayıf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108960"/>
            <a:ext cx="8412480" cy="17373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154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sklearn.linear_model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LogisticRegression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LogisticRegression(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max_iter=200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model.fit(X_train, y_train)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y_pred = model.predict(X_test)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y_proba = model.predict_proba(X_test)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Olasılık çıktısı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K-Nearest Neighbors (KNN)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572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22860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9601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Nasıl Çalışır?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32588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Yeni veri noktasına en yakın K komşuyu bul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Komşuların çoğunluk sınıfını ata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Uzaklık ölçütü: Öklid, Manhattan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Seçimi Kritik: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 küçük → gürültüye hassas (overfitting)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 büyük → fazla genelleme (underfitting)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Genelde K = √n veya tek sayı seçilir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12080" y="868680"/>
            <a:ext cx="1645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212080" y="868680"/>
            <a:ext cx="16459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0" y="1005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K=5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303520" y="161848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Varsayılan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Komşu Sayısı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40880" y="868680"/>
            <a:ext cx="1645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0" y="868680"/>
            <a:ext cx="164592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1005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O(n)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132320" y="161848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Tahmin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Maliyeti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212080" y="21031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212080" y="2103120"/>
            <a:ext cx="347472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1945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Avantajlar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9496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Basit ve sezgisel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Eğitim süresi yok (lazy learner)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Non-linear sınırlara uyum sağlar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383280"/>
            <a:ext cx="8321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383280"/>
            <a:ext cx="832104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347472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Dezavantajlar ve Dikkat Edilecekler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Büyük veri setlerinde yavaş (tüm mesafeler hesaplanır)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Özellik ölçekleme zorunlu (StandardScaler / MinMaxScaler)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Yüksek boyutlu veride performans düşer (boyut laneti)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Kategorik özelliklerle doğrudan çalışamaz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Karar Ağacı (Decision Tree)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5720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210312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9601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Ağaç Yapısı ve Bölme Kriterleri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Kök Düğüm → Dallar → Yapraklar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düğüm bir özelliğe göre veriyi böler: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Gini Impurity: 1 - Σ(pᵢ²) → 0 = saf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Entropy: -Σ(pᵢ × log₂(pᵢ)) → 0 = saf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Ağaç en saf yapraklara ulaşana kadar büyür.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 kazancı en yüksek özellik seçilir.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12080" y="868680"/>
            <a:ext cx="34747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212080" y="868680"/>
            <a:ext cx="34747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394960" y="9601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Gini Impurity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94960" y="12801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 hesaplama · sklearn varsayılanı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12080" y="1965960"/>
            <a:ext cx="34747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2080" y="1965960"/>
            <a:ext cx="347472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20574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Entropy (Bilgi Kazancı)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94960" y="23774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dengeli bölme · Daha yavaş hesaplama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200400"/>
            <a:ext cx="8321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200400"/>
            <a:ext cx="832104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2918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Overfitting Riski ve Çözümler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36393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834640" y="363931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Ağaç derinliğini sınırla (ör: 5)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38953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min_samples_split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834640" y="389534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Bölme için minimum örnek (ör: 10)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41513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min_samples_leaf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834640" y="415137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Yaprakta minimum örnek (ör: 5)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44074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Pruning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834640" y="4407408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ccp_alpha ile budama (cost-complexity)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Algoritma Karşılaştırma Tablosu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1480" y="914400"/>
            <a:ext cx="1828800" cy="420624"/>
          </a:xfrm>
          <a:prstGeom prst="rect">
            <a:avLst/>
          </a:prstGeom>
          <a:solidFill>
            <a:srgbClr val="5B2C1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914400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Özellik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40280" y="914400"/>
            <a:ext cx="2103120" cy="420624"/>
          </a:xfrm>
          <a:prstGeom prst="rect">
            <a:avLst/>
          </a:prstGeom>
          <a:solidFill>
            <a:srgbClr val="5B2C1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3432" y="914400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Lojistik Regresyon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914400"/>
            <a:ext cx="2194560" cy="420624"/>
          </a:xfrm>
          <a:prstGeom prst="rect">
            <a:avLst/>
          </a:prstGeom>
          <a:solidFill>
            <a:srgbClr val="5B2C1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6552" y="91440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37960" y="914400"/>
            <a:ext cx="2194560" cy="420624"/>
          </a:xfrm>
          <a:prstGeom prst="rect">
            <a:avLst/>
          </a:prstGeom>
          <a:solidFill>
            <a:srgbClr val="5B2C1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11112" y="91440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Karar Ağacı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1353312"/>
            <a:ext cx="182880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35331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40280" y="1353312"/>
            <a:ext cx="210312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13432" y="135331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43400" y="1353312"/>
            <a:ext cx="219456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16552" y="1353312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37960" y="1353312"/>
            <a:ext cx="219456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11112" y="1353312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1480" y="1792224"/>
            <a:ext cx="1828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179222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 Hızı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40280" y="1792224"/>
            <a:ext cx="2103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179222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hızlı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43400" y="1792224"/>
            <a:ext cx="21945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16552" y="1792224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Yok (lazy)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37960" y="1792224"/>
            <a:ext cx="21945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1112" y="1792224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11480" y="2231136"/>
            <a:ext cx="182880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" y="2231136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Tahmin Hızı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240280" y="2231136"/>
            <a:ext cx="210312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313432" y="223113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hızlı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343400" y="2231136"/>
            <a:ext cx="219456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16552" y="2231136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Yavaş (O(n))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37960" y="2231136"/>
            <a:ext cx="219456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11112" y="2231136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hızlı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11480" y="2670048"/>
            <a:ext cx="1828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4632" y="267004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Yorumlanabilirlik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240280" y="2670048"/>
            <a:ext cx="2103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313432" y="267004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(katsayılar)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343400" y="2670048"/>
            <a:ext cx="21945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16552" y="2670048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Düşük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537960" y="2670048"/>
            <a:ext cx="21945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11112" y="2670048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yüksek (görsel)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11480" y="3108960"/>
            <a:ext cx="182880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4632" y="3108960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Sınır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240280" y="3108960"/>
            <a:ext cx="210312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313432" y="3108960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Hayır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343400" y="3108960"/>
            <a:ext cx="219456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16552" y="31089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537960" y="3108960"/>
            <a:ext cx="219456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611112" y="31089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11480" y="3547872"/>
            <a:ext cx="1828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4632" y="3547872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Ölçekleme Gerekli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2240280" y="3547872"/>
            <a:ext cx="2103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313432" y="354787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343400" y="3547872"/>
            <a:ext cx="21945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16552" y="3547872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Evet (zorunlu)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537960" y="3547872"/>
            <a:ext cx="21945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611112" y="3547872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Hayır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11480" y="3986784"/>
            <a:ext cx="182880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4632" y="398678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Riski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240280" y="3986784"/>
            <a:ext cx="210312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313432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Düşük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343400" y="3986784"/>
            <a:ext cx="219456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416552" y="3986784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537960" y="3986784"/>
            <a:ext cx="2194560" cy="420624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611112" y="3986784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11480" y="4425696"/>
            <a:ext cx="1828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4632" y="4425696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Hiperparametre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240280" y="4425696"/>
            <a:ext cx="2103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313432" y="442569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C, penalty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343400" y="4425696"/>
            <a:ext cx="21945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16552" y="4425696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K, distance metric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537960" y="4425696"/>
            <a:ext cx="21945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11112" y="4425696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max_depth, criterion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Confusion Matrix (Karışıklık Matrisi)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7548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371600" y="960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Tahmin: Pozitif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08960" y="960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Tahmin: Negatif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141732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Gerçek: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Pozitif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74320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Gerçek: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Negatif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71600" y="1417320"/>
            <a:ext cx="1645920" cy="1188720"/>
          </a:xfrm>
          <a:prstGeom prst="rect">
            <a:avLst/>
          </a:prstGeom>
          <a:solidFill>
            <a:srgbClr val="E8F5E9"/>
          </a:solidFill>
          <a:ln w="25400">
            <a:solidFill>
              <a:srgbClr val="3A9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TP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1965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pozitif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08960" y="1417320"/>
            <a:ext cx="1645920" cy="1188720"/>
          </a:xfrm>
          <a:prstGeom prst="rect">
            <a:avLst/>
          </a:prstGeom>
          <a:solidFill>
            <a:srgbClr val="FFF3E0"/>
          </a:solidFill>
          <a:ln w="25400">
            <a:solidFill>
              <a:srgbClr val="E891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0896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108960" y="1965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Kaçırılan pozitif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371600" y="2743200"/>
            <a:ext cx="1645920" cy="1188720"/>
          </a:xfrm>
          <a:prstGeom prst="rect">
            <a:avLst/>
          </a:prstGeom>
          <a:solidFill>
            <a:srgbClr val="FFEBEE"/>
          </a:solidFill>
          <a:ln w="25400">
            <a:solidFill>
              <a:srgbClr val="D94F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2788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FP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Yanlış alarm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108960" y="2743200"/>
            <a:ext cx="1645920" cy="1188720"/>
          </a:xfrm>
          <a:prstGeom prst="rect">
            <a:avLst/>
          </a:prstGeom>
          <a:solidFill>
            <a:srgbClr val="E3F2FD"/>
          </a:solidFill>
          <a:ln w="25400">
            <a:solidFill>
              <a:srgbClr val="4A7F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0" y="2788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TN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108960" y="32918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negatif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49240" y="868680"/>
            <a:ext cx="33832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49240" y="868680"/>
            <a:ext cx="54864" cy="347472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7" name="Text 25"/>
          <p:cNvSpPr/>
          <p:nvPr/>
        </p:nvSpPr>
        <p:spPr>
          <a:xfrm>
            <a:off x="5577840" y="9601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Önemli?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577840" y="13258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tek başına yanıltıcı olabilir!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Örnek: 1000 hasta, 950 sağlıklı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hep "sağlıklı" derse: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Accuracy = %95 (harika görünür!)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Ama hiç hasta tespit edilmedi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bize 4 farklı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 türünü ayrı ayrı gösterir.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Özellikle dengesiz veri setlerinde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critik bir araçtır.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Metrikler: Accuracy, Precision, Recall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265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265176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(TP + TN) / Toplam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1737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doğruluk oranı.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zaman kullan?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Dengeli sınıf dağılımı varsa.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868680"/>
            <a:ext cx="265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868680"/>
            <a:ext cx="265176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5" name="Text 13"/>
          <p:cNvSpPr/>
          <p:nvPr/>
        </p:nvSpPr>
        <p:spPr>
          <a:xfrm>
            <a:off x="3429000" y="10058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29000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FP)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29000" y="1737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dediğimin kaçı gerçekten pozitif?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zaman kullan?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maliyetli: Spam filtresi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868680"/>
            <a:ext cx="265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868680"/>
            <a:ext cx="26517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0058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FN)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9360" y="1737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pozitiflerin kaçını yakaladım?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zaman kullan?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maliyetli: Kanser teşhisi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00400"/>
            <a:ext cx="8321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200400"/>
            <a:ext cx="54864" cy="155448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32918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Senaryo Karşılaştırması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611880"/>
            <a:ext cx="2286000" cy="256032"/>
          </a:xfrm>
          <a:prstGeom prst="rect">
            <a:avLst/>
          </a:prstGeom>
          <a:solidFill>
            <a:srgbClr val="5B2C1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6118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Senaryo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880360" y="3611880"/>
            <a:ext cx="1645920" cy="256032"/>
          </a:xfrm>
          <a:prstGeom prst="rect">
            <a:avLst/>
          </a:prstGeom>
          <a:solidFill>
            <a:srgbClr val="5B2C1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26080" y="36118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Öncelik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26280" y="3611880"/>
            <a:ext cx="4114800" cy="256032"/>
          </a:xfrm>
          <a:prstGeom prst="rect">
            <a:avLst/>
          </a:prstGeom>
          <a:solidFill>
            <a:srgbClr val="5B2C1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0" y="36118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Neden?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3886200"/>
            <a:ext cx="22860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38862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filtresi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880360" y="3886200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26080" y="3886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26280" y="3886200"/>
            <a:ext cx="41148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0" y="3886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mail spam klasörüne düşmesin (FP azalt)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94360" y="4160520"/>
            <a:ext cx="2286000" cy="256032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4160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 tespiti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880360" y="4160520"/>
            <a:ext cx="1645920" cy="256032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26080" y="41605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26280" y="4160520"/>
            <a:ext cx="4114800" cy="256032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0" y="41605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kaçırılmasın, yanlış alarm kabul edilebilir (FN azalt)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94360" y="4434840"/>
            <a:ext cx="22860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44348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 dolandırıcılığı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880360" y="4434840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26080" y="44348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+ Recall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26280" y="4434840"/>
            <a:ext cx="41148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0" y="44348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İkisi de kritik: hem kaçırma hem yanlış alarm pahalı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F1-Score: Denge Metriği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321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832104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0058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Harmonik Ortalama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417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 = 2 × (Precision × Recall) / (Precision + Recall)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1874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Aritmetik ortalama yerine harmonik ortalama: düşük olan değer F1'i daha çok etkiler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46888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468880"/>
            <a:ext cx="19659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606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0.67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57200" y="3218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P=1.0, R=0.5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P, Düşük 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560320" y="246888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60320" y="2468880"/>
            <a:ext cx="196596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2560320" y="2606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2651760" y="3218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P=0.8, R=0.8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Dengeli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246888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468880"/>
            <a:ext cx="19659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2606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0.91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4846320" y="3218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P=0.9, R=0.92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İyi Denge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949440" y="2468880"/>
            <a:ext cx="1965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49440" y="2468880"/>
            <a:ext cx="19659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2606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1.00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040880" y="32186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P=1.0, R=1.0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Mükemmel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65760" y="3794760"/>
            <a:ext cx="8321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794760"/>
            <a:ext cx="54864" cy="109728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388620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Dengesiz Veri Setlerinde F1-Score Kritik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" y="4206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Accuracy %95 olsa bile F1-Score %30 olabilir (nadir sınıf yakalanmıyorsa)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Macro F1: Her sınıfın F1'ini eşit ağırlıkla ortalar → dengesiz setlerde adil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Weighted F1: Sınıf büyüklüğüne göre ağırlıklı → genel performans göstergesi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ROC Eğrisi ve AUC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5720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21031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9601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ROC Eğrisi Ne Gösterir?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ekseni: False Positive Rate (FPR)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ekseni: True Positive Rate (TPR = Recall)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eşik değeri (threshold) için bir nokta: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Sol üst köşeye yakınlık = iyi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Köşegen çizgi = rastgele tahmin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Eğri altında kalan alan = AUC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12080" y="868680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212080" y="868680"/>
            <a:ext cx="352044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0" y="100584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303520" y="1618488"/>
            <a:ext cx="3337560" cy="-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Rastgele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Tahmin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212080" y="1627632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2080" y="1627632"/>
            <a:ext cx="35204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0" y="1764792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0.70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303520" y="2377440"/>
            <a:ext cx="3337560" cy="-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212080" y="2386584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212080" y="2386584"/>
            <a:ext cx="352044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2523744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5303520" y="3136392"/>
            <a:ext cx="3337560" cy="-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İyi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212080" y="3145536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212080" y="3145536"/>
            <a:ext cx="352044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6" name="Text 24"/>
          <p:cNvSpPr/>
          <p:nvPr/>
        </p:nvSpPr>
        <p:spPr>
          <a:xfrm>
            <a:off x="5212080" y="3282696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5303520" y="3895344"/>
            <a:ext cx="3337560" cy="-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Mükemmel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3200400"/>
            <a:ext cx="8412480" cy="15544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24612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sklearn.metrics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roc_curve, roc_auc_score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y_proba = model.predict_proba(X_test)[:, 1]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fpr, tpr, thresholds = roc_curve(y_test, y_proba)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auc_score = roc_auc_score(y_test, y_proba)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print(f"AUC: {auc_score:.3f}")  </a:t>
            </a:r>
            <a:pPr indent="0" marL="0">
              <a:buNone/>
            </a:pPr>
            <a:r>
              <a:rPr lang="en-US" sz="900" i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AUC: 0.876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 Validation (Çapraz Doğrulama)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20624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Tek Split Yetmez?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Train/test bölümü rastgeledir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Şanslı/şanssız bir bölme olabilir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performansı değişkenlik gösterir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Küçük veri setlerinde özellikle sorunlu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868680"/>
            <a:ext cx="40233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K-Fold Cross Validation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3716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Veriyi K eşit parçaya böl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Her seferinde 1 parça test, K-1 eğitim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 kez tekrarla, sonuçları ortala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K=5 veya K=10 yaygın tercih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83210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97280" y="2880360"/>
            <a:ext cx="1280160" cy="10058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8" name="Shape 16"/>
          <p:cNvSpPr/>
          <p:nvPr/>
        </p:nvSpPr>
        <p:spPr>
          <a:xfrm>
            <a:off x="2468880" y="2880360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3840480" y="2880360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2080" y="2880360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6583680" y="2880360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97280" y="2999232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2468880" y="2999232"/>
            <a:ext cx="1280160" cy="10058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4" name="Shape 22"/>
          <p:cNvSpPr/>
          <p:nvPr/>
        </p:nvSpPr>
        <p:spPr>
          <a:xfrm>
            <a:off x="3840480" y="2999232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5" name="Shape 23"/>
          <p:cNvSpPr/>
          <p:nvPr/>
        </p:nvSpPr>
        <p:spPr>
          <a:xfrm>
            <a:off x="5212080" y="2999232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6" name="Shape 24"/>
          <p:cNvSpPr/>
          <p:nvPr/>
        </p:nvSpPr>
        <p:spPr>
          <a:xfrm>
            <a:off x="6583680" y="2999232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7280" y="3118104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8" name="Shape 26"/>
          <p:cNvSpPr/>
          <p:nvPr/>
        </p:nvSpPr>
        <p:spPr>
          <a:xfrm>
            <a:off x="2468880" y="3118104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9" name="Shape 27"/>
          <p:cNvSpPr/>
          <p:nvPr/>
        </p:nvSpPr>
        <p:spPr>
          <a:xfrm>
            <a:off x="3840480" y="3118104"/>
            <a:ext cx="1280160" cy="10058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30" name="Shape 28"/>
          <p:cNvSpPr/>
          <p:nvPr/>
        </p:nvSpPr>
        <p:spPr>
          <a:xfrm>
            <a:off x="5212080" y="3118104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1" name="Shape 29"/>
          <p:cNvSpPr/>
          <p:nvPr/>
        </p:nvSpPr>
        <p:spPr>
          <a:xfrm>
            <a:off x="6583680" y="3118104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1097280" y="3236976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3" name="Shape 31"/>
          <p:cNvSpPr/>
          <p:nvPr/>
        </p:nvSpPr>
        <p:spPr>
          <a:xfrm>
            <a:off x="2468880" y="3236976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4" name="Shape 32"/>
          <p:cNvSpPr/>
          <p:nvPr/>
        </p:nvSpPr>
        <p:spPr>
          <a:xfrm>
            <a:off x="3840480" y="3236976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5" name="Shape 33"/>
          <p:cNvSpPr/>
          <p:nvPr/>
        </p:nvSpPr>
        <p:spPr>
          <a:xfrm>
            <a:off x="5212080" y="3236976"/>
            <a:ext cx="1280160" cy="10058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36" name="Shape 34"/>
          <p:cNvSpPr/>
          <p:nvPr/>
        </p:nvSpPr>
        <p:spPr>
          <a:xfrm>
            <a:off x="6583680" y="3236976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1097280" y="3355848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8" name="Shape 36"/>
          <p:cNvSpPr/>
          <p:nvPr/>
        </p:nvSpPr>
        <p:spPr>
          <a:xfrm>
            <a:off x="2468880" y="3355848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3840480" y="3355848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40" name="Shape 38"/>
          <p:cNvSpPr/>
          <p:nvPr/>
        </p:nvSpPr>
        <p:spPr>
          <a:xfrm>
            <a:off x="5212080" y="3355848"/>
            <a:ext cx="1280160" cy="10058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0" y="3355848"/>
            <a:ext cx="1280160" cy="10058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2880360"/>
            <a:ext cx="548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9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57200" y="3017520"/>
            <a:ext cx="548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365760" y="3749040"/>
            <a:ext cx="8412480" cy="10972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sklearn.model_selection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cross_val_score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cross_val_score(model, X, y,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cv=5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scoring='accuracy'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print(f"Ortalama: {scores.mean():.3f} ± {scores.std():.3f}")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Titanic: İlk Kaggle Yarışması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754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82880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9601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 Tanıtımı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32588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891 yolcu · 12 özellik · Binary sınıflandırma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Hedef: Survived (0 = Hayır, 1 = Evet)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Kaggle'ın en popüler başlangıç yarışması!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"Machine Learning from Disaster"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49240" y="868680"/>
            <a:ext cx="1691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868680"/>
            <a:ext cx="16916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349240" y="10058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891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440680" y="161848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Örnekleri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78040" y="868680"/>
            <a:ext cx="1691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78040" y="868680"/>
            <a:ext cx="169164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10058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418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269480" y="161848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Örnekleri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926080"/>
            <a:ext cx="8321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926080"/>
            <a:ext cx="83210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01752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Temel Özellikler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3364992"/>
            <a:ext cx="1645920" cy="201168"/>
          </a:xfrm>
          <a:prstGeom prst="rect">
            <a:avLst/>
          </a:prstGeom>
          <a:solidFill>
            <a:srgbClr val="5B2C1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3649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Özellik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240280" y="3364992"/>
            <a:ext cx="1828800" cy="201168"/>
          </a:xfrm>
          <a:prstGeom prst="rect">
            <a:avLst/>
          </a:prstGeom>
          <a:solidFill>
            <a:srgbClr val="5B2C1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0" y="33649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Tip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069080" y="3364992"/>
            <a:ext cx="4572000" cy="201168"/>
          </a:xfrm>
          <a:prstGeom prst="rect">
            <a:avLst/>
          </a:prstGeom>
          <a:solidFill>
            <a:srgbClr val="5B2C1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0" y="336499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Açıklama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3584448"/>
            <a:ext cx="1645920" cy="201168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5844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Pclass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240280" y="3584448"/>
            <a:ext cx="1828800" cy="201168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0" y="35844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Kategorik (1-3)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069080" y="3584448"/>
            <a:ext cx="4572000" cy="201168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0" y="3584448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Yolcu sınıfı (1st, 2nd, 3rd)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94360" y="3803904"/>
            <a:ext cx="1645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380390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240280" y="3803904"/>
            <a:ext cx="18288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0" y="38039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Kategorik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069080" y="3803904"/>
            <a:ext cx="45720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14800" y="380390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Cinsiyet (male, female)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94360" y="4023360"/>
            <a:ext cx="1645920" cy="201168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0233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240280" y="4023360"/>
            <a:ext cx="1828800" cy="201168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86000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Sayısal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069080" y="4023360"/>
            <a:ext cx="4572000" cy="201168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14800" y="40233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 (eksik veri var!)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94360" y="4242816"/>
            <a:ext cx="1645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" y="424281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SibSp / Parch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240280" y="4242816"/>
            <a:ext cx="18288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286000" y="4242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Sayısal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069080" y="4242816"/>
            <a:ext cx="45720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14800" y="4242816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Kardeş + Ebeveyn/Çocuk sayısı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94360" y="4462272"/>
            <a:ext cx="1645920" cy="201168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080" y="44622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240280" y="4462272"/>
            <a:ext cx="1828800" cy="201168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286000" y="44622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Sayısal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069080" y="4462272"/>
            <a:ext cx="4572000" cy="201168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114800" y="446227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Bilet ücreti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4360" y="4681728"/>
            <a:ext cx="1645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468172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Embarked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2240280" y="4681728"/>
            <a:ext cx="18288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286000" y="46817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Kategorik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069080" y="4681728"/>
            <a:ext cx="45720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114800" y="4681728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Biniş limanı (C, Q, S)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9436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Submission: PassengerId + Survived (0/1) → CSV dosyası yükle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Titanic: Veri Hazırlama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321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86868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14300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43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914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Eksik Veri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9144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→ median ile doldur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Embarked → mod ile doldur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 → düşür (çok eksik)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1874520"/>
            <a:ext cx="8321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1874520"/>
            <a:ext cx="54864" cy="86868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" y="214884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148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19202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19202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→ 0/1 (LabelEncoder)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Embarked → One-Hot Encoding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Pclass zaten sayısal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880360"/>
            <a:ext cx="8321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880360"/>
            <a:ext cx="54864" cy="86868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315468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154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" y="29260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0" y="292608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FamilySize = SibSp + Parch + 1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IsAlone = FamilySize ==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Name'den çıkar (Mr, Mrs...)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3886200"/>
            <a:ext cx="8321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3886200"/>
            <a:ext cx="54864" cy="86868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8" name="Shape 26"/>
          <p:cNvSpPr/>
          <p:nvPr/>
        </p:nvSpPr>
        <p:spPr>
          <a:xfrm>
            <a:off x="502920" y="41605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0120" y="3931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Özellik Seçimi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00400" y="393192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Ticket, Cabin → düşür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PassengerId → düşür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Kalan: Pclass, Sex, Age, Fare, +yeni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Titanic: Model Eğitimi ve Karşılaştırma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23774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sklearn.linear_model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LogisticRegression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sklearn.neighbors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KNeighborsClassifier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sklearn.tree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DecisionTreeClassifier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 = {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"Lojistik Regresyon": LogisticRegression(max_iter=200),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"KNN (K=5)":          KNeighborsClassifier(n_neighbors=5),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"Karar Ağacı":        DecisionTreeClassifier(max_depth=5),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model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models.items():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scores = cross_val_score(model, X, y, cv=5)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print(f"{name}: {scores.mean():.3f} ± {scores.std():.3f}")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3474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3474720"/>
            <a:ext cx="26517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36118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%80.2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57200" y="422452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Lojistik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Regresyon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3474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6120" y="3474720"/>
            <a:ext cx="26517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3246120" y="36118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%78.5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3337560" y="422452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(K=5)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3474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3474720"/>
            <a:ext cx="26517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6118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%79.8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217920" y="422452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Ağacı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(depth=5)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Diyabet Teşhisi: Pima Indians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754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201168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9601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Pima Indians Diabetes Dataset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3258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 kadın hasta · 8 klinik özellik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Hedef: Outcome (0 = Diyabet yok, 1 = Diyabet)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Özellikler: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Pregnancies · Glucose · BloodPressure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SkinThickness · Insulin · BMI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DiabetesPedigreeFunction · Age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49240" y="868680"/>
            <a:ext cx="16916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868680"/>
            <a:ext cx="16916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349240" y="10058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768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440680" y="161848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78040" y="868680"/>
            <a:ext cx="16916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78040" y="868680"/>
            <a:ext cx="169164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10058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%34.9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269480" y="161848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Diyabet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349240" y="1965960"/>
            <a:ext cx="3520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1965960"/>
            <a:ext cx="35204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5532120" y="20574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Dikkat!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32120" y="23774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Dengesiz veri seti!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yerine F1-Score kullan.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108960"/>
            <a:ext cx="83210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108960"/>
            <a:ext cx="832104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320040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Uygulama Pipeline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566160"/>
            <a:ext cx="1463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3566160"/>
            <a:ext cx="146304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9" name="Shape 27"/>
          <p:cNvSpPr/>
          <p:nvPr/>
        </p:nvSpPr>
        <p:spPr>
          <a:xfrm>
            <a:off x="1097280" y="3611880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30" name="Text 28"/>
          <p:cNvSpPr/>
          <p:nvPr/>
        </p:nvSpPr>
        <p:spPr>
          <a:xfrm>
            <a:off x="10972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Yükle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4206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pd.read_csv('diabetes.csv')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194560" y="3566160"/>
            <a:ext cx="1463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194560" y="3566160"/>
            <a:ext cx="14630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5" name="Shape 33"/>
          <p:cNvSpPr/>
          <p:nvPr/>
        </p:nvSpPr>
        <p:spPr>
          <a:xfrm>
            <a:off x="2743200" y="361188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36" name="Text 34"/>
          <p:cNvSpPr/>
          <p:nvPr/>
        </p:nvSpPr>
        <p:spPr>
          <a:xfrm>
            <a:off x="274320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19456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Temizle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240280" y="4206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değerler → NaN → median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840480" y="3566160"/>
            <a:ext cx="1463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840480" y="3566160"/>
            <a:ext cx="146304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9120" y="361188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42" name="Text 40"/>
          <p:cNvSpPr/>
          <p:nvPr/>
        </p:nvSpPr>
        <p:spPr>
          <a:xfrm>
            <a:off x="438912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84048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Ölçekle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86200" y="4206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fit_transform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486400" y="3566160"/>
            <a:ext cx="1463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486400" y="3566160"/>
            <a:ext cx="146304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47" name="Shape 45"/>
          <p:cNvSpPr/>
          <p:nvPr/>
        </p:nvSpPr>
        <p:spPr>
          <a:xfrm>
            <a:off x="6035040" y="36118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48" name="Text 46"/>
          <p:cNvSpPr/>
          <p:nvPr/>
        </p:nvSpPr>
        <p:spPr>
          <a:xfrm>
            <a:off x="60350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Böl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532120" y="4206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train_test_split (80/20)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132320" y="3566160"/>
            <a:ext cx="1463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7132320" y="3566160"/>
            <a:ext cx="146304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53" name="Shape 51"/>
          <p:cNvSpPr/>
          <p:nvPr/>
        </p:nvSpPr>
        <p:spPr>
          <a:xfrm>
            <a:off x="7680960" y="361188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54" name="Text 52"/>
          <p:cNvSpPr/>
          <p:nvPr/>
        </p:nvSpPr>
        <p:spPr>
          <a:xfrm>
            <a:off x="768096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13232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Eğit+Değerlendir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178040" y="4206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model + classification_report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Kaggle Kültürü ve İlk Adımlar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39319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39319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0584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1005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Hesap Açma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kaggle.com'da ücretsiz kayıt.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hesabı ile giriş.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bilgilerini doldur.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Portföy görünürlüğü!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868680"/>
            <a:ext cx="39319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868680"/>
            <a:ext cx="39319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Shape 14"/>
          <p:cNvSpPr/>
          <p:nvPr/>
        </p:nvSpPr>
        <p:spPr>
          <a:xfrm>
            <a:off x="4709160" y="100584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4709160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1005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Kullanımı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1417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ücretsiz GPU!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saat/hafta GPU kotası.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+ markdown + çıktı bir arada.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Paylaş ve oy topla.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39319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971800"/>
            <a:ext cx="393192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310896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1089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Setleri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35204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50.000+ açık veri seti.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JSON, resim, metin...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 veri setini yükle.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yarışmaları.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2971800"/>
            <a:ext cx="39319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2971800"/>
            <a:ext cx="393192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8" name="Shape 26"/>
          <p:cNvSpPr/>
          <p:nvPr/>
        </p:nvSpPr>
        <p:spPr>
          <a:xfrm>
            <a:off x="4709160" y="310896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9" name="Text 27"/>
          <p:cNvSpPr/>
          <p:nvPr/>
        </p:nvSpPr>
        <p:spPr>
          <a:xfrm>
            <a:off x="470916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20640" y="31089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Yarışma &amp; Submission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754880" y="35204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→ Leaderboard sıralaması.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Private LB farkı!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Kernel-only yarışmalar.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 sistemi (Bronz→Altın).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Notebook'lar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26060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260604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0584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9875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siniflandirma_temel.ipynb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141732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Sınıflandırma algoritmalarının temel uygulaması.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Iris veri seti ile 3 algoritma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Confusion matrix ve metrikler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Karar sınırı görselleştirme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 validation karşılaştırma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97280" y="4297680"/>
            <a:ext cx="1097280" cy="2743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dk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0400" y="868680"/>
            <a:ext cx="26060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868680"/>
            <a:ext cx="26060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Shape 16"/>
          <p:cNvSpPr/>
          <p:nvPr/>
        </p:nvSpPr>
        <p:spPr>
          <a:xfrm>
            <a:off x="3337560" y="100584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49040" y="9875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titanic_kaggle.ipynb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141732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Titanic yarışması tam çözüm.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EDA ve veri temizleme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Feature engineering (Title, FamilySize)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model eğitim + karşılaştırma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Kaggle submission dosyası oluşturma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31920" y="4297680"/>
            <a:ext cx="1097280" cy="2743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3" name="Text 21"/>
          <p:cNvSpPr/>
          <p:nvPr/>
        </p:nvSpPr>
        <p:spPr>
          <a:xfrm>
            <a:off x="393192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 dk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35040" y="868680"/>
            <a:ext cx="26060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868680"/>
            <a:ext cx="26060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Shape 24"/>
          <p:cNvSpPr/>
          <p:nvPr/>
        </p:nvSpPr>
        <p:spPr>
          <a:xfrm>
            <a:off x="6172200" y="100584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0" y="9875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diyabet_teshisi.ipynb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72200" y="141732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Indians diyabet tahmini projesi.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Klinik veri analizi ve ön işleme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Dengesiz veri ile başa çıkma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F1-Score ve ROC/AUC değerlendirme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 iyi modeli seçme stratejisi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66560" y="4297680"/>
            <a:ext cx="1097280" cy="27432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dk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ve Kaynaklar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Ödev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472184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72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Kaggle Titanic Submission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1691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Titanic notebook'unu tamamla ve Kaggle'a submit et.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ekran görüntüsünü paylaş.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221992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221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21671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Algoritma Raporu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05840" y="24414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algoritma için: Accuracy, Precision, Recall,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ve Confusion Matrix tablosu.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29169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İyi Model Analizi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05840" y="319125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o model en iyi? Hangi metriğe göre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seçtin? 1 sayfa yazılı açıklama.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09160" y="868680"/>
            <a:ext cx="40690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868680"/>
            <a:ext cx="40690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100584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Kaynaklar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92040" y="141732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▸ Kaggle Learn: Intro to ML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74920" y="1600200"/>
            <a:ext cx="3520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kaggle.com/learn/intro-to-machine-learning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92040" y="1801368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▸ sklearn Classification Docs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74920" y="1984248"/>
            <a:ext cx="3520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scikit-learn.org/stable/supervised_learning.html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92040" y="2185416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▸ Titanic Tutorial (Kaggle)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74920" y="2368296"/>
            <a:ext cx="3520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kaggle.com/competitions/titanic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892040" y="2569464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▸ Confusion Matrix Explained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74920" y="2752344"/>
            <a:ext cx="3520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StatQuest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92040" y="295351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▸ ROC ve AUC Açıklaması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74920" y="3136392"/>
            <a:ext cx="3520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StatQuest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333756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▸ Pima Indians Dataset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074920" y="3520440"/>
            <a:ext cx="3520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kaggle.com/datasets/uciml/pima-indians-diabetes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65760" y="4023360"/>
            <a:ext cx="84124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65760" y="4023360"/>
            <a:ext cx="54864" cy="73152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" y="409651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Teslim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9436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submission ekran görüntüsü + rapor → bir sonraki hafta dersten önce. Kaggle hesap linkinizi paylaşmayı unutmayın!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 6 — Önemli Çıkarımlar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2286000" cy="36576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6984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069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960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Sınıflandırma, veriyi önceden tanımlı kategorilere atama işlemidir — binary veya multi-class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72821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61848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Lojistik Regresyon, KNN ve Karar Ağacı farklı güçlere sahip: probleme göre seçin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76856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86584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38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2276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ve metrikler (Precision, Recall, F1) doğru değerlendirmenin temelidir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35224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3044952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24128" y="29352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Validation ile model performansını güvenilir şekilde ölçün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70332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4128" y="35935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ile gerçek dünya problemlerinde pratik yapın — öğrenmenin en iyi yolu uygulamadır!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2E171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“Veri bilimcinin en güçlü silahı doğru soruyu sormak ve doğru metrikle değerlendirmektir.”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Veri Bilimi ve Yapay Zekâ Eğitimi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6: Makine Öğrenmesi II — Sınıflandırma ve Kaggle</dc:title>
  <dc:subject>PptxGenJS Presentation</dc:subject>
  <dc:creator>Dr. Murat Altun</dc:creator>
  <cp:lastModifiedBy>Dr. Murat Altun</cp:lastModifiedBy>
  <cp:revision>1</cp:revision>
  <dcterms:created xsi:type="dcterms:W3CDTF">2026-04-09T11:39:42Z</dcterms:created>
  <dcterms:modified xsi:type="dcterms:W3CDTF">2026-04-09T11:39:42Z</dcterms:modified>
</cp:coreProperties>
</file>