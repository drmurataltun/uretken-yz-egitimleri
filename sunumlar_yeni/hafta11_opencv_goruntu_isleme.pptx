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Shape 1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4A2518"/>
          </a:solidFill>
          <a:ln/>
        </p:spPr>
      </p:sp>
      <p:sp>
        <p:nvSpPr>
          <p:cNvPr id="4" name="Shape 2"/>
          <p:cNvSpPr/>
          <p:nvPr/>
        </p:nvSpPr>
        <p:spPr>
          <a:xfrm>
            <a:off x="5943600" y="0"/>
            <a:ext cx="45720" cy="514350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548640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VERİ BİLİMİ DERSİ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97280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OpenCV ile</a:t>
            </a:r>
            <a:endParaRPr lang="en-US" sz="4800" dirty="0"/>
          </a:p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Görüntü İşleme</a:t>
            </a:r>
            <a:endParaRPr lang="en-US" sz="4800" dirty="0"/>
          </a:p>
        </p:txBody>
      </p:sp>
      <p:sp>
        <p:nvSpPr>
          <p:cNvPr id="8" name="Shape 6"/>
          <p:cNvSpPr/>
          <p:nvPr/>
        </p:nvSpPr>
        <p:spPr>
          <a:xfrm>
            <a:off x="457200" y="2971800"/>
            <a:ext cx="2743200" cy="4572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315468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Hafta 11 · Modül 11</a:t>
            </a:r>
            <a:endParaRPr lang="en-US" sz="1500" dirty="0"/>
          </a:p>
          <a:p>
            <a:pPr indent="0" marL="0">
              <a:buNone/>
            </a:pPr>
            <a:r>
              <a:rPr lang="en-US" sz="1500" i="1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Görüntü, Filtreler, Kenar Tespiti ve Konturlar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42519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Dr. Murat Altun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453542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 Bilimi ve Yapay Zekâ Eğitimi  ·  2026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126480" y="320040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126480" y="822960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(Teori + Uygulama)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583680" y="1371600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5" name="Text 13"/>
          <p:cNvSpPr/>
          <p:nvPr/>
        </p:nvSpPr>
        <p:spPr>
          <a:xfrm>
            <a:off x="6126480" y="1527048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26480" y="2029968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(Temel, Filtre, Şekil)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83680" y="2578608"/>
            <a:ext cx="1920240" cy="18288"/>
          </a:xfrm>
          <a:prstGeom prst="rect">
            <a:avLst/>
          </a:prstGeom>
          <a:solidFill>
            <a:srgbClr val="6B3A28"/>
          </a:solidFill>
          <a:ln/>
        </p:spPr>
      </p:sp>
      <p:sp>
        <p:nvSpPr>
          <p:cNvPr id="18" name="Text 16"/>
          <p:cNvSpPr/>
          <p:nvPr/>
        </p:nvSpPr>
        <p:spPr>
          <a:xfrm>
            <a:off x="6126480" y="2734056"/>
            <a:ext cx="2834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10+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126480" y="3236976"/>
            <a:ext cx="28346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OpenCV Fonk.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(imread, Canny, vb.)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İçindekiler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457200" y="96012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960120"/>
            <a:ext cx="54864" cy="84124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8" name="Shape 6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9" name="Text 7"/>
          <p:cNvSpPr/>
          <p:nvPr/>
        </p:nvSpPr>
        <p:spPr>
          <a:xfrm>
            <a:off x="512064" y="109728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280160" y="105156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Dijital Görüntü Temelleri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280160" y="14356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 · Kanal (RGB) · Renk derinliği · OpenCV kurulumu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0" y="1179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C97B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3–5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196596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1965960"/>
            <a:ext cx="54864" cy="84124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5" name="Shape 13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512064" y="210312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280160" y="205740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Temel İşlemler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280160" y="24414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Renk dönüşümü · Boyutlandırma · Eşikleme · Şekil çizme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132320" y="218541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B7A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6–13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297180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" y="2971800"/>
            <a:ext cx="54864" cy="84124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Shape 20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3" name="Text 21"/>
          <p:cNvSpPr/>
          <p:nvPr/>
        </p:nvSpPr>
        <p:spPr>
          <a:xfrm>
            <a:off x="512064" y="31089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280160" y="30632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Filtreler ve Kenar Tespiti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80160" y="34472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 · Gaussian · Median · Canny · Morfolojik işlemler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7132320" y="319125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89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8–16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977640"/>
            <a:ext cx="822960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457200" y="3977640"/>
            <a:ext cx="54864" cy="841248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9" name="Shape 27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0" name="Text 28"/>
          <p:cNvSpPr/>
          <p:nvPr/>
        </p:nvSpPr>
        <p:spPr>
          <a:xfrm>
            <a:off x="512064" y="411480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280160" y="406908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Kontur, Renk ve Canlı Video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1280160" y="445312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findContours · HSV maskeleme · VideoCapture · Notebook &amp; ödev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7132320" y="419709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7C5B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Slayt 14–20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Dijital Görüntü Nedir?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9377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2011680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6012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Piksel, Kanal ve Renk Derinliği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325880"/>
            <a:ext cx="4572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görüntü, satır ve sütunlardan oluşan bir piksel matrisidir. Her piksel bir renk değeri taşır. Gri tonlamalı görüntüde 1 kanal (0–255), renkli görüntüde 3 kanal (BGR veya RGB) bulunur. 8-bit derinlikte her kanal 256 farklı ton alabilir; 3 kanalla 16.7 milyon renk elde edilir.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3063240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3063240"/>
            <a:ext cx="1920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32004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H×W×C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457200" y="38130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Boyutları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468880" y="3063240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2468880" y="3063240"/>
            <a:ext cx="192024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8" name="Text 16"/>
          <p:cNvSpPr/>
          <p:nvPr/>
        </p:nvSpPr>
        <p:spPr>
          <a:xfrm>
            <a:off x="2468880" y="32004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0–255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560320" y="38130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 Değer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Aralığı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0" y="3063240"/>
            <a:ext cx="192024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572000" y="3063240"/>
            <a:ext cx="192024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0" y="3200400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3400" dirty="0"/>
          </a:p>
        </p:txBody>
      </p:sp>
      <p:sp>
        <p:nvSpPr>
          <p:cNvPr id="23" name="Text 21"/>
          <p:cNvSpPr/>
          <p:nvPr/>
        </p:nvSpPr>
        <p:spPr>
          <a:xfrm>
            <a:off x="4663440" y="38130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Sayısı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(BGR)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0" y="868680"/>
            <a:ext cx="338328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5486400" y="868680"/>
            <a:ext cx="33832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10515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Renk Kanalları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715000" y="1463040"/>
            <a:ext cx="256032" cy="256032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8" name="Text 26"/>
          <p:cNvSpPr/>
          <p:nvPr/>
        </p:nvSpPr>
        <p:spPr>
          <a:xfrm>
            <a:off x="6080760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 (Mavi)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223760" y="14447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0 — Mavi tonlar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715000" y="1920240"/>
            <a:ext cx="256032" cy="256032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1" name="Text 29"/>
          <p:cNvSpPr/>
          <p:nvPr/>
        </p:nvSpPr>
        <p:spPr>
          <a:xfrm>
            <a:off x="6080760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 (Yeşil)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223760" y="19019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1 — Yeşil tonlar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715000" y="2377440"/>
            <a:ext cx="256032" cy="256032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34" name="Text 32"/>
          <p:cNvSpPr/>
          <p:nvPr/>
        </p:nvSpPr>
        <p:spPr>
          <a:xfrm>
            <a:off x="6080760" y="23591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 (Kırmızı)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223760" y="235915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Kanal 2 — Kırmızı tonlar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675120" y="3063240"/>
            <a:ext cx="219456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6675120" y="3063240"/>
            <a:ext cx="219456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8" name="Text 36"/>
          <p:cNvSpPr/>
          <p:nvPr/>
        </p:nvSpPr>
        <p:spPr>
          <a:xfrm>
            <a:off x="6675120" y="3200400"/>
            <a:ext cx="2194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16.7M</a:t>
            </a:r>
            <a:endParaRPr lang="en-US" sz="3400" dirty="0"/>
          </a:p>
        </p:txBody>
      </p:sp>
      <p:sp>
        <p:nvSpPr>
          <p:cNvPr id="39" name="Text 37"/>
          <p:cNvSpPr/>
          <p:nvPr/>
        </p:nvSpPr>
        <p:spPr>
          <a:xfrm>
            <a:off x="6766560" y="381304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Kombinasyonu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OpenCV Tanıtımı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0058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9144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 Source Computer Vision Library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48640" y="1261872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 yılında Intel tarafından başlatılan OpenCV, 2500+ optimize algoritma içerir. Python, C++, Java desteği ile bilgisayarlı görme alanının en yaygın kütüphanesidir. Kurulum: pip install opencv-python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103120"/>
            <a:ext cx="1965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5760" y="2103120"/>
            <a:ext cx="196596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286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🚗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502920" y="292608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Otonom Araçlar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02920" y="32918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Şerit takibi, nesne algılama, trafik işareti tanıma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514600" y="2103120"/>
            <a:ext cx="1965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514600" y="2103120"/>
            <a:ext cx="196596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9" name="Text 17"/>
          <p:cNvSpPr/>
          <p:nvPr/>
        </p:nvSpPr>
        <p:spPr>
          <a:xfrm>
            <a:off x="2514600" y="2286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🏥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2651760" y="292608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Tıbbi Görüntüleme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2651760" y="32918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X-ray, MRI analizi, tümör segmentasyonu, hücre sayımı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663440" y="2103120"/>
            <a:ext cx="1965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63440" y="2103120"/>
            <a:ext cx="196596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2286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🔒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4800600" y="292608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Güvenlik Sistemleri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800600" y="32918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Yüz tanıma, hareket algılama, plaka okuma sistemi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812280" y="2103120"/>
            <a:ext cx="19659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812280" y="2103120"/>
            <a:ext cx="196596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9" name="Text 27"/>
          <p:cNvSpPr/>
          <p:nvPr/>
        </p:nvSpPr>
        <p:spPr>
          <a:xfrm>
            <a:off x="6812280" y="2286000"/>
            <a:ext cx="1965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🏭</a:t>
            </a:r>
            <a:endParaRPr lang="en-US" sz="2800" dirty="0"/>
          </a:p>
        </p:txBody>
      </p:sp>
      <p:sp>
        <p:nvSpPr>
          <p:cNvPr id="30" name="Text 28"/>
          <p:cNvSpPr/>
          <p:nvPr/>
        </p:nvSpPr>
        <p:spPr>
          <a:xfrm>
            <a:off x="6949440" y="2926080"/>
            <a:ext cx="1691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Endüstriyel Üretim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49440" y="3291840"/>
            <a:ext cx="1691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Kalite kontrol, ürün sayma, kusur tespiti, ölçüm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Görüntü Okuma ve Yazma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5303520" cy="329184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14400"/>
            <a:ext cx="512064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
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matplotlib.pyplot 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Görüntü okuma (BGR formatında)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 = cv2.imread(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'resim.jpg'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Boyut bilgisi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print(img.shape)  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(yükseklik, genişlik, kanal)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BGR → RGB dönüşümü ve gösterim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rgb = cv2.cvtColor(img, cv2.COLOR_BGR2RGB)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plt.imshow(rgb)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plt.axis(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'off'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plt.show()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Görüntü kaydetme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cv2.imwrite(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'cikti.png'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img)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852160" y="868680"/>
            <a:ext cx="3017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852160" y="868680"/>
            <a:ext cx="301752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6035040" y="10515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cv2.imread()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035040" y="14173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Görüntüyü NumPy dizisi olarak yükler. Varsayılan format BGR'dir (RGB değil!). Dosya bulunamazsa None döner.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52160" y="2423160"/>
            <a:ext cx="30175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52160" y="2423160"/>
            <a:ext cx="30175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256032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plt.imshow()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035040" y="29077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RGB bekler. Önce cvtColor ile dönüştürün.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852160" y="3611880"/>
            <a:ext cx="30175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5852160" y="3611880"/>
            <a:ext cx="301752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0" name="Text 18"/>
          <p:cNvSpPr/>
          <p:nvPr/>
        </p:nvSpPr>
        <p:spPr>
          <a:xfrm>
            <a:off x="6035040" y="3730752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cv2.imwrite()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35040" y="40416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PNG, JPG, BMP formatlarında kayıt.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Renk Uzayı Dönüşümleri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54864" cy="1261872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97840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9784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60120" y="94183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BGR → RGB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60120" y="1307592"/>
            <a:ext cx="7635240" cy="347472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4" name="Text 12"/>
          <p:cNvSpPr/>
          <p:nvPr/>
        </p:nvSpPr>
        <p:spPr>
          <a:xfrm>
            <a:off x="1051560" y="1307592"/>
            <a:ext cx="7452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cv2.cvtColor(img, cv2.COLOR_BGR2RGB)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60120" y="1709928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Matplotlib ve diğer kütüphaneler RGB kullanır. Görselleştirme öncesi zorunlu dönüşüm.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5760" y="2286000"/>
            <a:ext cx="841248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286000"/>
            <a:ext cx="54864" cy="12618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8" name="Shape 16"/>
          <p:cNvSpPr/>
          <p:nvPr/>
        </p:nvSpPr>
        <p:spPr>
          <a:xfrm>
            <a:off x="502920" y="2395728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9" name="Text 17"/>
          <p:cNvSpPr/>
          <p:nvPr/>
        </p:nvSpPr>
        <p:spPr>
          <a:xfrm>
            <a:off x="502920" y="23957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235915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BGR → Grayscale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60120" y="2724912"/>
            <a:ext cx="7635240" cy="347472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2" name="Text 20"/>
          <p:cNvSpPr/>
          <p:nvPr/>
        </p:nvSpPr>
        <p:spPr>
          <a:xfrm>
            <a:off x="1051560" y="2724912"/>
            <a:ext cx="7452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cv2.cvtColor(img, cv2.COLOR_BGR2GRAY)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960120" y="3127248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kanala düşürür (0–255). Eşikleme, kenar tespiti gibi işlemlerden önce gereklidir.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3703320"/>
            <a:ext cx="841248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3703320"/>
            <a:ext cx="54864" cy="1261872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6" name="Shape 24"/>
          <p:cNvSpPr/>
          <p:nvPr/>
        </p:nvSpPr>
        <p:spPr>
          <a:xfrm>
            <a:off x="502920" y="3813048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38130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0120" y="3776472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BGR → HSV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60120" y="4142232"/>
            <a:ext cx="7635240" cy="347472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0" name="Text 28"/>
          <p:cNvSpPr/>
          <p:nvPr/>
        </p:nvSpPr>
        <p:spPr>
          <a:xfrm>
            <a:off x="1051560" y="4142232"/>
            <a:ext cx="7452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cv2.cvtColor(img, cv2.COLOR_BGR2HSV)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960120" y="4544568"/>
            <a:ext cx="7635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Hue (renk tonu), Saturation (doygunluk), Value (parlaklık). Renk bazlı maskeleme için idealdir.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Görüntü Boyutlandırma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572000" cy="219456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14400"/>
            <a:ext cx="43891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Sabit boyuta yeniden boyutlandırma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resized = cv2.resize(img, (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300, 200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Oran koruyarak küçültme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half = cv2.resize(img, None,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fx=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fy=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0.5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Interpolasyon belirterek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 = cv2.resize(img, (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800, 600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interpolation=cv2.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INTER_CUBIC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120640" y="868680"/>
            <a:ext cx="374904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120640" y="868680"/>
            <a:ext cx="37490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2" name="Text 10"/>
          <p:cNvSpPr/>
          <p:nvPr/>
        </p:nvSpPr>
        <p:spPr>
          <a:xfrm>
            <a:off x="5303520" y="102412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Interpolasyon Yöntemleri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257800" y="1444752"/>
            <a:ext cx="3474720" cy="34747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5349240" y="1444752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INTER_NEAREST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7086600" y="1444752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hızlı, düşük kalite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800" y="1828800"/>
            <a:ext cx="347472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5349240" y="1828800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INTER_LINEAR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7086600" y="1828800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Varsayılan, dengeli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257800" y="2212848"/>
            <a:ext cx="3474720" cy="34747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5349240" y="2212848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INTER_CUBIC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7086600" y="2212848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Büyütmede yüksek kalite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257800" y="2596896"/>
            <a:ext cx="347472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349240" y="2596896"/>
            <a:ext cx="1737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INTER_AREA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086600" y="2596896"/>
            <a:ext cx="1554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Küçültmede en iyi sonuç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65760" y="3246120"/>
            <a:ext cx="8503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65760" y="3246120"/>
            <a:ext cx="54864" cy="109728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3310128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💡 Pratik İpucu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3639312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cv2.resize() genişlik × yükseklik (W, H) sırasıyla alır, ancak img.shape yükseklik × genişlik (H, W) döner. Bu fark sık karıştırılır! Modele beslenmeden önce tüm görüntülerin aynı boyutta olması gerekir (ör. 224×224).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Temel Bulanıklaştırma Filtreleri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57200" y="868680"/>
            <a:ext cx="1828800" cy="41148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868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286000" y="868680"/>
            <a:ext cx="2743200" cy="41148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1" name="Text 9"/>
          <p:cNvSpPr/>
          <p:nvPr/>
        </p:nvSpPr>
        <p:spPr>
          <a:xfrm>
            <a:off x="2286000" y="868680"/>
            <a:ext cx="2743200" cy="41148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OpenCV Fonksiyonu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0" y="868680"/>
            <a:ext cx="2011680" cy="41148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0" y="8686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Kullanım Alanı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7040880" y="868680"/>
            <a:ext cx="1828800" cy="41148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15" name="Text 13"/>
          <p:cNvSpPr/>
          <p:nvPr/>
        </p:nvSpPr>
        <p:spPr>
          <a:xfrm>
            <a:off x="7040880" y="8686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Kernel Boyutu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1280160"/>
            <a:ext cx="1828800" cy="548640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86000" y="1280160"/>
            <a:ext cx="2743200" cy="548640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029200" y="1280160"/>
            <a:ext cx="2011680" cy="548640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40880" y="1280160"/>
            <a:ext cx="1828800" cy="548640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1280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101600" rIns="6350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Box Blur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2286000" y="1280160"/>
            <a:ext cx="2743200" cy="54864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cv2.blur(img, (5,5))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5029200" y="1280160"/>
            <a:ext cx="2011680" cy="54864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Genel yumuşatma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7040880" y="12801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3×3, 5×5, 7×7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1874520"/>
            <a:ext cx="1828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86000" y="187452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0" y="1874520"/>
            <a:ext cx="20116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040880" y="1874520"/>
            <a:ext cx="1828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720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101600" rIns="6350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Gaussian Blur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286000" y="1874520"/>
            <a:ext cx="2743200" cy="54864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cv2.GaussianBlur(img, (5,5), 0)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0" y="18745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Gürültü azaltma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7040880" y="18745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sayı: 3,5,7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57200" y="2468880"/>
            <a:ext cx="1828800" cy="548640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0" y="2468880"/>
            <a:ext cx="2743200" cy="548640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0" y="2468880"/>
            <a:ext cx="2011680" cy="548640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040880" y="2468880"/>
            <a:ext cx="1828800" cy="548640"/>
          </a:xfrm>
          <a:prstGeom prst="rect">
            <a:avLst/>
          </a:prstGeom>
          <a:solidFill>
            <a:srgbClr val="FEF5EE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57200" y="2468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101600" rIns="6350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Median Blur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2286000" y="24688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cv2.medianBlur(img, 5)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5029200" y="2468880"/>
            <a:ext cx="2011680" cy="54864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Tuz-biber gürültüsü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040880" y="2468880"/>
            <a:ext cx="1828800" cy="54864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Tek sayı: 3,5,7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57200" y="3063240"/>
            <a:ext cx="1828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286000" y="3063240"/>
            <a:ext cx="27432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029200" y="3063240"/>
            <a:ext cx="20116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040880" y="3063240"/>
            <a:ext cx="182880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DDD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30632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101600" rIns="6350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Bilateral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2286000" y="3063240"/>
            <a:ext cx="2743200" cy="54864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cv2.bilateralFilter(img, 9, 75, 75)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5029200" y="30632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Kenar koruyarak blur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040880" y="30632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63500" rIns="6350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d=5,7,9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365760" y="3749040"/>
            <a:ext cx="8503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9" name="Shape 47"/>
          <p:cNvSpPr/>
          <p:nvPr/>
        </p:nvSpPr>
        <p:spPr>
          <a:xfrm>
            <a:off x="365760" y="3749040"/>
            <a:ext cx="54864" cy="10058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50" name="Text 48"/>
          <p:cNvSpPr/>
          <p:nvPr/>
        </p:nvSpPr>
        <p:spPr>
          <a:xfrm>
            <a:off x="548640" y="3822192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Kernel (Çekirdek) Nedir?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548640" y="4133088"/>
            <a:ext cx="8138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Kernel, görüntü üzerinde kayan küçük bir matristir. Her pikselin yeni değeri, komşu piksellerin ağırlıklı ortalaması ile hesaplanır. Büyük kernel = daha fazla bulanıklaştırma. Gaussian kernel merkeze daha çok ağırlık verir.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Gaussian Blur — Kod Örneği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5486400" cy="34747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14400"/>
            <a:ext cx="530352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
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matplotlib.pyplot 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img = cv2.imread(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'foto.jpg'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Farklı kernel boyutları ile karşılaştırma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kernels = [(3,3), (7,7), (15,15), (31,31)]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fig, axes = plt.subplots(1, 4, figsize=(16,4))
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 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ax, k 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 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zip(axes, kernels):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blur = cv2.GaussianBlur(img, k, 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ax.imshow(cv2.cvtColor(blur,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cv2.COLOR_BGR2RGB))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ax.set_title(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f'Kernel {k}'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plt.tight_layout()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plt.show()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035040" y="868680"/>
            <a:ext cx="2834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035040" y="868680"/>
            <a:ext cx="54864" cy="77724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914400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3×3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132320" y="914400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Hafif yumuşatma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217920" y="1252728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9E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▓░░░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035040" y="1764792"/>
            <a:ext cx="2834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035040" y="1764792"/>
            <a:ext cx="54864" cy="77724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810512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7×7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132320" y="1810512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Orta bulanıklık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217920" y="214884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▓▓░░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035040" y="2660904"/>
            <a:ext cx="2834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035040" y="2660904"/>
            <a:ext cx="54864" cy="77724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2" name="Text 20"/>
          <p:cNvSpPr/>
          <p:nvPr/>
        </p:nvSpPr>
        <p:spPr>
          <a:xfrm>
            <a:off x="6217920" y="2706624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15×15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7132320" y="2706624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Güçlü blur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217920" y="3044952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891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▓▓▓░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6035040" y="3557016"/>
            <a:ext cx="283464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35040" y="3557016"/>
            <a:ext cx="54864" cy="77724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27" name="Text 25"/>
          <p:cNvSpPr/>
          <p:nvPr/>
        </p:nvSpPr>
        <p:spPr>
          <a:xfrm>
            <a:off x="6217920" y="3602736"/>
            <a:ext cx="914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4F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31×31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132320" y="3602736"/>
            <a:ext cx="1645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Çok güçlü blur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217920" y="3941064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4F4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▓▓▓▓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Kenar Tespiti: Canny Algoritması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3891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38912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10515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Canny Algoritma Adımları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1517904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15179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87552" y="1463040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Gürültü Azaltma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43200" y="14630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Gaussian blur ile yumuşatma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48640" y="1993392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87552" y="193852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Gradyan Hesaplama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743200" y="1938528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Sobel filtresi ile x ve y yönlü türevler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48640" y="246888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0" name="Text 18"/>
          <p:cNvSpPr/>
          <p:nvPr/>
        </p:nvSpPr>
        <p:spPr>
          <a:xfrm>
            <a:off x="548640" y="24688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987552" y="2414016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Non-Maximum Suppression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2743200" y="2414016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İnce kenarlar elde etme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548640" y="294436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29443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87552" y="2889504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Çift Eşikleme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743200" y="2889504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Güçlü ve zayıf kenarları ayırma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48640" y="3419856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4198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7552" y="3364992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Hysteresis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743200" y="3364992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Zayıf kenarları güçlülere bağlama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937760" y="868680"/>
            <a:ext cx="3931920" cy="20116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2" name="Text 30"/>
          <p:cNvSpPr/>
          <p:nvPr/>
        </p:nvSpPr>
        <p:spPr>
          <a:xfrm>
            <a:off x="5029200" y="914400"/>
            <a:ext cx="37490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Canny kenar tespiti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gray = cv2.cvtColor(img,
    cv2.COLOR_BGR2GRAY)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threshold1=50, threshold2=150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edges = cv2.Canny(gray, 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150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plt.imshow(edges, cmap=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'gray'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plt.show()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937760" y="3063240"/>
            <a:ext cx="1874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37760" y="3063240"/>
            <a:ext cx="18745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5" name="Text 33"/>
          <p:cNvSpPr/>
          <p:nvPr/>
        </p:nvSpPr>
        <p:spPr>
          <a:xfrm>
            <a:off x="4937760" y="320040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5029200" y="381304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 Eşik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(threshold1)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949440" y="3063240"/>
            <a:ext cx="18745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949440" y="3063240"/>
            <a:ext cx="187452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39" name="Text 37"/>
          <p:cNvSpPr/>
          <p:nvPr/>
        </p:nvSpPr>
        <p:spPr>
          <a:xfrm>
            <a:off x="6949440" y="3200400"/>
            <a:ext cx="1874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</a:t>
            </a:r>
            <a:endParaRPr lang="en-US" sz="3400" dirty="0"/>
          </a:p>
        </p:txBody>
      </p:sp>
      <p:sp>
        <p:nvSpPr>
          <p:cNvPr id="40" name="Text 38"/>
          <p:cNvSpPr/>
          <p:nvPr/>
        </p:nvSpPr>
        <p:spPr>
          <a:xfrm>
            <a:off x="7040880" y="381304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Üst Eşik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(threshold2)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365760" y="4069080"/>
            <a:ext cx="4389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4069080"/>
            <a:ext cx="54864" cy="73152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3" name="Text 41"/>
          <p:cNvSpPr/>
          <p:nvPr/>
        </p:nvSpPr>
        <p:spPr>
          <a:xfrm>
            <a:off x="548640" y="4160520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Düşük eşik → daha fazla kenar (gürültülü). Yüksek eşik → daha az ama keskin kenarlar. Oran genelde 1:2 veya 1:3 olarak seçilir.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Görüntü Eşikleme (Thresholding)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26974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26974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" y="102412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10241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Binary Threshold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463040"/>
            <a:ext cx="2514600" cy="13716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5087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ret, th = cv2.threshold(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gray, 127, 255,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cv2.THRESH_BINARY)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02920" y="29718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Piksel &gt; eşik → beyaz, değilse → siyah. En temel eşikleme yöntemi.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46120" y="868680"/>
            <a:ext cx="26974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46120" y="868680"/>
            <a:ext cx="2697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8" name="Shape 16"/>
          <p:cNvSpPr/>
          <p:nvPr/>
        </p:nvSpPr>
        <p:spPr>
          <a:xfrm>
            <a:off x="3355848" y="1024128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9" name="Text 17"/>
          <p:cNvSpPr/>
          <p:nvPr/>
        </p:nvSpPr>
        <p:spPr>
          <a:xfrm>
            <a:off x="3355848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749040" y="10241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Adaptive Threshold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337560" y="1463040"/>
            <a:ext cx="2514600" cy="13716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15087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 = cv2.adaptiveThreshold(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gray, 255,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cv2.ADAPTIVE_THRESH_GAUSSIAN_C,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cv2.THRESH_BINARY, 11, 2)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383280" y="29718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Bölgesel eşik hesaplar. Farklı aydınlatma koşullarında çok daha iyi sonuç verir.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868680"/>
            <a:ext cx="269748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126480" y="868680"/>
            <a:ext cx="269748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6" name="Shape 24"/>
          <p:cNvSpPr/>
          <p:nvPr/>
        </p:nvSpPr>
        <p:spPr>
          <a:xfrm>
            <a:off x="6236208" y="1024128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7" name="Text 25"/>
          <p:cNvSpPr/>
          <p:nvPr/>
        </p:nvSpPr>
        <p:spPr>
          <a:xfrm>
            <a:off x="6236208" y="1024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29400" y="10241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Otsu Threshold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17920" y="1463040"/>
            <a:ext cx="2514600" cy="13716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0" name="Text 28"/>
          <p:cNvSpPr/>
          <p:nvPr/>
        </p:nvSpPr>
        <p:spPr>
          <a:xfrm>
            <a:off x="6309360" y="1508760"/>
            <a:ext cx="2331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ret, th = cv2.threshold(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gray, 0, 255,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cv2.THRESH_BINARY + cv2.THRESH_OTSU)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263640" y="2971800"/>
            <a:ext cx="2423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Optimum eşik değerini otomatik bulur. Bimodal histogramlarda mükemmel çalışır.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Görüntü Üzerine Şekil Çizme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8412480" cy="365760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14400"/>
            <a:ext cx="8229600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 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numpy 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 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Boş tuval oluştur (siyah, 400x600, 3 kanal)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canvas = np.zeros((400, 600, 3), dtype=np.uint8)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Dikdörtgen: sol-üst (50,50), sağ-alt (200,150), yeşil, kalınlık 2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cv2.rectangle(canvas, (50,50), (200,150), (0,255,0), 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Daire: merkez (300,200), yarıçap 60, mavi, dolu (-1)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cv2.circle(canvas, (300,200), 60, (255,0,0), 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Çizgi: başlangıç (0,0), bitiş (600,400), kırmızı, kalınlık 3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cv2.line(canvas, (0,0), (600,400), (0,0,255), 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Elips: merkez (450,300), eksenler (80,50), açı 30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cv2.ellipse(canvas, (450,300), (80,50), 30, 0, 360, (0,255,255), 2)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Görüntüye Metin Ekleme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2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937760" cy="2560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14400"/>
            <a:ext cx="4754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Metin ekleme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cv2.putText(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img,
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'Merhaba OpenCV!'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       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metin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(50, 100),              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konum (x,y)
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cv2.FONT_HERSHEY_SIMPLEX, 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font
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1.5,                    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ölçek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(255, 255, 255),        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renk (beyaz)
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2,                      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kalınlık
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cv2.LINE_AA             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anti-alias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0" y="868680"/>
            <a:ext cx="33832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0" y="868680"/>
            <a:ext cx="33832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0" y="10515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Font Seçenekleri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23560" y="1444752"/>
            <a:ext cx="3108960" cy="34747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14" name="Text 12"/>
          <p:cNvSpPr/>
          <p:nvPr/>
        </p:nvSpPr>
        <p:spPr>
          <a:xfrm>
            <a:off x="5715000" y="14447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HERSHEY_SIMPLEX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7589520" y="144475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Sans-serif, düz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623560" y="1828800"/>
            <a:ext cx="310896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5715000" y="182880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HERSHEY_PLAIN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589520" y="182880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Küçük, sade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623560" y="2212848"/>
            <a:ext cx="3108960" cy="34747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0" name="Text 18"/>
          <p:cNvSpPr/>
          <p:nvPr/>
        </p:nvSpPr>
        <p:spPr>
          <a:xfrm>
            <a:off x="5715000" y="221284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HERSHEY_DUPLEX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7589520" y="221284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Sans-serif, kalın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623560" y="2596896"/>
            <a:ext cx="310896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715000" y="259689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HERSHEY_COMPLEX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589520" y="259689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Serif, normal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623560" y="2980944"/>
            <a:ext cx="3108960" cy="34747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26" name="Text 24"/>
          <p:cNvSpPr/>
          <p:nvPr/>
        </p:nvSpPr>
        <p:spPr>
          <a:xfrm>
            <a:off x="5715000" y="298094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HERSHEY_TRIPLEX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7589520" y="29809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Serif, kalın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623560" y="3364992"/>
            <a:ext cx="3108960" cy="34747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/>
          <p:nvPr/>
        </p:nvSpPr>
        <p:spPr>
          <a:xfrm>
            <a:off x="5715000" y="336499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HERSHEY_SCRIPT_SIMPLEX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7589520" y="336499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yazısı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5623560" y="3749040"/>
            <a:ext cx="3108960" cy="347472"/>
          </a:xfrm>
          <a:prstGeom prst="rect">
            <a:avLst/>
          </a:prstGeom>
          <a:solidFill>
            <a:srgbClr val="FEF5EE"/>
          </a:solidFill>
          <a:ln/>
        </p:spPr>
      </p:sp>
      <p:sp>
        <p:nvSpPr>
          <p:cNvPr id="32" name="Text 30"/>
          <p:cNvSpPr/>
          <p:nvPr/>
        </p:nvSpPr>
        <p:spPr>
          <a:xfrm>
            <a:off x="5715000" y="374904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ITALIC</a:t>
            </a:r>
            <a:endParaRPr lang="en-US" sz="750" dirty="0"/>
          </a:p>
        </p:txBody>
      </p:sp>
      <p:sp>
        <p:nvSpPr>
          <p:cNvPr id="33" name="Text 31"/>
          <p:cNvSpPr/>
          <p:nvPr/>
        </p:nvSpPr>
        <p:spPr>
          <a:xfrm>
            <a:off x="7589520" y="374904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Herhangi biri + italik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65760" y="3657600"/>
            <a:ext cx="493776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365760" y="3657600"/>
            <a:ext cx="54864" cy="91440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37490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OpenCV Türkçe karakter desteklemez (ö, ş, ğ, ü, ç, ı). Türkçe metin için PIL/Pillow kütüphanesini kullanın: ImageDraw.text() ile TTF font yükleyebilirsiniz.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Kontur Tespiti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937760" cy="25603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14400"/>
            <a:ext cx="475488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Gri tonlama ve eşikleme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gray = cv2.cvtColor(img, cv2.COLOR_BGR2GRAY)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_, thresh = cv2.threshold(gray, 127, 255,
    cv2.THRESH_BINARY)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Konturları bul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contours, hierarchy = cv2.findContours(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thresh, cv2.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RETR_TREE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CHAIN_APPROX_SIMPLE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Konturları çiz (tümü, yeşil, kalınlık 2)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cv2.drawContours(img, contours, 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(0,255,0), 2)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0" y="868680"/>
            <a:ext cx="3383280" cy="2560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0" y="868680"/>
            <a:ext cx="338328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0" y="10515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Kullanım Alanları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669280" y="1499616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0" y="14996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080760" y="14630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Nesne sayma (hücre, ürün)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0" y="1883664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5669280" y="1883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80760" y="184708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Şekil tanıma ve sınıflandırma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0" y="2267712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0" name="Text 18"/>
          <p:cNvSpPr/>
          <p:nvPr/>
        </p:nvSpPr>
        <p:spPr>
          <a:xfrm>
            <a:off x="5669280" y="22677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080760" y="223113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Bölge seçme (ROI) ve kırpma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669280" y="2651760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0" y="2651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080760" y="261518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Belge tarama ve düzeltme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0" y="3035808"/>
            <a:ext cx="329184" cy="329184"/>
          </a:xfrm>
          <a:prstGeom prst="ellipse">
            <a:avLst/>
          </a:prstGeom>
          <a:solidFill>
            <a:srgbClr val="4A7FC7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0" y="30358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080760" y="299923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Hareket takibi (tracking)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65760" y="3611880"/>
            <a:ext cx="850392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365760" y="3611880"/>
            <a:ext cx="850392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74904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Retrieval Modları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48640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RETR_EXTERNAL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48640" y="43891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Sadece dış konturlar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3337560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RETR_LIST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337560" y="43891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konturlar (hiyerarşisiz)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26480" y="41330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RETR_TREE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126480" y="438912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 hiyerarşi ağacı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HSV ile Renk Tespiti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937760" cy="292608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14400"/>
            <a:ext cx="475488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BGR → HSV dönüşümü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hsv = cv2.cvtColor(img, cv2.COLOR_BGR2HSV)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Mavi renk aralığı tanımla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lower_blue = np.array([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100, 50, 50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upper_blue = np.array([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130, 255, 255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Maske oluştur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mask = cv2.inRange(hsv,
    lower_blue, upper_blue)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Maskeyi uygula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cv2.bitwise_and(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img, img, mask=mask)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486400" y="868680"/>
            <a:ext cx="33832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486400" y="868680"/>
            <a:ext cx="338328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0" y="105156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HSV Renk Aralıkları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715000" y="1463040"/>
            <a:ext cx="274320" cy="274320"/>
          </a:xfrm>
          <a:prstGeom prst="rect">
            <a:avLst/>
          </a:prstGeom>
          <a:solidFill>
            <a:srgbClr val="D94F4F"/>
          </a:solidFill>
          <a:ln/>
        </p:spPr>
      </p:sp>
      <p:sp>
        <p:nvSpPr>
          <p:cNvPr id="14" name="Text 12"/>
          <p:cNvSpPr/>
          <p:nvPr/>
        </p:nvSpPr>
        <p:spPr>
          <a:xfrm>
            <a:off x="6080760" y="14630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Kırmızı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995160" y="14630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H: 0–10, 170–180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715000" y="1828800"/>
            <a:ext cx="274320" cy="274320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17" name="Text 15"/>
          <p:cNvSpPr/>
          <p:nvPr/>
        </p:nvSpPr>
        <p:spPr>
          <a:xfrm>
            <a:off x="6080760" y="18288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Turuncu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995160" y="1828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H: 10–25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715000" y="2194560"/>
            <a:ext cx="274320" cy="274320"/>
          </a:xfrm>
          <a:prstGeom prst="rect">
            <a:avLst/>
          </a:prstGeom>
          <a:solidFill>
            <a:srgbClr val="D4A017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21945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Sarı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995160" y="21945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H: 25–35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715000" y="2560320"/>
            <a:ext cx="274320" cy="27432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23" name="Text 21"/>
          <p:cNvSpPr/>
          <p:nvPr/>
        </p:nvSpPr>
        <p:spPr>
          <a:xfrm>
            <a:off x="6080760" y="25603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Yeşil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995160" y="25603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H: 35–85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715000" y="2926080"/>
            <a:ext cx="274320" cy="274320"/>
          </a:xfrm>
          <a:prstGeom prst="rect">
            <a:avLst/>
          </a:prstGeom>
          <a:solidFill>
            <a:srgbClr val="4A7FC7"/>
          </a:solidFill>
          <a:ln/>
        </p:spPr>
      </p:sp>
      <p:sp>
        <p:nvSpPr>
          <p:cNvPr id="26" name="Text 24"/>
          <p:cNvSpPr/>
          <p:nvPr/>
        </p:nvSpPr>
        <p:spPr>
          <a:xfrm>
            <a:off x="6080760" y="29260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Mavi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995160" y="29260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H: 100–130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715000" y="3291840"/>
            <a:ext cx="274320" cy="27432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9" name="Text 27"/>
          <p:cNvSpPr/>
          <p:nvPr/>
        </p:nvSpPr>
        <p:spPr>
          <a:xfrm>
            <a:off x="6080760" y="329184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95160" y="32918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H: 130–170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3977640"/>
            <a:ext cx="8503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365760" y="3977640"/>
            <a:ext cx="54864" cy="822960"/>
          </a:xfrm>
          <a:prstGeom prst="rect">
            <a:avLst/>
          </a:prstGeom>
          <a:solidFill>
            <a:srgbClr val="3A9E6B"/>
          </a:solidFill>
          <a:ln/>
        </p:spPr>
      </p:sp>
      <p:sp>
        <p:nvSpPr>
          <p:cNvPr id="33" name="Text 31"/>
          <p:cNvSpPr/>
          <p:nvPr/>
        </p:nvSpPr>
        <p:spPr>
          <a:xfrm>
            <a:off x="548640" y="402336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A9E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🌍 Gerçek Dünya Örneği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4864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Tarımda yeşil yaprak segmentasyonu, fabrikada renkli ürün ayırma, trafik ışığı tanıma — hepsi HSV maskeleme ile başlar.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Morfolojik İşlemler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3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475488" y="1033272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1033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8680" y="1005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Erosion (Aşındırma)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1399032"/>
            <a:ext cx="3931920" cy="438912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14" name="Text 12"/>
          <p:cNvSpPr/>
          <p:nvPr/>
        </p:nvSpPr>
        <p:spPr>
          <a:xfrm>
            <a:off x="548640" y="141732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cv2.erode(img, kernel, iterations=1)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02920" y="1920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Beyaz bölgeleri küçültür. Gürültü noktalarını yok eder, nesneleri inceltir.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86868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663440" y="868680"/>
            <a:ext cx="41148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8" name="Shape 16"/>
          <p:cNvSpPr/>
          <p:nvPr/>
        </p:nvSpPr>
        <p:spPr>
          <a:xfrm>
            <a:off x="4773168" y="1033272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9" name="Text 17"/>
          <p:cNvSpPr/>
          <p:nvPr/>
        </p:nvSpPr>
        <p:spPr>
          <a:xfrm>
            <a:off x="4773168" y="1033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166360" y="100584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Dilation (Genişletme)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1399032"/>
            <a:ext cx="3931920" cy="438912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141732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cv2.dilate(img, kernel, iterations=1)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800600" y="192024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Beyaz bölgeleri büyütür. Boşlukları doldurur, nesneleri kalınlaştırır.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760" y="288036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65760" y="2880360"/>
            <a:ext cx="411480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26" name="Shape 24"/>
          <p:cNvSpPr/>
          <p:nvPr/>
        </p:nvSpPr>
        <p:spPr>
          <a:xfrm>
            <a:off x="475488" y="3044952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27" name="Text 25"/>
          <p:cNvSpPr/>
          <p:nvPr/>
        </p:nvSpPr>
        <p:spPr>
          <a:xfrm>
            <a:off x="47548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68680" y="30175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Opening (Açma)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3410712"/>
            <a:ext cx="3931920" cy="438912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34290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cv2.morphologyEx(img, cv2.MORPH_OPEN, k)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02920" y="39319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Erosion + Dilation. Küçük gürültü noktalarını temizler, nesne boyutunu korur.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663440" y="2880360"/>
            <a:ext cx="41148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663440" y="2880360"/>
            <a:ext cx="411480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34" name="Shape 32"/>
          <p:cNvSpPr/>
          <p:nvPr/>
        </p:nvSpPr>
        <p:spPr>
          <a:xfrm>
            <a:off x="4773168" y="3044952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5" name="Text 33"/>
          <p:cNvSpPr/>
          <p:nvPr/>
        </p:nvSpPr>
        <p:spPr>
          <a:xfrm>
            <a:off x="477316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166360" y="3017520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Closing (Kapama)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4754880" y="3410712"/>
            <a:ext cx="3931920" cy="438912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3429000"/>
            <a:ext cx="37490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cv2.morphologyEx(img, cv2.MORPH_CLOSE, k)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800600" y="393192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Dilation + Erosion. Küçük delikleri kapatır, nesne içi boşlukları doldurur.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Webcam ile Canlı Görüntü İşleme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5120640" cy="3474720"/>
          </a:xfrm>
          <a:prstGeom prst="rect">
            <a:avLst/>
          </a:prstGeom>
          <a:solidFill>
            <a:srgbClr val="1E1E2E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914400"/>
            <a:ext cx="4937760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Webcam bağlantısı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 = cv2.VideoCapture(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0 = varsayılan kamera
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while 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True: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ret, frame = cap.read()
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not 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ret: 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
</a:t>
            </a:r>
            <a:pPr indent="0" marL="0">
              <a:buNone/>
            </a:pPr>
            <a:r>
              <a:rPr lang="en-US" sz="1000" dirty="0">
                <a:solidFill>
                  <a:srgbClr val="A6E3A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# Gerçek zamanlı filtre uygula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gray = cv2.cvtColor(frame,
        cv2.COLOR_BGR2GRAY)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edges = cv2.Canny(gray, 50, 150)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cv2.imshow(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'Kenarlar'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edges)
</a:t>
            </a:r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if 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cv2.waitKey(1) &amp; 0xFF == ord(</a:t>
            </a:r>
            <a:pPr indent="0" marL="0">
              <a:buNone/>
            </a:pPr>
            <a:r>
              <a:rPr lang="en-US" sz="1000" dirty="0">
                <a:solidFill>
                  <a:srgbClr val="F9E2A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'q'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):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89B4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break
</a:t>
            </a:r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cap.release()</a:t>
            </a:r>
            <a:endParaRPr lang="en-US" sz="900" dirty="0"/>
          </a:p>
          <a:p>
            <a:pPr indent="0" marL="0">
              <a:buNone/>
            </a:pPr>
            <a:r>
              <a:rPr lang="en-US" sz="1000" dirty="0">
                <a:solidFill>
                  <a:srgbClr val="CDD6F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cv2.destroyAllWindows()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669280" y="868680"/>
            <a:ext cx="320040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669280" y="868680"/>
            <a:ext cx="32004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2" name="Text 10"/>
          <p:cNvSpPr/>
          <p:nvPr/>
        </p:nvSpPr>
        <p:spPr>
          <a:xfrm>
            <a:off x="5852160" y="105156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İşlem Akışı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852160" y="150876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5852160" y="1508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91072" y="1463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VideoCapture(0)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7726680" y="1463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Kamerayı aç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852160" y="196596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8" name="Text 16"/>
          <p:cNvSpPr/>
          <p:nvPr/>
        </p:nvSpPr>
        <p:spPr>
          <a:xfrm>
            <a:off x="5852160" y="19659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91072" y="19202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cap.read()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26680" y="19202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Kare oku (frame)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852160" y="242316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2" name="Text 20"/>
          <p:cNvSpPr/>
          <p:nvPr/>
        </p:nvSpPr>
        <p:spPr>
          <a:xfrm>
            <a:off x="5852160" y="24231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91072" y="23774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İşlem uygula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7726680" y="23774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Filtre, kenar, renk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852160" y="288036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6" name="Text 24"/>
          <p:cNvSpPr/>
          <p:nvPr/>
        </p:nvSpPr>
        <p:spPr>
          <a:xfrm>
            <a:off x="5852160" y="28803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91072" y="28346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imshow()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726680" y="28346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Pencerede göster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5852160" y="333756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30" name="Text 28"/>
          <p:cNvSpPr/>
          <p:nvPr/>
        </p:nvSpPr>
        <p:spPr>
          <a:xfrm>
            <a:off x="5852160" y="3337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291072" y="32918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waitKey(1)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726680" y="32918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Tuş bekle (1ms)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52160" y="3794760"/>
            <a:ext cx="329184" cy="329184"/>
          </a:xfrm>
          <a:prstGeom prst="ellipse">
            <a:avLst/>
          </a:prstGeom>
          <a:solidFill>
            <a:srgbClr val="D94F4F"/>
          </a:solidFill>
          <a:ln/>
        </p:spPr>
      </p:sp>
      <p:sp>
        <p:nvSpPr>
          <p:cNvPr id="34" name="Text 32"/>
          <p:cNvSpPr/>
          <p:nvPr/>
        </p:nvSpPr>
        <p:spPr>
          <a:xfrm>
            <a:off x="5852160" y="37947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291072" y="3749040"/>
            <a:ext cx="1463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E1F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release()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7726680" y="3749040"/>
            <a:ext cx="1005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5B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Kaynakları serbest bırak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Haftalık Notebook'lar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2697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269748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Text 8"/>
          <p:cNvSpPr/>
          <p:nvPr/>
        </p:nvSpPr>
        <p:spPr>
          <a:xfrm>
            <a:off x="365760" y="10058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📷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502920" y="15544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opencv_temel.ipynb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02920" y="192024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Görüntü okuma/yazma, BGR↔RGB dönüşümü, boyutlandırma, piksel manipülasyonu, renk uzayları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3337560"/>
            <a:ext cx="804672" cy="29260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337560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cv2.imread</a:t>
            </a:r>
            <a:endParaRPr lang="en-US" sz="700" dirty="0"/>
          </a:p>
        </p:txBody>
      </p:sp>
      <p:sp>
        <p:nvSpPr>
          <p:cNvPr id="15" name="Shape 13"/>
          <p:cNvSpPr/>
          <p:nvPr/>
        </p:nvSpPr>
        <p:spPr>
          <a:xfrm>
            <a:off x="1371600" y="3337560"/>
            <a:ext cx="804672" cy="29260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6" name="Text 14"/>
          <p:cNvSpPr/>
          <p:nvPr/>
        </p:nvSpPr>
        <p:spPr>
          <a:xfrm>
            <a:off x="1371600" y="3337560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cv2.resize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2240280" y="3337560"/>
            <a:ext cx="804672" cy="292608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8" name="Text 16"/>
          <p:cNvSpPr/>
          <p:nvPr/>
        </p:nvSpPr>
        <p:spPr>
          <a:xfrm>
            <a:off x="2240280" y="3337560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cvtColor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3246120" y="868680"/>
            <a:ext cx="2697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46120" y="868680"/>
            <a:ext cx="269748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1" name="Text 19"/>
          <p:cNvSpPr/>
          <p:nvPr/>
        </p:nvSpPr>
        <p:spPr>
          <a:xfrm>
            <a:off x="3246120" y="10058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🔍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3383280" y="15544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filtreler_kenar.ipynb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383280" y="192024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Blur filtreleri karşılaştırma, Canny kenar tespiti, eşikleme yöntemleri, morfolojik işlemler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383280" y="3337560"/>
            <a:ext cx="804672" cy="29260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5" name="Text 23"/>
          <p:cNvSpPr/>
          <p:nvPr/>
        </p:nvSpPr>
        <p:spPr>
          <a:xfrm>
            <a:off x="3383280" y="3337560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GaussianBlur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4251960" y="3337560"/>
            <a:ext cx="804672" cy="29260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7" name="Text 25"/>
          <p:cNvSpPr/>
          <p:nvPr/>
        </p:nvSpPr>
        <p:spPr>
          <a:xfrm>
            <a:off x="4251960" y="3337560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Canny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5120640" y="3337560"/>
            <a:ext cx="804672" cy="292608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29" name="Text 27"/>
          <p:cNvSpPr/>
          <p:nvPr/>
        </p:nvSpPr>
        <p:spPr>
          <a:xfrm>
            <a:off x="5120640" y="3337560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threshold</a:t>
            </a:r>
            <a:endParaRPr lang="en-US" sz="700" dirty="0"/>
          </a:p>
        </p:txBody>
      </p:sp>
      <p:sp>
        <p:nvSpPr>
          <p:cNvPr id="30" name="Shape 28"/>
          <p:cNvSpPr/>
          <p:nvPr/>
        </p:nvSpPr>
        <p:spPr>
          <a:xfrm>
            <a:off x="6126480" y="868680"/>
            <a:ext cx="2697480" cy="347472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6126480" y="868680"/>
            <a:ext cx="2697480" cy="54864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2" name="Text 30"/>
          <p:cNvSpPr/>
          <p:nvPr/>
        </p:nvSpPr>
        <p:spPr>
          <a:xfrm>
            <a:off x="6126480" y="1005840"/>
            <a:ext cx="2697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000000"/>
                </a:solidFill>
              </a:rPr>
              <a:t>✏️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6263640" y="1554480"/>
            <a:ext cx="2423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913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sekil_metin.ipynb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263640" y="1920240"/>
            <a:ext cx="2423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Geometrik şekil çizme, metin ekleme, kontur tespiti, HSV maskeleme, webcam örneği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63640" y="3337560"/>
            <a:ext cx="804672" cy="29260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6" name="Text 34"/>
          <p:cNvSpPr/>
          <p:nvPr/>
        </p:nvSpPr>
        <p:spPr>
          <a:xfrm>
            <a:off x="6263640" y="3337560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drawContours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7132320" y="3337560"/>
            <a:ext cx="804672" cy="29260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38" name="Text 36"/>
          <p:cNvSpPr/>
          <p:nvPr/>
        </p:nvSpPr>
        <p:spPr>
          <a:xfrm>
            <a:off x="7132320" y="3337560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putText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8001000" y="3337560"/>
            <a:ext cx="804672" cy="292608"/>
          </a:xfrm>
          <a:prstGeom prst="rect">
            <a:avLst/>
          </a:prstGeom>
          <a:solidFill>
            <a:srgbClr val="E8913A"/>
          </a:solidFill>
          <a:ln/>
        </p:spPr>
      </p:sp>
      <p:sp>
        <p:nvSpPr>
          <p:cNvPr id="40" name="Text 38"/>
          <p:cNvSpPr/>
          <p:nvPr/>
        </p:nvSpPr>
        <p:spPr>
          <a:xfrm>
            <a:off x="8001000" y="3337560"/>
            <a:ext cx="804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inRange</a:t>
            </a:r>
            <a:endParaRPr lang="en-US" sz="700" dirty="0"/>
          </a:p>
        </p:txBody>
      </p:sp>
      <p:sp>
        <p:nvSpPr>
          <p:cNvPr id="41" name="Shape 39"/>
          <p:cNvSpPr/>
          <p:nvPr/>
        </p:nvSpPr>
        <p:spPr>
          <a:xfrm>
            <a:off x="365760" y="4526280"/>
            <a:ext cx="85039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4526280"/>
            <a:ext cx="54864" cy="457200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43" name="Text 41"/>
          <p:cNvSpPr/>
          <p:nvPr/>
        </p:nvSpPr>
        <p:spPr>
          <a:xfrm>
            <a:off x="548640" y="4572000"/>
            <a:ext cx="8138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Tüm notebook'lar Google Colab'da çalışacak şekilde hazırlanmıştır. pip install opencv-python-headless komutu ile kurulum yapabilirsiniz.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9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85800"/>
          </a:xfrm>
          <a:prstGeom prst="rect">
            <a:avLst/>
          </a:prstGeom>
          <a:solidFill>
            <a:srgbClr val="5B2C1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85800"/>
            <a:ext cx="9144000" cy="45720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0"/>
            <a:ext cx="6858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Ödev ve Kaynaklar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6" name="Text 4"/>
          <p:cNvSpPr/>
          <p:nvPr/>
        </p:nvSpPr>
        <p:spPr>
          <a:xfrm>
            <a:off x="7498080" y="16459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BÖLÜM 4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46720" y="4773168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pPr algn="r" indent="0" marL="0">
              <a:buNone/>
            </a:pPr>
            <a:r>
              <a:rPr lang="en-US" sz="8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20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41148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65760" y="868680"/>
            <a:ext cx="4114800" cy="54864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10" name="Shape 8"/>
          <p:cNvSpPr/>
          <p:nvPr/>
        </p:nvSpPr>
        <p:spPr>
          <a:xfrm>
            <a:off x="502920" y="1051560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11" name="Text 9"/>
          <p:cNvSpPr/>
          <p:nvPr/>
        </p:nvSpPr>
        <p:spPr>
          <a:xfrm>
            <a:off x="502920" y="1051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96112" y="102412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Filtre Kolajı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3749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fotoğrafa 5 farklı filtre uygulayın (orijinal, blur, gaussian, median, bilateral). plt.subplots ile 2×3 grid oluşturup her birinin altına filtre adını yazın. Karşılaştırma yorumlarınızı markdown hücresine ekleyin.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868680"/>
            <a:ext cx="420624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63440" y="868680"/>
            <a:ext cx="420624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16" name="Shape 14"/>
          <p:cNvSpPr/>
          <p:nvPr/>
        </p:nvSpPr>
        <p:spPr>
          <a:xfrm>
            <a:off x="4800600" y="1051560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105156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193792" y="102412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B7A7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HSV Renk Tespiti Projesi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1417320"/>
            <a:ext cx="3840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E1F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Bir görüntüden belirli bir rengi (kırmızı veya mavi) HSV maskeleme ile izole edin. Orijinal, maske ve sonuç görüntülerini yan yana gösterin. Farklı renk aralıklarını deneyip en iyi sonucu belgeleyin.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063240"/>
            <a:ext cx="85039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8DDD3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063240"/>
            <a:ext cx="8503920" cy="54864"/>
          </a:xfrm>
          <a:prstGeom prst="rect">
            <a:avLst/>
          </a:prstGeom>
          <a:solidFill>
            <a:srgbClr val="7C5BBF"/>
          </a:solidFill>
          <a:ln/>
        </p:spPr>
      </p:sp>
      <p:sp>
        <p:nvSpPr>
          <p:cNvPr id="22" name="Text 20"/>
          <p:cNvSpPr/>
          <p:nvPr/>
        </p:nvSpPr>
        <p:spPr>
          <a:xfrm>
            <a:off x="548640" y="320040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7C5BB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📚 Kaynaklar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358444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24" name="Text 22"/>
          <p:cNvSpPr/>
          <p:nvPr/>
        </p:nvSpPr>
        <p:spPr>
          <a:xfrm>
            <a:off x="548640" y="35844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987552" y="3566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OpenCV Resmi Dokümantasyon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206240" y="35661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docs.opencv.org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548640" y="387705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28" name="Text 26"/>
          <p:cNvSpPr/>
          <p:nvPr/>
        </p:nvSpPr>
        <p:spPr>
          <a:xfrm>
            <a:off x="548640" y="387705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987552" y="385876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OpenCV-Python Tutorials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206240" y="38587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docs.opencv.org/4.x/d6/d00/tutorial_py_root.html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48640" y="4169664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32" name="Text 30"/>
          <p:cNvSpPr/>
          <p:nvPr/>
        </p:nvSpPr>
        <p:spPr>
          <a:xfrm>
            <a:off x="548640" y="41696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987552" y="415137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PyImageSearch Blog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206240" y="415137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pyimagesearch.com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4462272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36" name="Text 34"/>
          <p:cNvSpPr/>
          <p:nvPr/>
        </p:nvSpPr>
        <p:spPr>
          <a:xfrm>
            <a:off x="548640" y="44622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987552" y="44439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1F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Computer Vision: Algorithms and Applications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206240" y="444398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B7A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Szeliski (2022) — Ücretsiz PDF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B2C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B7A78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Hafta 11 — Önemli Çıkarımlar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457200" y="749808"/>
            <a:ext cx="2286000" cy="36576"/>
          </a:xfrm>
          <a:prstGeom prst="rect">
            <a:avLst/>
          </a:prstGeom>
          <a:solidFill>
            <a:srgbClr val="C97B5A"/>
          </a:solidFill>
          <a:ln/>
        </p:spPr>
      </p:sp>
      <p:sp>
        <p:nvSpPr>
          <p:cNvPr id="5" name="Shape 3"/>
          <p:cNvSpPr/>
          <p:nvPr/>
        </p:nvSpPr>
        <p:spPr>
          <a:xfrm>
            <a:off x="457200" y="960120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66928" y="1069848"/>
            <a:ext cx="329184" cy="329184"/>
          </a:xfrm>
          <a:prstGeom prst="ellipse">
            <a:avLst/>
          </a:prstGeom>
          <a:solidFill>
            <a:srgbClr val="C97B5A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0698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4128" y="96012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Dijital görüntü = piksel matrisi. OpenCV ile NumPy dizisi olarak manipüle edilir.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1618488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728216"/>
            <a:ext cx="329184" cy="329184"/>
          </a:xfrm>
          <a:prstGeom prst="ellipse">
            <a:avLst/>
          </a:prstGeom>
          <a:solidFill>
            <a:srgbClr val="2B7A78"/>
          </a:solidFill>
          <a:ln/>
        </p:spPr>
      </p:sp>
      <p:sp>
        <p:nvSpPr>
          <p:cNvPr id="11" name="Text 9"/>
          <p:cNvSpPr/>
          <p:nvPr/>
        </p:nvSpPr>
        <p:spPr>
          <a:xfrm>
            <a:off x="566928" y="1728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024128" y="1618488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BGR ↔ RGB ↔ HSV dönüşümleri, her görüntü işleme projesinin temelidir.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276856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6928" y="2386584"/>
            <a:ext cx="329184" cy="329184"/>
          </a:xfrm>
          <a:prstGeom prst="ellipse">
            <a:avLst/>
          </a:prstGeom>
          <a:solidFill>
            <a:srgbClr val="E8913A"/>
          </a:solidFill>
          <a:ln/>
        </p:spPr>
      </p:sp>
      <p:sp>
        <p:nvSpPr>
          <p:cNvPr id="15" name="Text 13"/>
          <p:cNvSpPr/>
          <p:nvPr/>
        </p:nvSpPr>
        <p:spPr>
          <a:xfrm>
            <a:off x="566928" y="23865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24128" y="2276856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Filtreler gürültüyü azaltır, Canny kenarları tespit eder — ikisi birlikte güçlüdür.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2935224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66928" y="3044952"/>
            <a:ext cx="329184" cy="329184"/>
          </a:xfrm>
          <a:prstGeom prst="ellipse">
            <a:avLst/>
          </a:prstGeom>
          <a:solidFill>
            <a:srgbClr val="7C5BBF"/>
          </a:solidFill>
          <a:ln/>
        </p:spPr>
      </p:sp>
      <p:sp>
        <p:nvSpPr>
          <p:cNvPr id="19" name="Text 17"/>
          <p:cNvSpPr/>
          <p:nvPr/>
        </p:nvSpPr>
        <p:spPr>
          <a:xfrm>
            <a:off x="566928" y="3044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1024128" y="2935224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Kontur tespiti ile nesneleri sayabilir, şekillerini analiz edebilirsiniz.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7200" y="3593592"/>
            <a:ext cx="8229600" cy="548640"/>
          </a:xfrm>
          <a:prstGeom prst="rect">
            <a:avLst/>
          </a:prstGeom>
          <a:solidFill>
            <a:srgbClr val="3D231A"/>
          </a:solidFill>
          <a:ln w="12700">
            <a:solidFill>
              <a:srgbClr val="5A382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6928" y="3703320"/>
            <a:ext cx="329184" cy="329184"/>
          </a:xfrm>
          <a:prstGeom prst="ellipse">
            <a:avLst/>
          </a:prstGeom>
          <a:solidFill>
            <a:srgbClr val="3A9E6B"/>
          </a:solidFill>
          <a:ln/>
        </p:spPr>
      </p:sp>
      <p:sp>
        <p:nvSpPr>
          <p:cNvPr id="23" name="Text 21"/>
          <p:cNvSpPr/>
          <p:nvPr/>
        </p:nvSpPr>
        <p:spPr>
          <a:xfrm>
            <a:off x="566928" y="37033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24128" y="3593592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C4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HSV maskeleme, renk bazlı nesne tespitinin en basit ve etkili yoludur.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0" y="4251960"/>
            <a:ext cx="9144000" cy="891540"/>
          </a:xfrm>
          <a:prstGeom prst="rect">
            <a:avLst/>
          </a:prstGeom>
          <a:solidFill>
            <a:srgbClr val="2E1710"/>
          </a:solidFill>
          <a:ln/>
        </p:spPr>
      </p:sp>
      <p:sp>
        <p:nvSpPr>
          <p:cNvPr id="26" name="Text 24"/>
          <p:cNvSpPr/>
          <p:nvPr/>
        </p:nvSpPr>
        <p:spPr>
          <a:xfrm>
            <a:off x="457200" y="43159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C97B5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“Bir bilgisayarın görmesini sağlamak, ona dünyayı piksel piksel öğretmekle başlar.”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457200" y="47548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395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Murat Altun  ·  Veri Bilimi ve Yapay Zekâ Eğitimi  · 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Hafta 11: Görüntü İşlemenin Temelleri ve OpenCV</dc:title>
  <dc:subject>PptxGenJS Presentation</dc:subject>
  <dc:creator>Dr. Murat Altun</dc:creator>
  <cp:lastModifiedBy>Dr. Murat Altun</cp:lastModifiedBy>
  <cp:revision>1</cp:revision>
  <dcterms:created xsi:type="dcterms:W3CDTF">2026-04-09T11:39:42Z</dcterms:created>
  <dcterms:modified xsi:type="dcterms:W3CDTF">2026-04-09T11:39:42Z</dcterms:modified>
</cp:coreProperties>
</file>