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B7A78"/>
          </a:solidFill>
          <a:ln/>
        </p:spPr>
      </p:sp>
      <p:sp>
        <p:nvSpPr>
          <p:cNvPr id="3" name="Shape 1"/>
          <p:cNvSpPr/>
          <p:nvPr/>
        </p:nvSpPr>
        <p:spPr>
          <a:xfrm>
            <a:off x="5943600" y="0"/>
            <a:ext cx="3200400" cy="5143500"/>
          </a:xfrm>
          <a:prstGeom prst="rect">
            <a:avLst/>
          </a:prstGeom>
          <a:solidFill>
            <a:srgbClr val="4A2518"/>
          </a:solidFill>
          <a:ln/>
        </p:spPr>
      </p:sp>
      <p:sp>
        <p:nvSpPr>
          <p:cNvPr id="4" name="Shape 2"/>
          <p:cNvSpPr/>
          <p:nvPr/>
        </p:nvSpPr>
        <p:spPr>
          <a:xfrm>
            <a:off x="5943600" y="0"/>
            <a:ext cx="45720" cy="5143500"/>
          </a:xfrm>
          <a:prstGeom prst="rect">
            <a:avLst/>
          </a:prstGeom>
          <a:solidFill>
            <a:srgbClr val="C97B5A"/>
          </a:solidFill>
          <a:ln/>
        </p:spPr>
      </p:sp>
      <p:sp>
        <p:nvSpPr>
          <p:cNvPr id="5" name="Shape 3"/>
          <p:cNvSpPr/>
          <p:nvPr/>
        </p:nvSpPr>
        <p:spPr>
          <a:xfrm>
            <a:off x="457200" y="548640"/>
            <a:ext cx="2194560" cy="310896"/>
          </a:xfrm>
          <a:prstGeom prst="rect">
            <a:avLst/>
          </a:prstGeom>
          <a:solidFill>
            <a:srgbClr val="2B7A78"/>
          </a:solidFill>
          <a:ln/>
        </p:spPr>
      </p:sp>
      <p:sp>
        <p:nvSpPr>
          <p:cNvPr id="6" name="Text 4"/>
          <p:cNvSpPr/>
          <p:nvPr/>
        </p:nvSpPr>
        <p:spPr>
          <a:xfrm>
            <a:off x="457200" y="548640"/>
            <a:ext cx="2194560" cy="310896"/>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Calibri" pitchFamily="34" charset="0"/>
                <a:ea typeface="Calibri" pitchFamily="34" charset="-122"/>
                <a:cs typeface="Calibri" pitchFamily="34" charset="-120"/>
              </a:rPr>
              <a:t>VERİ BİLİMİ DERSİ</a:t>
            </a:r>
            <a:endParaRPr lang="en-US" sz="1000" dirty="0"/>
          </a:p>
        </p:txBody>
      </p:sp>
      <p:sp>
        <p:nvSpPr>
          <p:cNvPr id="7" name="Text 5"/>
          <p:cNvSpPr/>
          <p:nvPr/>
        </p:nvSpPr>
        <p:spPr>
          <a:xfrm>
            <a:off x="457200" y="1097280"/>
            <a:ext cx="5120640" cy="18288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Ensemble</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Modeller</a:t>
            </a:r>
            <a:endParaRPr lang="en-US" sz="4800" dirty="0"/>
          </a:p>
        </p:txBody>
      </p:sp>
      <p:sp>
        <p:nvSpPr>
          <p:cNvPr id="8" name="Shape 6"/>
          <p:cNvSpPr/>
          <p:nvPr/>
        </p:nvSpPr>
        <p:spPr>
          <a:xfrm>
            <a:off x="457200" y="2971800"/>
            <a:ext cx="2743200" cy="45720"/>
          </a:xfrm>
          <a:prstGeom prst="rect">
            <a:avLst/>
          </a:prstGeom>
          <a:solidFill>
            <a:srgbClr val="C97B5A"/>
          </a:solidFill>
          <a:ln/>
        </p:spPr>
      </p:sp>
      <p:sp>
        <p:nvSpPr>
          <p:cNvPr id="9" name="Text 7"/>
          <p:cNvSpPr/>
          <p:nvPr/>
        </p:nvSpPr>
        <p:spPr>
          <a:xfrm>
            <a:off x="457200" y="3154680"/>
            <a:ext cx="5120640" cy="731520"/>
          </a:xfrm>
          <a:prstGeom prst="rect">
            <a:avLst/>
          </a:prstGeom>
          <a:noFill/>
          <a:ln/>
        </p:spPr>
        <p:txBody>
          <a:bodyPr wrap="square" lIns="0" tIns="0" rIns="0" bIns="0" rtlCol="0" anchor="ctr"/>
          <a:lstStyle/>
          <a:p>
            <a:pPr indent="0" marL="0">
              <a:buNone/>
            </a:pPr>
            <a:r>
              <a:rPr lang="en-US" sz="1500" i="1" dirty="0">
                <a:solidFill>
                  <a:srgbClr val="E8C4A8"/>
                </a:solidFill>
                <a:latin typeface="Calibri" pitchFamily="34" charset="0"/>
                <a:ea typeface="Calibri" pitchFamily="34" charset="-122"/>
                <a:cs typeface="Calibri" pitchFamily="34" charset="-120"/>
              </a:rPr>
              <a:t>Hafta 7 · Modül 7</a:t>
            </a:r>
            <a:endParaRPr lang="en-US" sz="1500" dirty="0"/>
          </a:p>
          <a:p>
            <a:pPr indent="0" marL="0">
              <a:buNone/>
            </a:pPr>
            <a:r>
              <a:rPr lang="en-US" sz="1500" i="1" dirty="0">
                <a:solidFill>
                  <a:srgbClr val="E8C4A8"/>
                </a:solidFill>
                <a:latin typeface="Calibri" pitchFamily="34" charset="0"/>
                <a:ea typeface="Calibri" pitchFamily="34" charset="-122"/>
                <a:cs typeface="Calibri" pitchFamily="34" charset="-120"/>
              </a:rPr>
              <a:t>XGBoost, LightGBM ve Hiperparametre Optimizasyonu</a:t>
            </a:r>
            <a:endParaRPr lang="en-US" sz="1500" dirty="0"/>
          </a:p>
        </p:txBody>
      </p:sp>
      <p:sp>
        <p:nvSpPr>
          <p:cNvPr id="10" name="Text 8"/>
          <p:cNvSpPr/>
          <p:nvPr/>
        </p:nvSpPr>
        <p:spPr>
          <a:xfrm>
            <a:off x="457200" y="4251960"/>
            <a:ext cx="2743200" cy="292608"/>
          </a:xfrm>
          <a:prstGeom prst="rect">
            <a:avLst/>
          </a:prstGeom>
          <a:noFill/>
          <a:ln/>
        </p:spPr>
        <p:txBody>
          <a:bodyPr wrap="square" lIns="0" tIns="0" rIns="0" bIns="0" rtlCol="0" anchor="ctr"/>
          <a:lstStyle/>
          <a:p>
            <a:pPr indent="0" marL="0">
              <a:buNone/>
            </a:pPr>
            <a:r>
              <a:rPr lang="en-US" sz="1300" b="1" dirty="0">
                <a:solidFill>
                  <a:srgbClr val="C97B5A"/>
                </a:solidFill>
                <a:latin typeface="Georgia" pitchFamily="34" charset="0"/>
                <a:ea typeface="Georgia" pitchFamily="34" charset="-122"/>
                <a:cs typeface="Georgia" pitchFamily="34" charset="-120"/>
              </a:rPr>
              <a:t>Dr. Murat Altun</a:t>
            </a:r>
            <a:endParaRPr lang="en-US" sz="1300" dirty="0"/>
          </a:p>
        </p:txBody>
      </p:sp>
      <p:sp>
        <p:nvSpPr>
          <p:cNvPr id="11" name="Text 9"/>
          <p:cNvSpPr/>
          <p:nvPr/>
        </p:nvSpPr>
        <p:spPr>
          <a:xfrm>
            <a:off x="457200" y="4535424"/>
            <a:ext cx="45720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Veri Bilimi ve Yapay Zekâ Eğitimi  ·  2026</a:t>
            </a:r>
            <a:endParaRPr lang="en-US" sz="1000" dirty="0"/>
          </a:p>
        </p:txBody>
      </p:sp>
      <p:sp>
        <p:nvSpPr>
          <p:cNvPr id="12" name="Text 10"/>
          <p:cNvSpPr/>
          <p:nvPr/>
        </p:nvSpPr>
        <p:spPr>
          <a:xfrm>
            <a:off x="6126480" y="320040"/>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6</a:t>
            </a:r>
            <a:endParaRPr lang="en-US" sz="3200" dirty="0"/>
          </a:p>
        </p:txBody>
      </p:sp>
      <p:sp>
        <p:nvSpPr>
          <p:cNvPr id="13" name="Text 11"/>
          <p:cNvSpPr/>
          <p:nvPr/>
        </p:nvSpPr>
        <p:spPr>
          <a:xfrm>
            <a:off x="6126480" y="822960"/>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Saat</a:t>
            </a:r>
            <a:endParaRPr lang="en-US" sz="1000" dirty="0"/>
          </a:p>
          <a:p>
            <a:pPr algn="ctr" indent="0" marL="0">
              <a:buNone/>
            </a:pPr>
            <a:r>
              <a:rPr lang="en-US" sz="1000" dirty="0">
                <a:solidFill>
                  <a:srgbClr val="E8C4A8"/>
                </a:solidFill>
                <a:latin typeface="Calibri" pitchFamily="34" charset="0"/>
                <a:ea typeface="Calibri" pitchFamily="34" charset="-122"/>
                <a:cs typeface="Calibri" pitchFamily="34" charset="-120"/>
              </a:rPr>
              <a:t>(Teori + Uygulama)</a:t>
            </a:r>
            <a:endParaRPr lang="en-US" sz="1000" dirty="0"/>
          </a:p>
        </p:txBody>
      </p:sp>
      <p:sp>
        <p:nvSpPr>
          <p:cNvPr id="14" name="Shape 12"/>
          <p:cNvSpPr/>
          <p:nvPr/>
        </p:nvSpPr>
        <p:spPr>
          <a:xfrm>
            <a:off x="6583680" y="1371600"/>
            <a:ext cx="1920240" cy="18288"/>
          </a:xfrm>
          <a:prstGeom prst="rect">
            <a:avLst/>
          </a:prstGeom>
          <a:solidFill>
            <a:srgbClr val="6B3A28"/>
          </a:solidFill>
          <a:ln/>
        </p:spPr>
      </p:sp>
      <p:sp>
        <p:nvSpPr>
          <p:cNvPr id="15" name="Text 13"/>
          <p:cNvSpPr/>
          <p:nvPr/>
        </p:nvSpPr>
        <p:spPr>
          <a:xfrm>
            <a:off x="6126480" y="1527048"/>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3</a:t>
            </a:r>
            <a:endParaRPr lang="en-US" sz="3200" dirty="0"/>
          </a:p>
        </p:txBody>
      </p:sp>
      <p:sp>
        <p:nvSpPr>
          <p:cNvPr id="16" name="Text 14"/>
          <p:cNvSpPr/>
          <p:nvPr/>
        </p:nvSpPr>
        <p:spPr>
          <a:xfrm>
            <a:off x="6126480" y="2029968"/>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Notebook</a:t>
            </a:r>
            <a:endParaRPr lang="en-US" sz="1000" dirty="0"/>
          </a:p>
          <a:p>
            <a:pPr algn="ctr" indent="0" marL="0">
              <a:buNone/>
            </a:pPr>
            <a:r>
              <a:rPr lang="en-US" sz="1000" dirty="0">
                <a:solidFill>
                  <a:srgbClr val="E8C4A8"/>
                </a:solidFill>
                <a:latin typeface="Calibri" pitchFamily="34" charset="0"/>
                <a:ea typeface="Calibri" pitchFamily="34" charset="-122"/>
                <a:cs typeface="Calibri" pitchFamily="34" charset="-120"/>
              </a:rPr>
              <a:t>(Ensemble, Churn, Tune)</a:t>
            </a:r>
            <a:endParaRPr lang="en-US" sz="1000" dirty="0"/>
          </a:p>
        </p:txBody>
      </p:sp>
      <p:sp>
        <p:nvSpPr>
          <p:cNvPr id="17" name="Shape 15"/>
          <p:cNvSpPr/>
          <p:nvPr/>
        </p:nvSpPr>
        <p:spPr>
          <a:xfrm>
            <a:off x="6583680" y="2578608"/>
            <a:ext cx="1920240" cy="18288"/>
          </a:xfrm>
          <a:prstGeom prst="rect">
            <a:avLst/>
          </a:prstGeom>
          <a:solidFill>
            <a:srgbClr val="6B3A28"/>
          </a:solidFill>
          <a:ln/>
        </p:spPr>
      </p:sp>
      <p:sp>
        <p:nvSpPr>
          <p:cNvPr id="18" name="Text 16"/>
          <p:cNvSpPr/>
          <p:nvPr/>
        </p:nvSpPr>
        <p:spPr>
          <a:xfrm>
            <a:off x="6126480" y="2734056"/>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4</a:t>
            </a:r>
            <a:endParaRPr lang="en-US" sz="3200" dirty="0"/>
          </a:p>
        </p:txBody>
      </p:sp>
      <p:sp>
        <p:nvSpPr>
          <p:cNvPr id="19" name="Text 17"/>
          <p:cNvSpPr/>
          <p:nvPr/>
        </p:nvSpPr>
        <p:spPr>
          <a:xfrm>
            <a:off x="6126480" y="3236976"/>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Model</a:t>
            </a:r>
            <a:endParaRPr lang="en-US" sz="1000" dirty="0"/>
          </a:p>
          <a:p>
            <a:pPr algn="ctr" indent="0" marL="0">
              <a:buNone/>
            </a:pPr>
            <a:r>
              <a:rPr lang="en-US" sz="1000" dirty="0">
                <a:solidFill>
                  <a:srgbClr val="E8C4A8"/>
                </a:solidFill>
                <a:latin typeface="Calibri" pitchFamily="34" charset="0"/>
                <a:ea typeface="Calibri" pitchFamily="34" charset="-122"/>
                <a:cs typeface="Calibri" pitchFamily="34" charset="-120"/>
              </a:rPr>
              <a:t>(RF, GBM, XGB, LGBM)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İçindekiler</a:t>
            </a:r>
            <a:endParaRPr lang="en-US" sz="2000" dirty="0"/>
          </a:p>
        </p:txBody>
      </p:sp>
      <p:sp>
        <p:nvSpPr>
          <p:cNvPr id="5" name="Text 3"/>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6" name="Shape 4"/>
          <p:cNvSpPr/>
          <p:nvPr/>
        </p:nvSpPr>
        <p:spPr>
          <a:xfrm>
            <a:off x="457200" y="960120"/>
            <a:ext cx="8229600" cy="841248"/>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7" name="Shape 5"/>
          <p:cNvSpPr/>
          <p:nvPr/>
        </p:nvSpPr>
        <p:spPr>
          <a:xfrm>
            <a:off x="457200" y="960120"/>
            <a:ext cx="54864" cy="841248"/>
          </a:xfrm>
          <a:prstGeom prst="rect">
            <a:avLst/>
          </a:prstGeom>
          <a:solidFill>
            <a:srgbClr val="C97B5A"/>
          </a:solidFill>
          <a:ln/>
        </p:spPr>
      </p:sp>
      <p:sp>
        <p:nvSpPr>
          <p:cNvPr id="8" name="Shape 6"/>
          <p:cNvSpPr/>
          <p:nvPr/>
        </p:nvSpPr>
        <p:spPr>
          <a:xfrm>
            <a:off x="512064" y="1097280"/>
            <a:ext cx="640080" cy="548640"/>
          </a:xfrm>
          <a:prstGeom prst="rect">
            <a:avLst/>
          </a:prstGeom>
          <a:solidFill>
            <a:srgbClr val="C97B5A"/>
          </a:solidFill>
          <a:ln/>
        </p:spPr>
      </p:sp>
      <p:sp>
        <p:nvSpPr>
          <p:cNvPr id="9" name="Text 7"/>
          <p:cNvSpPr/>
          <p:nvPr/>
        </p:nvSpPr>
        <p:spPr>
          <a:xfrm>
            <a:off x="512064" y="1097280"/>
            <a:ext cx="6400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01</a:t>
            </a:r>
            <a:endParaRPr lang="en-US" sz="2000" dirty="0"/>
          </a:p>
        </p:txBody>
      </p:sp>
      <p:sp>
        <p:nvSpPr>
          <p:cNvPr id="10" name="Text 8"/>
          <p:cNvSpPr/>
          <p:nvPr/>
        </p:nvSpPr>
        <p:spPr>
          <a:xfrm>
            <a:off x="1280160" y="1051560"/>
            <a:ext cx="4572000" cy="384048"/>
          </a:xfrm>
          <a:prstGeom prst="rect">
            <a:avLst/>
          </a:prstGeom>
          <a:noFill/>
          <a:ln/>
        </p:spPr>
        <p:txBody>
          <a:bodyPr wrap="square" lIns="0" tIns="0" rIns="0" bIns="0" rtlCol="0" anchor="ctr"/>
          <a:lstStyle/>
          <a:p>
            <a:pPr indent="0" marL="0">
              <a:buNone/>
            </a:pPr>
            <a:r>
              <a:rPr lang="en-US" sz="1500" b="1" dirty="0">
                <a:solidFill>
                  <a:srgbClr val="2E1F1A"/>
                </a:solidFill>
                <a:latin typeface="Georgia" pitchFamily="34" charset="0"/>
                <a:ea typeface="Georgia" pitchFamily="34" charset="-122"/>
                <a:cs typeface="Georgia" pitchFamily="34" charset="-120"/>
              </a:rPr>
              <a:t>Ensemble Learning Temelleri</a:t>
            </a:r>
            <a:endParaRPr lang="en-US" sz="1500" dirty="0"/>
          </a:p>
        </p:txBody>
      </p:sp>
      <p:sp>
        <p:nvSpPr>
          <p:cNvPr id="11" name="Text 9"/>
          <p:cNvSpPr/>
          <p:nvPr/>
        </p:nvSpPr>
        <p:spPr>
          <a:xfrm>
            <a:off x="1280160" y="1435608"/>
            <a:ext cx="4572000" cy="292608"/>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Kalabaığın bilgeliği · Bagging vs Boosting · çoğunluk oyu</a:t>
            </a:r>
            <a:endParaRPr lang="en-US" sz="1050" dirty="0"/>
          </a:p>
        </p:txBody>
      </p:sp>
      <p:sp>
        <p:nvSpPr>
          <p:cNvPr id="12" name="Text 10"/>
          <p:cNvSpPr/>
          <p:nvPr/>
        </p:nvSpPr>
        <p:spPr>
          <a:xfrm>
            <a:off x="7132320" y="1179576"/>
            <a:ext cx="1371600" cy="365760"/>
          </a:xfrm>
          <a:prstGeom prst="rect">
            <a:avLst/>
          </a:prstGeom>
          <a:noFill/>
          <a:ln/>
        </p:spPr>
        <p:txBody>
          <a:bodyPr wrap="square" lIns="0" tIns="0" rIns="0" bIns="0" rtlCol="0" anchor="ctr"/>
          <a:lstStyle/>
          <a:p>
            <a:pPr algn="r" indent="0" marL="0">
              <a:buNone/>
            </a:pPr>
            <a:r>
              <a:rPr lang="en-US" sz="1000" b="1" dirty="0">
                <a:solidFill>
                  <a:srgbClr val="C97B5A"/>
                </a:solidFill>
                <a:latin typeface="Calibri" pitchFamily="34" charset="0"/>
                <a:ea typeface="Calibri" pitchFamily="34" charset="-122"/>
                <a:cs typeface="Calibri" pitchFamily="34" charset="-120"/>
              </a:rPr>
              <a:t>Slayt 3–6</a:t>
            </a:r>
            <a:endParaRPr lang="en-US" sz="1000" dirty="0"/>
          </a:p>
        </p:txBody>
      </p:sp>
      <p:sp>
        <p:nvSpPr>
          <p:cNvPr id="13" name="Shape 11"/>
          <p:cNvSpPr/>
          <p:nvPr/>
        </p:nvSpPr>
        <p:spPr>
          <a:xfrm>
            <a:off x="457200" y="1965960"/>
            <a:ext cx="8229600" cy="841248"/>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4" name="Shape 12"/>
          <p:cNvSpPr/>
          <p:nvPr/>
        </p:nvSpPr>
        <p:spPr>
          <a:xfrm>
            <a:off x="457200" y="1965960"/>
            <a:ext cx="54864" cy="841248"/>
          </a:xfrm>
          <a:prstGeom prst="rect">
            <a:avLst/>
          </a:prstGeom>
          <a:solidFill>
            <a:srgbClr val="2B7A78"/>
          </a:solidFill>
          <a:ln/>
        </p:spPr>
      </p:sp>
      <p:sp>
        <p:nvSpPr>
          <p:cNvPr id="15" name="Shape 13"/>
          <p:cNvSpPr/>
          <p:nvPr/>
        </p:nvSpPr>
        <p:spPr>
          <a:xfrm>
            <a:off x="512064" y="2103120"/>
            <a:ext cx="640080" cy="548640"/>
          </a:xfrm>
          <a:prstGeom prst="rect">
            <a:avLst/>
          </a:prstGeom>
          <a:solidFill>
            <a:srgbClr val="2B7A78"/>
          </a:solidFill>
          <a:ln/>
        </p:spPr>
      </p:sp>
      <p:sp>
        <p:nvSpPr>
          <p:cNvPr id="16" name="Text 14"/>
          <p:cNvSpPr/>
          <p:nvPr/>
        </p:nvSpPr>
        <p:spPr>
          <a:xfrm>
            <a:off x="512064" y="2103120"/>
            <a:ext cx="6400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02</a:t>
            </a:r>
            <a:endParaRPr lang="en-US" sz="2000" dirty="0"/>
          </a:p>
        </p:txBody>
      </p:sp>
      <p:sp>
        <p:nvSpPr>
          <p:cNvPr id="17" name="Text 15"/>
          <p:cNvSpPr/>
          <p:nvPr/>
        </p:nvSpPr>
        <p:spPr>
          <a:xfrm>
            <a:off x="1280160" y="2057400"/>
            <a:ext cx="4572000" cy="384048"/>
          </a:xfrm>
          <a:prstGeom prst="rect">
            <a:avLst/>
          </a:prstGeom>
          <a:noFill/>
          <a:ln/>
        </p:spPr>
        <p:txBody>
          <a:bodyPr wrap="square" lIns="0" tIns="0" rIns="0" bIns="0" rtlCol="0" anchor="ctr"/>
          <a:lstStyle/>
          <a:p>
            <a:pPr indent="0" marL="0">
              <a:buNone/>
            </a:pPr>
            <a:r>
              <a:rPr lang="en-US" sz="1500" b="1" dirty="0">
                <a:solidFill>
                  <a:srgbClr val="2E1F1A"/>
                </a:solidFill>
                <a:latin typeface="Georgia" pitchFamily="34" charset="0"/>
                <a:ea typeface="Georgia" pitchFamily="34" charset="-122"/>
                <a:cs typeface="Georgia" pitchFamily="34" charset="-120"/>
              </a:rPr>
              <a:t>Random Forest &amp; Gradient Boosting</a:t>
            </a:r>
            <a:endParaRPr lang="en-US" sz="1500" dirty="0"/>
          </a:p>
        </p:txBody>
      </p:sp>
      <p:sp>
        <p:nvSpPr>
          <p:cNvPr id="18" name="Text 16"/>
          <p:cNvSpPr/>
          <p:nvPr/>
        </p:nvSpPr>
        <p:spPr>
          <a:xfrm>
            <a:off x="1280160" y="2441448"/>
            <a:ext cx="4572000" cy="292608"/>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Random Forest · XGBoost · LightGBM · model karşılaştırma</a:t>
            </a:r>
            <a:endParaRPr lang="en-US" sz="1050" dirty="0"/>
          </a:p>
        </p:txBody>
      </p:sp>
      <p:sp>
        <p:nvSpPr>
          <p:cNvPr id="19" name="Text 17"/>
          <p:cNvSpPr/>
          <p:nvPr/>
        </p:nvSpPr>
        <p:spPr>
          <a:xfrm>
            <a:off x="7132320" y="2185416"/>
            <a:ext cx="1371600" cy="365760"/>
          </a:xfrm>
          <a:prstGeom prst="rect">
            <a:avLst/>
          </a:prstGeom>
          <a:noFill/>
          <a:ln/>
        </p:spPr>
        <p:txBody>
          <a:bodyPr wrap="square" lIns="0" tIns="0" rIns="0" bIns="0" rtlCol="0" anchor="ctr"/>
          <a:lstStyle/>
          <a:p>
            <a:pPr algn="r" indent="0" marL="0">
              <a:buNone/>
            </a:pPr>
            <a:r>
              <a:rPr lang="en-US" sz="1000" b="1" dirty="0">
                <a:solidFill>
                  <a:srgbClr val="2B7A78"/>
                </a:solidFill>
                <a:latin typeface="Calibri" pitchFamily="34" charset="0"/>
                <a:ea typeface="Calibri" pitchFamily="34" charset="-122"/>
                <a:cs typeface="Calibri" pitchFamily="34" charset="-120"/>
              </a:rPr>
              <a:t>Slayt 7–10</a:t>
            </a:r>
            <a:endParaRPr lang="en-US" sz="1000" dirty="0"/>
          </a:p>
        </p:txBody>
      </p:sp>
      <p:sp>
        <p:nvSpPr>
          <p:cNvPr id="20" name="Shape 18"/>
          <p:cNvSpPr/>
          <p:nvPr/>
        </p:nvSpPr>
        <p:spPr>
          <a:xfrm>
            <a:off x="457200" y="2971800"/>
            <a:ext cx="8229600" cy="841248"/>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2971800"/>
            <a:ext cx="54864" cy="841248"/>
          </a:xfrm>
          <a:prstGeom prst="rect">
            <a:avLst/>
          </a:prstGeom>
          <a:solidFill>
            <a:srgbClr val="E8913A"/>
          </a:solidFill>
          <a:ln/>
        </p:spPr>
      </p:sp>
      <p:sp>
        <p:nvSpPr>
          <p:cNvPr id="22" name="Shape 20"/>
          <p:cNvSpPr/>
          <p:nvPr/>
        </p:nvSpPr>
        <p:spPr>
          <a:xfrm>
            <a:off x="512064" y="3108960"/>
            <a:ext cx="640080" cy="548640"/>
          </a:xfrm>
          <a:prstGeom prst="rect">
            <a:avLst/>
          </a:prstGeom>
          <a:solidFill>
            <a:srgbClr val="E8913A"/>
          </a:solidFill>
          <a:ln/>
        </p:spPr>
      </p:sp>
      <p:sp>
        <p:nvSpPr>
          <p:cNvPr id="23" name="Text 21"/>
          <p:cNvSpPr/>
          <p:nvPr/>
        </p:nvSpPr>
        <p:spPr>
          <a:xfrm>
            <a:off x="512064" y="3108960"/>
            <a:ext cx="6400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03</a:t>
            </a:r>
            <a:endParaRPr lang="en-US" sz="2000" dirty="0"/>
          </a:p>
        </p:txBody>
      </p:sp>
      <p:sp>
        <p:nvSpPr>
          <p:cNvPr id="24" name="Text 22"/>
          <p:cNvSpPr/>
          <p:nvPr/>
        </p:nvSpPr>
        <p:spPr>
          <a:xfrm>
            <a:off x="1280160" y="3063240"/>
            <a:ext cx="4572000" cy="384048"/>
          </a:xfrm>
          <a:prstGeom prst="rect">
            <a:avLst/>
          </a:prstGeom>
          <a:noFill/>
          <a:ln/>
        </p:spPr>
        <p:txBody>
          <a:bodyPr wrap="square" lIns="0" tIns="0" rIns="0" bIns="0" rtlCol="0" anchor="ctr"/>
          <a:lstStyle/>
          <a:p>
            <a:pPr indent="0" marL="0">
              <a:buNone/>
            </a:pPr>
            <a:r>
              <a:rPr lang="en-US" sz="1500" b="1" dirty="0">
                <a:solidFill>
                  <a:srgbClr val="2E1F1A"/>
                </a:solidFill>
                <a:latin typeface="Georgia" pitchFamily="34" charset="0"/>
                <a:ea typeface="Georgia" pitchFamily="34" charset="-122"/>
                <a:cs typeface="Georgia" pitchFamily="34" charset="-120"/>
              </a:rPr>
              <a:t>Feature &amp; Overfitting Yönetimi</a:t>
            </a:r>
            <a:endParaRPr lang="en-US" sz="1500" dirty="0"/>
          </a:p>
        </p:txBody>
      </p:sp>
      <p:sp>
        <p:nvSpPr>
          <p:cNvPr id="25" name="Text 23"/>
          <p:cNvSpPr/>
          <p:nvPr/>
        </p:nvSpPr>
        <p:spPr>
          <a:xfrm>
            <a:off x="1280160" y="3447288"/>
            <a:ext cx="4572000" cy="292608"/>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Feature importance · overfitting · regularization</a:t>
            </a:r>
            <a:endParaRPr lang="en-US" sz="1050" dirty="0"/>
          </a:p>
        </p:txBody>
      </p:sp>
      <p:sp>
        <p:nvSpPr>
          <p:cNvPr id="26" name="Text 24"/>
          <p:cNvSpPr/>
          <p:nvPr/>
        </p:nvSpPr>
        <p:spPr>
          <a:xfrm>
            <a:off x="7132320" y="3191256"/>
            <a:ext cx="1371600" cy="365760"/>
          </a:xfrm>
          <a:prstGeom prst="rect">
            <a:avLst/>
          </a:prstGeom>
          <a:noFill/>
          <a:ln/>
        </p:spPr>
        <p:txBody>
          <a:bodyPr wrap="square" lIns="0" tIns="0" rIns="0" bIns="0" rtlCol="0" anchor="ctr"/>
          <a:lstStyle/>
          <a:p>
            <a:pPr algn="r" indent="0" marL="0">
              <a:buNone/>
            </a:pPr>
            <a:r>
              <a:rPr lang="en-US" sz="1000" b="1" dirty="0">
                <a:solidFill>
                  <a:srgbClr val="E8913A"/>
                </a:solidFill>
                <a:latin typeface="Calibri" pitchFamily="34" charset="0"/>
                <a:ea typeface="Calibri" pitchFamily="34" charset="-122"/>
                <a:cs typeface="Calibri" pitchFamily="34" charset="-120"/>
              </a:rPr>
              <a:t>Slayt 11–13</a:t>
            </a:r>
            <a:endParaRPr lang="en-US" sz="1000" dirty="0"/>
          </a:p>
        </p:txBody>
      </p:sp>
      <p:sp>
        <p:nvSpPr>
          <p:cNvPr id="27" name="Shape 25"/>
          <p:cNvSpPr/>
          <p:nvPr/>
        </p:nvSpPr>
        <p:spPr>
          <a:xfrm>
            <a:off x="457200" y="3977640"/>
            <a:ext cx="8229600" cy="841248"/>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8" name="Shape 26"/>
          <p:cNvSpPr/>
          <p:nvPr/>
        </p:nvSpPr>
        <p:spPr>
          <a:xfrm>
            <a:off x="457200" y="3977640"/>
            <a:ext cx="54864" cy="841248"/>
          </a:xfrm>
          <a:prstGeom prst="rect">
            <a:avLst/>
          </a:prstGeom>
          <a:solidFill>
            <a:srgbClr val="7C5BBF"/>
          </a:solidFill>
          <a:ln/>
        </p:spPr>
      </p:sp>
      <p:sp>
        <p:nvSpPr>
          <p:cNvPr id="29" name="Shape 27"/>
          <p:cNvSpPr/>
          <p:nvPr/>
        </p:nvSpPr>
        <p:spPr>
          <a:xfrm>
            <a:off x="512064" y="4114800"/>
            <a:ext cx="640080" cy="548640"/>
          </a:xfrm>
          <a:prstGeom prst="rect">
            <a:avLst/>
          </a:prstGeom>
          <a:solidFill>
            <a:srgbClr val="7C5BBF"/>
          </a:solidFill>
          <a:ln/>
        </p:spPr>
      </p:sp>
      <p:sp>
        <p:nvSpPr>
          <p:cNvPr id="30" name="Text 28"/>
          <p:cNvSpPr/>
          <p:nvPr/>
        </p:nvSpPr>
        <p:spPr>
          <a:xfrm>
            <a:off x="512064" y="4114800"/>
            <a:ext cx="64008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04</a:t>
            </a:r>
            <a:endParaRPr lang="en-US" sz="2000" dirty="0"/>
          </a:p>
        </p:txBody>
      </p:sp>
      <p:sp>
        <p:nvSpPr>
          <p:cNvPr id="31" name="Text 29"/>
          <p:cNvSpPr/>
          <p:nvPr/>
        </p:nvSpPr>
        <p:spPr>
          <a:xfrm>
            <a:off x="1280160" y="4069080"/>
            <a:ext cx="4572000" cy="384048"/>
          </a:xfrm>
          <a:prstGeom prst="rect">
            <a:avLst/>
          </a:prstGeom>
          <a:noFill/>
          <a:ln/>
        </p:spPr>
        <p:txBody>
          <a:bodyPr wrap="square" lIns="0" tIns="0" rIns="0" bIns="0" rtlCol="0" anchor="ctr"/>
          <a:lstStyle/>
          <a:p>
            <a:pPr indent="0" marL="0">
              <a:buNone/>
            </a:pPr>
            <a:r>
              <a:rPr lang="en-US" sz="1500" b="1" dirty="0">
                <a:solidFill>
                  <a:srgbClr val="2E1F1A"/>
                </a:solidFill>
                <a:latin typeface="Georgia" pitchFamily="34" charset="0"/>
                <a:ea typeface="Georgia" pitchFamily="34" charset="-122"/>
                <a:cs typeface="Georgia" pitchFamily="34" charset="-120"/>
              </a:rPr>
              <a:t>Hiperparametre &amp; Proje</a:t>
            </a:r>
            <a:endParaRPr lang="en-US" sz="1500" dirty="0"/>
          </a:p>
        </p:txBody>
      </p:sp>
      <p:sp>
        <p:nvSpPr>
          <p:cNvPr id="32" name="Text 30"/>
          <p:cNvSpPr/>
          <p:nvPr/>
        </p:nvSpPr>
        <p:spPr>
          <a:xfrm>
            <a:off x="1280160" y="4453128"/>
            <a:ext cx="4572000" cy="292608"/>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GridSearchCV · Churn analizi · model seçim stratejisi · ödev</a:t>
            </a:r>
            <a:endParaRPr lang="en-US" sz="1050" dirty="0"/>
          </a:p>
        </p:txBody>
      </p:sp>
      <p:sp>
        <p:nvSpPr>
          <p:cNvPr id="33" name="Text 31"/>
          <p:cNvSpPr/>
          <p:nvPr/>
        </p:nvSpPr>
        <p:spPr>
          <a:xfrm>
            <a:off x="7132320" y="4197096"/>
            <a:ext cx="1371600" cy="365760"/>
          </a:xfrm>
          <a:prstGeom prst="rect">
            <a:avLst/>
          </a:prstGeom>
          <a:noFill/>
          <a:ln/>
        </p:spPr>
        <p:txBody>
          <a:bodyPr wrap="square" lIns="0" tIns="0" rIns="0" bIns="0" rtlCol="0" anchor="ctr"/>
          <a:lstStyle/>
          <a:p>
            <a:pPr algn="r" indent="0" marL="0">
              <a:buNone/>
            </a:pPr>
            <a:r>
              <a:rPr lang="en-US" sz="1000" b="1" dirty="0">
                <a:solidFill>
                  <a:srgbClr val="7C5BBF"/>
                </a:solidFill>
                <a:latin typeface="Calibri" pitchFamily="34" charset="0"/>
                <a:ea typeface="Calibri" pitchFamily="34" charset="-122"/>
                <a:cs typeface="Calibri" pitchFamily="34" charset="-120"/>
              </a:rPr>
              <a:t>Slayt 14–20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Ensemble Learning Nedir?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11480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2011680"/>
          </a:xfrm>
          <a:prstGeom prst="rect">
            <a:avLst/>
          </a:prstGeom>
          <a:solidFill>
            <a:srgbClr val="C97B5A"/>
          </a:solidFill>
          <a:ln/>
        </p:spPr>
      </p:sp>
      <p:sp>
        <p:nvSpPr>
          <p:cNvPr id="10" name="Text 8"/>
          <p:cNvSpPr/>
          <p:nvPr/>
        </p:nvSpPr>
        <p:spPr>
          <a:xfrm>
            <a:off x="548640" y="960120"/>
            <a:ext cx="374904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Kalabalığın Bilgeliği</a:t>
            </a:r>
            <a:endParaRPr lang="en-US" sz="1200" dirty="0"/>
          </a:p>
        </p:txBody>
      </p:sp>
      <p:sp>
        <p:nvSpPr>
          <p:cNvPr id="11" name="Text 9"/>
          <p:cNvSpPr/>
          <p:nvPr/>
        </p:nvSpPr>
        <p:spPr>
          <a:xfrm>
            <a:off x="548640" y="1325880"/>
            <a:ext cx="3749040" cy="13716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1906'da Francis Galton bir fuarda keşfetti: 787 kişinin öküzn âğırlığı tahminlerinin ortalaması, gerçek değere uzmanlardan daha yakındı! Ensemble learning de aynı prensibi kullanır — birden fazla modelin birleşik tahmini, tek bir modelden daha güçlüdür.</a:t>
            </a:r>
            <a:endParaRPr lang="en-US" sz="1100" dirty="0"/>
          </a:p>
        </p:txBody>
      </p:sp>
      <p:sp>
        <p:nvSpPr>
          <p:cNvPr id="12" name="Shape 10"/>
          <p:cNvSpPr/>
          <p:nvPr/>
        </p:nvSpPr>
        <p:spPr>
          <a:xfrm>
            <a:off x="4754880" y="868680"/>
            <a:ext cx="402336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868680"/>
            <a:ext cx="4023360" cy="54864"/>
          </a:xfrm>
          <a:prstGeom prst="rect">
            <a:avLst/>
          </a:prstGeom>
          <a:solidFill>
            <a:srgbClr val="2B7A78"/>
          </a:solidFill>
          <a:ln/>
        </p:spPr>
      </p:sp>
      <p:sp>
        <p:nvSpPr>
          <p:cNvPr id="14" name="Text 12"/>
          <p:cNvSpPr/>
          <p:nvPr/>
        </p:nvSpPr>
        <p:spPr>
          <a:xfrm>
            <a:off x="4937760" y="1051560"/>
            <a:ext cx="36576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Tek Model vs Ensemble</a:t>
            </a:r>
            <a:endParaRPr lang="en-US" sz="1200" dirty="0"/>
          </a:p>
        </p:txBody>
      </p:sp>
      <p:sp>
        <p:nvSpPr>
          <p:cNvPr id="15" name="Shape 13"/>
          <p:cNvSpPr/>
          <p:nvPr/>
        </p:nvSpPr>
        <p:spPr>
          <a:xfrm>
            <a:off x="4937760" y="1417320"/>
            <a:ext cx="3657600" cy="274320"/>
          </a:xfrm>
          <a:prstGeom prst="rect">
            <a:avLst/>
          </a:prstGeom>
          <a:solidFill>
            <a:srgbClr val="5B2C1E"/>
          </a:solidFill>
          <a:ln/>
        </p:spPr>
      </p:sp>
      <p:sp>
        <p:nvSpPr>
          <p:cNvPr id="16" name="Text 14"/>
          <p:cNvSpPr/>
          <p:nvPr/>
        </p:nvSpPr>
        <p:spPr>
          <a:xfrm>
            <a:off x="4983480" y="1417320"/>
            <a:ext cx="1188720" cy="27432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Kriter</a:t>
            </a:r>
            <a:endParaRPr lang="en-US" sz="950" dirty="0"/>
          </a:p>
        </p:txBody>
      </p:sp>
      <p:sp>
        <p:nvSpPr>
          <p:cNvPr id="17" name="Text 15"/>
          <p:cNvSpPr/>
          <p:nvPr/>
        </p:nvSpPr>
        <p:spPr>
          <a:xfrm>
            <a:off x="6217920" y="1417320"/>
            <a:ext cx="118872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Tek Model</a:t>
            </a:r>
            <a:endParaRPr lang="en-US" sz="950" dirty="0"/>
          </a:p>
        </p:txBody>
      </p:sp>
      <p:sp>
        <p:nvSpPr>
          <p:cNvPr id="18" name="Text 16"/>
          <p:cNvSpPr/>
          <p:nvPr/>
        </p:nvSpPr>
        <p:spPr>
          <a:xfrm>
            <a:off x="7406640" y="1417320"/>
            <a:ext cx="1188720" cy="274320"/>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Ensemble</a:t>
            </a:r>
            <a:endParaRPr lang="en-US" sz="950" dirty="0"/>
          </a:p>
        </p:txBody>
      </p:sp>
      <p:sp>
        <p:nvSpPr>
          <p:cNvPr id="19" name="Shape 17"/>
          <p:cNvSpPr/>
          <p:nvPr/>
        </p:nvSpPr>
        <p:spPr>
          <a:xfrm>
            <a:off x="4937760" y="1709928"/>
            <a:ext cx="3657600" cy="274320"/>
          </a:xfrm>
          <a:prstGeom prst="rect">
            <a:avLst/>
          </a:prstGeom>
          <a:solidFill>
            <a:srgbClr val="FFFFFF"/>
          </a:solidFill>
          <a:ln/>
        </p:spPr>
      </p:sp>
      <p:sp>
        <p:nvSpPr>
          <p:cNvPr id="20" name="Text 18"/>
          <p:cNvSpPr/>
          <p:nvPr/>
        </p:nvSpPr>
        <p:spPr>
          <a:xfrm>
            <a:off x="4983480" y="1709928"/>
            <a:ext cx="1188720" cy="27432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Doğruluk</a:t>
            </a:r>
            <a:endParaRPr lang="en-US" sz="950" dirty="0"/>
          </a:p>
        </p:txBody>
      </p:sp>
      <p:sp>
        <p:nvSpPr>
          <p:cNvPr id="21" name="Text 19"/>
          <p:cNvSpPr/>
          <p:nvPr/>
        </p:nvSpPr>
        <p:spPr>
          <a:xfrm>
            <a:off x="6217920" y="1709928"/>
            <a:ext cx="1188720" cy="274320"/>
          </a:xfrm>
          <a:prstGeom prst="rect">
            <a:avLst/>
          </a:prstGeom>
          <a:noFill/>
          <a:ln/>
        </p:spPr>
        <p:txBody>
          <a:bodyPr wrap="square" lIns="0" tIns="0" rIns="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22" name="Text 20"/>
          <p:cNvSpPr/>
          <p:nvPr/>
        </p:nvSpPr>
        <p:spPr>
          <a:xfrm>
            <a:off x="7406640" y="1709928"/>
            <a:ext cx="1188720" cy="274320"/>
          </a:xfrm>
          <a:prstGeom prst="rect">
            <a:avLst/>
          </a:prstGeom>
          <a:noFill/>
          <a:ln/>
        </p:spPr>
        <p:txBody>
          <a:bodyPr wrap="square" lIns="0" tIns="0" rIns="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Yüksek</a:t>
            </a:r>
            <a:endParaRPr lang="en-US" sz="950" dirty="0"/>
          </a:p>
        </p:txBody>
      </p:sp>
      <p:sp>
        <p:nvSpPr>
          <p:cNvPr id="23" name="Shape 21"/>
          <p:cNvSpPr/>
          <p:nvPr/>
        </p:nvSpPr>
        <p:spPr>
          <a:xfrm>
            <a:off x="4937760" y="2002536"/>
            <a:ext cx="3657600" cy="274320"/>
          </a:xfrm>
          <a:prstGeom prst="rect">
            <a:avLst/>
          </a:prstGeom>
          <a:solidFill>
            <a:srgbClr val="FEF5EE"/>
          </a:solidFill>
          <a:ln/>
        </p:spPr>
      </p:sp>
      <p:sp>
        <p:nvSpPr>
          <p:cNvPr id="24" name="Text 22"/>
          <p:cNvSpPr/>
          <p:nvPr/>
        </p:nvSpPr>
        <p:spPr>
          <a:xfrm>
            <a:off x="4983480" y="2002536"/>
            <a:ext cx="1188720" cy="27432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Varyans</a:t>
            </a:r>
            <a:endParaRPr lang="en-US" sz="950" dirty="0"/>
          </a:p>
        </p:txBody>
      </p:sp>
      <p:sp>
        <p:nvSpPr>
          <p:cNvPr id="25" name="Text 23"/>
          <p:cNvSpPr/>
          <p:nvPr/>
        </p:nvSpPr>
        <p:spPr>
          <a:xfrm>
            <a:off x="6217920" y="2002536"/>
            <a:ext cx="1188720" cy="274320"/>
          </a:xfrm>
          <a:prstGeom prst="rect">
            <a:avLst/>
          </a:prstGeom>
          <a:noFill/>
          <a:ln/>
        </p:spPr>
        <p:txBody>
          <a:bodyPr wrap="square" lIns="0" tIns="0" rIns="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Yüksek</a:t>
            </a:r>
            <a:endParaRPr lang="en-US" sz="950" dirty="0"/>
          </a:p>
        </p:txBody>
      </p:sp>
      <p:sp>
        <p:nvSpPr>
          <p:cNvPr id="26" name="Text 24"/>
          <p:cNvSpPr/>
          <p:nvPr/>
        </p:nvSpPr>
        <p:spPr>
          <a:xfrm>
            <a:off x="7406640" y="2002536"/>
            <a:ext cx="1188720" cy="274320"/>
          </a:xfrm>
          <a:prstGeom prst="rect">
            <a:avLst/>
          </a:prstGeom>
          <a:noFill/>
          <a:ln/>
        </p:spPr>
        <p:txBody>
          <a:bodyPr wrap="square" lIns="0" tIns="0" rIns="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Düşük</a:t>
            </a:r>
            <a:endParaRPr lang="en-US" sz="950" dirty="0"/>
          </a:p>
        </p:txBody>
      </p:sp>
      <p:sp>
        <p:nvSpPr>
          <p:cNvPr id="27" name="Shape 25"/>
          <p:cNvSpPr/>
          <p:nvPr/>
        </p:nvSpPr>
        <p:spPr>
          <a:xfrm>
            <a:off x="4937760" y="2295144"/>
            <a:ext cx="3657600" cy="274320"/>
          </a:xfrm>
          <a:prstGeom prst="rect">
            <a:avLst/>
          </a:prstGeom>
          <a:solidFill>
            <a:srgbClr val="FFFFFF"/>
          </a:solidFill>
          <a:ln/>
        </p:spPr>
      </p:sp>
      <p:sp>
        <p:nvSpPr>
          <p:cNvPr id="28" name="Text 26"/>
          <p:cNvSpPr/>
          <p:nvPr/>
        </p:nvSpPr>
        <p:spPr>
          <a:xfrm>
            <a:off x="4983480" y="2295144"/>
            <a:ext cx="1188720" cy="27432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Overfitting</a:t>
            </a:r>
            <a:endParaRPr lang="en-US" sz="950" dirty="0"/>
          </a:p>
        </p:txBody>
      </p:sp>
      <p:sp>
        <p:nvSpPr>
          <p:cNvPr id="29" name="Text 27"/>
          <p:cNvSpPr/>
          <p:nvPr/>
        </p:nvSpPr>
        <p:spPr>
          <a:xfrm>
            <a:off x="6217920" y="2295144"/>
            <a:ext cx="1188720" cy="274320"/>
          </a:xfrm>
          <a:prstGeom prst="rect">
            <a:avLst/>
          </a:prstGeom>
          <a:noFill/>
          <a:ln/>
        </p:spPr>
        <p:txBody>
          <a:bodyPr wrap="square" lIns="0" tIns="0" rIns="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Risk yüksek</a:t>
            </a:r>
            <a:endParaRPr lang="en-US" sz="950" dirty="0"/>
          </a:p>
        </p:txBody>
      </p:sp>
      <p:sp>
        <p:nvSpPr>
          <p:cNvPr id="30" name="Text 28"/>
          <p:cNvSpPr/>
          <p:nvPr/>
        </p:nvSpPr>
        <p:spPr>
          <a:xfrm>
            <a:off x="7406640" y="2295144"/>
            <a:ext cx="1188720" cy="274320"/>
          </a:xfrm>
          <a:prstGeom prst="rect">
            <a:avLst/>
          </a:prstGeom>
          <a:noFill/>
          <a:ln/>
        </p:spPr>
        <p:txBody>
          <a:bodyPr wrap="square" lIns="0" tIns="0" rIns="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Direnç yüksek</a:t>
            </a:r>
            <a:endParaRPr lang="en-US" sz="950" dirty="0"/>
          </a:p>
        </p:txBody>
      </p:sp>
      <p:sp>
        <p:nvSpPr>
          <p:cNvPr id="31" name="Shape 29"/>
          <p:cNvSpPr/>
          <p:nvPr/>
        </p:nvSpPr>
        <p:spPr>
          <a:xfrm>
            <a:off x="4937760" y="2587752"/>
            <a:ext cx="3657600" cy="274320"/>
          </a:xfrm>
          <a:prstGeom prst="rect">
            <a:avLst/>
          </a:prstGeom>
          <a:solidFill>
            <a:srgbClr val="FEF5EE"/>
          </a:solidFill>
          <a:ln/>
        </p:spPr>
      </p:sp>
      <p:sp>
        <p:nvSpPr>
          <p:cNvPr id="32" name="Text 30"/>
          <p:cNvSpPr/>
          <p:nvPr/>
        </p:nvSpPr>
        <p:spPr>
          <a:xfrm>
            <a:off x="4983480" y="2587752"/>
            <a:ext cx="1188720" cy="27432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Yorumlanabilirlik</a:t>
            </a:r>
            <a:endParaRPr lang="en-US" sz="950" dirty="0"/>
          </a:p>
        </p:txBody>
      </p:sp>
      <p:sp>
        <p:nvSpPr>
          <p:cNvPr id="33" name="Text 31"/>
          <p:cNvSpPr/>
          <p:nvPr/>
        </p:nvSpPr>
        <p:spPr>
          <a:xfrm>
            <a:off x="6217920" y="2587752"/>
            <a:ext cx="1188720" cy="274320"/>
          </a:xfrm>
          <a:prstGeom prst="rect">
            <a:avLst/>
          </a:prstGeom>
          <a:noFill/>
          <a:ln/>
        </p:spPr>
        <p:txBody>
          <a:bodyPr wrap="square" lIns="0" tIns="0" rIns="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Kolay</a:t>
            </a:r>
            <a:endParaRPr lang="en-US" sz="950" dirty="0"/>
          </a:p>
        </p:txBody>
      </p:sp>
      <p:sp>
        <p:nvSpPr>
          <p:cNvPr id="34" name="Text 32"/>
          <p:cNvSpPr/>
          <p:nvPr/>
        </p:nvSpPr>
        <p:spPr>
          <a:xfrm>
            <a:off x="7406640" y="2587752"/>
            <a:ext cx="1188720" cy="274320"/>
          </a:xfrm>
          <a:prstGeom prst="rect">
            <a:avLst/>
          </a:prstGeom>
          <a:noFill/>
          <a:ln/>
        </p:spPr>
        <p:txBody>
          <a:bodyPr wrap="square" lIns="0" tIns="0" rIns="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Zor</a:t>
            </a:r>
            <a:endParaRPr lang="en-US" sz="950" dirty="0"/>
          </a:p>
        </p:txBody>
      </p:sp>
      <p:sp>
        <p:nvSpPr>
          <p:cNvPr id="35" name="Shape 33"/>
          <p:cNvSpPr/>
          <p:nvPr/>
        </p:nvSpPr>
        <p:spPr>
          <a:xfrm>
            <a:off x="365760" y="3108960"/>
            <a:ext cx="269748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6" name="Shape 34"/>
          <p:cNvSpPr/>
          <p:nvPr/>
        </p:nvSpPr>
        <p:spPr>
          <a:xfrm>
            <a:off x="365760" y="3108960"/>
            <a:ext cx="2697480" cy="54864"/>
          </a:xfrm>
          <a:prstGeom prst="rect">
            <a:avLst/>
          </a:prstGeom>
          <a:solidFill>
            <a:srgbClr val="2B7A78"/>
          </a:solidFill>
          <a:ln/>
        </p:spPr>
      </p:sp>
      <p:sp>
        <p:nvSpPr>
          <p:cNvPr id="37" name="Shape 35"/>
          <p:cNvSpPr/>
          <p:nvPr/>
        </p:nvSpPr>
        <p:spPr>
          <a:xfrm>
            <a:off x="457200" y="3246120"/>
            <a:ext cx="329184" cy="329184"/>
          </a:xfrm>
          <a:prstGeom prst="ellipse">
            <a:avLst/>
          </a:prstGeom>
          <a:solidFill>
            <a:srgbClr val="2B7A78"/>
          </a:solidFill>
          <a:ln/>
        </p:spPr>
      </p:sp>
      <p:sp>
        <p:nvSpPr>
          <p:cNvPr id="38" name="Text 36"/>
          <p:cNvSpPr/>
          <p:nvPr/>
        </p:nvSpPr>
        <p:spPr>
          <a:xfrm>
            <a:off x="457200" y="32461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9" name="Text 37"/>
          <p:cNvSpPr/>
          <p:nvPr/>
        </p:nvSpPr>
        <p:spPr>
          <a:xfrm>
            <a:off x="868680" y="3246120"/>
            <a:ext cx="2011680" cy="329184"/>
          </a:xfrm>
          <a:prstGeom prst="rect">
            <a:avLst/>
          </a:prstGeom>
          <a:noFill/>
          <a:ln/>
        </p:spPr>
        <p:txBody>
          <a:bodyPr wrap="square" lIns="0" tIns="0" rIns="0" bIns="0" rtlCol="0" anchor="ctr"/>
          <a:lstStyle/>
          <a:p>
            <a:pPr indent="0" marL="0">
              <a:buNone/>
            </a:pPr>
            <a:r>
              <a:rPr lang="en-US" sz="1300" b="1" dirty="0">
                <a:solidFill>
                  <a:srgbClr val="2B7A78"/>
                </a:solidFill>
                <a:latin typeface="Georgia" pitchFamily="34" charset="0"/>
                <a:ea typeface="Georgia" pitchFamily="34" charset="-122"/>
                <a:cs typeface="Georgia" pitchFamily="34" charset="-120"/>
              </a:rPr>
              <a:t>Bagging</a:t>
            </a:r>
            <a:endParaRPr lang="en-US" sz="1300" dirty="0"/>
          </a:p>
        </p:txBody>
      </p:sp>
      <p:sp>
        <p:nvSpPr>
          <p:cNvPr id="40" name="Text 38"/>
          <p:cNvSpPr/>
          <p:nvPr/>
        </p:nvSpPr>
        <p:spPr>
          <a:xfrm>
            <a:off x="502920" y="3657600"/>
            <a:ext cx="2423160" cy="91440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Paralel eğitim</a:t>
            </a:r>
            <a:endParaRPr lang="en-US" sz="1050" dirty="0"/>
          </a:p>
          <a:p>
            <a:pPr indent="0" marL="0">
              <a:buNone/>
            </a:pPr>
            <a:r>
              <a:rPr lang="en-US" sz="1050" dirty="0">
                <a:solidFill>
                  <a:srgbClr val="2E1F1A"/>
                </a:solidFill>
                <a:latin typeface="Calibri" pitchFamily="34" charset="0"/>
                <a:ea typeface="Calibri" pitchFamily="34" charset="-122"/>
                <a:cs typeface="Calibri" pitchFamily="34" charset="-120"/>
              </a:rPr>
              <a:t>Örn: Random Forest</a:t>
            </a:r>
            <a:endParaRPr lang="en-US" sz="1050" dirty="0"/>
          </a:p>
        </p:txBody>
      </p:sp>
      <p:sp>
        <p:nvSpPr>
          <p:cNvPr id="41" name="Shape 39"/>
          <p:cNvSpPr/>
          <p:nvPr/>
        </p:nvSpPr>
        <p:spPr>
          <a:xfrm>
            <a:off x="3246120" y="3108960"/>
            <a:ext cx="269748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2" name="Shape 40"/>
          <p:cNvSpPr/>
          <p:nvPr/>
        </p:nvSpPr>
        <p:spPr>
          <a:xfrm>
            <a:off x="3246120" y="3108960"/>
            <a:ext cx="2697480" cy="54864"/>
          </a:xfrm>
          <a:prstGeom prst="rect">
            <a:avLst/>
          </a:prstGeom>
          <a:solidFill>
            <a:srgbClr val="C97B5A"/>
          </a:solidFill>
          <a:ln/>
        </p:spPr>
      </p:sp>
      <p:sp>
        <p:nvSpPr>
          <p:cNvPr id="43" name="Shape 41"/>
          <p:cNvSpPr/>
          <p:nvPr/>
        </p:nvSpPr>
        <p:spPr>
          <a:xfrm>
            <a:off x="3337560" y="3246120"/>
            <a:ext cx="329184" cy="329184"/>
          </a:xfrm>
          <a:prstGeom prst="ellipse">
            <a:avLst/>
          </a:prstGeom>
          <a:solidFill>
            <a:srgbClr val="C97B5A"/>
          </a:solidFill>
          <a:ln/>
        </p:spPr>
      </p:sp>
      <p:sp>
        <p:nvSpPr>
          <p:cNvPr id="44" name="Text 42"/>
          <p:cNvSpPr/>
          <p:nvPr/>
        </p:nvSpPr>
        <p:spPr>
          <a:xfrm>
            <a:off x="3337560" y="32461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5" name="Text 43"/>
          <p:cNvSpPr/>
          <p:nvPr/>
        </p:nvSpPr>
        <p:spPr>
          <a:xfrm>
            <a:off x="3749040" y="3246120"/>
            <a:ext cx="2011680" cy="329184"/>
          </a:xfrm>
          <a:prstGeom prst="rect">
            <a:avLst/>
          </a:prstGeom>
          <a:noFill/>
          <a:ln/>
        </p:spPr>
        <p:txBody>
          <a:bodyPr wrap="square" lIns="0" tIns="0" rIns="0" bIns="0" rtlCol="0" anchor="ctr"/>
          <a:lstStyle/>
          <a:p>
            <a:pPr indent="0" marL="0">
              <a:buNone/>
            </a:pPr>
            <a:r>
              <a:rPr lang="en-US" sz="1300" b="1" dirty="0">
                <a:solidFill>
                  <a:srgbClr val="C97B5A"/>
                </a:solidFill>
                <a:latin typeface="Georgia" pitchFamily="34" charset="0"/>
                <a:ea typeface="Georgia" pitchFamily="34" charset="-122"/>
                <a:cs typeface="Georgia" pitchFamily="34" charset="-120"/>
              </a:rPr>
              <a:t>Boosting</a:t>
            </a:r>
            <a:endParaRPr lang="en-US" sz="1300" dirty="0"/>
          </a:p>
        </p:txBody>
      </p:sp>
      <p:sp>
        <p:nvSpPr>
          <p:cNvPr id="46" name="Text 44"/>
          <p:cNvSpPr/>
          <p:nvPr/>
        </p:nvSpPr>
        <p:spPr>
          <a:xfrm>
            <a:off x="3383280" y="3657600"/>
            <a:ext cx="2423160" cy="91440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Sıralı hata düzeltme</a:t>
            </a:r>
            <a:endParaRPr lang="en-US" sz="1050" dirty="0"/>
          </a:p>
          <a:p>
            <a:pPr indent="0" marL="0">
              <a:buNone/>
            </a:pPr>
            <a:r>
              <a:rPr lang="en-US" sz="1050" dirty="0">
                <a:solidFill>
                  <a:srgbClr val="2E1F1A"/>
                </a:solidFill>
                <a:latin typeface="Calibri" pitchFamily="34" charset="0"/>
                <a:ea typeface="Calibri" pitchFamily="34" charset="-122"/>
                <a:cs typeface="Calibri" pitchFamily="34" charset="-120"/>
              </a:rPr>
              <a:t>Örn: XGBoost</a:t>
            </a:r>
            <a:endParaRPr lang="en-US" sz="1050" dirty="0"/>
          </a:p>
        </p:txBody>
      </p:sp>
      <p:sp>
        <p:nvSpPr>
          <p:cNvPr id="47" name="Shape 45"/>
          <p:cNvSpPr/>
          <p:nvPr/>
        </p:nvSpPr>
        <p:spPr>
          <a:xfrm>
            <a:off x="6126480" y="3108960"/>
            <a:ext cx="269748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8" name="Shape 46"/>
          <p:cNvSpPr/>
          <p:nvPr/>
        </p:nvSpPr>
        <p:spPr>
          <a:xfrm>
            <a:off x="6126480" y="3108960"/>
            <a:ext cx="2697480" cy="54864"/>
          </a:xfrm>
          <a:prstGeom prst="rect">
            <a:avLst/>
          </a:prstGeom>
          <a:solidFill>
            <a:srgbClr val="7C5BBF"/>
          </a:solidFill>
          <a:ln/>
        </p:spPr>
      </p:sp>
      <p:sp>
        <p:nvSpPr>
          <p:cNvPr id="49" name="Shape 47"/>
          <p:cNvSpPr/>
          <p:nvPr/>
        </p:nvSpPr>
        <p:spPr>
          <a:xfrm>
            <a:off x="6217920" y="3246120"/>
            <a:ext cx="329184" cy="329184"/>
          </a:xfrm>
          <a:prstGeom prst="ellipse">
            <a:avLst/>
          </a:prstGeom>
          <a:solidFill>
            <a:srgbClr val="7C5BBF"/>
          </a:solidFill>
          <a:ln/>
        </p:spPr>
      </p:sp>
      <p:sp>
        <p:nvSpPr>
          <p:cNvPr id="50" name="Text 48"/>
          <p:cNvSpPr/>
          <p:nvPr/>
        </p:nvSpPr>
        <p:spPr>
          <a:xfrm>
            <a:off x="6217920" y="32461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1" name="Text 49"/>
          <p:cNvSpPr/>
          <p:nvPr/>
        </p:nvSpPr>
        <p:spPr>
          <a:xfrm>
            <a:off x="6629400" y="3246120"/>
            <a:ext cx="2011680" cy="329184"/>
          </a:xfrm>
          <a:prstGeom prst="rect">
            <a:avLst/>
          </a:prstGeom>
          <a:noFill/>
          <a:ln/>
        </p:spPr>
        <p:txBody>
          <a:bodyPr wrap="square" lIns="0" tIns="0" rIns="0" bIns="0" rtlCol="0" anchor="ctr"/>
          <a:lstStyle/>
          <a:p>
            <a:pPr indent="0" marL="0">
              <a:buNone/>
            </a:pPr>
            <a:r>
              <a:rPr lang="en-US" sz="1300" b="1" dirty="0">
                <a:solidFill>
                  <a:srgbClr val="7C5BBF"/>
                </a:solidFill>
                <a:latin typeface="Georgia" pitchFamily="34" charset="0"/>
                <a:ea typeface="Georgia" pitchFamily="34" charset="-122"/>
                <a:cs typeface="Georgia" pitchFamily="34" charset="-120"/>
              </a:rPr>
              <a:t>Stacking</a:t>
            </a:r>
            <a:endParaRPr lang="en-US" sz="1300" dirty="0"/>
          </a:p>
        </p:txBody>
      </p:sp>
      <p:sp>
        <p:nvSpPr>
          <p:cNvPr id="52" name="Text 50"/>
          <p:cNvSpPr/>
          <p:nvPr/>
        </p:nvSpPr>
        <p:spPr>
          <a:xfrm>
            <a:off x="6263640" y="3657600"/>
            <a:ext cx="2423160" cy="91440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Meta-öğrenme</a:t>
            </a:r>
            <a:endParaRPr lang="en-US" sz="1050" dirty="0"/>
          </a:p>
          <a:p>
            <a:pPr indent="0" marL="0">
              <a:buNone/>
            </a:pPr>
            <a:r>
              <a:rPr lang="en-US" sz="1050" dirty="0">
                <a:solidFill>
                  <a:srgbClr val="2E1F1A"/>
                </a:solidFill>
                <a:latin typeface="Calibri" pitchFamily="34" charset="0"/>
                <a:ea typeface="Calibri" pitchFamily="34" charset="-122"/>
                <a:cs typeface="Calibri" pitchFamily="34" charset="-120"/>
              </a:rPr>
              <a:t>Örn: StackingClassifier</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Bagging vs Boosting</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023360" cy="37947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4023360" cy="54864"/>
          </a:xfrm>
          <a:prstGeom prst="rect">
            <a:avLst/>
          </a:prstGeom>
          <a:solidFill>
            <a:srgbClr val="2B7A78"/>
          </a:solidFill>
          <a:ln/>
        </p:spPr>
      </p:sp>
      <p:sp>
        <p:nvSpPr>
          <p:cNvPr id="10" name="Text 8"/>
          <p:cNvSpPr/>
          <p:nvPr/>
        </p:nvSpPr>
        <p:spPr>
          <a:xfrm>
            <a:off x="548640" y="1051560"/>
            <a:ext cx="36576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Bagging (Bootstrap Aggregating)</a:t>
            </a:r>
            <a:endParaRPr lang="en-US" sz="1200" dirty="0"/>
          </a:p>
        </p:txBody>
      </p:sp>
      <p:sp>
        <p:nvSpPr>
          <p:cNvPr id="11" name="Shape 9"/>
          <p:cNvSpPr/>
          <p:nvPr/>
        </p:nvSpPr>
        <p:spPr>
          <a:xfrm>
            <a:off x="502920" y="1463040"/>
            <a:ext cx="329184" cy="329184"/>
          </a:xfrm>
          <a:prstGeom prst="ellipse">
            <a:avLst/>
          </a:prstGeom>
          <a:solidFill>
            <a:srgbClr val="2B7A78"/>
          </a:solidFill>
          <a:ln/>
        </p:spPr>
      </p:sp>
      <p:sp>
        <p:nvSpPr>
          <p:cNvPr id="12" name="Text 10"/>
          <p:cNvSpPr/>
          <p:nvPr/>
        </p:nvSpPr>
        <p:spPr>
          <a:xfrm>
            <a:off x="502920" y="1463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p:nvPr/>
        </p:nvSpPr>
        <p:spPr>
          <a:xfrm>
            <a:off x="914400" y="141732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Orijinal veriden N rastgele alt örneklem çek (bootstrap)</a:t>
            </a:r>
            <a:endParaRPr lang="en-US" sz="1000" dirty="0"/>
          </a:p>
        </p:txBody>
      </p:sp>
      <p:sp>
        <p:nvSpPr>
          <p:cNvPr id="14" name="Shape 12"/>
          <p:cNvSpPr/>
          <p:nvPr/>
        </p:nvSpPr>
        <p:spPr>
          <a:xfrm>
            <a:off x="502920" y="2011680"/>
            <a:ext cx="329184" cy="329184"/>
          </a:xfrm>
          <a:prstGeom prst="ellipse">
            <a:avLst/>
          </a:prstGeom>
          <a:solidFill>
            <a:srgbClr val="2B7A78"/>
          </a:solidFill>
          <a:ln/>
        </p:spPr>
      </p:sp>
      <p:sp>
        <p:nvSpPr>
          <p:cNvPr id="15" name="Text 13"/>
          <p:cNvSpPr/>
          <p:nvPr/>
        </p:nvSpPr>
        <p:spPr>
          <a:xfrm>
            <a:off x="502920" y="2011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p:nvPr/>
        </p:nvSpPr>
        <p:spPr>
          <a:xfrm>
            <a:off x="914400" y="196596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Her alt örneklem üzerinde bağımsız model eğit</a:t>
            </a:r>
            <a:endParaRPr lang="en-US" sz="1000" dirty="0"/>
          </a:p>
        </p:txBody>
      </p:sp>
      <p:sp>
        <p:nvSpPr>
          <p:cNvPr id="17" name="Shape 15"/>
          <p:cNvSpPr/>
          <p:nvPr/>
        </p:nvSpPr>
        <p:spPr>
          <a:xfrm>
            <a:off x="502920" y="2560320"/>
            <a:ext cx="329184" cy="329184"/>
          </a:xfrm>
          <a:prstGeom prst="ellipse">
            <a:avLst/>
          </a:prstGeom>
          <a:solidFill>
            <a:srgbClr val="2B7A78"/>
          </a:solidFill>
          <a:ln/>
        </p:spPr>
      </p:sp>
      <p:sp>
        <p:nvSpPr>
          <p:cNvPr id="18" name="Text 16"/>
          <p:cNvSpPr/>
          <p:nvPr/>
        </p:nvSpPr>
        <p:spPr>
          <a:xfrm>
            <a:off x="502920" y="25603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914400" y="251460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Modeller paralel çalışır — birbirinden habersiz</a:t>
            </a:r>
            <a:endParaRPr lang="en-US" sz="1000" dirty="0"/>
          </a:p>
        </p:txBody>
      </p:sp>
      <p:sp>
        <p:nvSpPr>
          <p:cNvPr id="20" name="Shape 18"/>
          <p:cNvSpPr/>
          <p:nvPr/>
        </p:nvSpPr>
        <p:spPr>
          <a:xfrm>
            <a:off x="502920" y="3108960"/>
            <a:ext cx="329184" cy="329184"/>
          </a:xfrm>
          <a:prstGeom prst="ellipse">
            <a:avLst/>
          </a:prstGeom>
          <a:solidFill>
            <a:srgbClr val="2B7A78"/>
          </a:solidFill>
          <a:ln/>
        </p:spPr>
      </p:sp>
      <p:sp>
        <p:nvSpPr>
          <p:cNvPr id="21" name="Text 19"/>
          <p:cNvSpPr/>
          <p:nvPr/>
        </p:nvSpPr>
        <p:spPr>
          <a:xfrm>
            <a:off x="502920"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14400" y="306324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Tahminleri çoğunluk oyu ile birleştir</a:t>
            </a:r>
            <a:endParaRPr lang="en-US" sz="1000" dirty="0"/>
          </a:p>
        </p:txBody>
      </p:sp>
      <p:sp>
        <p:nvSpPr>
          <p:cNvPr id="23" name="Shape 21"/>
          <p:cNvSpPr/>
          <p:nvPr/>
        </p:nvSpPr>
        <p:spPr>
          <a:xfrm>
            <a:off x="502920" y="3657600"/>
            <a:ext cx="329184" cy="329184"/>
          </a:xfrm>
          <a:prstGeom prst="ellipse">
            <a:avLst/>
          </a:prstGeom>
          <a:solidFill>
            <a:srgbClr val="2B7A78"/>
          </a:solidFill>
          <a:ln/>
        </p:spPr>
      </p:sp>
      <p:sp>
        <p:nvSpPr>
          <p:cNvPr id="24" name="Text 22"/>
          <p:cNvSpPr/>
          <p:nvPr/>
        </p:nvSpPr>
        <p:spPr>
          <a:xfrm>
            <a:off x="502920" y="36576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5" name="Text 23"/>
          <p:cNvSpPr/>
          <p:nvPr/>
        </p:nvSpPr>
        <p:spPr>
          <a:xfrm>
            <a:off x="914400" y="361188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Varyansı düşürür, bias'ı değiştirmez</a:t>
            </a:r>
            <a:endParaRPr lang="en-US" sz="1000" dirty="0"/>
          </a:p>
        </p:txBody>
      </p:sp>
      <p:sp>
        <p:nvSpPr>
          <p:cNvPr id="26" name="Shape 24"/>
          <p:cNvSpPr/>
          <p:nvPr/>
        </p:nvSpPr>
        <p:spPr>
          <a:xfrm>
            <a:off x="4754880" y="868680"/>
            <a:ext cx="4023360" cy="37947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754880" y="868680"/>
            <a:ext cx="4023360" cy="54864"/>
          </a:xfrm>
          <a:prstGeom prst="rect">
            <a:avLst/>
          </a:prstGeom>
          <a:solidFill>
            <a:srgbClr val="C97B5A"/>
          </a:solidFill>
          <a:ln/>
        </p:spPr>
      </p:sp>
      <p:sp>
        <p:nvSpPr>
          <p:cNvPr id="28" name="Text 26"/>
          <p:cNvSpPr/>
          <p:nvPr/>
        </p:nvSpPr>
        <p:spPr>
          <a:xfrm>
            <a:off x="4937760" y="1051560"/>
            <a:ext cx="365760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Boosting (Sıralı Öğrenme)</a:t>
            </a:r>
            <a:endParaRPr lang="en-US" sz="1200" dirty="0"/>
          </a:p>
        </p:txBody>
      </p:sp>
      <p:sp>
        <p:nvSpPr>
          <p:cNvPr id="29" name="Shape 27"/>
          <p:cNvSpPr/>
          <p:nvPr/>
        </p:nvSpPr>
        <p:spPr>
          <a:xfrm>
            <a:off x="4892040" y="1463040"/>
            <a:ext cx="329184" cy="329184"/>
          </a:xfrm>
          <a:prstGeom prst="ellipse">
            <a:avLst/>
          </a:prstGeom>
          <a:solidFill>
            <a:srgbClr val="C97B5A"/>
          </a:solidFill>
          <a:ln/>
        </p:spPr>
      </p:sp>
      <p:sp>
        <p:nvSpPr>
          <p:cNvPr id="30" name="Text 28"/>
          <p:cNvSpPr/>
          <p:nvPr/>
        </p:nvSpPr>
        <p:spPr>
          <a:xfrm>
            <a:off x="4892040" y="1463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1" name="Text 29"/>
          <p:cNvSpPr/>
          <p:nvPr/>
        </p:nvSpPr>
        <p:spPr>
          <a:xfrm>
            <a:off x="5303520" y="141732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İlk model tüm veriyle eğitilir</a:t>
            </a:r>
            <a:endParaRPr lang="en-US" sz="1000" dirty="0"/>
          </a:p>
        </p:txBody>
      </p:sp>
      <p:sp>
        <p:nvSpPr>
          <p:cNvPr id="32" name="Shape 30"/>
          <p:cNvSpPr/>
          <p:nvPr/>
        </p:nvSpPr>
        <p:spPr>
          <a:xfrm>
            <a:off x="4892040" y="2011680"/>
            <a:ext cx="329184" cy="329184"/>
          </a:xfrm>
          <a:prstGeom prst="ellipse">
            <a:avLst/>
          </a:prstGeom>
          <a:solidFill>
            <a:srgbClr val="C97B5A"/>
          </a:solidFill>
          <a:ln/>
        </p:spPr>
      </p:sp>
      <p:sp>
        <p:nvSpPr>
          <p:cNvPr id="33" name="Text 31"/>
          <p:cNvSpPr/>
          <p:nvPr/>
        </p:nvSpPr>
        <p:spPr>
          <a:xfrm>
            <a:off x="4892040" y="20116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32"/>
          <p:cNvSpPr/>
          <p:nvPr/>
        </p:nvSpPr>
        <p:spPr>
          <a:xfrm>
            <a:off x="5303520" y="196596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Yanlış tahmin edilen örneklerin ağırlığı artırılır</a:t>
            </a:r>
            <a:endParaRPr lang="en-US" sz="1000" dirty="0"/>
          </a:p>
        </p:txBody>
      </p:sp>
      <p:sp>
        <p:nvSpPr>
          <p:cNvPr id="35" name="Shape 33"/>
          <p:cNvSpPr/>
          <p:nvPr/>
        </p:nvSpPr>
        <p:spPr>
          <a:xfrm>
            <a:off x="4892040" y="2560320"/>
            <a:ext cx="329184" cy="329184"/>
          </a:xfrm>
          <a:prstGeom prst="ellipse">
            <a:avLst/>
          </a:prstGeom>
          <a:solidFill>
            <a:srgbClr val="C97B5A"/>
          </a:solidFill>
          <a:ln/>
        </p:spPr>
      </p:sp>
      <p:sp>
        <p:nvSpPr>
          <p:cNvPr id="36" name="Text 34"/>
          <p:cNvSpPr/>
          <p:nvPr/>
        </p:nvSpPr>
        <p:spPr>
          <a:xfrm>
            <a:off x="4892040" y="25603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7" name="Text 35"/>
          <p:cNvSpPr/>
          <p:nvPr/>
        </p:nvSpPr>
        <p:spPr>
          <a:xfrm>
            <a:off x="5303520" y="251460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Sonraki model hatalara odaklanır</a:t>
            </a:r>
            <a:endParaRPr lang="en-US" sz="1000" dirty="0"/>
          </a:p>
        </p:txBody>
      </p:sp>
      <p:sp>
        <p:nvSpPr>
          <p:cNvPr id="38" name="Shape 36"/>
          <p:cNvSpPr/>
          <p:nvPr/>
        </p:nvSpPr>
        <p:spPr>
          <a:xfrm>
            <a:off x="4892040" y="3108960"/>
            <a:ext cx="329184" cy="329184"/>
          </a:xfrm>
          <a:prstGeom prst="ellipse">
            <a:avLst/>
          </a:prstGeom>
          <a:solidFill>
            <a:srgbClr val="C97B5A"/>
          </a:solidFill>
          <a:ln/>
        </p:spPr>
      </p:sp>
      <p:sp>
        <p:nvSpPr>
          <p:cNvPr id="39" name="Text 37"/>
          <p:cNvSpPr/>
          <p:nvPr/>
        </p:nvSpPr>
        <p:spPr>
          <a:xfrm>
            <a:off x="4892040" y="31089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0" name="Text 38"/>
          <p:cNvSpPr/>
          <p:nvPr/>
        </p:nvSpPr>
        <p:spPr>
          <a:xfrm>
            <a:off x="5303520" y="306324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Her model öncekinin hatasını düzeltmeye çalışır</a:t>
            </a:r>
            <a:endParaRPr lang="en-US" sz="1000" dirty="0"/>
          </a:p>
        </p:txBody>
      </p:sp>
      <p:sp>
        <p:nvSpPr>
          <p:cNvPr id="41" name="Shape 39"/>
          <p:cNvSpPr/>
          <p:nvPr/>
        </p:nvSpPr>
        <p:spPr>
          <a:xfrm>
            <a:off x="4892040" y="3657600"/>
            <a:ext cx="329184" cy="329184"/>
          </a:xfrm>
          <a:prstGeom prst="ellipse">
            <a:avLst/>
          </a:prstGeom>
          <a:solidFill>
            <a:srgbClr val="C97B5A"/>
          </a:solidFill>
          <a:ln/>
        </p:spPr>
      </p:sp>
      <p:sp>
        <p:nvSpPr>
          <p:cNvPr id="42" name="Text 40"/>
          <p:cNvSpPr/>
          <p:nvPr/>
        </p:nvSpPr>
        <p:spPr>
          <a:xfrm>
            <a:off x="4892040" y="36576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41"/>
          <p:cNvSpPr/>
          <p:nvPr/>
        </p:nvSpPr>
        <p:spPr>
          <a:xfrm>
            <a:off x="5303520" y="3611880"/>
            <a:ext cx="3291840" cy="45720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Bias'ı düşürür, dikkatli olmazsan overfitting riski</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Random Forest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57200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645920"/>
          </a:xfrm>
          <a:prstGeom prst="rect">
            <a:avLst/>
          </a:prstGeom>
          <a:solidFill>
            <a:srgbClr val="2B7A78"/>
          </a:solidFill>
          <a:ln/>
        </p:spPr>
      </p:sp>
      <p:sp>
        <p:nvSpPr>
          <p:cNvPr id="10" name="Text 8"/>
          <p:cNvSpPr/>
          <p:nvPr/>
        </p:nvSpPr>
        <p:spPr>
          <a:xfrm>
            <a:off x="548640" y="960120"/>
            <a:ext cx="420624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Nasıl Çalışır?</a:t>
            </a:r>
            <a:endParaRPr lang="en-US" sz="1200" dirty="0"/>
          </a:p>
        </p:txBody>
      </p:sp>
      <p:sp>
        <p:nvSpPr>
          <p:cNvPr id="11" name="Text 9"/>
          <p:cNvSpPr/>
          <p:nvPr/>
        </p:nvSpPr>
        <p:spPr>
          <a:xfrm>
            <a:off x="548640" y="1325880"/>
            <a:ext cx="4206240" cy="10058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Birden fazla karar ağacı (decision tree) eğitilir. Her ağaç farklı veri alt örneklemi ve farklı özellik alt kümesi kullanır. Son tahmin, tüm ağaçların çoğunluk oyu (sınıflandırma) veya ortalaması (regresyon) ile belirlenir.</a:t>
            </a:r>
            <a:endParaRPr lang="en-US" sz="1100" dirty="0"/>
          </a:p>
        </p:txBody>
      </p:sp>
      <p:sp>
        <p:nvSpPr>
          <p:cNvPr id="12" name="Shape 10"/>
          <p:cNvSpPr/>
          <p:nvPr/>
        </p:nvSpPr>
        <p:spPr>
          <a:xfrm>
            <a:off x="5212080" y="868680"/>
            <a:ext cx="178308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5212080" y="868680"/>
            <a:ext cx="1783080" cy="54864"/>
          </a:xfrm>
          <a:prstGeom prst="rect">
            <a:avLst/>
          </a:prstGeom>
          <a:solidFill>
            <a:srgbClr val="2B7A78"/>
          </a:solidFill>
          <a:ln/>
        </p:spPr>
      </p:sp>
      <p:sp>
        <p:nvSpPr>
          <p:cNvPr id="14" name="Text 12"/>
          <p:cNvSpPr/>
          <p:nvPr/>
        </p:nvSpPr>
        <p:spPr>
          <a:xfrm>
            <a:off x="5212080" y="1005840"/>
            <a:ext cx="178308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100+</a:t>
            </a:r>
            <a:endParaRPr lang="en-US" sz="3400" dirty="0"/>
          </a:p>
        </p:txBody>
      </p:sp>
      <p:sp>
        <p:nvSpPr>
          <p:cNvPr id="15" name="Text 13"/>
          <p:cNvSpPr/>
          <p:nvPr/>
        </p:nvSpPr>
        <p:spPr>
          <a:xfrm>
            <a:off x="5303520" y="1618488"/>
            <a:ext cx="160020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Ağaç Sayısı</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(varsayılan)</a:t>
            </a:r>
            <a:endParaRPr lang="en-US" sz="1050" dirty="0"/>
          </a:p>
        </p:txBody>
      </p:sp>
      <p:sp>
        <p:nvSpPr>
          <p:cNvPr id="16" name="Shape 14"/>
          <p:cNvSpPr/>
          <p:nvPr/>
        </p:nvSpPr>
        <p:spPr>
          <a:xfrm>
            <a:off x="7132320" y="868680"/>
            <a:ext cx="178308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7132320" y="868680"/>
            <a:ext cx="1783080" cy="54864"/>
          </a:xfrm>
          <a:prstGeom prst="rect">
            <a:avLst/>
          </a:prstGeom>
          <a:solidFill>
            <a:srgbClr val="3A9E6B"/>
          </a:solidFill>
          <a:ln/>
        </p:spPr>
      </p:sp>
      <p:sp>
        <p:nvSpPr>
          <p:cNvPr id="18" name="Text 16"/>
          <p:cNvSpPr/>
          <p:nvPr/>
        </p:nvSpPr>
        <p:spPr>
          <a:xfrm>
            <a:off x="7132320" y="1005840"/>
            <a:ext cx="1783080" cy="594360"/>
          </a:xfrm>
          <a:prstGeom prst="rect">
            <a:avLst/>
          </a:prstGeom>
          <a:noFill/>
          <a:ln/>
        </p:spPr>
        <p:txBody>
          <a:bodyPr wrap="square" lIns="0" tIns="0" rIns="0" bIns="0" rtlCol="0" anchor="ctr"/>
          <a:lstStyle/>
          <a:p>
            <a:pPr algn="ctr" indent="0" marL="0">
              <a:buNone/>
            </a:pPr>
            <a:r>
              <a:rPr lang="en-US" sz="3400" b="1" dirty="0">
                <a:solidFill>
                  <a:srgbClr val="3A9E6B"/>
                </a:solidFill>
                <a:latin typeface="Georgia" pitchFamily="34" charset="0"/>
                <a:ea typeface="Georgia" pitchFamily="34" charset="-122"/>
                <a:cs typeface="Georgia" pitchFamily="34" charset="-120"/>
              </a:rPr>
              <a:t>√p</a:t>
            </a:r>
            <a:endParaRPr lang="en-US" sz="3400" dirty="0"/>
          </a:p>
        </p:txBody>
      </p:sp>
      <p:sp>
        <p:nvSpPr>
          <p:cNvPr id="19" name="Text 17"/>
          <p:cNvSpPr/>
          <p:nvPr/>
        </p:nvSpPr>
        <p:spPr>
          <a:xfrm>
            <a:off x="7223760" y="1618488"/>
            <a:ext cx="160020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Özellik Alt</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Kümesi</a:t>
            </a:r>
            <a:endParaRPr lang="en-US" sz="1050" dirty="0"/>
          </a:p>
        </p:txBody>
      </p:sp>
      <p:sp>
        <p:nvSpPr>
          <p:cNvPr id="20" name="Shape 18"/>
          <p:cNvSpPr/>
          <p:nvPr/>
        </p:nvSpPr>
        <p:spPr>
          <a:xfrm>
            <a:off x="365760" y="2743200"/>
            <a:ext cx="8412480" cy="1920240"/>
          </a:xfrm>
          <a:prstGeom prst="rect">
            <a:avLst/>
          </a:prstGeom>
          <a:solidFill>
            <a:srgbClr val="1E1E2E"/>
          </a:solidFill>
          <a:ln/>
        </p:spPr>
      </p:sp>
      <p:sp>
        <p:nvSpPr>
          <p:cNvPr id="21" name="Text 19"/>
          <p:cNvSpPr/>
          <p:nvPr/>
        </p:nvSpPr>
        <p:spPr>
          <a:xfrm>
            <a:off x="457200" y="2788920"/>
            <a:ext cx="8229600" cy="182880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from </a:t>
            </a:r>
            <a:pPr indent="0" marL="0">
              <a:buNone/>
            </a:pPr>
            <a:r>
              <a:rPr lang="en-US" sz="900" dirty="0">
                <a:solidFill>
                  <a:srgbClr val="CDD6F4"/>
                </a:solidFill>
                <a:latin typeface="Consolas" pitchFamily="34" charset="0"/>
                <a:ea typeface="Consolas" pitchFamily="34" charset="-122"/>
                <a:cs typeface="Consolas" pitchFamily="34" charset="-120"/>
              </a:rPr>
              <a:t>sklearn.ensemble </a:t>
            </a:r>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A6E3A1"/>
                </a:solidFill>
                <a:latin typeface="Consolas" pitchFamily="34" charset="0"/>
                <a:ea typeface="Consolas" pitchFamily="34" charset="-122"/>
                <a:cs typeface="Consolas" pitchFamily="34" charset="-120"/>
              </a:rPr>
              <a:t>RandomForestClassifier
</a:t>
            </a:r>
            <a:pPr indent="0" marL="0">
              <a:buNone/>
            </a:pPr>
            <a:r>
              <a:rPr lang="en-US" sz="900" dirty="0">
                <a:solidFill>
                  <a:srgbClr val="F9E2AF"/>
                </a:solidFill>
                <a:latin typeface="Consolas" pitchFamily="34" charset="0"/>
                <a:ea typeface="Consolas" pitchFamily="34" charset="-122"/>
                <a:cs typeface="Consolas" pitchFamily="34" charset="-120"/>
              </a:rPr>
              <a:t># Model oluştur ve eğit
</a:t>
            </a:r>
            <a:pPr indent="0" marL="0">
              <a:buNone/>
            </a:pPr>
            <a:r>
              <a:rPr lang="en-US" sz="900" dirty="0">
                <a:solidFill>
                  <a:srgbClr val="CDD6F4"/>
                </a:solidFill>
                <a:latin typeface="Consolas" pitchFamily="34" charset="0"/>
                <a:ea typeface="Consolas" pitchFamily="34" charset="-122"/>
                <a:cs typeface="Consolas" pitchFamily="34" charset="-120"/>
              </a:rPr>
              <a:t>rf = RandomForestClassifier(
</a:t>
            </a:r>
            <a:pPr indent="0" marL="0">
              <a:buNone/>
            </a:pPr>
            <a:r>
              <a:rPr lang="en-US" sz="900" dirty="0">
                <a:solidFill>
                  <a:srgbClr val="F9E2AF"/>
                </a:solidFill>
                <a:latin typeface="Consolas" pitchFamily="34" charset="0"/>
                <a:ea typeface="Consolas" pitchFamily="34" charset="-122"/>
                <a:cs typeface="Consolas" pitchFamily="34" charset="-120"/>
              </a:rPr>
              <a:t>    n_estimators=200, max_depth=10,
</a:t>
            </a:r>
            <a:pPr indent="0" marL="0">
              <a:buNone/>
            </a:pPr>
            <a:r>
              <a:rPr lang="en-US" sz="900" dirty="0">
                <a:solidFill>
                  <a:srgbClr val="F9E2AF"/>
                </a:solidFill>
                <a:latin typeface="Consolas" pitchFamily="34" charset="0"/>
                <a:ea typeface="Consolas" pitchFamily="34" charset="-122"/>
                <a:cs typeface="Consolas" pitchFamily="34" charset="-120"/>
              </a:rPr>
              <a:t>    random_state=42, n_jobs=-1
</a:t>
            </a:r>
            <a:pPr indent="0" marL="0">
              <a:buNone/>
            </a:pPr>
            <a:r>
              <a:rPr lang="en-US" sz="900" dirty="0">
                <a:solidFill>
                  <a:srgbClr val="CDD6F4"/>
                </a:solidFill>
                <a:latin typeface="Consolas" pitchFamily="34" charset="0"/>
                <a:ea typeface="Consolas" pitchFamily="34" charset="-122"/>
                <a:cs typeface="Consolas" pitchFamily="34" charset="-120"/>
              </a:rPr>
              <a:t>)
</a:t>
            </a:r>
            <a:pPr indent="0" marL="0">
              <a:buNone/>
            </a:pPr>
            <a:r>
              <a:rPr lang="en-US" sz="900" dirty="0">
                <a:solidFill>
                  <a:srgbClr val="A6E3A1"/>
                </a:solidFill>
                <a:latin typeface="Consolas" pitchFamily="34" charset="0"/>
                <a:ea typeface="Consolas" pitchFamily="34" charset="-122"/>
                <a:cs typeface="Consolas" pitchFamily="34" charset="-120"/>
              </a:rPr>
              <a:t>rf.fit(X_train, y_train)
</a:t>
            </a:r>
            <a:pPr indent="0" marL="0">
              <a:buNone/>
            </a:pPr>
            <a:r>
              <a:rPr lang="en-US" sz="900" dirty="0">
                <a:solidFill>
                  <a:srgbClr val="CDD6F4"/>
                </a:solidFill>
                <a:latin typeface="Consolas" pitchFamily="34" charset="0"/>
                <a:ea typeface="Consolas" pitchFamily="34" charset="-122"/>
                <a:cs typeface="Consolas" pitchFamily="34" charset="-120"/>
              </a:rPr>
              <a:t>print(f"Accuracy: {rf.score(X_test, y_test):.3f}")</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Random Forest Avantajları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114800" cy="17830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4114800" cy="54864"/>
          </a:xfrm>
          <a:prstGeom prst="rect">
            <a:avLst/>
          </a:prstGeom>
          <a:solidFill>
            <a:srgbClr val="2B7A78"/>
          </a:solidFill>
          <a:ln/>
        </p:spPr>
      </p:sp>
      <p:sp>
        <p:nvSpPr>
          <p:cNvPr id="10" name="Shape 8"/>
          <p:cNvSpPr/>
          <p:nvPr/>
        </p:nvSpPr>
        <p:spPr>
          <a:xfrm>
            <a:off x="502920" y="1051560"/>
            <a:ext cx="329184" cy="329184"/>
          </a:xfrm>
          <a:prstGeom prst="ellipse">
            <a:avLst/>
          </a:prstGeom>
          <a:solidFill>
            <a:srgbClr val="2B7A78"/>
          </a:solidFill>
          <a:ln/>
        </p:spPr>
      </p:sp>
      <p:sp>
        <p:nvSpPr>
          <p:cNvPr id="11" name="Text 9"/>
          <p:cNvSpPr/>
          <p:nvPr/>
        </p:nvSpPr>
        <p:spPr>
          <a:xfrm>
            <a:off x="502920" y="1051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914400" y="1033272"/>
            <a:ext cx="3291840" cy="329184"/>
          </a:xfrm>
          <a:prstGeom prst="rect">
            <a:avLst/>
          </a:prstGeom>
          <a:noFill/>
          <a:ln/>
        </p:spPr>
        <p:txBody>
          <a:bodyPr wrap="square" lIns="0" tIns="0" rIns="0" bIns="0" rtlCol="0" anchor="ctr"/>
          <a:lstStyle/>
          <a:p>
            <a:pPr indent="0" marL="0">
              <a:buNone/>
            </a:pPr>
            <a:r>
              <a:rPr lang="en-US" sz="1300" b="1" dirty="0">
                <a:solidFill>
                  <a:srgbClr val="2B7A78"/>
                </a:solidFill>
                <a:latin typeface="Georgia" pitchFamily="34" charset="0"/>
                <a:ea typeface="Georgia" pitchFamily="34" charset="-122"/>
                <a:cs typeface="Georgia" pitchFamily="34" charset="-120"/>
              </a:rPr>
              <a:t>Overfitting Direnci</a:t>
            </a:r>
            <a:endParaRPr lang="en-US" sz="1300" dirty="0"/>
          </a:p>
        </p:txBody>
      </p:sp>
      <p:sp>
        <p:nvSpPr>
          <p:cNvPr id="13" name="Text 11"/>
          <p:cNvSpPr/>
          <p:nvPr/>
        </p:nvSpPr>
        <p:spPr>
          <a:xfrm>
            <a:off x="502920" y="1463040"/>
            <a:ext cx="3840480" cy="100584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Bagging ve özellik rastgeleliği sayesinde tekil karar ağaçlarına göre çok daha dayanıklı. Gürültülü veride bile güvenilir.</a:t>
            </a:r>
            <a:endParaRPr lang="en-US" sz="1050" dirty="0"/>
          </a:p>
        </p:txBody>
      </p:sp>
      <p:sp>
        <p:nvSpPr>
          <p:cNvPr id="14" name="Shape 12"/>
          <p:cNvSpPr/>
          <p:nvPr/>
        </p:nvSpPr>
        <p:spPr>
          <a:xfrm>
            <a:off x="4663440" y="868680"/>
            <a:ext cx="4114800" cy="17830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663440" y="868680"/>
            <a:ext cx="4114800" cy="54864"/>
          </a:xfrm>
          <a:prstGeom prst="rect">
            <a:avLst/>
          </a:prstGeom>
          <a:solidFill>
            <a:srgbClr val="C97B5A"/>
          </a:solidFill>
          <a:ln/>
        </p:spPr>
      </p:sp>
      <p:sp>
        <p:nvSpPr>
          <p:cNvPr id="16" name="Shape 14"/>
          <p:cNvSpPr/>
          <p:nvPr/>
        </p:nvSpPr>
        <p:spPr>
          <a:xfrm>
            <a:off x="4800600" y="1051560"/>
            <a:ext cx="329184" cy="329184"/>
          </a:xfrm>
          <a:prstGeom prst="ellipse">
            <a:avLst/>
          </a:prstGeom>
          <a:solidFill>
            <a:srgbClr val="C97B5A"/>
          </a:solidFill>
          <a:ln/>
        </p:spPr>
      </p:sp>
      <p:sp>
        <p:nvSpPr>
          <p:cNvPr id="17" name="Text 15"/>
          <p:cNvSpPr/>
          <p:nvPr/>
        </p:nvSpPr>
        <p:spPr>
          <a:xfrm>
            <a:off x="4800600" y="1051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5212080" y="1033272"/>
            <a:ext cx="3291840" cy="329184"/>
          </a:xfrm>
          <a:prstGeom prst="rect">
            <a:avLst/>
          </a:prstGeom>
          <a:noFill/>
          <a:ln/>
        </p:spPr>
        <p:txBody>
          <a:bodyPr wrap="square" lIns="0" tIns="0" rIns="0" bIns="0" rtlCol="0" anchor="ctr"/>
          <a:lstStyle/>
          <a:p>
            <a:pPr indent="0" marL="0">
              <a:buNone/>
            </a:pPr>
            <a:r>
              <a:rPr lang="en-US" sz="1300" b="1" dirty="0">
                <a:solidFill>
                  <a:srgbClr val="C97B5A"/>
                </a:solidFill>
                <a:latin typeface="Georgia" pitchFamily="34" charset="0"/>
                <a:ea typeface="Georgia" pitchFamily="34" charset="-122"/>
                <a:cs typeface="Georgia" pitchFamily="34" charset="-120"/>
              </a:rPr>
              <a:t>Feature Importance</a:t>
            </a:r>
            <a:endParaRPr lang="en-US" sz="1300" dirty="0"/>
          </a:p>
        </p:txBody>
      </p:sp>
      <p:sp>
        <p:nvSpPr>
          <p:cNvPr id="19" name="Text 17"/>
          <p:cNvSpPr/>
          <p:nvPr/>
        </p:nvSpPr>
        <p:spPr>
          <a:xfrm>
            <a:off x="4800600" y="1463040"/>
            <a:ext cx="3840480" cy="100584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Hangi özelliklerin tahmine en çok katkıda bulunduğunu ölçer. Veri bilimciler için güçlü yorumlama aracı.</a:t>
            </a:r>
            <a:endParaRPr lang="en-US" sz="1050" dirty="0"/>
          </a:p>
        </p:txBody>
      </p:sp>
      <p:sp>
        <p:nvSpPr>
          <p:cNvPr id="20" name="Shape 18"/>
          <p:cNvSpPr/>
          <p:nvPr/>
        </p:nvSpPr>
        <p:spPr>
          <a:xfrm>
            <a:off x="365760" y="2880360"/>
            <a:ext cx="4114800" cy="17830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365760" y="2880360"/>
            <a:ext cx="4114800" cy="54864"/>
          </a:xfrm>
          <a:prstGeom prst="rect">
            <a:avLst/>
          </a:prstGeom>
          <a:solidFill>
            <a:srgbClr val="3A9E6B"/>
          </a:solidFill>
          <a:ln/>
        </p:spPr>
      </p:sp>
      <p:sp>
        <p:nvSpPr>
          <p:cNvPr id="22" name="Shape 20"/>
          <p:cNvSpPr/>
          <p:nvPr/>
        </p:nvSpPr>
        <p:spPr>
          <a:xfrm>
            <a:off x="502920" y="3063240"/>
            <a:ext cx="329184" cy="329184"/>
          </a:xfrm>
          <a:prstGeom prst="ellipse">
            <a:avLst/>
          </a:prstGeom>
          <a:solidFill>
            <a:srgbClr val="3A9E6B"/>
          </a:solidFill>
          <a:ln/>
        </p:spPr>
      </p:sp>
      <p:sp>
        <p:nvSpPr>
          <p:cNvPr id="23" name="Text 21"/>
          <p:cNvSpPr/>
          <p:nvPr/>
        </p:nvSpPr>
        <p:spPr>
          <a:xfrm>
            <a:off x="502920" y="3063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p:nvPr/>
        </p:nvSpPr>
        <p:spPr>
          <a:xfrm>
            <a:off x="914400" y="3044952"/>
            <a:ext cx="3291840" cy="329184"/>
          </a:xfrm>
          <a:prstGeom prst="rect">
            <a:avLst/>
          </a:prstGeom>
          <a:noFill/>
          <a:ln/>
        </p:spPr>
        <p:txBody>
          <a:bodyPr wrap="square" lIns="0" tIns="0" rIns="0" bIns="0" rtlCol="0" anchor="ctr"/>
          <a:lstStyle/>
          <a:p>
            <a:pPr indent="0" marL="0">
              <a:buNone/>
            </a:pPr>
            <a:r>
              <a:rPr lang="en-US" sz="1300" b="1" dirty="0">
                <a:solidFill>
                  <a:srgbClr val="3A9E6B"/>
                </a:solidFill>
                <a:latin typeface="Georgia" pitchFamily="34" charset="0"/>
                <a:ea typeface="Georgia" pitchFamily="34" charset="-122"/>
                <a:cs typeface="Georgia" pitchFamily="34" charset="-120"/>
              </a:rPr>
              <a:t>Paralel Eğitim</a:t>
            </a:r>
            <a:endParaRPr lang="en-US" sz="1300" dirty="0"/>
          </a:p>
        </p:txBody>
      </p:sp>
      <p:sp>
        <p:nvSpPr>
          <p:cNvPr id="25" name="Text 23"/>
          <p:cNvSpPr/>
          <p:nvPr/>
        </p:nvSpPr>
        <p:spPr>
          <a:xfrm>
            <a:off x="502920" y="3474720"/>
            <a:ext cx="3840480" cy="100584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Her ağaç bağımsız eğitilir → n_jobs=-1 ile tüm CPU çekirdeklerini kullanabilir. Büyük veride hız avantajı.</a:t>
            </a:r>
            <a:endParaRPr lang="en-US" sz="1050" dirty="0"/>
          </a:p>
        </p:txBody>
      </p:sp>
      <p:sp>
        <p:nvSpPr>
          <p:cNvPr id="26" name="Shape 24"/>
          <p:cNvSpPr/>
          <p:nvPr/>
        </p:nvSpPr>
        <p:spPr>
          <a:xfrm>
            <a:off x="4663440" y="2880360"/>
            <a:ext cx="4114800" cy="17830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663440" y="2880360"/>
            <a:ext cx="4114800" cy="54864"/>
          </a:xfrm>
          <a:prstGeom prst="rect">
            <a:avLst/>
          </a:prstGeom>
          <a:solidFill>
            <a:srgbClr val="7C5BBF"/>
          </a:solidFill>
          <a:ln/>
        </p:spPr>
      </p:sp>
      <p:sp>
        <p:nvSpPr>
          <p:cNvPr id="28" name="Shape 26"/>
          <p:cNvSpPr/>
          <p:nvPr/>
        </p:nvSpPr>
        <p:spPr>
          <a:xfrm>
            <a:off x="4800600" y="3063240"/>
            <a:ext cx="329184" cy="329184"/>
          </a:xfrm>
          <a:prstGeom prst="ellipse">
            <a:avLst/>
          </a:prstGeom>
          <a:solidFill>
            <a:srgbClr val="7C5BBF"/>
          </a:solidFill>
          <a:ln/>
        </p:spPr>
      </p:sp>
      <p:sp>
        <p:nvSpPr>
          <p:cNvPr id="29" name="Text 27"/>
          <p:cNvSpPr/>
          <p:nvPr/>
        </p:nvSpPr>
        <p:spPr>
          <a:xfrm>
            <a:off x="4800600" y="3063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0" name="Text 28"/>
          <p:cNvSpPr/>
          <p:nvPr/>
        </p:nvSpPr>
        <p:spPr>
          <a:xfrm>
            <a:off x="5212080" y="3044952"/>
            <a:ext cx="3291840" cy="329184"/>
          </a:xfrm>
          <a:prstGeom prst="rect">
            <a:avLst/>
          </a:prstGeom>
          <a:noFill/>
          <a:ln/>
        </p:spPr>
        <p:txBody>
          <a:bodyPr wrap="square" lIns="0" tIns="0" rIns="0" bIns="0" rtlCol="0" anchor="ctr"/>
          <a:lstStyle/>
          <a:p>
            <a:pPr indent="0" marL="0">
              <a:buNone/>
            </a:pPr>
            <a:r>
              <a:rPr lang="en-US" sz="1300" b="1" dirty="0">
                <a:solidFill>
                  <a:srgbClr val="7C5BBF"/>
                </a:solidFill>
                <a:latin typeface="Georgia" pitchFamily="34" charset="0"/>
                <a:ea typeface="Georgia" pitchFamily="34" charset="-122"/>
                <a:cs typeface="Georgia" pitchFamily="34" charset="-120"/>
              </a:rPr>
              <a:t>Çok Yönlülük</a:t>
            </a:r>
            <a:endParaRPr lang="en-US" sz="1300" dirty="0"/>
          </a:p>
        </p:txBody>
      </p:sp>
      <p:sp>
        <p:nvSpPr>
          <p:cNvPr id="31" name="Text 29"/>
          <p:cNvSpPr/>
          <p:nvPr/>
        </p:nvSpPr>
        <p:spPr>
          <a:xfrm>
            <a:off x="4800600" y="3474720"/>
            <a:ext cx="3840480" cy="100584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Sınıflandırma ve regresyon. Eksik veri toleransı. Hem kategorik hem sayısal özelliklerle çalışır.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Gradient Boosting</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841248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463040"/>
          </a:xfrm>
          <a:prstGeom prst="rect">
            <a:avLst/>
          </a:prstGeom>
          <a:solidFill>
            <a:srgbClr val="C97B5A"/>
          </a:solidFill>
          <a:ln/>
        </p:spPr>
      </p:sp>
      <p:sp>
        <p:nvSpPr>
          <p:cNvPr id="10" name="Text 8"/>
          <p:cNvSpPr/>
          <p:nvPr/>
        </p:nvSpPr>
        <p:spPr>
          <a:xfrm>
            <a:off x="548640" y="960120"/>
            <a:ext cx="804672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Adım Adım Hata Düzeltme</a:t>
            </a:r>
            <a:endParaRPr lang="en-US" sz="1200" dirty="0"/>
          </a:p>
        </p:txBody>
      </p:sp>
      <p:sp>
        <p:nvSpPr>
          <p:cNvPr id="11" name="Text 9"/>
          <p:cNvSpPr/>
          <p:nvPr/>
        </p:nvSpPr>
        <p:spPr>
          <a:xfrm>
            <a:off x="548640" y="1325880"/>
            <a:ext cx="8046720" cy="8229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Gradient Boosting, her yeni modelin bir önceki modelin artıklarını (residuals) öğrenmesine dayanır. Bu, gradyan iniş (gradient descent) optimizasyonunun fonksiyon uzayındaki karşılığıdır. Learning rate ile adım büyüklüğü kontrol edilir.</a:t>
            </a:r>
            <a:endParaRPr lang="en-US" sz="1100" dirty="0"/>
          </a:p>
        </p:txBody>
      </p:sp>
      <p:sp>
        <p:nvSpPr>
          <p:cNvPr id="12" name="Shape 10"/>
          <p:cNvSpPr/>
          <p:nvPr/>
        </p:nvSpPr>
        <p:spPr>
          <a:xfrm>
            <a:off x="365760" y="2606040"/>
            <a:ext cx="1572768"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365760" y="2606040"/>
            <a:ext cx="1572768" cy="54864"/>
          </a:xfrm>
          <a:prstGeom prst="rect">
            <a:avLst/>
          </a:prstGeom>
          <a:solidFill>
            <a:srgbClr val="2B7A78"/>
          </a:solidFill>
          <a:ln/>
        </p:spPr>
      </p:sp>
      <p:sp>
        <p:nvSpPr>
          <p:cNvPr id="14" name="Shape 12"/>
          <p:cNvSpPr/>
          <p:nvPr/>
        </p:nvSpPr>
        <p:spPr>
          <a:xfrm>
            <a:off x="987552" y="2743200"/>
            <a:ext cx="329184" cy="329184"/>
          </a:xfrm>
          <a:prstGeom prst="ellipse">
            <a:avLst/>
          </a:prstGeom>
          <a:solidFill>
            <a:srgbClr val="2B7A78"/>
          </a:solidFill>
          <a:ln/>
        </p:spPr>
      </p:sp>
      <p:sp>
        <p:nvSpPr>
          <p:cNvPr id="15" name="Text 13"/>
          <p:cNvSpPr/>
          <p:nvPr/>
        </p:nvSpPr>
        <p:spPr>
          <a:xfrm>
            <a:off x="987552" y="2743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6" name="Text 14"/>
          <p:cNvSpPr/>
          <p:nvPr/>
        </p:nvSpPr>
        <p:spPr>
          <a:xfrm>
            <a:off x="411480" y="3154680"/>
            <a:ext cx="1481328" cy="320040"/>
          </a:xfrm>
          <a:prstGeom prst="rect">
            <a:avLst/>
          </a:prstGeom>
          <a:noFill/>
          <a:ln/>
        </p:spPr>
        <p:txBody>
          <a:bodyPr wrap="square" lIns="0" tIns="0" rIns="0" bIns="0" rtlCol="0" anchor="ctr"/>
          <a:lstStyle/>
          <a:p>
            <a:pPr algn="ctr" indent="0" marL="0">
              <a:buNone/>
            </a:pPr>
            <a:r>
              <a:rPr lang="en-US" sz="1000" b="1" dirty="0">
                <a:solidFill>
                  <a:srgbClr val="2B7A78"/>
                </a:solidFill>
                <a:latin typeface="Georgia" pitchFamily="34" charset="0"/>
                <a:ea typeface="Georgia" pitchFamily="34" charset="-122"/>
                <a:cs typeface="Georgia" pitchFamily="34" charset="-120"/>
              </a:rPr>
              <a:t>İlk Model</a:t>
            </a:r>
            <a:endParaRPr lang="en-US" sz="1000" dirty="0"/>
          </a:p>
        </p:txBody>
      </p:sp>
      <p:sp>
        <p:nvSpPr>
          <p:cNvPr id="17" name="Text 15"/>
          <p:cNvSpPr/>
          <p:nvPr/>
        </p:nvSpPr>
        <p:spPr>
          <a:xfrm>
            <a:off x="411480" y="3520440"/>
            <a:ext cx="1481328" cy="64008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Basit tahmin</a:t>
            </a:r>
            <a:endParaRPr lang="en-US" sz="950" dirty="0"/>
          </a:p>
          <a:p>
            <a:pPr indent="0" marL="0">
              <a:buNone/>
            </a:pPr>
            <a:r>
              <a:rPr lang="en-US" sz="950" dirty="0">
                <a:solidFill>
                  <a:srgbClr val="2E1F1A"/>
                </a:solidFill>
                <a:latin typeface="Calibri" pitchFamily="34" charset="0"/>
                <a:ea typeface="Calibri" pitchFamily="34" charset="-122"/>
                <a:cs typeface="Calibri" pitchFamily="34" charset="-120"/>
              </a:rPr>
              <a:t>(ortalama)</a:t>
            </a:r>
            <a:endParaRPr lang="en-US" sz="950" dirty="0"/>
          </a:p>
        </p:txBody>
      </p:sp>
      <p:sp>
        <p:nvSpPr>
          <p:cNvPr id="18" name="Text 16"/>
          <p:cNvSpPr/>
          <p:nvPr/>
        </p:nvSpPr>
        <p:spPr>
          <a:xfrm>
            <a:off x="1847088" y="3108960"/>
            <a:ext cx="320040" cy="457200"/>
          </a:xfrm>
          <a:prstGeom prst="rect">
            <a:avLst/>
          </a:prstGeom>
          <a:noFill/>
          <a:ln/>
        </p:spPr>
        <p:txBody>
          <a:bodyPr wrap="square" lIns="0" tIns="0" rIns="0" bIns="0" rtlCol="0" anchor="ctr"/>
          <a:lstStyle/>
          <a:p>
            <a:pPr algn="ctr" indent="0" marL="0">
              <a:buNone/>
            </a:pPr>
            <a:r>
              <a:rPr lang="en-US" sz="1800" dirty="0">
                <a:solidFill>
                  <a:srgbClr val="6B5B52"/>
                </a:solidFill>
                <a:latin typeface="Georgia" pitchFamily="34" charset="0"/>
                <a:ea typeface="Georgia" pitchFamily="34" charset="-122"/>
                <a:cs typeface="Georgia" pitchFamily="34" charset="-120"/>
              </a:rPr>
              <a:t>→</a:t>
            </a:r>
            <a:endParaRPr lang="en-US" sz="1800" dirty="0"/>
          </a:p>
        </p:txBody>
      </p:sp>
      <p:sp>
        <p:nvSpPr>
          <p:cNvPr id="19" name="Shape 17"/>
          <p:cNvSpPr/>
          <p:nvPr/>
        </p:nvSpPr>
        <p:spPr>
          <a:xfrm>
            <a:off x="2084832" y="2606040"/>
            <a:ext cx="1572768"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0" name="Shape 18"/>
          <p:cNvSpPr/>
          <p:nvPr/>
        </p:nvSpPr>
        <p:spPr>
          <a:xfrm>
            <a:off x="2084832" y="2606040"/>
            <a:ext cx="1572768" cy="54864"/>
          </a:xfrm>
          <a:prstGeom prst="rect">
            <a:avLst/>
          </a:prstGeom>
          <a:solidFill>
            <a:srgbClr val="C97B5A"/>
          </a:solidFill>
          <a:ln/>
        </p:spPr>
      </p:sp>
      <p:sp>
        <p:nvSpPr>
          <p:cNvPr id="21" name="Shape 19"/>
          <p:cNvSpPr/>
          <p:nvPr/>
        </p:nvSpPr>
        <p:spPr>
          <a:xfrm>
            <a:off x="2706624" y="2743200"/>
            <a:ext cx="329184" cy="329184"/>
          </a:xfrm>
          <a:prstGeom prst="ellipse">
            <a:avLst/>
          </a:prstGeom>
          <a:solidFill>
            <a:srgbClr val="C97B5A"/>
          </a:solidFill>
          <a:ln/>
        </p:spPr>
      </p:sp>
      <p:sp>
        <p:nvSpPr>
          <p:cNvPr id="22" name="Text 20"/>
          <p:cNvSpPr/>
          <p:nvPr/>
        </p:nvSpPr>
        <p:spPr>
          <a:xfrm>
            <a:off x="2706624" y="2743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p:nvPr/>
        </p:nvSpPr>
        <p:spPr>
          <a:xfrm>
            <a:off x="2130552" y="3154680"/>
            <a:ext cx="1481328" cy="320040"/>
          </a:xfrm>
          <a:prstGeom prst="rect">
            <a:avLst/>
          </a:prstGeom>
          <a:noFill/>
          <a:ln/>
        </p:spPr>
        <p:txBody>
          <a:bodyPr wrap="square" lIns="0" tIns="0" rIns="0" bIns="0" rtlCol="0" anchor="ctr"/>
          <a:lstStyle/>
          <a:p>
            <a:pPr algn="ctr" indent="0" marL="0">
              <a:buNone/>
            </a:pPr>
            <a:r>
              <a:rPr lang="en-US" sz="1000" b="1" dirty="0">
                <a:solidFill>
                  <a:srgbClr val="C97B5A"/>
                </a:solidFill>
                <a:latin typeface="Georgia" pitchFamily="34" charset="0"/>
                <a:ea typeface="Georgia" pitchFamily="34" charset="-122"/>
                <a:cs typeface="Georgia" pitchFamily="34" charset="-120"/>
              </a:rPr>
              <a:t>Hataları Hesapla</a:t>
            </a:r>
            <a:endParaRPr lang="en-US" sz="1000" dirty="0"/>
          </a:p>
        </p:txBody>
      </p:sp>
      <p:sp>
        <p:nvSpPr>
          <p:cNvPr id="24" name="Text 22"/>
          <p:cNvSpPr/>
          <p:nvPr/>
        </p:nvSpPr>
        <p:spPr>
          <a:xfrm>
            <a:off x="2130552" y="3520440"/>
            <a:ext cx="1481328" cy="64008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Residuals:</a:t>
            </a:r>
            <a:endParaRPr lang="en-US" sz="950" dirty="0"/>
          </a:p>
          <a:p>
            <a:pPr indent="0" marL="0">
              <a:buNone/>
            </a:pPr>
            <a:r>
              <a:rPr lang="en-US" sz="950" dirty="0">
                <a:solidFill>
                  <a:srgbClr val="2E1F1A"/>
                </a:solidFill>
                <a:latin typeface="Calibri" pitchFamily="34" charset="0"/>
                <a:ea typeface="Calibri" pitchFamily="34" charset="-122"/>
                <a:cs typeface="Calibri" pitchFamily="34" charset="-120"/>
              </a:rPr>
              <a:t>y - ŷ</a:t>
            </a:r>
            <a:endParaRPr lang="en-US" sz="950" dirty="0"/>
          </a:p>
        </p:txBody>
      </p:sp>
      <p:sp>
        <p:nvSpPr>
          <p:cNvPr id="25" name="Text 23"/>
          <p:cNvSpPr/>
          <p:nvPr/>
        </p:nvSpPr>
        <p:spPr>
          <a:xfrm>
            <a:off x="3566160" y="3108960"/>
            <a:ext cx="320040" cy="457200"/>
          </a:xfrm>
          <a:prstGeom prst="rect">
            <a:avLst/>
          </a:prstGeom>
          <a:noFill/>
          <a:ln/>
        </p:spPr>
        <p:txBody>
          <a:bodyPr wrap="square" lIns="0" tIns="0" rIns="0" bIns="0" rtlCol="0" anchor="ctr"/>
          <a:lstStyle/>
          <a:p>
            <a:pPr algn="ctr" indent="0" marL="0">
              <a:buNone/>
            </a:pPr>
            <a:r>
              <a:rPr lang="en-US" sz="1800" dirty="0">
                <a:solidFill>
                  <a:srgbClr val="6B5B52"/>
                </a:solidFill>
                <a:latin typeface="Georgia" pitchFamily="34" charset="0"/>
                <a:ea typeface="Georgia" pitchFamily="34" charset="-122"/>
                <a:cs typeface="Georgia" pitchFamily="34" charset="-120"/>
              </a:rPr>
              <a:t>→</a:t>
            </a:r>
            <a:endParaRPr lang="en-US" sz="1800" dirty="0"/>
          </a:p>
        </p:txBody>
      </p:sp>
      <p:sp>
        <p:nvSpPr>
          <p:cNvPr id="26" name="Shape 24"/>
          <p:cNvSpPr/>
          <p:nvPr/>
        </p:nvSpPr>
        <p:spPr>
          <a:xfrm>
            <a:off x="3803904" y="2606040"/>
            <a:ext cx="1572768"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3803904" y="2606040"/>
            <a:ext cx="1572768" cy="54864"/>
          </a:xfrm>
          <a:prstGeom prst="rect">
            <a:avLst/>
          </a:prstGeom>
          <a:solidFill>
            <a:srgbClr val="E8913A"/>
          </a:solidFill>
          <a:ln/>
        </p:spPr>
      </p:sp>
      <p:sp>
        <p:nvSpPr>
          <p:cNvPr id="28" name="Shape 26"/>
          <p:cNvSpPr/>
          <p:nvPr/>
        </p:nvSpPr>
        <p:spPr>
          <a:xfrm>
            <a:off x="4425696" y="2743200"/>
            <a:ext cx="329184" cy="329184"/>
          </a:xfrm>
          <a:prstGeom prst="ellipse">
            <a:avLst/>
          </a:prstGeom>
          <a:solidFill>
            <a:srgbClr val="E8913A"/>
          </a:solidFill>
          <a:ln/>
        </p:spPr>
      </p:sp>
      <p:sp>
        <p:nvSpPr>
          <p:cNvPr id="29" name="Text 27"/>
          <p:cNvSpPr/>
          <p:nvPr/>
        </p:nvSpPr>
        <p:spPr>
          <a:xfrm>
            <a:off x="4425696" y="2743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Text 28"/>
          <p:cNvSpPr/>
          <p:nvPr/>
        </p:nvSpPr>
        <p:spPr>
          <a:xfrm>
            <a:off x="3849624" y="3154680"/>
            <a:ext cx="1481328" cy="320040"/>
          </a:xfrm>
          <a:prstGeom prst="rect">
            <a:avLst/>
          </a:prstGeom>
          <a:noFill/>
          <a:ln/>
        </p:spPr>
        <p:txBody>
          <a:bodyPr wrap="square" lIns="0" tIns="0" rIns="0" bIns="0" rtlCol="0" anchor="ctr"/>
          <a:lstStyle/>
          <a:p>
            <a:pPr algn="ctr" indent="0" marL="0">
              <a:buNone/>
            </a:pPr>
            <a:r>
              <a:rPr lang="en-US" sz="1000" b="1" dirty="0">
                <a:solidFill>
                  <a:srgbClr val="E8913A"/>
                </a:solidFill>
                <a:latin typeface="Georgia" pitchFamily="34" charset="0"/>
                <a:ea typeface="Georgia" pitchFamily="34" charset="-122"/>
                <a:cs typeface="Georgia" pitchFamily="34" charset="-120"/>
              </a:rPr>
              <a:t>Hatalara Odaklan</a:t>
            </a:r>
            <a:endParaRPr lang="en-US" sz="1000" dirty="0"/>
          </a:p>
        </p:txBody>
      </p:sp>
      <p:sp>
        <p:nvSpPr>
          <p:cNvPr id="31" name="Text 29"/>
          <p:cNvSpPr/>
          <p:nvPr/>
        </p:nvSpPr>
        <p:spPr>
          <a:xfrm>
            <a:off x="3849624" y="3520440"/>
            <a:ext cx="1481328" cy="64008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Yeni ağaç</a:t>
            </a:r>
            <a:endParaRPr lang="en-US" sz="950" dirty="0"/>
          </a:p>
          <a:p>
            <a:pPr indent="0" marL="0">
              <a:buNone/>
            </a:pPr>
            <a:r>
              <a:rPr lang="en-US" sz="950" dirty="0">
                <a:solidFill>
                  <a:srgbClr val="2E1F1A"/>
                </a:solidFill>
                <a:latin typeface="Calibri" pitchFamily="34" charset="0"/>
                <a:ea typeface="Calibri" pitchFamily="34" charset="-122"/>
                <a:cs typeface="Calibri" pitchFamily="34" charset="-120"/>
              </a:rPr>
              <a:t>residuals öğrenir</a:t>
            </a:r>
            <a:endParaRPr lang="en-US" sz="950" dirty="0"/>
          </a:p>
        </p:txBody>
      </p:sp>
      <p:sp>
        <p:nvSpPr>
          <p:cNvPr id="32" name="Text 30"/>
          <p:cNvSpPr/>
          <p:nvPr/>
        </p:nvSpPr>
        <p:spPr>
          <a:xfrm>
            <a:off x="5285232" y="3108960"/>
            <a:ext cx="320040" cy="457200"/>
          </a:xfrm>
          <a:prstGeom prst="rect">
            <a:avLst/>
          </a:prstGeom>
          <a:noFill/>
          <a:ln/>
        </p:spPr>
        <p:txBody>
          <a:bodyPr wrap="square" lIns="0" tIns="0" rIns="0" bIns="0" rtlCol="0" anchor="ctr"/>
          <a:lstStyle/>
          <a:p>
            <a:pPr algn="ctr" indent="0" marL="0">
              <a:buNone/>
            </a:pPr>
            <a:r>
              <a:rPr lang="en-US" sz="1800" dirty="0">
                <a:solidFill>
                  <a:srgbClr val="6B5B52"/>
                </a:solidFill>
                <a:latin typeface="Georgia" pitchFamily="34" charset="0"/>
                <a:ea typeface="Georgia" pitchFamily="34" charset="-122"/>
                <a:cs typeface="Georgia" pitchFamily="34" charset="-120"/>
              </a:rPr>
              <a:t>→</a:t>
            </a:r>
            <a:endParaRPr lang="en-US" sz="1800" dirty="0"/>
          </a:p>
        </p:txBody>
      </p:sp>
      <p:sp>
        <p:nvSpPr>
          <p:cNvPr id="33" name="Shape 31"/>
          <p:cNvSpPr/>
          <p:nvPr/>
        </p:nvSpPr>
        <p:spPr>
          <a:xfrm>
            <a:off x="5522976" y="2606040"/>
            <a:ext cx="1572768"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4" name="Shape 32"/>
          <p:cNvSpPr/>
          <p:nvPr/>
        </p:nvSpPr>
        <p:spPr>
          <a:xfrm>
            <a:off x="5522976" y="2606040"/>
            <a:ext cx="1572768" cy="54864"/>
          </a:xfrm>
          <a:prstGeom prst="rect">
            <a:avLst/>
          </a:prstGeom>
          <a:solidFill>
            <a:srgbClr val="3A9E6B"/>
          </a:solidFill>
          <a:ln/>
        </p:spPr>
      </p:sp>
      <p:sp>
        <p:nvSpPr>
          <p:cNvPr id="35" name="Shape 33"/>
          <p:cNvSpPr/>
          <p:nvPr/>
        </p:nvSpPr>
        <p:spPr>
          <a:xfrm>
            <a:off x="6144768" y="2743200"/>
            <a:ext cx="329184" cy="329184"/>
          </a:xfrm>
          <a:prstGeom prst="ellipse">
            <a:avLst/>
          </a:prstGeom>
          <a:solidFill>
            <a:srgbClr val="3A9E6B"/>
          </a:solidFill>
          <a:ln/>
        </p:spPr>
      </p:sp>
      <p:sp>
        <p:nvSpPr>
          <p:cNvPr id="36" name="Text 34"/>
          <p:cNvSpPr/>
          <p:nvPr/>
        </p:nvSpPr>
        <p:spPr>
          <a:xfrm>
            <a:off x="6144768" y="2743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7" name="Text 35"/>
          <p:cNvSpPr/>
          <p:nvPr/>
        </p:nvSpPr>
        <p:spPr>
          <a:xfrm>
            <a:off x="5568696" y="3154680"/>
            <a:ext cx="1481328" cy="320040"/>
          </a:xfrm>
          <a:prstGeom prst="rect">
            <a:avLst/>
          </a:prstGeom>
          <a:noFill/>
          <a:ln/>
        </p:spPr>
        <p:txBody>
          <a:bodyPr wrap="square" lIns="0" tIns="0" rIns="0" bIns="0" rtlCol="0" anchor="ctr"/>
          <a:lstStyle/>
          <a:p>
            <a:pPr algn="ctr" indent="0" marL="0">
              <a:buNone/>
            </a:pPr>
            <a:r>
              <a:rPr lang="en-US" sz="1000" b="1" dirty="0">
                <a:solidFill>
                  <a:srgbClr val="3A9E6B"/>
                </a:solidFill>
                <a:latin typeface="Georgia" pitchFamily="34" charset="0"/>
                <a:ea typeface="Georgia" pitchFamily="34" charset="-122"/>
                <a:cs typeface="Georgia" pitchFamily="34" charset="-120"/>
              </a:rPr>
              <a:t>Güncelle</a:t>
            </a:r>
            <a:endParaRPr lang="en-US" sz="1000" dirty="0"/>
          </a:p>
        </p:txBody>
      </p:sp>
      <p:sp>
        <p:nvSpPr>
          <p:cNvPr id="38" name="Text 36"/>
          <p:cNvSpPr/>
          <p:nvPr/>
        </p:nvSpPr>
        <p:spPr>
          <a:xfrm>
            <a:off x="5568696" y="3520440"/>
            <a:ext cx="1481328" cy="64008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ŷ += η × h(x)</a:t>
            </a:r>
            <a:endParaRPr lang="en-US" sz="950" dirty="0"/>
          </a:p>
          <a:p>
            <a:pPr indent="0" marL="0">
              <a:buNone/>
            </a:pPr>
            <a:r>
              <a:rPr lang="en-US" sz="950" dirty="0">
                <a:solidFill>
                  <a:srgbClr val="2E1F1A"/>
                </a:solidFill>
                <a:latin typeface="Calibri" pitchFamily="34" charset="0"/>
                <a:ea typeface="Calibri" pitchFamily="34" charset="-122"/>
                <a:cs typeface="Calibri" pitchFamily="34" charset="-120"/>
              </a:rPr>
              <a:t>(learning rate)</a:t>
            </a:r>
            <a:endParaRPr lang="en-US" sz="950" dirty="0"/>
          </a:p>
        </p:txBody>
      </p:sp>
      <p:sp>
        <p:nvSpPr>
          <p:cNvPr id="39" name="Text 37"/>
          <p:cNvSpPr/>
          <p:nvPr/>
        </p:nvSpPr>
        <p:spPr>
          <a:xfrm>
            <a:off x="7004304" y="3108960"/>
            <a:ext cx="320040" cy="457200"/>
          </a:xfrm>
          <a:prstGeom prst="rect">
            <a:avLst/>
          </a:prstGeom>
          <a:noFill/>
          <a:ln/>
        </p:spPr>
        <p:txBody>
          <a:bodyPr wrap="square" lIns="0" tIns="0" rIns="0" bIns="0" rtlCol="0" anchor="ctr"/>
          <a:lstStyle/>
          <a:p>
            <a:pPr algn="ctr" indent="0" marL="0">
              <a:buNone/>
            </a:pPr>
            <a:r>
              <a:rPr lang="en-US" sz="1800" dirty="0">
                <a:solidFill>
                  <a:srgbClr val="6B5B52"/>
                </a:solidFill>
                <a:latin typeface="Georgia" pitchFamily="34" charset="0"/>
                <a:ea typeface="Georgia" pitchFamily="34" charset="-122"/>
                <a:cs typeface="Georgia" pitchFamily="34" charset="-120"/>
              </a:rPr>
              <a:t>→</a:t>
            </a:r>
            <a:endParaRPr lang="en-US" sz="1800" dirty="0"/>
          </a:p>
        </p:txBody>
      </p:sp>
      <p:sp>
        <p:nvSpPr>
          <p:cNvPr id="40" name="Shape 38"/>
          <p:cNvSpPr/>
          <p:nvPr/>
        </p:nvSpPr>
        <p:spPr>
          <a:xfrm>
            <a:off x="7242048" y="2606040"/>
            <a:ext cx="1572768"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1" name="Shape 39"/>
          <p:cNvSpPr/>
          <p:nvPr/>
        </p:nvSpPr>
        <p:spPr>
          <a:xfrm>
            <a:off x="7242048" y="2606040"/>
            <a:ext cx="1572768" cy="54864"/>
          </a:xfrm>
          <a:prstGeom prst="rect">
            <a:avLst/>
          </a:prstGeom>
          <a:solidFill>
            <a:srgbClr val="7C5BBF"/>
          </a:solidFill>
          <a:ln/>
        </p:spPr>
      </p:sp>
      <p:sp>
        <p:nvSpPr>
          <p:cNvPr id="42" name="Shape 40"/>
          <p:cNvSpPr/>
          <p:nvPr/>
        </p:nvSpPr>
        <p:spPr>
          <a:xfrm>
            <a:off x="7863840" y="2743200"/>
            <a:ext cx="329184" cy="329184"/>
          </a:xfrm>
          <a:prstGeom prst="ellipse">
            <a:avLst/>
          </a:prstGeom>
          <a:solidFill>
            <a:srgbClr val="7C5BBF"/>
          </a:solidFill>
          <a:ln/>
        </p:spPr>
      </p:sp>
      <p:sp>
        <p:nvSpPr>
          <p:cNvPr id="43" name="Text 41"/>
          <p:cNvSpPr/>
          <p:nvPr/>
        </p:nvSpPr>
        <p:spPr>
          <a:xfrm>
            <a:off x="7863840" y="2743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4" name="Text 42"/>
          <p:cNvSpPr/>
          <p:nvPr/>
        </p:nvSpPr>
        <p:spPr>
          <a:xfrm>
            <a:off x="7287768" y="3154680"/>
            <a:ext cx="1481328" cy="320040"/>
          </a:xfrm>
          <a:prstGeom prst="rect">
            <a:avLst/>
          </a:prstGeom>
          <a:noFill/>
          <a:ln/>
        </p:spPr>
        <p:txBody>
          <a:bodyPr wrap="square" lIns="0" tIns="0" rIns="0" bIns="0" rtlCol="0" anchor="ctr"/>
          <a:lstStyle/>
          <a:p>
            <a:pPr algn="ctr" indent="0" marL="0">
              <a:buNone/>
            </a:pPr>
            <a:r>
              <a:rPr lang="en-US" sz="1000" b="1" dirty="0">
                <a:solidFill>
                  <a:srgbClr val="7C5BBF"/>
                </a:solidFill>
                <a:latin typeface="Georgia" pitchFamily="34" charset="0"/>
                <a:ea typeface="Georgia" pitchFamily="34" charset="-122"/>
                <a:cs typeface="Georgia" pitchFamily="34" charset="-120"/>
              </a:rPr>
              <a:t>Tekrarla</a:t>
            </a:r>
            <a:endParaRPr lang="en-US" sz="1000" dirty="0"/>
          </a:p>
        </p:txBody>
      </p:sp>
      <p:sp>
        <p:nvSpPr>
          <p:cNvPr id="45" name="Text 43"/>
          <p:cNvSpPr/>
          <p:nvPr/>
        </p:nvSpPr>
        <p:spPr>
          <a:xfrm>
            <a:off x="7287768" y="3520440"/>
            <a:ext cx="1481328" cy="64008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n_estimators</a:t>
            </a:r>
            <a:endParaRPr lang="en-US" sz="950" dirty="0"/>
          </a:p>
          <a:p>
            <a:pPr indent="0" marL="0">
              <a:buNone/>
            </a:pPr>
            <a:r>
              <a:rPr lang="en-US" sz="950" dirty="0">
                <a:solidFill>
                  <a:srgbClr val="2E1F1A"/>
                </a:solidFill>
                <a:latin typeface="Calibri" pitchFamily="34" charset="0"/>
                <a:ea typeface="Calibri" pitchFamily="34" charset="-122"/>
                <a:cs typeface="Calibri" pitchFamily="34" charset="-120"/>
              </a:rPr>
              <a:t>kadar devam</a:t>
            </a:r>
            <a:endParaRPr lang="en-US" sz="950" dirty="0"/>
          </a:p>
        </p:txBody>
      </p:sp>
      <p:sp>
        <p:nvSpPr>
          <p:cNvPr id="46" name="Shape 44"/>
          <p:cNvSpPr/>
          <p:nvPr/>
        </p:nvSpPr>
        <p:spPr>
          <a:xfrm>
            <a:off x="365760" y="4434840"/>
            <a:ext cx="8412480" cy="502920"/>
          </a:xfrm>
          <a:prstGeom prst="rect">
            <a:avLst/>
          </a:prstGeom>
          <a:solidFill>
            <a:srgbClr val="E0F2F1"/>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7" name="Text 45"/>
          <p:cNvSpPr/>
          <p:nvPr/>
        </p:nvSpPr>
        <p:spPr>
          <a:xfrm>
            <a:off x="548640" y="4462272"/>
            <a:ext cx="8046720" cy="411480"/>
          </a:xfrm>
          <a:prstGeom prst="rect">
            <a:avLst/>
          </a:prstGeom>
          <a:noFill/>
          <a:ln/>
        </p:spPr>
        <p:txBody>
          <a:bodyPr wrap="square" lIns="0" tIns="0" rIns="0" bIns="0" rtlCol="0" anchor="ctr"/>
          <a:lstStyle/>
          <a:p>
            <a:pPr indent="0" marL="0">
              <a:buNone/>
            </a:pPr>
            <a:r>
              <a:rPr lang="en-US" sz="1000" dirty="0">
                <a:solidFill>
                  <a:srgbClr val="2B7A78"/>
                </a:solidFill>
                <a:latin typeface="Calibri" pitchFamily="34" charset="0"/>
                <a:ea typeface="Calibri" pitchFamily="34" charset="-122"/>
                <a:cs typeface="Calibri" pitchFamily="34" charset="-120"/>
              </a:rPr>
              <a:t>Learning Rate (η): Küçük değer → daha fazla ağaç gerekir ama daha iyi genelleme. Tipik aralık: 0.01–0.3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XGBoost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93776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463040"/>
          </a:xfrm>
          <a:prstGeom prst="rect">
            <a:avLst/>
          </a:prstGeom>
          <a:solidFill>
            <a:srgbClr val="C97B5A"/>
          </a:solidFill>
          <a:ln/>
        </p:spPr>
      </p:sp>
      <p:sp>
        <p:nvSpPr>
          <p:cNvPr id="10" name="Text 8"/>
          <p:cNvSpPr/>
          <p:nvPr/>
        </p:nvSpPr>
        <p:spPr>
          <a:xfrm>
            <a:off x="548640" y="960120"/>
            <a:ext cx="457200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Neden En Popüler?</a:t>
            </a:r>
            <a:endParaRPr lang="en-US" sz="1200" dirty="0"/>
          </a:p>
        </p:txBody>
      </p:sp>
      <p:sp>
        <p:nvSpPr>
          <p:cNvPr id="11" name="Text 9"/>
          <p:cNvSpPr/>
          <p:nvPr/>
        </p:nvSpPr>
        <p:spPr>
          <a:xfrm>
            <a:off x="548640" y="1325880"/>
            <a:ext cx="4572000" cy="24688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Kaggle yarışmalarının %70+'unda kazanan model</a:t>
            </a:r>
            <a:endParaRPr lang="en-US" sz="1000" dirty="0"/>
          </a:p>
        </p:txBody>
      </p:sp>
      <p:sp>
        <p:nvSpPr>
          <p:cNvPr id="12" name="Text 10"/>
          <p:cNvSpPr/>
          <p:nvPr/>
        </p:nvSpPr>
        <p:spPr>
          <a:xfrm>
            <a:off x="548640" y="1572768"/>
            <a:ext cx="4572000" cy="24688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L1/L2 regularization ile overfitting kontrolü</a:t>
            </a:r>
            <a:endParaRPr lang="en-US" sz="1000" dirty="0"/>
          </a:p>
        </p:txBody>
      </p:sp>
      <p:sp>
        <p:nvSpPr>
          <p:cNvPr id="13" name="Text 11"/>
          <p:cNvSpPr/>
          <p:nvPr/>
        </p:nvSpPr>
        <p:spPr>
          <a:xfrm>
            <a:off x="548640" y="1819656"/>
            <a:ext cx="4572000" cy="24688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Eksik veri otomatik yönetimi (sparse aware)</a:t>
            </a:r>
            <a:endParaRPr lang="en-US" sz="1000" dirty="0"/>
          </a:p>
        </p:txBody>
      </p:sp>
      <p:sp>
        <p:nvSpPr>
          <p:cNvPr id="14" name="Text 12"/>
          <p:cNvSpPr/>
          <p:nvPr/>
        </p:nvSpPr>
        <p:spPr>
          <a:xfrm>
            <a:off x="548640" y="2066544"/>
            <a:ext cx="4572000" cy="24688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Paralel ağaç inşası → CPU çekirdeklerini verimli kullanır</a:t>
            </a:r>
            <a:endParaRPr lang="en-US" sz="1000" dirty="0"/>
          </a:p>
        </p:txBody>
      </p:sp>
      <p:sp>
        <p:nvSpPr>
          <p:cNvPr id="15" name="Shape 13"/>
          <p:cNvSpPr/>
          <p:nvPr/>
        </p:nvSpPr>
        <p:spPr>
          <a:xfrm>
            <a:off x="5577840" y="868680"/>
            <a:ext cx="16002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6" name="Shape 14"/>
          <p:cNvSpPr/>
          <p:nvPr/>
        </p:nvSpPr>
        <p:spPr>
          <a:xfrm>
            <a:off x="5577840" y="868680"/>
            <a:ext cx="1600200" cy="54864"/>
          </a:xfrm>
          <a:prstGeom prst="rect">
            <a:avLst/>
          </a:prstGeom>
          <a:solidFill>
            <a:srgbClr val="C97B5A"/>
          </a:solidFill>
          <a:ln/>
        </p:spPr>
      </p:sp>
      <p:sp>
        <p:nvSpPr>
          <p:cNvPr id="17" name="Text 15"/>
          <p:cNvSpPr/>
          <p:nvPr/>
        </p:nvSpPr>
        <p:spPr>
          <a:xfrm>
            <a:off x="5577840" y="1005840"/>
            <a:ext cx="1600200" cy="594360"/>
          </a:xfrm>
          <a:prstGeom prst="rect">
            <a:avLst/>
          </a:prstGeom>
          <a:noFill/>
          <a:ln/>
        </p:spPr>
        <p:txBody>
          <a:bodyPr wrap="square" lIns="0" tIns="0" rIns="0" bIns="0" rtlCol="0" anchor="ctr"/>
          <a:lstStyle/>
          <a:p>
            <a:pPr algn="ctr" indent="0" marL="0">
              <a:buNone/>
            </a:pPr>
            <a:r>
              <a:rPr lang="en-US" sz="3400" b="1" dirty="0">
                <a:solidFill>
                  <a:srgbClr val="C97B5A"/>
                </a:solidFill>
                <a:latin typeface="Georgia" pitchFamily="34" charset="0"/>
                <a:ea typeface="Georgia" pitchFamily="34" charset="-122"/>
                <a:cs typeface="Georgia" pitchFamily="34" charset="-120"/>
              </a:rPr>
              <a:t>%70+</a:t>
            </a:r>
            <a:endParaRPr lang="en-US" sz="3400" dirty="0"/>
          </a:p>
        </p:txBody>
      </p:sp>
      <p:sp>
        <p:nvSpPr>
          <p:cNvPr id="18" name="Text 16"/>
          <p:cNvSpPr/>
          <p:nvPr/>
        </p:nvSpPr>
        <p:spPr>
          <a:xfrm>
            <a:off x="5669280" y="1618488"/>
            <a:ext cx="141732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Kaggle</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Kazananı</a:t>
            </a:r>
            <a:endParaRPr lang="en-US" sz="1050" dirty="0"/>
          </a:p>
        </p:txBody>
      </p:sp>
      <p:sp>
        <p:nvSpPr>
          <p:cNvPr id="19" name="Shape 17"/>
          <p:cNvSpPr/>
          <p:nvPr/>
        </p:nvSpPr>
        <p:spPr>
          <a:xfrm>
            <a:off x="7315200" y="868680"/>
            <a:ext cx="16002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0" name="Shape 18"/>
          <p:cNvSpPr/>
          <p:nvPr/>
        </p:nvSpPr>
        <p:spPr>
          <a:xfrm>
            <a:off x="7315200" y="868680"/>
            <a:ext cx="1600200" cy="54864"/>
          </a:xfrm>
          <a:prstGeom prst="rect">
            <a:avLst/>
          </a:prstGeom>
          <a:solidFill>
            <a:srgbClr val="2B7A78"/>
          </a:solidFill>
          <a:ln/>
        </p:spPr>
      </p:sp>
      <p:sp>
        <p:nvSpPr>
          <p:cNvPr id="21" name="Text 19"/>
          <p:cNvSpPr/>
          <p:nvPr/>
        </p:nvSpPr>
        <p:spPr>
          <a:xfrm>
            <a:off x="7315200" y="1005840"/>
            <a:ext cx="160020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2014</a:t>
            </a:r>
            <a:endParaRPr lang="en-US" sz="3400" dirty="0"/>
          </a:p>
        </p:txBody>
      </p:sp>
      <p:sp>
        <p:nvSpPr>
          <p:cNvPr id="22" name="Text 20"/>
          <p:cNvSpPr/>
          <p:nvPr/>
        </p:nvSpPr>
        <p:spPr>
          <a:xfrm>
            <a:off x="7406640" y="1618488"/>
            <a:ext cx="141732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İlk Sürüm</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Tianqi Chen</a:t>
            </a:r>
            <a:endParaRPr lang="en-US" sz="1050" dirty="0"/>
          </a:p>
        </p:txBody>
      </p:sp>
      <p:sp>
        <p:nvSpPr>
          <p:cNvPr id="23" name="Shape 21"/>
          <p:cNvSpPr/>
          <p:nvPr/>
        </p:nvSpPr>
        <p:spPr>
          <a:xfrm>
            <a:off x="365760" y="2560320"/>
            <a:ext cx="8412480" cy="2286000"/>
          </a:xfrm>
          <a:prstGeom prst="rect">
            <a:avLst/>
          </a:prstGeom>
          <a:solidFill>
            <a:srgbClr val="1E1E2E"/>
          </a:solidFill>
          <a:ln/>
        </p:spPr>
      </p:sp>
      <p:sp>
        <p:nvSpPr>
          <p:cNvPr id="24" name="Text 22"/>
          <p:cNvSpPr/>
          <p:nvPr/>
        </p:nvSpPr>
        <p:spPr>
          <a:xfrm>
            <a:off x="457200" y="2606040"/>
            <a:ext cx="8229600" cy="219456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CDD6F4"/>
                </a:solidFill>
                <a:latin typeface="Consolas" pitchFamily="34" charset="0"/>
                <a:ea typeface="Consolas" pitchFamily="34" charset="-122"/>
                <a:cs typeface="Consolas" pitchFamily="34" charset="-120"/>
              </a:rPr>
              <a:t>xgboost </a:t>
            </a:r>
            <a:pPr indent="0" marL="0">
              <a:buNone/>
            </a:pPr>
            <a:r>
              <a:rPr lang="en-US" sz="900" dirty="0">
                <a:solidFill>
                  <a:srgbClr val="89B4FA"/>
                </a:solidFill>
                <a:latin typeface="Consolas" pitchFamily="34" charset="0"/>
                <a:ea typeface="Consolas" pitchFamily="34" charset="-122"/>
                <a:cs typeface="Consolas" pitchFamily="34" charset="-120"/>
              </a:rPr>
              <a:t>as </a:t>
            </a:r>
            <a:pPr indent="0" marL="0">
              <a:buNone/>
            </a:pPr>
            <a:r>
              <a:rPr lang="en-US" sz="900" dirty="0">
                <a:solidFill>
                  <a:srgbClr val="A6E3A1"/>
                </a:solidFill>
                <a:latin typeface="Consolas" pitchFamily="34" charset="0"/>
                <a:ea typeface="Consolas" pitchFamily="34" charset="-122"/>
                <a:cs typeface="Consolas" pitchFamily="34" charset="-120"/>
              </a:rPr>
              <a:t>xgb
</a:t>
            </a:r>
            <a:pPr indent="0" marL="0">
              <a:buNone/>
            </a:pPr>
            <a:r>
              <a:rPr lang="en-US" sz="900" dirty="0">
                <a:solidFill>
                  <a:srgbClr val="F9E2AF"/>
                </a:solidFill>
                <a:latin typeface="Consolas" pitchFamily="34" charset="0"/>
                <a:ea typeface="Consolas" pitchFamily="34" charset="-122"/>
                <a:cs typeface="Consolas" pitchFamily="34" charset="-120"/>
              </a:rPr>
              <a:t># XGBoost modeli oluştur
</a:t>
            </a:r>
            <a:pPr indent="0" marL="0">
              <a:buNone/>
            </a:pPr>
            <a:r>
              <a:rPr lang="en-US" sz="900" dirty="0">
                <a:solidFill>
                  <a:srgbClr val="CDD6F4"/>
                </a:solidFill>
                <a:latin typeface="Consolas" pitchFamily="34" charset="0"/>
                <a:ea typeface="Consolas" pitchFamily="34" charset="-122"/>
                <a:cs typeface="Consolas" pitchFamily="34" charset="-120"/>
              </a:rPr>
              <a:t>model = xgb.XGBClassifier(
</a:t>
            </a:r>
            <a:pPr indent="0" marL="0">
              <a:buNone/>
            </a:pPr>
            <a:r>
              <a:rPr lang="en-US" sz="900" dirty="0">
                <a:solidFill>
                  <a:srgbClr val="F9E2AF"/>
                </a:solidFill>
                <a:latin typeface="Consolas" pitchFamily="34" charset="0"/>
                <a:ea typeface="Consolas" pitchFamily="34" charset="-122"/>
                <a:cs typeface="Consolas" pitchFamily="34" charset="-120"/>
              </a:rPr>
              <a:t>    n_estimators=300,
</a:t>
            </a:r>
            <a:pPr indent="0" marL="0">
              <a:buNone/>
            </a:pPr>
            <a:r>
              <a:rPr lang="en-US" sz="900" dirty="0">
                <a:solidFill>
                  <a:srgbClr val="F9E2AF"/>
                </a:solidFill>
                <a:latin typeface="Consolas" pitchFamily="34" charset="0"/>
                <a:ea typeface="Consolas" pitchFamily="34" charset="-122"/>
                <a:cs typeface="Consolas" pitchFamily="34" charset="-120"/>
              </a:rPr>
              <a:t>    learning_rate=0.1,
</a:t>
            </a:r>
            <a:pPr indent="0" marL="0">
              <a:buNone/>
            </a:pPr>
            <a:r>
              <a:rPr lang="en-US" sz="900" dirty="0">
                <a:solidFill>
                  <a:srgbClr val="F9E2AF"/>
                </a:solidFill>
                <a:latin typeface="Consolas" pitchFamily="34" charset="0"/>
                <a:ea typeface="Consolas" pitchFamily="34" charset="-122"/>
                <a:cs typeface="Consolas" pitchFamily="34" charset="-120"/>
              </a:rPr>
              <a:t>    max_depth=6,
</a:t>
            </a:r>
            <a:pPr indent="0" marL="0">
              <a:buNone/>
            </a:pPr>
            <a:r>
              <a:rPr lang="en-US" sz="900" dirty="0">
                <a:solidFill>
                  <a:srgbClr val="F9E2AF"/>
                </a:solidFill>
                <a:latin typeface="Consolas" pitchFamily="34" charset="0"/>
                <a:ea typeface="Consolas" pitchFamily="34" charset="-122"/>
                <a:cs typeface="Consolas" pitchFamily="34" charset="-120"/>
              </a:rPr>
              <a:t>    reg_alpha=0.1,    # L1 regularization
</a:t>
            </a:r>
            <a:pPr indent="0" marL="0">
              <a:buNone/>
            </a:pPr>
            <a:r>
              <a:rPr lang="en-US" sz="900" dirty="0">
                <a:solidFill>
                  <a:srgbClr val="F9E2AF"/>
                </a:solidFill>
                <a:latin typeface="Consolas" pitchFamily="34" charset="0"/>
                <a:ea typeface="Consolas" pitchFamily="34" charset="-122"/>
                <a:cs typeface="Consolas" pitchFamily="34" charset="-120"/>
              </a:rPr>
              <a:t>    reg_lambda=1.0,   # L2 regularization
</a:t>
            </a:r>
            <a:pPr indent="0" marL="0">
              <a:buNone/>
            </a:pPr>
            <a:r>
              <a:rPr lang="en-US" sz="900" dirty="0">
                <a:solidFill>
                  <a:srgbClr val="F9E2AF"/>
                </a:solidFill>
                <a:latin typeface="Consolas" pitchFamily="34" charset="0"/>
                <a:ea typeface="Consolas" pitchFamily="34" charset="-122"/>
                <a:cs typeface="Consolas" pitchFamily="34" charset="-120"/>
              </a:rPr>
              <a:t>    eval_metric='logloss'
</a:t>
            </a:r>
            <a:pPr indent="0" marL="0">
              <a:buNone/>
            </a:pPr>
            <a:r>
              <a:rPr lang="en-US" sz="900" dirty="0">
                <a:solidFill>
                  <a:srgbClr val="CDD6F4"/>
                </a:solidFill>
                <a:latin typeface="Consolas" pitchFamily="34" charset="0"/>
                <a:ea typeface="Consolas" pitchFamily="34" charset="-122"/>
                <a:cs typeface="Consolas" pitchFamily="34" charset="-120"/>
              </a:rPr>
              <a:t>)
</a:t>
            </a:r>
            <a:pPr indent="0" marL="0">
              <a:buNone/>
            </a:pPr>
            <a:r>
              <a:rPr lang="en-US" sz="900" dirty="0">
                <a:solidFill>
                  <a:srgbClr val="A6E3A1"/>
                </a:solidFill>
                <a:latin typeface="Consolas" pitchFamily="34" charset="0"/>
                <a:ea typeface="Consolas" pitchFamily="34" charset="-122"/>
                <a:cs typeface="Consolas" pitchFamily="34" charset="-120"/>
              </a:rPr>
              <a:t>model.fit(X_train, y_train)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LightGBM</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937760" cy="18288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828800"/>
          </a:xfrm>
          <a:prstGeom prst="rect">
            <a:avLst/>
          </a:prstGeom>
          <a:solidFill>
            <a:srgbClr val="3A9E6B"/>
          </a:solidFill>
          <a:ln/>
        </p:spPr>
      </p:sp>
      <p:sp>
        <p:nvSpPr>
          <p:cNvPr id="10" name="Text 8"/>
          <p:cNvSpPr/>
          <p:nvPr/>
        </p:nvSpPr>
        <p:spPr>
          <a:xfrm>
            <a:off x="548640" y="960120"/>
            <a:ext cx="4572000" cy="347472"/>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Histogram Tabanlı Bölme</a:t>
            </a:r>
            <a:endParaRPr lang="en-US" sz="1200" dirty="0"/>
          </a:p>
        </p:txBody>
      </p:sp>
      <p:sp>
        <p:nvSpPr>
          <p:cNvPr id="11" name="Text 9"/>
          <p:cNvSpPr/>
          <p:nvPr/>
        </p:nvSpPr>
        <p:spPr>
          <a:xfrm>
            <a:off x="548640" y="1325880"/>
            <a:ext cx="4572000" cy="11887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LightGBM, sürekli değerleri histogram kutularına (bins) böler. Bu sayede bölme noktası arama işlemi O(n) yerine O(bins) olur. Leaf-wise büyüme stratejisi ile daha derin ve etkili ağaçlar oluşturur. Microsoft Research tarafından 2017'de geliştirildi.</a:t>
            </a:r>
            <a:endParaRPr lang="en-US" sz="1100" dirty="0"/>
          </a:p>
        </p:txBody>
      </p:sp>
      <p:sp>
        <p:nvSpPr>
          <p:cNvPr id="12" name="Shape 10"/>
          <p:cNvSpPr/>
          <p:nvPr/>
        </p:nvSpPr>
        <p:spPr>
          <a:xfrm>
            <a:off x="5577840" y="868680"/>
            <a:ext cx="16002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5577840" y="868680"/>
            <a:ext cx="1600200" cy="54864"/>
          </a:xfrm>
          <a:prstGeom prst="rect">
            <a:avLst/>
          </a:prstGeom>
          <a:solidFill>
            <a:srgbClr val="3A9E6B"/>
          </a:solidFill>
          <a:ln/>
        </p:spPr>
      </p:sp>
      <p:sp>
        <p:nvSpPr>
          <p:cNvPr id="14" name="Text 12"/>
          <p:cNvSpPr/>
          <p:nvPr/>
        </p:nvSpPr>
        <p:spPr>
          <a:xfrm>
            <a:off x="5577840" y="1005840"/>
            <a:ext cx="1600200" cy="594360"/>
          </a:xfrm>
          <a:prstGeom prst="rect">
            <a:avLst/>
          </a:prstGeom>
          <a:noFill/>
          <a:ln/>
        </p:spPr>
        <p:txBody>
          <a:bodyPr wrap="square" lIns="0" tIns="0" rIns="0" bIns="0" rtlCol="0" anchor="ctr"/>
          <a:lstStyle/>
          <a:p>
            <a:pPr algn="ctr" indent="0" marL="0">
              <a:buNone/>
            </a:pPr>
            <a:r>
              <a:rPr lang="en-US" sz="3400" b="1" dirty="0">
                <a:solidFill>
                  <a:srgbClr val="3A9E6B"/>
                </a:solidFill>
                <a:latin typeface="Georgia" pitchFamily="34" charset="0"/>
                <a:ea typeface="Georgia" pitchFamily="34" charset="-122"/>
                <a:cs typeface="Georgia" pitchFamily="34" charset="-120"/>
              </a:rPr>
              <a:t>20x</a:t>
            </a:r>
            <a:endParaRPr lang="en-US" sz="3400" dirty="0"/>
          </a:p>
        </p:txBody>
      </p:sp>
      <p:sp>
        <p:nvSpPr>
          <p:cNvPr id="15" name="Text 13"/>
          <p:cNvSpPr/>
          <p:nvPr/>
        </p:nvSpPr>
        <p:spPr>
          <a:xfrm>
            <a:off x="5669280" y="1618488"/>
            <a:ext cx="141732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Hız Farkı</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vs GBM</a:t>
            </a:r>
            <a:endParaRPr lang="en-US" sz="1050" dirty="0"/>
          </a:p>
        </p:txBody>
      </p:sp>
      <p:sp>
        <p:nvSpPr>
          <p:cNvPr id="16" name="Shape 14"/>
          <p:cNvSpPr/>
          <p:nvPr/>
        </p:nvSpPr>
        <p:spPr>
          <a:xfrm>
            <a:off x="7315200" y="868680"/>
            <a:ext cx="16002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7315200" y="868680"/>
            <a:ext cx="1600200" cy="54864"/>
          </a:xfrm>
          <a:prstGeom prst="rect">
            <a:avLst/>
          </a:prstGeom>
          <a:solidFill>
            <a:srgbClr val="2B7A78"/>
          </a:solidFill>
          <a:ln/>
        </p:spPr>
      </p:sp>
      <p:sp>
        <p:nvSpPr>
          <p:cNvPr id="18" name="Text 16"/>
          <p:cNvSpPr/>
          <p:nvPr/>
        </p:nvSpPr>
        <p:spPr>
          <a:xfrm>
            <a:off x="7315200" y="1005840"/>
            <a:ext cx="160020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1/5</a:t>
            </a:r>
            <a:endParaRPr lang="en-US" sz="3400" dirty="0"/>
          </a:p>
        </p:txBody>
      </p:sp>
      <p:sp>
        <p:nvSpPr>
          <p:cNvPr id="19" name="Text 17"/>
          <p:cNvSpPr/>
          <p:nvPr/>
        </p:nvSpPr>
        <p:spPr>
          <a:xfrm>
            <a:off x="7406640" y="1618488"/>
            <a:ext cx="141732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Bellek</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Kullanımı</a:t>
            </a:r>
            <a:endParaRPr lang="en-US" sz="1050" dirty="0"/>
          </a:p>
        </p:txBody>
      </p:sp>
      <p:sp>
        <p:nvSpPr>
          <p:cNvPr id="20" name="Shape 18"/>
          <p:cNvSpPr/>
          <p:nvPr/>
        </p:nvSpPr>
        <p:spPr>
          <a:xfrm>
            <a:off x="365760" y="2926080"/>
            <a:ext cx="269748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365760" y="2926080"/>
            <a:ext cx="2697480" cy="54864"/>
          </a:xfrm>
          <a:prstGeom prst="rect">
            <a:avLst/>
          </a:prstGeom>
          <a:solidFill>
            <a:srgbClr val="3A9E6B"/>
          </a:solidFill>
          <a:ln/>
        </p:spPr>
      </p:sp>
      <p:sp>
        <p:nvSpPr>
          <p:cNvPr id="22" name="Text 20"/>
          <p:cNvSpPr/>
          <p:nvPr/>
        </p:nvSpPr>
        <p:spPr>
          <a:xfrm>
            <a:off x="502920" y="3063240"/>
            <a:ext cx="2423160" cy="329184"/>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Büyük Veri</a:t>
            </a:r>
            <a:endParaRPr lang="en-US" sz="1200" dirty="0"/>
          </a:p>
        </p:txBody>
      </p:sp>
      <p:sp>
        <p:nvSpPr>
          <p:cNvPr id="23" name="Text 21"/>
          <p:cNvSpPr/>
          <p:nvPr/>
        </p:nvSpPr>
        <p:spPr>
          <a:xfrm>
            <a:off x="502920" y="3429000"/>
            <a:ext cx="2423160" cy="8229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Milyonlarca satır ve yüzlerce özellik ile verimli çalışır</a:t>
            </a:r>
            <a:endParaRPr lang="en-US" sz="1050" dirty="0"/>
          </a:p>
        </p:txBody>
      </p:sp>
      <p:sp>
        <p:nvSpPr>
          <p:cNvPr id="24" name="Shape 22"/>
          <p:cNvSpPr/>
          <p:nvPr/>
        </p:nvSpPr>
        <p:spPr>
          <a:xfrm>
            <a:off x="3246120" y="2926080"/>
            <a:ext cx="269748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3246120" y="2926080"/>
            <a:ext cx="2697480" cy="54864"/>
          </a:xfrm>
          <a:prstGeom prst="rect">
            <a:avLst/>
          </a:prstGeom>
          <a:solidFill>
            <a:srgbClr val="2B7A78"/>
          </a:solidFill>
          <a:ln/>
        </p:spPr>
      </p:sp>
      <p:sp>
        <p:nvSpPr>
          <p:cNvPr id="26" name="Text 24"/>
          <p:cNvSpPr/>
          <p:nvPr/>
        </p:nvSpPr>
        <p:spPr>
          <a:xfrm>
            <a:off x="3383280" y="3063240"/>
            <a:ext cx="2423160" cy="329184"/>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Hız</a:t>
            </a:r>
            <a:endParaRPr lang="en-US" sz="1200" dirty="0"/>
          </a:p>
        </p:txBody>
      </p:sp>
      <p:sp>
        <p:nvSpPr>
          <p:cNvPr id="27" name="Text 25"/>
          <p:cNvSpPr/>
          <p:nvPr/>
        </p:nvSpPr>
        <p:spPr>
          <a:xfrm>
            <a:off x="3383280" y="3429000"/>
            <a:ext cx="2423160" cy="8229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XGBoost'tan 10-20x daha hızlı eğitim süresi</a:t>
            </a:r>
            <a:endParaRPr lang="en-US" sz="1050" dirty="0"/>
          </a:p>
        </p:txBody>
      </p:sp>
      <p:sp>
        <p:nvSpPr>
          <p:cNvPr id="28" name="Shape 26"/>
          <p:cNvSpPr/>
          <p:nvPr/>
        </p:nvSpPr>
        <p:spPr>
          <a:xfrm>
            <a:off x="6126480" y="2926080"/>
            <a:ext cx="269748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9" name="Shape 27"/>
          <p:cNvSpPr/>
          <p:nvPr/>
        </p:nvSpPr>
        <p:spPr>
          <a:xfrm>
            <a:off x="6126480" y="2926080"/>
            <a:ext cx="2697480" cy="54864"/>
          </a:xfrm>
          <a:prstGeom prst="rect">
            <a:avLst/>
          </a:prstGeom>
          <a:solidFill>
            <a:srgbClr val="E8913A"/>
          </a:solidFill>
          <a:ln/>
        </p:spPr>
      </p:sp>
      <p:sp>
        <p:nvSpPr>
          <p:cNvPr id="30" name="Text 28"/>
          <p:cNvSpPr/>
          <p:nvPr/>
        </p:nvSpPr>
        <p:spPr>
          <a:xfrm>
            <a:off x="6263640" y="3063240"/>
            <a:ext cx="2423160" cy="329184"/>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Kategorik Destek</a:t>
            </a:r>
            <a:endParaRPr lang="en-US" sz="1200" dirty="0"/>
          </a:p>
        </p:txBody>
      </p:sp>
      <p:sp>
        <p:nvSpPr>
          <p:cNvPr id="31" name="Text 29"/>
          <p:cNvSpPr/>
          <p:nvPr/>
        </p:nvSpPr>
        <p:spPr>
          <a:xfrm>
            <a:off x="6263640" y="3429000"/>
            <a:ext cx="2423160" cy="8229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Kategorik özellikleri doğrudan işler, encoding gerektirmez</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4 Model Karşılaştırma</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868680"/>
            <a:ext cx="1828800" cy="384048"/>
          </a:xfrm>
          <a:prstGeom prst="rect">
            <a:avLst/>
          </a:prstGeom>
          <a:solidFill>
            <a:srgbClr val="5B2C1E"/>
          </a:solidFill>
          <a:ln/>
        </p:spPr>
      </p:sp>
      <p:sp>
        <p:nvSpPr>
          <p:cNvPr id="9" name="Text 7"/>
          <p:cNvSpPr/>
          <p:nvPr/>
        </p:nvSpPr>
        <p:spPr>
          <a:xfrm>
            <a:off x="457200" y="868680"/>
            <a:ext cx="1828800" cy="384048"/>
          </a:xfrm>
          <a:prstGeom prst="rect">
            <a:avLst/>
          </a:prstGeom>
          <a:noFill/>
          <a:ln/>
        </p:spPr>
        <p:txBody>
          <a:bodyPr wrap="square" lIns="0" tIns="50800" rIns="5080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Kriter</a:t>
            </a:r>
            <a:endParaRPr lang="en-US" sz="1000" dirty="0"/>
          </a:p>
        </p:txBody>
      </p:sp>
      <p:sp>
        <p:nvSpPr>
          <p:cNvPr id="10" name="Shape 8"/>
          <p:cNvSpPr/>
          <p:nvPr/>
        </p:nvSpPr>
        <p:spPr>
          <a:xfrm>
            <a:off x="2286000" y="868680"/>
            <a:ext cx="1645920" cy="384048"/>
          </a:xfrm>
          <a:prstGeom prst="rect">
            <a:avLst/>
          </a:prstGeom>
          <a:solidFill>
            <a:srgbClr val="5B2C1E"/>
          </a:solidFill>
          <a:ln/>
        </p:spPr>
      </p:sp>
      <p:sp>
        <p:nvSpPr>
          <p:cNvPr id="11" name="Text 9"/>
          <p:cNvSpPr/>
          <p:nvPr/>
        </p:nvSpPr>
        <p:spPr>
          <a:xfrm>
            <a:off x="2286000" y="868680"/>
            <a:ext cx="1645920" cy="384048"/>
          </a:xfrm>
          <a:prstGeom prst="rect">
            <a:avLst/>
          </a:prstGeom>
          <a:noFill/>
          <a:ln/>
        </p:spPr>
        <p:txBody>
          <a:bodyPr wrap="square" lIns="0" tIns="50800" rIns="5080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Random Forest</a:t>
            </a:r>
            <a:endParaRPr lang="en-US" sz="1000" dirty="0"/>
          </a:p>
        </p:txBody>
      </p:sp>
      <p:sp>
        <p:nvSpPr>
          <p:cNvPr id="12" name="Shape 10"/>
          <p:cNvSpPr/>
          <p:nvPr/>
        </p:nvSpPr>
        <p:spPr>
          <a:xfrm>
            <a:off x="3931920" y="868680"/>
            <a:ext cx="1280160" cy="384048"/>
          </a:xfrm>
          <a:prstGeom prst="rect">
            <a:avLst/>
          </a:prstGeom>
          <a:solidFill>
            <a:srgbClr val="5B2C1E"/>
          </a:solidFill>
          <a:ln/>
        </p:spPr>
      </p:sp>
      <p:sp>
        <p:nvSpPr>
          <p:cNvPr id="13" name="Text 11"/>
          <p:cNvSpPr/>
          <p:nvPr/>
        </p:nvSpPr>
        <p:spPr>
          <a:xfrm>
            <a:off x="3931920" y="868680"/>
            <a:ext cx="1280160" cy="384048"/>
          </a:xfrm>
          <a:prstGeom prst="rect">
            <a:avLst/>
          </a:prstGeom>
          <a:noFill/>
          <a:ln/>
        </p:spPr>
        <p:txBody>
          <a:bodyPr wrap="square" lIns="0" tIns="50800" rIns="5080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GBM</a:t>
            </a:r>
            <a:endParaRPr lang="en-US" sz="1000" dirty="0"/>
          </a:p>
        </p:txBody>
      </p:sp>
      <p:sp>
        <p:nvSpPr>
          <p:cNvPr id="14" name="Shape 12"/>
          <p:cNvSpPr/>
          <p:nvPr/>
        </p:nvSpPr>
        <p:spPr>
          <a:xfrm>
            <a:off x="5212080" y="868680"/>
            <a:ext cx="1645920" cy="384048"/>
          </a:xfrm>
          <a:prstGeom prst="rect">
            <a:avLst/>
          </a:prstGeom>
          <a:solidFill>
            <a:srgbClr val="5B2C1E"/>
          </a:solidFill>
          <a:ln/>
        </p:spPr>
      </p:sp>
      <p:sp>
        <p:nvSpPr>
          <p:cNvPr id="15" name="Text 13"/>
          <p:cNvSpPr/>
          <p:nvPr/>
        </p:nvSpPr>
        <p:spPr>
          <a:xfrm>
            <a:off x="5212080" y="868680"/>
            <a:ext cx="1645920" cy="384048"/>
          </a:xfrm>
          <a:prstGeom prst="rect">
            <a:avLst/>
          </a:prstGeom>
          <a:noFill/>
          <a:ln/>
        </p:spPr>
        <p:txBody>
          <a:bodyPr wrap="square" lIns="0" tIns="50800" rIns="5080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XGBoost</a:t>
            </a:r>
            <a:endParaRPr lang="en-US" sz="1000" dirty="0"/>
          </a:p>
        </p:txBody>
      </p:sp>
      <p:sp>
        <p:nvSpPr>
          <p:cNvPr id="16" name="Shape 14"/>
          <p:cNvSpPr/>
          <p:nvPr/>
        </p:nvSpPr>
        <p:spPr>
          <a:xfrm>
            <a:off x="6858000" y="868680"/>
            <a:ext cx="1645920" cy="384048"/>
          </a:xfrm>
          <a:prstGeom prst="rect">
            <a:avLst/>
          </a:prstGeom>
          <a:solidFill>
            <a:srgbClr val="5B2C1E"/>
          </a:solidFill>
          <a:ln/>
        </p:spPr>
      </p:sp>
      <p:sp>
        <p:nvSpPr>
          <p:cNvPr id="17" name="Text 15"/>
          <p:cNvSpPr/>
          <p:nvPr/>
        </p:nvSpPr>
        <p:spPr>
          <a:xfrm>
            <a:off x="6858000" y="868680"/>
            <a:ext cx="1645920" cy="384048"/>
          </a:xfrm>
          <a:prstGeom prst="rect">
            <a:avLst/>
          </a:prstGeom>
          <a:noFill/>
          <a:ln/>
        </p:spPr>
        <p:txBody>
          <a:bodyPr wrap="square" lIns="0" tIns="50800" rIns="5080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LightGBM</a:t>
            </a:r>
            <a:endParaRPr lang="en-US" sz="1000" dirty="0"/>
          </a:p>
        </p:txBody>
      </p:sp>
      <p:sp>
        <p:nvSpPr>
          <p:cNvPr id="18" name="Shape 16"/>
          <p:cNvSpPr/>
          <p:nvPr/>
        </p:nvSpPr>
        <p:spPr>
          <a:xfrm>
            <a:off x="457200" y="1252728"/>
            <a:ext cx="1828800" cy="384048"/>
          </a:xfrm>
          <a:prstGeom prst="rect">
            <a:avLst/>
          </a:prstGeom>
          <a:solidFill>
            <a:srgbClr val="FEF5EE"/>
          </a:solidFill>
          <a:ln w="6350">
            <a:solidFill>
              <a:srgbClr val="E8DDD3"/>
            </a:solidFill>
            <a:prstDash val="solid"/>
          </a:ln>
        </p:spPr>
      </p:sp>
      <p:sp>
        <p:nvSpPr>
          <p:cNvPr id="19" name="Text 17"/>
          <p:cNvSpPr/>
          <p:nvPr/>
        </p:nvSpPr>
        <p:spPr>
          <a:xfrm>
            <a:off x="457200" y="1252728"/>
            <a:ext cx="1828800" cy="384048"/>
          </a:xfrm>
          <a:prstGeom prst="rect">
            <a:avLst/>
          </a:prstGeom>
          <a:noFill/>
          <a:ln/>
        </p:spPr>
        <p:txBody>
          <a:bodyPr wrap="square" lIns="0" tIns="50800" rIns="50800" bIns="0" rtlCol="0" anchor="ctr"/>
          <a:lstStyle/>
          <a:p>
            <a:pPr algn="l" indent="0" marL="0">
              <a:buNone/>
            </a:pPr>
            <a:r>
              <a:rPr lang="en-US" sz="950" b="1" dirty="0">
                <a:solidFill>
                  <a:srgbClr val="5B2C1E"/>
                </a:solidFill>
                <a:latin typeface="Calibri" pitchFamily="34" charset="0"/>
                <a:ea typeface="Calibri" pitchFamily="34" charset="-122"/>
                <a:cs typeface="Calibri" pitchFamily="34" charset="-120"/>
              </a:rPr>
              <a:t>Eğitim Hızı</a:t>
            </a:r>
            <a:endParaRPr lang="en-US" sz="950" dirty="0"/>
          </a:p>
        </p:txBody>
      </p:sp>
      <p:sp>
        <p:nvSpPr>
          <p:cNvPr id="20" name="Shape 18"/>
          <p:cNvSpPr/>
          <p:nvPr/>
        </p:nvSpPr>
        <p:spPr>
          <a:xfrm>
            <a:off x="2286000" y="1252728"/>
            <a:ext cx="1645920" cy="384048"/>
          </a:xfrm>
          <a:prstGeom prst="rect">
            <a:avLst/>
          </a:prstGeom>
          <a:solidFill>
            <a:srgbClr val="FEF5EE"/>
          </a:solidFill>
          <a:ln w="6350">
            <a:solidFill>
              <a:srgbClr val="E8DDD3"/>
            </a:solidFill>
            <a:prstDash val="solid"/>
          </a:ln>
        </p:spPr>
      </p:sp>
      <p:sp>
        <p:nvSpPr>
          <p:cNvPr id="21" name="Text 19"/>
          <p:cNvSpPr/>
          <p:nvPr/>
        </p:nvSpPr>
        <p:spPr>
          <a:xfrm>
            <a:off x="2286000" y="1252728"/>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22" name="Shape 20"/>
          <p:cNvSpPr/>
          <p:nvPr/>
        </p:nvSpPr>
        <p:spPr>
          <a:xfrm>
            <a:off x="3931920" y="1252728"/>
            <a:ext cx="1280160" cy="384048"/>
          </a:xfrm>
          <a:prstGeom prst="rect">
            <a:avLst/>
          </a:prstGeom>
          <a:solidFill>
            <a:srgbClr val="FEF5EE"/>
          </a:solidFill>
          <a:ln w="6350">
            <a:solidFill>
              <a:srgbClr val="E8DDD3"/>
            </a:solidFill>
            <a:prstDash val="solid"/>
          </a:ln>
        </p:spPr>
      </p:sp>
      <p:sp>
        <p:nvSpPr>
          <p:cNvPr id="23" name="Text 21"/>
          <p:cNvSpPr/>
          <p:nvPr/>
        </p:nvSpPr>
        <p:spPr>
          <a:xfrm>
            <a:off x="3931920" y="1252728"/>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Yavaş</a:t>
            </a:r>
            <a:endParaRPr lang="en-US" sz="950" dirty="0"/>
          </a:p>
        </p:txBody>
      </p:sp>
      <p:sp>
        <p:nvSpPr>
          <p:cNvPr id="24" name="Shape 22"/>
          <p:cNvSpPr/>
          <p:nvPr/>
        </p:nvSpPr>
        <p:spPr>
          <a:xfrm>
            <a:off x="5212080" y="1252728"/>
            <a:ext cx="1645920" cy="384048"/>
          </a:xfrm>
          <a:prstGeom prst="rect">
            <a:avLst/>
          </a:prstGeom>
          <a:solidFill>
            <a:srgbClr val="FEF5EE"/>
          </a:solidFill>
          <a:ln w="6350">
            <a:solidFill>
              <a:srgbClr val="E8DDD3"/>
            </a:solidFill>
            <a:prstDash val="solid"/>
          </a:ln>
        </p:spPr>
      </p:sp>
      <p:sp>
        <p:nvSpPr>
          <p:cNvPr id="25" name="Text 23"/>
          <p:cNvSpPr/>
          <p:nvPr/>
        </p:nvSpPr>
        <p:spPr>
          <a:xfrm>
            <a:off x="5212080" y="1252728"/>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Hızlı</a:t>
            </a:r>
            <a:endParaRPr lang="en-US" sz="950" dirty="0"/>
          </a:p>
        </p:txBody>
      </p:sp>
      <p:sp>
        <p:nvSpPr>
          <p:cNvPr id="26" name="Shape 24"/>
          <p:cNvSpPr/>
          <p:nvPr/>
        </p:nvSpPr>
        <p:spPr>
          <a:xfrm>
            <a:off x="6858000" y="1252728"/>
            <a:ext cx="1645920" cy="384048"/>
          </a:xfrm>
          <a:prstGeom prst="rect">
            <a:avLst/>
          </a:prstGeom>
          <a:solidFill>
            <a:srgbClr val="FEF5EE"/>
          </a:solidFill>
          <a:ln w="6350">
            <a:solidFill>
              <a:srgbClr val="E8DDD3"/>
            </a:solidFill>
            <a:prstDash val="solid"/>
          </a:ln>
        </p:spPr>
      </p:sp>
      <p:sp>
        <p:nvSpPr>
          <p:cNvPr id="27" name="Text 25"/>
          <p:cNvSpPr/>
          <p:nvPr/>
        </p:nvSpPr>
        <p:spPr>
          <a:xfrm>
            <a:off x="6858000" y="1252728"/>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Çok Hızlı</a:t>
            </a:r>
            <a:endParaRPr lang="en-US" sz="950" dirty="0"/>
          </a:p>
        </p:txBody>
      </p:sp>
      <p:sp>
        <p:nvSpPr>
          <p:cNvPr id="28" name="Shape 26"/>
          <p:cNvSpPr/>
          <p:nvPr/>
        </p:nvSpPr>
        <p:spPr>
          <a:xfrm>
            <a:off x="457200" y="1636776"/>
            <a:ext cx="1828800" cy="384048"/>
          </a:xfrm>
          <a:prstGeom prst="rect">
            <a:avLst/>
          </a:prstGeom>
          <a:solidFill>
            <a:srgbClr val="FFFFFF"/>
          </a:solidFill>
          <a:ln w="6350">
            <a:solidFill>
              <a:srgbClr val="E8DDD3"/>
            </a:solidFill>
            <a:prstDash val="solid"/>
          </a:ln>
        </p:spPr>
      </p:sp>
      <p:sp>
        <p:nvSpPr>
          <p:cNvPr id="29" name="Text 27"/>
          <p:cNvSpPr/>
          <p:nvPr/>
        </p:nvSpPr>
        <p:spPr>
          <a:xfrm>
            <a:off x="457200" y="1636776"/>
            <a:ext cx="1828800" cy="384048"/>
          </a:xfrm>
          <a:prstGeom prst="rect">
            <a:avLst/>
          </a:prstGeom>
          <a:noFill/>
          <a:ln/>
        </p:spPr>
        <p:txBody>
          <a:bodyPr wrap="square" lIns="0" tIns="50800" rIns="50800" bIns="0" rtlCol="0" anchor="ctr"/>
          <a:lstStyle/>
          <a:p>
            <a:pPr algn="l" indent="0" marL="0">
              <a:buNone/>
            </a:pPr>
            <a:r>
              <a:rPr lang="en-US" sz="950" b="1" dirty="0">
                <a:solidFill>
                  <a:srgbClr val="5B2C1E"/>
                </a:solidFill>
                <a:latin typeface="Calibri" pitchFamily="34" charset="0"/>
                <a:ea typeface="Calibri" pitchFamily="34" charset="-122"/>
                <a:cs typeface="Calibri" pitchFamily="34" charset="-120"/>
              </a:rPr>
              <a:t>Doğruluk</a:t>
            </a:r>
            <a:endParaRPr lang="en-US" sz="950" dirty="0"/>
          </a:p>
        </p:txBody>
      </p:sp>
      <p:sp>
        <p:nvSpPr>
          <p:cNvPr id="30" name="Shape 28"/>
          <p:cNvSpPr/>
          <p:nvPr/>
        </p:nvSpPr>
        <p:spPr>
          <a:xfrm>
            <a:off x="2286000" y="1636776"/>
            <a:ext cx="1645920" cy="384048"/>
          </a:xfrm>
          <a:prstGeom prst="rect">
            <a:avLst/>
          </a:prstGeom>
          <a:solidFill>
            <a:srgbClr val="FFFFFF"/>
          </a:solidFill>
          <a:ln w="6350">
            <a:solidFill>
              <a:srgbClr val="E8DDD3"/>
            </a:solidFill>
            <a:prstDash val="solid"/>
          </a:ln>
        </p:spPr>
      </p:sp>
      <p:sp>
        <p:nvSpPr>
          <p:cNvPr id="31" name="Text 29"/>
          <p:cNvSpPr/>
          <p:nvPr/>
        </p:nvSpPr>
        <p:spPr>
          <a:xfrm>
            <a:off x="2286000" y="1636776"/>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İyi</a:t>
            </a:r>
            <a:endParaRPr lang="en-US" sz="950" dirty="0"/>
          </a:p>
        </p:txBody>
      </p:sp>
      <p:sp>
        <p:nvSpPr>
          <p:cNvPr id="32" name="Shape 30"/>
          <p:cNvSpPr/>
          <p:nvPr/>
        </p:nvSpPr>
        <p:spPr>
          <a:xfrm>
            <a:off x="3931920" y="1636776"/>
            <a:ext cx="1280160" cy="384048"/>
          </a:xfrm>
          <a:prstGeom prst="rect">
            <a:avLst/>
          </a:prstGeom>
          <a:solidFill>
            <a:srgbClr val="FFFFFF"/>
          </a:solidFill>
          <a:ln w="6350">
            <a:solidFill>
              <a:srgbClr val="E8DDD3"/>
            </a:solidFill>
            <a:prstDash val="solid"/>
          </a:ln>
        </p:spPr>
      </p:sp>
      <p:sp>
        <p:nvSpPr>
          <p:cNvPr id="33" name="Text 31"/>
          <p:cNvSpPr/>
          <p:nvPr/>
        </p:nvSpPr>
        <p:spPr>
          <a:xfrm>
            <a:off x="3931920" y="1636776"/>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İyi</a:t>
            </a:r>
            <a:endParaRPr lang="en-US" sz="950" dirty="0"/>
          </a:p>
        </p:txBody>
      </p:sp>
      <p:sp>
        <p:nvSpPr>
          <p:cNvPr id="34" name="Shape 32"/>
          <p:cNvSpPr/>
          <p:nvPr/>
        </p:nvSpPr>
        <p:spPr>
          <a:xfrm>
            <a:off x="5212080" y="1636776"/>
            <a:ext cx="1645920" cy="384048"/>
          </a:xfrm>
          <a:prstGeom prst="rect">
            <a:avLst/>
          </a:prstGeom>
          <a:solidFill>
            <a:srgbClr val="FFFFFF"/>
          </a:solidFill>
          <a:ln w="6350">
            <a:solidFill>
              <a:srgbClr val="E8DDD3"/>
            </a:solidFill>
            <a:prstDash val="solid"/>
          </a:ln>
        </p:spPr>
      </p:sp>
      <p:sp>
        <p:nvSpPr>
          <p:cNvPr id="35" name="Text 33"/>
          <p:cNvSpPr/>
          <p:nvPr/>
        </p:nvSpPr>
        <p:spPr>
          <a:xfrm>
            <a:off x="5212080" y="1636776"/>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Çok İyi</a:t>
            </a:r>
            <a:endParaRPr lang="en-US" sz="950" dirty="0"/>
          </a:p>
        </p:txBody>
      </p:sp>
      <p:sp>
        <p:nvSpPr>
          <p:cNvPr id="36" name="Shape 34"/>
          <p:cNvSpPr/>
          <p:nvPr/>
        </p:nvSpPr>
        <p:spPr>
          <a:xfrm>
            <a:off x="6858000" y="1636776"/>
            <a:ext cx="1645920" cy="384048"/>
          </a:xfrm>
          <a:prstGeom prst="rect">
            <a:avLst/>
          </a:prstGeom>
          <a:solidFill>
            <a:srgbClr val="FFFFFF"/>
          </a:solidFill>
          <a:ln w="6350">
            <a:solidFill>
              <a:srgbClr val="E8DDD3"/>
            </a:solidFill>
            <a:prstDash val="solid"/>
          </a:ln>
        </p:spPr>
      </p:sp>
      <p:sp>
        <p:nvSpPr>
          <p:cNvPr id="37" name="Text 35"/>
          <p:cNvSpPr/>
          <p:nvPr/>
        </p:nvSpPr>
        <p:spPr>
          <a:xfrm>
            <a:off x="6858000" y="1636776"/>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Çok İyi</a:t>
            </a:r>
            <a:endParaRPr lang="en-US" sz="950" dirty="0"/>
          </a:p>
        </p:txBody>
      </p:sp>
      <p:sp>
        <p:nvSpPr>
          <p:cNvPr id="38" name="Shape 36"/>
          <p:cNvSpPr/>
          <p:nvPr/>
        </p:nvSpPr>
        <p:spPr>
          <a:xfrm>
            <a:off x="457200" y="2020824"/>
            <a:ext cx="1828800" cy="384048"/>
          </a:xfrm>
          <a:prstGeom prst="rect">
            <a:avLst/>
          </a:prstGeom>
          <a:solidFill>
            <a:srgbClr val="FEF5EE"/>
          </a:solidFill>
          <a:ln w="6350">
            <a:solidFill>
              <a:srgbClr val="E8DDD3"/>
            </a:solidFill>
            <a:prstDash val="solid"/>
          </a:ln>
        </p:spPr>
      </p:sp>
      <p:sp>
        <p:nvSpPr>
          <p:cNvPr id="39" name="Text 37"/>
          <p:cNvSpPr/>
          <p:nvPr/>
        </p:nvSpPr>
        <p:spPr>
          <a:xfrm>
            <a:off x="457200" y="2020824"/>
            <a:ext cx="1828800" cy="384048"/>
          </a:xfrm>
          <a:prstGeom prst="rect">
            <a:avLst/>
          </a:prstGeom>
          <a:noFill/>
          <a:ln/>
        </p:spPr>
        <p:txBody>
          <a:bodyPr wrap="square" lIns="0" tIns="50800" rIns="50800" bIns="0" rtlCol="0" anchor="ctr"/>
          <a:lstStyle/>
          <a:p>
            <a:pPr algn="l" indent="0" marL="0">
              <a:buNone/>
            </a:pPr>
            <a:r>
              <a:rPr lang="en-US" sz="950" b="1" dirty="0">
                <a:solidFill>
                  <a:srgbClr val="5B2C1E"/>
                </a:solidFill>
                <a:latin typeface="Calibri" pitchFamily="34" charset="0"/>
                <a:ea typeface="Calibri" pitchFamily="34" charset="-122"/>
                <a:cs typeface="Calibri" pitchFamily="34" charset="-120"/>
              </a:rPr>
              <a:t>Bellek Kullanımı</a:t>
            </a:r>
            <a:endParaRPr lang="en-US" sz="950" dirty="0"/>
          </a:p>
        </p:txBody>
      </p:sp>
      <p:sp>
        <p:nvSpPr>
          <p:cNvPr id="40" name="Shape 38"/>
          <p:cNvSpPr/>
          <p:nvPr/>
        </p:nvSpPr>
        <p:spPr>
          <a:xfrm>
            <a:off x="2286000" y="2020824"/>
            <a:ext cx="1645920" cy="384048"/>
          </a:xfrm>
          <a:prstGeom prst="rect">
            <a:avLst/>
          </a:prstGeom>
          <a:solidFill>
            <a:srgbClr val="FEF5EE"/>
          </a:solidFill>
          <a:ln w="6350">
            <a:solidFill>
              <a:srgbClr val="E8DDD3"/>
            </a:solidFill>
            <a:prstDash val="solid"/>
          </a:ln>
        </p:spPr>
      </p:sp>
      <p:sp>
        <p:nvSpPr>
          <p:cNvPr id="41" name="Text 39"/>
          <p:cNvSpPr/>
          <p:nvPr/>
        </p:nvSpPr>
        <p:spPr>
          <a:xfrm>
            <a:off x="2286000" y="202082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Yüksek</a:t>
            </a:r>
            <a:endParaRPr lang="en-US" sz="950" dirty="0"/>
          </a:p>
        </p:txBody>
      </p:sp>
      <p:sp>
        <p:nvSpPr>
          <p:cNvPr id="42" name="Shape 40"/>
          <p:cNvSpPr/>
          <p:nvPr/>
        </p:nvSpPr>
        <p:spPr>
          <a:xfrm>
            <a:off x="3931920" y="2020824"/>
            <a:ext cx="1280160" cy="384048"/>
          </a:xfrm>
          <a:prstGeom prst="rect">
            <a:avLst/>
          </a:prstGeom>
          <a:solidFill>
            <a:srgbClr val="FEF5EE"/>
          </a:solidFill>
          <a:ln w="6350">
            <a:solidFill>
              <a:srgbClr val="E8DDD3"/>
            </a:solidFill>
            <a:prstDash val="solid"/>
          </a:ln>
        </p:spPr>
      </p:sp>
      <p:sp>
        <p:nvSpPr>
          <p:cNvPr id="43" name="Text 41"/>
          <p:cNvSpPr/>
          <p:nvPr/>
        </p:nvSpPr>
        <p:spPr>
          <a:xfrm>
            <a:off x="3931920" y="2020824"/>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44" name="Shape 42"/>
          <p:cNvSpPr/>
          <p:nvPr/>
        </p:nvSpPr>
        <p:spPr>
          <a:xfrm>
            <a:off x="5212080" y="2020824"/>
            <a:ext cx="1645920" cy="384048"/>
          </a:xfrm>
          <a:prstGeom prst="rect">
            <a:avLst/>
          </a:prstGeom>
          <a:solidFill>
            <a:srgbClr val="FEF5EE"/>
          </a:solidFill>
          <a:ln w="6350">
            <a:solidFill>
              <a:srgbClr val="E8DDD3"/>
            </a:solidFill>
            <a:prstDash val="solid"/>
          </a:ln>
        </p:spPr>
      </p:sp>
      <p:sp>
        <p:nvSpPr>
          <p:cNvPr id="45" name="Text 43"/>
          <p:cNvSpPr/>
          <p:nvPr/>
        </p:nvSpPr>
        <p:spPr>
          <a:xfrm>
            <a:off x="5212080" y="202082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46" name="Shape 44"/>
          <p:cNvSpPr/>
          <p:nvPr/>
        </p:nvSpPr>
        <p:spPr>
          <a:xfrm>
            <a:off x="6858000" y="2020824"/>
            <a:ext cx="1645920" cy="384048"/>
          </a:xfrm>
          <a:prstGeom prst="rect">
            <a:avLst/>
          </a:prstGeom>
          <a:solidFill>
            <a:srgbClr val="FEF5EE"/>
          </a:solidFill>
          <a:ln w="6350">
            <a:solidFill>
              <a:srgbClr val="E8DDD3"/>
            </a:solidFill>
            <a:prstDash val="solid"/>
          </a:ln>
        </p:spPr>
      </p:sp>
      <p:sp>
        <p:nvSpPr>
          <p:cNvPr id="47" name="Text 45"/>
          <p:cNvSpPr/>
          <p:nvPr/>
        </p:nvSpPr>
        <p:spPr>
          <a:xfrm>
            <a:off x="6858000" y="202082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Düşük</a:t>
            </a:r>
            <a:endParaRPr lang="en-US" sz="950" dirty="0"/>
          </a:p>
        </p:txBody>
      </p:sp>
      <p:sp>
        <p:nvSpPr>
          <p:cNvPr id="48" name="Shape 46"/>
          <p:cNvSpPr/>
          <p:nvPr/>
        </p:nvSpPr>
        <p:spPr>
          <a:xfrm>
            <a:off x="457200" y="2404872"/>
            <a:ext cx="1828800" cy="384048"/>
          </a:xfrm>
          <a:prstGeom prst="rect">
            <a:avLst/>
          </a:prstGeom>
          <a:solidFill>
            <a:srgbClr val="FFFFFF"/>
          </a:solidFill>
          <a:ln w="6350">
            <a:solidFill>
              <a:srgbClr val="E8DDD3"/>
            </a:solidFill>
            <a:prstDash val="solid"/>
          </a:ln>
        </p:spPr>
      </p:sp>
      <p:sp>
        <p:nvSpPr>
          <p:cNvPr id="49" name="Text 47"/>
          <p:cNvSpPr/>
          <p:nvPr/>
        </p:nvSpPr>
        <p:spPr>
          <a:xfrm>
            <a:off x="457200" y="2404872"/>
            <a:ext cx="1828800" cy="384048"/>
          </a:xfrm>
          <a:prstGeom prst="rect">
            <a:avLst/>
          </a:prstGeom>
          <a:noFill/>
          <a:ln/>
        </p:spPr>
        <p:txBody>
          <a:bodyPr wrap="square" lIns="0" tIns="50800" rIns="50800" bIns="0" rtlCol="0" anchor="ctr"/>
          <a:lstStyle/>
          <a:p>
            <a:pPr algn="l" indent="0" marL="0">
              <a:buNone/>
            </a:pPr>
            <a:r>
              <a:rPr lang="en-US" sz="950" b="1" dirty="0">
                <a:solidFill>
                  <a:srgbClr val="5B2C1E"/>
                </a:solidFill>
                <a:latin typeface="Calibri" pitchFamily="34" charset="0"/>
                <a:ea typeface="Calibri" pitchFamily="34" charset="-122"/>
                <a:cs typeface="Calibri" pitchFamily="34" charset="-120"/>
              </a:rPr>
              <a:t>Overfitting Riski</a:t>
            </a:r>
            <a:endParaRPr lang="en-US" sz="950" dirty="0"/>
          </a:p>
        </p:txBody>
      </p:sp>
      <p:sp>
        <p:nvSpPr>
          <p:cNvPr id="50" name="Shape 48"/>
          <p:cNvSpPr/>
          <p:nvPr/>
        </p:nvSpPr>
        <p:spPr>
          <a:xfrm>
            <a:off x="2286000" y="2404872"/>
            <a:ext cx="1645920" cy="384048"/>
          </a:xfrm>
          <a:prstGeom prst="rect">
            <a:avLst/>
          </a:prstGeom>
          <a:solidFill>
            <a:srgbClr val="FFFFFF"/>
          </a:solidFill>
          <a:ln w="6350">
            <a:solidFill>
              <a:srgbClr val="E8DDD3"/>
            </a:solidFill>
            <a:prstDash val="solid"/>
          </a:ln>
        </p:spPr>
      </p:sp>
      <p:sp>
        <p:nvSpPr>
          <p:cNvPr id="51" name="Text 49"/>
          <p:cNvSpPr/>
          <p:nvPr/>
        </p:nvSpPr>
        <p:spPr>
          <a:xfrm>
            <a:off x="2286000" y="2404872"/>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Düşük</a:t>
            </a:r>
            <a:endParaRPr lang="en-US" sz="950" dirty="0"/>
          </a:p>
        </p:txBody>
      </p:sp>
      <p:sp>
        <p:nvSpPr>
          <p:cNvPr id="52" name="Shape 50"/>
          <p:cNvSpPr/>
          <p:nvPr/>
        </p:nvSpPr>
        <p:spPr>
          <a:xfrm>
            <a:off x="3931920" y="2404872"/>
            <a:ext cx="1280160" cy="384048"/>
          </a:xfrm>
          <a:prstGeom prst="rect">
            <a:avLst/>
          </a:prstGeom>
          <a:solidFill>
            <a:srgbClr val="FFFFFF"/>
          </a:solidFill>
          <a:ln w="6350">
            <a:solidFill>
              <a:srgbClr val="E8DDD3"/>
            </a:solidFill>
            <a:prstDash val="solid"/>
          </a:ln>
        </p:spPr>
      </p:sp>
      <p:sp>
        <p:nvSpPr>
          <p:cNvPr id="53" name="Text 51"/>
          <p:cNvSpPr/>
          <p:nvPr/>
        </p:nvSpPr>
        <p:spPr>
          <a:xfrm>
            <a:off x="3931920" y="2404872"/>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54" name="Shape 52"/>
          <p:cNvSpPr/>
          <p:nvPr/>
        </p:nvSpPr>
        <p:spPr>
          <a:xfrm>
            <a:off x="5212080" y="2404872"/>
            <a:ext cx="1645920" cy="384048"/>
          </a:xfrm>
          <a:prstGeom prst="rect">
            <a:avLst/>
          </a:prstGeom>
          <a:solidFill>
            <a:srgbClr val="FFFFFF"/>
          </a:solidFill>
          <a:ln w="6350">
            <a:solidFill>
              <a:srgbClr val="E8DDD3"/>
            </a:solidFill>
            <a:prstDash val="solid"/>
          </a:ln>
        </p:spPr>
      </p:sp>
      <p:sp>
        <p:nvSpPr>
          <p:cNvPr id="55" name="Text 53"/>
          <p:cNvSpPr/>
          <p:nvPr/>
        </p:nvSpPr>
        <p:spPr>
          <a:xfrm>
            <a:off x="5212080" y="2404872"/>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Düşük</a:t>
            </a:r>
            <a:endParaRPr lang="en-US" sz="950" dirty="0"/>
          </a:p>
        </p:txBody>
      </p:sp>
      <p:sp>
        <p:nvSpPr>
          <p:cNvPr id="56" name="Shape 54"/>
          <p:cNvSpPr/>
          <p:nvPr/>
        </p:nvSpPr>
        <p:spPr>
          <a:xfrm>
            <a:off x="6858000" y="2404872"/>
            <a:ext cx="1645920" cy="384048"/>
          </a:xfrm>
          <a:prstGeom prst="rect">
            <a:avLst/>
          </a:prstGeom>
          <a:solidFill>
            <a:srgbClr val="FFFFFF"/>
          </a:solidFill>
          <a:ln w="6350">
            <a:solidFill>
              <a:srgbClr val="E8DDD3"/>
            </a:solidFill>
            <a:prstDash val="solid"/>
          </a:ln>
        </p:spPr>
      </p:sp>
      <p:sp>
        <p:nvSpPr>
          <p:cNvPr id="57" name="Text 55"/>
          <p:cNvSpPr/>
          <p:nvPr/>
        </p:nvSpPr>
        <p:spPr>
          <a:xfrm>
            <a:off x="6858000" y="2404872"/>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Orta</a:t>
            </a:r>
            <a:endParaRPr lang="en-US" sz="950" dirty="0"/>
          </a:p>
        </p:txBody>
      </p:sp>
      <p:sp>
        <p:nvSpPr>
          <p:cNvPr id="58" name="Shape 56"/>
          <p:cNvSpPr/>
          <p:nvPr/>
        </p:nvSpPr>
        <p:spPr>
          <a:xfrm>
            <a:off x="457200" y="2788920"/>
            <a:ext cx="1828800" cy="384048"/>
          </a:xfrm>
          <a:prstGeom prst="rect">
            <a:avLst/>
          </a:prstGeom>
          <a:solidFill>
            <a:srgbClr val="FEF5EE"/>
          </a:solidFill>
          <a:ln w="6350">
            <a:solidFill>
              <a:srgbClr val="E8DDD3"/>
            </a:solidFill>
            <a:prstDash val="solid"/>
          </a:ln>
        </p:spPr>
      </p:sp>
      <p:sp>
        <p:nvSpPr>
          <p:cNvPr id="59" name="Text 57"/>
          <p:cNvSpPr/>
          <p:nvPr/>
        </p:nvSpPr>
        <p:spPr>
          <a:xfrm>
            <a:off x="457200" y="2788920"/>
            <a:ext cx="1828800" cy="384048"/>
          </a:xfrm>
          <a:prstGeom prst="rect">
            <a:avLst/>
          </a:prstGeom>
          <a:noFill/>
          <a:ln/>
        </p:spPr>
        <p:txBody>
          <a:bodyPr wrap="square" lIns="0" tIns="50800" rIns="50800" bIns="0" rtlCol="0" anchor="ctr"/>
          <a:lstStyle/>
          <a:p>
            <a:pPr algn="l" indent="0" marL="0">
              <a:buNone/>
            </a:pPr>
            <a:r>
              <a:rPr lang="en-US" sz="950" b="1" dirty="0">
                <a:solidFill>
                  <a:srgbClr val="3A9E6B"/>
                </a:solidFill>
                <a:latin typeface="Calibri" pitchFamily="34" charset="0"/>
                <a:ea typeface="Calibri" pitchFamily="34" charset="-122"/>
                <a:cs typeface="Calibri" pitchFamily="34" charset="-120"/>
              </a:rPr>
              <a:t>Büyük Veri Desteği</a:t>
            </a:r>
            <a:endParaRPr lang="en-US" sz="950" dirty="0"/>
          </a:p>
        </p:txBody>
      </p:sp>
      <p:sp>
        <p:nvSpPr>
          <p:cNvPr id="60" name="Shape 58"/>
          <p:cNvSpPr/>
          <p:nvPr/>
        </p:nvSpPr>
        <p:spPr>
          <a:xfrm>
            <a:off x="2286000" y="2788920"/>
            <a:ext cx="1645920" cy="384048"/>
          </a:xfrm>
          <a:prstGeom prst="rect">
            <a:avLst/>
          </a:prstGeom>
          <a:solidFill>
            <a:srgbClr val="FEF5EE"/>
          </a:solidFill>
          <a:ln w="6350">
            <a:solidFill>
              <a:srgbClr val="E8DDD3"/>
            </a:solidFill>
            <a:prstDash val="solid"/>
          </a:ln>
        </p:spPr>
      </p:sp>
      <p:sp>
        <p:nvSpPr>
          <p:cNvPr id="61" name="Text 59"/>
          <p:cNvSpPr/>
          <p:nvPr/>
        </p:nvSpPr>
        <p:spPr>
          <a:xfrm>
            <a:off x="2286000" y="2788920"/>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62" name="Shape 60"/>
          <p:cNvSpPr/>
          <p:nvPr/>
        </p:nvSpPr>
        <p:spPr>
          <a:xfrm>
            <a:off x="3931920" y="2788920"/>
            <a:ext cx="1280160" cy="384048"/>
          </a:xfrm>
          <a:prstGeom prst="rect">
            <a:avLst/>
          </a:prstGeom>
          <a:solidFill>
            <a:srgbClr val="FEF5EE"/>
          </a:solidFill>
          <a:ln w="6350">
            <a:solidFill>
              <a:srgbClr val="E8DDD3"/>
            </a:solidFill>
            <a:prstDash val="solid"/>
          </a:ln>
        </p:spPr>
      </p:sp>
      <p:sp>
        <p:nvSpPr>
          <p:cNvPr id="63" name="Text 61"/>
          <p:cNvSpPr/>
          <p:nvPr/>
        </p:nvSpPr>
        <p:spPr>
          <a:xfrm>
            <a:off x="3931920" y="2788920"/>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Zayıf</a:t>
            </a:r>
            <a:endParaRPr lang="en-US" sz="950" dirty="0"/>
          </a:p>
        </p:txBody>
      </p:sp>
      <p:sp>
        <p:nvSpPr>
          <p:cNvPr id="64" name="Shape 62"/>
          <p:cNvSpPr/>
          <p:nvPr/>
        </p:nvSpPr>
        <p:spPr>
          <a:xfrm>
            <a:off x="5212080" y="2788920"/>
            <a:ext cx="1645920" cy="384048"/>
          </a:xfrm>
          <a:prstGeom prst="rect">
            <a:avLst/>
          </a:prstGeom>
          <a:solidFill>
            <a:srgbClr val="FEF5EE"/>
          </a:solidFill>
          <a:ln w="6350">
            <a:solidFill>
              <a:srgbClr val="E8DDD3"/>
            </a:solidFill>
            <a:prstDash val="solid"/>
          </a:ln>
        </p:spPr>
      </p:sp>
      <p:sp>
        <p:nvSpPr>
          <p:cNvPr id="65" name="Text 63"/>
          <p:cNvSpPr/>
          <p:nvPr/>
        </p:nvSpPr>
        <p:spPr>
          <a:xfrm>
            <a:off x="5212080" y="2788920"/>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İyi</a:t>
            </a:r>
            <a:endParaRPr lang="en-US" sz="950" dirty="0"/>
          </a:p>
        </p:txBody>
      </p:sp>
      <p:sp>
        <p:nvSpPr>
          <p:cNvPr id="66" name="Shape 64"/>
          <p:cNvSpPr/>
          <p:nvPr/>
        </p:nvSpPr>
        <p:spPr>
          <a:xfrm>
            <a:off x="6858000" y="2788920"/>
            <a:ext cx="1645920" cy="384048"/>
          </a:xfrm>
          <a:prstGeom prst="rect">
            <a:avLst/>
          </a:prstGeom>
          <a:solidFill>
            <a:srgbClr val="FEF5EE"/>
          </a:solidFill>
          <a:ln w="6350">
            <a:solidFill>
              <a:srgbClr val="E8DDD3"/>
            </a:solidFill>
            <a:prstDash val="solid"/>
          </a:ln>
        </p:spPr>
      </p:sp>
      <p:sp>
        <p:nvSpPr>
          <p:cNvPr id="67" name="Text 65"/>
          <p:cNvSpPr/>
          <p:nvPr/>
        </p:nvSpPr>
        <p:spPr>
          <a:xfrm>
            <a:off x="6858000" y="2788920"/>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Çok İyi</a:t>
            </a:r>
            <a:endParaRPr lang="en-US" sz="950" dirty="0"/>
          </a:p>
        </p:txBody>
      </p:sp>
      <p:sp>
        <p:nvSpPr>
          <p:cNvPr id="68" name="Shape 66"/>
          <p:cNvSpPr/>
          <p:nvPr/>
        </p:nvSpPr>
        <p:spPr>
          <a:xfrm>
            <a:off x="457200" y="3172968"/>
            <a:ext cx="1828800" cy="384048"/>
          </a:xfrm>
          <a:prstGeom prst="rect">
            <a:avLst/>
          </a:prstGeom>
          <a:solidFill>
            <a:srgbClr val="FFFFFF"/>
          </a:solidFill>
          <a:ln w="6350">
            <a:solidFill>
              <a:srgbClr val="E8DDD3"/>
            </a:solidFill>
            <a:prstDash val="solid"/>
          </a:ln>
        </p:spPr>
      </p:sp>
      <p:sp>
        <p:nvSpPr>
          <p:cNvPr id="69" name="Text 67"/>
          <p:cNvSpPr/>
          <p:nvPr/>
        </p:nvSpPr>
        <p:spPr>
          <a:xfrm>
            <a:off x="457200" y="3172968"/>
            <a:ext cx="1828800" cy="384048"/>
          </a:xfrm>
          <a:prstGeom prst="rect">
            <a:avLst/>
          </a:prstGeom>
          <a:noFill/>
          <a:ln/>
        </p:spPr>
        <p:txBody>
          <a:bodyPr wrap="square" lIns="0" tIns="50800" rIns="50800" bIns="0" rtlCol="0" anchor="ctr"/>
          <a:lstStyle/>
          <a:p>
            <a:pPr algn="l" indent="0" marL="0">
              <a:buNone/>
            </a:pPr>
            <a:r>
              <a:rPr lang="en-US" sz="950" b="1" dirty="0">
                <a:solidFill>
                  <a:srgbClr val="5B2C1E"/>
                </a:solidFill>
                <a:latin typeface="Calibri" pitchFamily="34" charset="0"/>
                <a:ea typeface="Calibri" pitchFamily="34" charset="-122"/>
                <a:cs typeface="Calibri" pitchFamily="34" charset="-120"/>
              </a:rPr>
              <a:t>Eksik Veri</a:t>
            </a:r>
            <a:endParaRPr lang="en-US" sz="950" dirty="0"/>
          </a:p>
        </p:txBody>
      </p:sp>
      <p:sp>
        <p:nvSpPr>
          <p:cNvPr id="70" name="Shape 68"/>
          <p:cNvSpPr/>
          <p:nvPr/>
        </p:nvSpPr>
        <p:spPr>
          <a:xfrm>
            <a:off x="2286000" y="3172968"/>
            <a:ext cx="1645920" cy="384048"/>
          </a:xfrm>
          <a:prstGeom prst="rect">
            <a:avLst/>
          </a:prstGeom>
          <a:solidFill>
            <a:srgbClr val="FFFFFF"/>
          </a:solidFill>
          <a:ln w="6350">
            <a:solidFill>
              <a:srgbClr val="E8DDD3"/>
            </a:solidFill>
            <a:prstDash val="solid"/>
          </a:ln>
        </p:spPr>
      </p:sp>
      <p:sp>
        <p:nvSpPr>
          <p:cNvPr id="71" name="Text 69"/>
          <p:cNvSpPr/>
          <p:nvPr/>
        </p:nvSpPr>
        <p:spPr>
          <a:xfrm>
            <a:off x="2286000" y="3172968"/>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Kısmen</a:t>
            </a:r>
            <a:endParaRPr lang="en-US" sz="950" dirty="0"/>
          </a:p>
        </p:txBody>
      </p:sp>
      <p:sp>
        <p:nvSpPr>
          <p:cNvPr id="72" name="Shape 70"/>
          <p:cNvSpPr/>
          <p:nvPr/>
        </p:nvSpPr>
        <p:spPr>
          <a:xfrm>
            <a:off x="3931920" y="3172968"/>
            <a:ext cx="1280160" cy="384048"/>
          </a:xfrm>
          <a:prstGeom prst="rect">
            <a:avLst/>
          </a:prstGeom>
          <a:solidFill>
            <a:srgbClr val="FFFFFF"/>
          </a:solidFill>
          <a:ln w="6350">
            <a:solidFill>
              <a:srgbClr val="E8DDD3"/>
            </a:solidFill>
            <a:prstDash val="solid"/>
          </a:ln>
        </p:spPr>
      </p:sp>
      <p:sp>
        <p:nvSpPr>
          <p:cNvPr id="73" name="Text 71"/>
          <p:cNvSpPr/>
          <p:nvPr/>
        </p:nvSpPr>
        <p:spPr>
          <a:xfrm>
            <a:off x="3931920" y="3172968"/>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Hayır</a:t>
            </a:r>
            <a:endParaRPr lang="en-US" sz="950" dirty="0"/>
          </a:p>
        </p:txBody>
      </p:sp>
      <p:sp>
        <p:nvSpPr>
          <p:cNvPr id="74" name="Shape 72"/>
          <p:cNvSpPr/>
          <p:nvPr/>
        </p:nvSpPr>
        <p:spPr>
          <a:xfrm>
            <a:off x="5212080" y="3172968"/>
            <a:ext cx="1645920" cy="384048"/>
          </a:xfrm>
          <a:prstGeom prst="rect">
            <a:avLst/>
          </a:prstGeom>
          <a:solidFill>
            <a:srgbClr val="FFFFFF"/>
          </a:solidFill>
          <a:ln w="6350">
            <a:solidFill>
              <a:srgbClr val="E8DDD3"/>
            </a:solidFill>
            <a:prstDash val="solid"/>
          </a:ln>
        </p:spPr>
      </p:sp>
      <p:sp>
        <p:nvSpPr>
          <p:cNvPr id="75" name="Text 73"/>
          <p:cNvSpPr/>
          <p:nvPr/>
        </p:nvSpPr>
        <p:spPr>
          <a:xfrm>
            <a:off x="5212080" y="3172968"/>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Otomatik</a:t>
            </a:r>
            <a:endParaRPr lang="en-US" sz="950" dirty="0"/>
          </a:p>
        </p:txBody>
      </p:sp>
      <p:sp>
        <p:nvSpPr>
          <p:cNvPr id="76" name="Shape 74"/>
          <p:cNvSpPr/>
          <p:nvPr/>
        </p:nvSpPr>
        <p:spPr>
          <a:xfrm>
            <a:off x="6858000" y="3172968"/>
            <a:ext cx="1645920" cy="384048"/>
          </a:xfrm>
          <a:prstGeom prst="rect">
            <a:avLst/>
          </a:prstGeom>
          <a:solidFill>
            <a:srgbClr val="FFFFFF"/>
          </a:solidFill>
          <a:ln w="6350">
            <a:solidFill>
              <a:srgbClr val="E8DDD3"/>
            </a:solidFill>
            <a:prstDash val="solid"/>
          </a:ln>
        </p:spPr>
      </p:sp>
      <p:sp>
        <p:nvSpPr>
          <p:cNvPr id="77" name="Text 75"/>
          <p:cNvSpPr/>
          <p:nvPr/>
        </p:nvSpPr>
        <p:spPr>
          <a:xfrm>
            <a:off x="6858000" y="3172968"/>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Otomatik</a:t>
            </a:r>
            <a:endParaRPr lang="en-US" sz="950" dirty="0"/>
          </a:p>
        </p:txBody>
      </p:sp>
      <p:sp>
        <p:nvSpPr>
          <p:cNvPr id="78" name="Shape 76"/>
          <p:cNvSpPr/>
          <p:nvPr/>
        </p:nvSpPr>
        <p:spPr>
          <a:xfrm>
            <a:off x="457200" y="3557016"/>
            <a:ext cx="1828800" cy="384048"/>
          </a:xfrm>
          <a:prstGeom prst="rect">
            <a:avLst/>
          </a:prstGeom>
          <a:solidFill>
            <a:srgbClr val="FEF5EE"/>
          </a:solidFill>
          <a:ln w="6350">
            <a:solidFill>
              <a:srgbClr val="E8DDD3"/>
            </a:solidFill>
            <a:prstDash val="solid"/>
          </a:ln>
        </p:spPr>
      </p:sp>
      <p:sp>
        <p:nvSpPr>
          <p:cNvPr id="79" name="Text 77"/>
          <p:cNvSpPr/>
          <p:nvPr/>
        </p:nvSpPr>
        <p:spPr>
          <a:xfrm>
            <a:off x="457200" y="3557016"/>
            <a:ext cx="1828800" cy="384048"/>
          </a:xfrm>
          <a:prstGeom prst="rect">
            <a:avLst/>
          </a:prstGeom>
          <a:noFill/>
          <a:ln/>
        </p:spPr>
        <p:txBody>
          <a:bodyPr wrap="square" lIns="0" tIns="50800" rIns="50800" bIns="0" rtlCol="0" anchor="ctr"/>
          <a:lstStyle/>
          <a:p>
            <a:pPr algn="l" indent="0" marL="0">
              <a:buNone/>
            </a:pPr>
            <a:r>
              <a:rPr lang="en-US" sz="950" b="1" dirty="0">
                <a:solidFill>
                  <a:srgbClr val="3A9E6B"/>
                </a:solidFill>
                <a:latin typeface="Calibri" pitchFamily="34" charset="0"/>
                <a:ea typeface="Calibri" pitchFamily="34" charset="-122"/>
                <a:cs typeface="Calibri" pitchFamily="34" charset="-120"/>
              </a:rPr>
              <a:t>Paralel Eğitim</a:t>
            </a:r>
            <a:endParaRPr lang="en-US" sz="950" dirty="0"/>
          </a:p>
        </p:txBody>
      </p:sp>
      <p:sp>
        <p:nvSpPr>
          <p:cNvPr id="80" name="Shape 78"/>
          <p:cNvSpPr/>
          <p:nvPr/>
        </p:nvSpPr>
        <p:spPr>
          <a:xfrm>
            <a:off x="2286000" y="3557016"/>
            <a:ext cx="1645920" cy="384048"/>
          </a:xfrm>
          <a:prstGeom prst="rect">
            <a:avLst/>
          </a:prstGeom>
          <a:solidFill>
            <a:srgbClr val="FEF5EE"/>
          </a:solidFill>
          <a:ln w="6350">
            <a:solidFill>
              <a:srgbClr val="E8DDD3"/>
            </a:solidFill>
            <a:prstDash val="solid"/>
          </a:ln>
        </p:spPr>
      </p:sp>
      <p:sp>
        <p:nvSpPr>
          <p:cNvPr id="81" name="Text 79"/>
          <p:cNvSpPr/>
          <p:nvPr/>
        </p:nvSpPr>
        <p:spPr>
          <a:xfrm>
            <a:off x="2286000" y="3557016"/>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Evet</a:t>
            </a:r>
            <a:endParaRPr lang="en-US" sz="950" dirty="0"/>
          </a:p>
        </p:txBody>
      </p:sp>
      <p:sp>
        <p:nvSpPr>
          <p:cNvPr id="82" name="Shape 80"/>
          <p:cNvSpPr/>
          <p:nvPr/>
        </p:nvSpPr>
        <p:spPr>
          <a:xfrm>
            <a:off x="3931920" y="3557016"/>
            <a:ext cx="1280160" cy="384048"/>
          </a:xfrm>
          <a:prstGeom prst="rect">
            <a:avLst/>
          </a:prstGeom>
          <a:solidFill>
            <a:srgbClr val="FEF5EE"/>
          </a:solidFill>
          <a:ln w="6350">
            <a:solidFill>
              <a:srgbClr val="E8DDD3"/>
            </a:solidFill>
            <a:prstDash val="solid"/>
          </a:ln>
        </p:spPr>
      </p:sp>
      <p:sp>
        <p:nvSpPr>
          <p:cNvPr id="83" name="Text 81"/>
          <p:cNvSpPr/>
          <p:nvPr/>
        </p:nvSpPr>
        <p:spPr>
          <a:xfrm>
            <a:off x="3931920" y="3557016"/>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Hayır</a:t>
            </a:r>
            <a:endParaRPr lang="en-US" sz="950" dirty="0"/>
          </a:p>
        </p:txBody>
      </p:sp>
      <p:sp>
        <p:nvSpPr>
          <p:cNvPr id="84" name="Shape 82"/>
          <p:cNvSpPr/>
          <p:nvPr/>
        </p:nvSpPr>
        <p:spPr>
          <a:xfrm>
            <a:off x="5212080" y="3557016"/>
            <a:ext cx="1645920" cy="384048"/>
          </a:xfrm>
          <a:prstGeom prst="rect">
            <a:avLst/>
          </a:prstGeom>
          <a:solidFill>
            <a:srgbClr val="FEF5EE"/>
          </a:solidFill>
          <a:ln w="6350">
            <a:solidFill>
              <a:srgbClr val="E8DDD3"/>
            </a:solidFill>
            <a:prstDash val="solid"/>
          </a:ln>
        </p:spPr>
      </p:sp>
      <p:sp>
        <p:nvSpPr>
          <p:cNvPr id="85" name="Text 83"/>
          <p:cNvSpPr/>
          <p:nvPr/>
        </p:nvSpPr>
        <p:spPr>
          <a:xfrm>
            <a:off x="5212080" y="3557016"/>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Evet</a:t>
            </a:r>
            <a:endParaRPr lang="en-US" sz="950" dirty="0"/>
          </a:p>
        </p:txBody>
      </p:sp>
      <p:sp>
        <p:nvSpPr>
          <p:cNvPr id="86" name="Shape 84"/>
          <p:cNvSpPr/>
          <p:nvPr/>
        </p:nvSpPr>
        <p:spPr>
          <a:xfrm>
            <a:off x="6858000" y="3557016"/>
            <a:ext cx="1645920" cy="384048"/>
          </a:xfrm>
          <a:prstGeom prst="rect">
            <a:avLst/>
          </a:prstGeom>
          <a:solidFill>
            <a:srgbClr val="FEF5EE"/>
          </a:solidFill>
          <a:ln w="6350">
            <a:solidFill>
              <a:srgbClr val="E8DDD3"/>
            </a:solidFill>
            <a:prstDash val="solid"/>
          </a:ln>
        </p:spPr>
      </p:sp>
      <p:sp>
        <p:nvSpPr>
          <p:cNvPr id="87" name="Text 85"/>
          <p:cNvSpPr/>
          <p:nvPr/>
        </p:nvSpPr>
        <p:spPr>
          <a:xfrm>
            <a:off x="6858000" y="3557016"/>
            <a:ext cx="1645920" cy="384048"/>
          </a:xfrm>
          <a:prstGeom prst="rect">
            <a:avLst/>
          </a:prstGeom>
          <a:noFill/>
          <a:ln/>
        </p:spPr>
        <p:txBody>
          <a:bodyPr wrap="square" lIns="0" tIns="50800" rIns="50800" bIns="0" rtlCol="0" anchor="ctr"/>
          <a:lstStyle/>
          <a:p>
            <a:pPr algn="ctr" indent="0" marL="0">
              <a:buNone/>
            </a:pPr>
            <a:r>
              <a:rPr lang="en-US" sz="950" b="1" dirty="0">
                <a:solidFill>
                  <a:srgbClr val="3A9E6B"/>
                </a:solidFill>
                <a:latin typeface="Calibri" pitchFamily="34" charset="0"/>
                <a:ea typeface="Calibri" pitchFamily="34" charset="-122"/>
                <a:cs typeface="Calibri" pitchFamily="34" charset="-120"/>
              </a:rPr>
              <a:t>Evet</a:t>
            </a:r>
            <a:endParaRPr lang="en-US" sz="950" dirty="0"/>
          </a:p>
        </p:txBody>
      </p:sp>
      <p:sp>
        <p:nvSpPr>
          <p:cNvPr id="88" name="Shape 86"/>
          <p:cNvSpPr/>
          <p:nvPr/>
        </p:nvSpPr>
        <p:spPr>
          <a:xfrm>
            <a:off x="457200" y="3941064"/>
            <a:ext cx="1828800" cy="384048"/>
          </a:xfrm>
          <a:prstGeom prst="rect">
            <a:avLst/>
          </a:prstGeom>
          <a:solidFill>
            <a:srgbClr val="FFFFFF"/>
          </a:solidFill>
          <a:ln w="6350">
            <a:solidFill>
              <a:srgbClr val="E8DDD3"/>
            </a:solidFill>
            <a:prstDash val="solid"/>
          </a:ln>
        </p:spPr>
      </p:sp>
      <p:sp>
        <p:nvSpPr>
          <p:cNvPr id="89" name="Text 87"/>
          <p:cNvSpPr/>
          <p:nvPr/>
        </p:nvSpPr>
        <p:spPr>
          <a:xfrm>
            <a:off x="457200" y="3941064"/>
            <a:ext cx="1828800" cy="384048"/>
          </a:xfrm>
          <a:prstGeom prst="rect">
            <a:avLst/>
          </a:prstGeom>
          <a:noFill/>
          <a:ln/>
        </p:spPr>
        <p:txBody>
          <a:bodyPr wrap="square" lIns="0" tIns="50800" rIns="50800" bIns="0" rtlCol="0" anchor="ctr"/>
          <a:lstStyle/>
          <a:p>
            <a:pPr algn="l" indent="0" marL="0">
              <a:buNone/>
            </a:pPr>
            <a:r>
              <a:rPr lang="en-US" sz="950" b="1" dirty="0">
                <a:solidFill>
                  <a:srgbClr val="3A9E6B"/>
                </a:solidFill>
                <a:latin typeface="Calibri" pitchFamily="34" charset="0"/>
                <a:ea typeface="Calibri" pitchFamily="34" charset="-122"/>
                <a:cs typeface="Calibri" pitchFamily="34" charset="-120"/>
              </a:rPr>
              <a:t>Hiperparametre</a:t>
            </a:r>
            <a:endParaRPr lang="en-US" sz="950" dirty="0"/>
          </a:p>
        </p:txBody>
      </p:sp>
      <p:sp>
        <p:nvSpPr>
          <p:cNvPr id="90" name="Shape 88"/>
          <p:cNvSpPr/>
          <p:nvPr/>
        </p:nvSpPr>
        <p:spPr>
          <a:xfrm>
            <a:off x="2286000" y="3941064"/>
            <a:ext cx="1645920" cy="384048"/>
          </a:xfrm>
          <a:prstGeom prst="rect">
            <a:avLst/>
          </a:prstGeom>
          <a:solidFill>
            <a:srgbClr val="FFFFFF"/>
          </a:solidFill>
          <a:ln w="6350">
            <a:solidFill>
              <a:srgbClr val="E8DDD3"/>
            </a:solidFill>
            <a:prstDash val="solid"/>
          </a:ln>
        </p:spPr>
      </p:sp>
      <p:sp>
        <p:nvSpPr>
          <p:cNvPr id="91" name="Text 89"/>
          <p:cNvSpPr/>
          <p:nvPr/>
        </p:nvSpPr>
        <p:spPr>
          <a:xfrm>
            <a:off x="2286000" y="394106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Az</a:t>
            </a:r>
            <a:endParaRPr lang="en-US" sz="950" dirty="0"/>
          </a:p>
        </p:txBody>
      </p:sp>
      <p:sp>
        <p:nvSpPr>
          <p:cNvPr id="92" name="Shape 90"/>
          <p:cNvSpPr/>
          <p:nvPr/>
        </p:nvSpPr>
        <p:spPr>
          <a:xfrm>
            <a:off x="3931920" y="3941064"/>
            <a:ext cx="1280160" cy="384048"/>
          </a:xfrm>
          <a:prstGeom prst="rect">
            <a:avLst/>
          </a:prstGeom>
          <a:solidFill>
            <a:srgbClr val="FFFFFF"/>
          </a:solidFill>
          <a:ln w="6350">
            <a:solidFill>
              <a:srgbClr val="E8DDD3"/>
            </a:solidFill>
            <a:prstDash val="solid"/>
          </a:ln>
        </p:spPr>
      </p:sp>
      <p:sp>
        <p:nvSpPr>
          <p:cNvPr id="93" name="Text 91"/>
          <p:cNvSpPr/>
          <p:nvPr/>
        </p:nvSpPr>
        <p:spPr>
          <a:xfrm>
            <a:off x="3931920" y="3941064"/>
            <a:ext cx="128016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Çok</a:t>
            </a:r>
            <a:endParaRPr lang="en-US" sz="950" dirty="0"/>
          </a:p>
        </p:txBody>
      </p:sp>
      <p:sp>
        <p:nvSpPr>
          <p:cNvPr id="94" name="Shape 92"/>
          <p:cNvSpPr/>
          <p:nvPr/>
        </p:nvSpPr>
        <p:spPr>
          <a:xfrm>
            <a:off x="5212080" y="3941064"/>
            <a:ext cx="1645920" cy="384048"/>
          </a:xfrm>
          <a:prstGeom prst="rect">
            <a:avLst/>
          </a:prstGeom>
          <a:solidFill>
            <a:srgbClr val="FFFFFF"/>
          </a:solidFill>
          <a:ln w="6350">
            <a:solidFill>
              <a:srgbClr val="E8DDD3"/>
            </a:solidFill>
            <a:prstDash val="solid"/>
          </a:ln>
        </p:spPr>
      </p:sp>
      <p:sp>
        <p:nvSpPr>
          <p:cNvPr id="95" name="Text 93"/>
          <p:cNvSpPr/>
          <p:nvPr/>
        </p:nvSpPr>
        <p:spPr>
          <a:xfrm>
            <a:off x="5212080" y="394106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96" name="Shape 94"/>
          <p:cNvSpPr/>
          <p:nvPr/>
        </p:nvSpPr>
        <p:spPr>
          <a:xfrm>
            <a:off x="6858000" y="3941064"/>
            <a:ext cx="1645920" cy="384048"/>
          </a:xfrm>
          <a:prstGeom prst="rect">
            <a:avLst/>
          </a:prstGeom>
          <a:solidFill>
            <a:srgbClr val="FFFFFF"/>
          </a:solidFill>
          <a:ln w="6350">
            <a:solidFill>
              <a:srgbClr val="E8DDD3"/>
            </a:solidFill>
            <a:prstDash val="solid"/>
          </a:ln>
        </p:spPr>
      </p:sp>
      <p:sp>
        <p:nvSpPr>
          <p:cNvPr id="97" name="Text 95"/>
          <p:cNvSpPr/>
          <p:nvPr/>
        </p:nvSpPr>
        <p:spPr>
          <a:xfrm>
            <a:off x="6858000" y="3941064"/>
            <a:ext cx="1645920" cy="384048"/>
          </a:xfrm>
          <a:prstGeom prst="rect">
            <a:avLst/>
          </a:prstGeom>
          <a:noFill/>
          <a:ln/>
        </p:spPr>
        <p:txBody>
          <a:bodyPr wrap="square" lIns="0" tIns="50800" rIns="50800" bIns="0" rtlCol="0" anchor="ctr"/>
          <a:lstStyle/>
          <a:p>
            <a:pPr algn="ctr" indent="0" marL="0">
              <a:buNone/>
            </a:pPr>
            <a:r>
              <a:rPr lang="en-US" sz="950" dirty="0">
                <a:solidFill>
                  <a:srgbClr val="2E1F1A"/>
                </a:solidFill>
                <a:latin typeface="Calibri" pitchFamily="34" charset="0"/>
                <a:ea typeface="Calibri" pitchFamily="34" charset="-122"/>
                <a:cs typeface="Calibri" pitchFamily="34" charset="-120"/>
              </a:rPr>
              <a:t>Orta</a:t>
            </a:r>
            <a:endParaRPr lang="en-US" sz="950" dirty="0"/>
          </a:p>
        </p:txBody>
      </p:sp>
      <p:sp>
        <p:nvSpPr>
          <p:cNvPr id="98" name="Shape 96"/>
          <p:cNvSpPr/>
          <p:nvPr/>
        </p:nvSpPr>
        <p:spPr>
          <a:xfrm>
            <a:off x="457200" y="4434840"/>
            <a:ext cx="8046720" cy="457200"/>
          </a:xfrm>
          <a:prstGeom prst="rect">
            <a:avLst/>
          </a:prstGeom>
          <a:solidFill>
            <a:srgbClr val="E0F2F1"/>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9" name="Text 97"/>
          <p:cNvSpPr/>
          <p:nvPr/>
        </p:nvSpPr>
        <p:spPr>
          <a:xfrm>
            <a:off x="640080" y="4462272"/>
            <a:ext cx="7680960" cy="411480"/>
          </a:xfrm>
          <a:prstGeom prst="rect">
            <a:avLst/>
          </a:prstGeom>
          <a:noFill/>
          <a:ln/>
        </p:spPr>
        <p:txBody>
          <a:bodyPr wrap="square" lIns="0" tIns="0" rIns="0" bIns="0" rtlCol="0" anchor="ctr"/>
          <a:lstStyle/>
          <a:p>
            <a:pPr indent="0" marL="0">
              <a:buNone/>
            </a:pPr>
            <a:r>
              <a:rPr lang="en-US" sz="1000" dirty="0">
                <a:solidFill>
                  <a:srgbClr val="2B7A78"/>
                </a:solidFill>
                <a:latin typeface="Calibri" pitchFamily="34" charset="0"/>
                <a:ea typeface="Calibri" pitchFamily="34" charset="-122"/>
                <a:cs typeface="Calibri" pitchFamily="34" charset="-120"/>
              </a:rPr>
              <a:t>Sonuç: XGBoost genel amaçlı en iyi seçim. Büyük veri ve hız öncelikliyse LightGBM tercih edin.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Feature Importance</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389120" cy="1554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554480"/>
          </a:xfrm>
          <a:prstGeom prst="rect">
            <a:avLst/>
          </a:prstGeom>
          <a:solidFill>
            <a:srgbClr val="E8913A"/>
          </a:solidFill>
          <a:ln/>
        </p:spPr>
      </p:sp>
      <p:sp>
        <p:nvSpPr>
          <p:cNvPr id="10" name="Text 8"/>
          <p:cNvSpPr/>
          <p:nvPr/>
        </p:nvSpPr>
        <p:spPr>
          <a:xfrm>
            <a:off x="548640" y="960120"/>
            <a:ext cx="402336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Neden Önemli?</a:t>
            </a:r>
            <a:endParaRPr lang="en-US" sz="1200" dirty="0"/>
          </a:p>
        </p:txBody>
      </p:sp>
      <p:sp>
        <p:nvSpPr>
          <p:cNvPr id="11" name="Text 9"/>
          <p:cNvSpPr/>
          <p:nvPr/>
        </p:nvSpPr>
        <p:spPr>
          <a:xfrm>
            <a:off x="548640" y="1325880"/>
            <a:ext cx="4023360" cy="9144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Feature importance, modelin hangi özelliklere (sütunlara) en çok güvendiğini gösterir. Bu bilgiyle gereksiz özellikleri çıkarabilir, modeli sadeleştirebilir ve iş süreçlerini iyileştirebilirsiniz.</a:t>
            </a:r>
            <a:endParaRPr lang="en-US" sz="1100" dirty="0"/>
          </a:p>
        </p:txBody>
      </p:sp>
      <p:sp>
        <p:nvSpPr>
          <p:cNvPr id="12" name="Shape 10"/>
          <p:cNvSpPr/>
          <p:nvPr/>
        </p:nvSpPr>
        <p:spPr>
          <a:xfrm>
            <a:off x="5029200" y="868680"/>
            <a:ext cx="3840480" cy="43891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5029200" y="868680"/>
            <a:ext cx="54864" cy="438912"/>
          </a:xfrm>
          <a:prstGeom prst="rect">
            <a:avLst/>
          </a:prstGeom>
          <a:solidFill>
            <a:srgbClr val="2B7A78"/>
          </a:solidFill>
          <a:ln/>
        </p:spPr>
      </p:sp>
      <p:sp>
        <p:nvSpPr>
          <p:cNvPr id="14" name="Text 12"/>
          <p:cNvSpPr/>
          <p:nvPr/>
        </p:nvSpPr>
        <p:spPr>
          <a:xfrm>
            <a:off x="5166360" y="886968"/>
            <a:ext cx="914400" cy="384048"/>
          </a:xfrm>
          <a:prstGeom prst="rect">
            <a:avLst/>
          </a:prstGeom>
          <a:noFill/>
          <a:ln/>
        </p:spPr>
        <p:txBody>
          <a:bodyPr wrap="square" lIns="0" tIns="0" rIns="0" bIns="0" rtlCol="0" anchor="ctr"/>
          <a:lstStyle/>
          <a:p>
            <a:pPr indent="0" marL="0">
              <a:buNone/>
            </a:pPr>
            <a:r>
              <a:rPr lang="en-US" sz="1050" b="1" dirty="0">
                <a:solidFill>
                  <a:srgbClr val="2B7A78"/>
                </a:solidFill>
                <a:latin typeface="Georgia" pitchFamily="34" charset="0"/>
                <a:ea typeface="Georgia" pitchFamily="34" charset="-122"/>
                <a:cs typeface="Georgia" pitchFamily="34" charset="-120"/>
              </a:rPr>
              <a:t>Gain</a:t>
            </a:r>
            <a:endParaRPr lang="en-US" sz="1050" dirty="0"/>
          </a:p>
        </p:txBody>
      </p:sp>
      <p:sp>
        <p:nvSpPr>
          <p:cNvPr id="15" name="Text 13"/>
          <p:cNvSpPr/>
          <p:nvPr/>
        </p:nvSpPr>
        <p:spPr>
          <a:xfrm>
            <a:off x="6080760" y="886968"/>
            <a:ext cx="2651760" cy="384048"/>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Özelliğin bölmelerdeki toplam bilgi kazancı</a:t>
            </a:r>
            <a:endParaRPr lang="en-US" sz="950" dirty="0"/>
          </a:p>
        </p:txBody>
      </p:sp>
      <p:sp>
        <p:nvSpPr>
          <p:cNvPr id="16" name="Shape 14"/>
          <p:cNvSpPr/>
          <p:nvPr/>
        </p:nvSpPr>
        <p:spPr>
          <a:xfrm>
            <a:off x="5029200" y="1389888"/>
            <a:ext cx="3840480" cy="43891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5029200" y="1389888"/>
            <a:ext cx="54864" cy="438912"/>
          </a:xfrm>
          <a:prstGeom prst="rect">
            <a:avLst/>
          </a:prstGeom>
          <a:solidFill>
            <a:srgbClr val="C97B5A"/>
          </a:solidFill>
          <a:ln/>
        </p:spPr>
      </p:sp>
      <p:sp>
        <p:nvSpPr>
          <p:cNvPr id="18" name="Text 16"/>
          <p:cNvSpPr/>
          <p:nvPr/>
        </p:nvSpPr>
        <p:spPr>
          <a:xfrm>
            <a:off x="5166360" y="1408176"/>
            <a:ext cx="914400" cy="384048"/>
          </a:xfrm>
          <a:prstGeom prst="rect">
            <a:avLst/>
          </a:prstGeom>
          <a:noFill/>
          <a:ln/>
        </p:spPr>
        <p:txBody>
          <a:bodyPr wrap="square" lIns="0" tIns="0" rIns="0" bIns="0" rtlCol="0" anchor="ctr"/>
          <a:lstStyle/>
          <a:p>
            <a:pPr indent="0" marL="0">
              <a:buNone/>
            </a:pPr>
            <a:r>
              <a:rPr lang="en-US" sz="1050" b="1" dirty="0">
                <a:solidFill>
                  <a:srgbClr val="C97B5A"/>
                </a:solidFill>
                <a:latin typeface="Georgia" pitchFamily="34" charset="0"/>
                <a:ea typeface="Georgia" pitchFamily="34" charset="-122"/>
                <a:cs typeface="Georgia" pitchFamily="34" charset="-120"/>
              </a:rPr>
              <a:t>Weight</a:t>
            </a:r>
            <a:endParaRPr lang="en-US" sz="1050" dirty="0"/>
          </a:p>
        </p:txBody>
      </p:sp>
      <p:sp>
        <p:nvSpPr>
          <p:cNvPr id="19" name="Text 17"/>
          <p:cNvSpPr/>
          <p:nvPr/>
        </p:nvSpPr>
        <p:spPr>
          <a:xfrm>
            <a:off x="6080760" y="1408176"/>
            <a:ext cx="2651760" cy="384048"/>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Özelliğin kaç bölmede kullanıldığı</a:t>
            </a:r>
            <a:endParaRPr lang="en-US" sz="950" dirty="0"/>
          </a:p>
        </p:txBody>
      </p:sp>
      <p:sp>
        <p:nvSpPr>
          <p:cNvPr id="20" name="Shape 18"/>
          <p:cNvSpPr/>
          <p:nvPr/>
        </p:nvSpPr>
        <p:spPr>
          <a:xfrm>
            <a:off x="5029200" y="1911096"/>
            <a:ext cx="3840480" cy="43891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5029200" y="1911096"/>
            <a:ext cx="54864" cy="438912"/>
          </a:xfrm>
          <a:prstGeom prst="rect">
            <a:avLst/>
          </a:prstGeom>
          <a:solidFill>
            <a:srgbClr val="E8913A"/>
          </a:solidFill>
          <a:ln/>
        </p:spPr>
      </p:sp>
      <p:sp>
        <p:nvSpPr>
          <p:cNvPr id="22" name="Text 20"/>
          <p:cNvSpPr/>
          <p:nvPr/>
        </p:nvSpPr>
        <p:spPr>
          <a:xfrm>
            <a:off x="5166360" y="1929384"/>
            <a:ext cx="914400" cy="384048"/>
          </a:xfrm>
          <a:prstGeom prst="rect">
            <a:avLst/>
          </a:prstGeom>
          <a:noFill/>
          <a:ln/>
        </p:spPr>
        <p:txBody>
          <a:bodyPr wrap="square" lIns="0" tIns="0" rIns="0" bIns="0" rtlCol="0" anchor="ctr"/>
          <a:lstStyle/>
          <a:p>
            <a:pPr indent="0" marL="0">
              <a:buNone/>
            </a:pPr>
            <a:r>
              <a:rPr lang="en-US" sz="1050" b="1" dirty="0">
                <a:solidFill>
                  <a:srgbClr val="E8913A"/>
                </a:solidFill>
                <a:latin typeface="Georgia" pitchFamily="34" charset="0"/>
                <a:ea typeface="Georgia" pitchFamily="34" charset="-122"/>
                <a:cs typeface="Georgia" pitchFamily="34" charset="-120"/>
              </a:rPr>
              <a:t>Cover</a:t>
            </a:r>
            <a:endParaRPr lang="en-US" sz="1050" dirty="0"/>
          </a:p>
        </p:txBody>
      </p:sp>
      <p:sp>
        <p:nvSpPr>
          <p:cNvPr id="23" name="Text 21"/>
          <p:cNvSpPr/>
          <p:nvPr/>
        </p:nvSpPr>
        <p:spPr>
          <a:xfrm>
            <a:off x="6080760" y="1929384"/>
            <a:ext cx="2651760" cy="384048"/>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Özelliğin etkilediği örnek sayısı</a:t>
            </a:r>
            <a:endParaRPr lang="en-US" sz="950" dirty="0"/>
          </a:p>
        </p:txBody>
      </p:sp>
      <p:sp>
        <p:nvSpPr>
          <p:cNvPr id="24" name="Shape 22"/>
          <p:cNvSpPr/>
          <p:nvPr/>
        </p:nvSpPr>
        <p:spPr>
          <a:xfrm>
            <a:off x="365760" y="2651760"/>
            <a:ext cx="8412480" cy="2194560"/>
          </a:xfrm>
          <a:prstGeom prst="rect">
            <a:avLst/>
          </a:prstGeom>
          <a:solidFill>
            <a:srgbClr val="1E1E2E"/>
          </a:solidFill>
          <a:ln/>
        </p:spPr>
      </p:sp>
      <p:sp>
        <p:nvSpPr>
          <p:cNvPr id="25" name="Text 23"/>
          <p:cNvSpPr/>
          <p:nvPr/>
        </p:nvSpPr>
        <p:spPr>
          <a:xfrm>
            <a:off x="457200" y="2697480"/>
            <a:ext cx="8229600" cy="210312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CDD6F4"/>
                </a:solidFill>
                <a:latin typeface="Consolas" pitchFamily="34" charset="0"/>
                <a:ea typeface="Consolas" pitchFamily="34" charset="-122"/>
                <a:cs typeface="Consolas" pitchFamily="34" charset="-120"/>
              </a:rPr>
              <a:t>xgboost </a:t>
            </a:r>
            <a:pPr indent="0" marL="0">
              <a:buNone/>
            </a:pPr>
            <a:r>
              <a:rPr lang="en-US" sz="900" dirty="0">
                <a:solidFill>
                  <a:srgbClr val="89B4FA"/>
                </a:solidFill>
                <a:latin typeface="Consolas" pitchFamily="34" charset="0"/>
                <a:ea typeface="Consolas" pitchFamily="34" charset="-122"/>
                <a:cs typeface="Consolas" pitchFamily="34" charset="-120"/>
              </a:rPr>
              <a:t>as </a:t>
            </a:r>
            <a:pPr indent="0" marL="0">
              <a:buNone/>
            </a:pPr>
            <a:r>
              <a:rPr lang="en-US" sz="900" dirty="0">
                <a:solidFill>
                  <a:srgbClr val="A6E3A1"/>
                </a:solidFill>
                <a:latin typeface="Consolas" pitchFamily="34" charset="0"/>
                <a:ea typeface="Consolas" pitchFamily="34" charset="-122"/>
                <a:cs typeface="Consolas" pitchFamily="34" charset="-120"/>
              </a:rPr>
              <a:t>xgb
</a:t>
            </a:r>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CDD6F4"/>
                </a:solidFill>
                <a:latin typeface="Consolas" pitchFamily="34" charset="0"/>
                <a:ea typeface="Consolas" pitchFamily="34" charset="-122"/>
                <a:cs typeface="Consolas" pitchFamily="34" charset="-120"/>
              </a:rPr>
              <a:t>matplotlib.pyplot </a:t>
            </a:r>
            <a:pPr indent="0" marL="0">
              <a:buNone/>
            </a:pPr>
            <a:r>
              <a:rPr lang="en-US" sz="900" dirty="0">
                <a:solidFill>
                  <a:srgbClr val="89B4FA"/>
                </a:solidFill>
                <a:latin typeface="Consolas" pitchFamily="34" charset="0"/>
                <a:ea typeface="Consolas" pitchFamily="34" charset="-122"/>
                <a:cs typeface="Consolas" pitchFamily="34" charset="-120"/>
              </a:rPr>
              <a:t>as </a:t>
            </a:r>
            <a:pPr indent="0" marL="0">
              <a:buNone/>
            </a:pPr>
            <a:r>
              <a:rPr lang="en-US" sz="900" dirty="0">
                <a:solidFill>
                  <a:srgbClr val="A6E3A1"/>
                </a:solidFill>
                <a:latin typeface="Consolas" pitchFamily="34" charset="0"/>
                <a:ea typeface="Consolas" pitchFamily="34" charset="-122"/>
                <a:cs typeface="Consolas" pitchFamily="34" charset="-120"/>
              </a:rPr>
              <a:t>plt
</a:t>
            </a:r>
            <a:pPr indent="0" marL="0">
              <a:buNone/>
            </a:pPr>
            <a:r>
              <a:rPr lang="en-US" sz="900" dirty="0">
                <a:solidFill>
                  <a:srgbClr val="F9E2AF"/>
                </a:solidFill>
                <a:latin typeface="Consolas" pitchFamily="34" charset="0"/>
                <a:ea typeface="Consolas" pitchFamily="34" charset="-122"/>
                <a:cs typeface="Consolas" pitchFamily="34" charset="-120"/>
              </a:rPr>
              <a:t># Feature importance grafiği çiz
</a:t>
            </a:r>
            <a:pPr indent="0" marL="0">
              <a:buNone/>
            </a:pPr>
            <a:r>
              <a:rPr lang="en-US" sz="900" dirty="0">
                <a:solidFill>
                  <a:srgbClr val="A6E3A1"/>
                </a:solidFill>
                <a:latin typeface="Consolas" pitchFamily="34" charset="0"/>
                <a:ea typeface="Consolas" pitchFamily="34" charset="-122"/>
                <a:cs typeface="Consolas" pitchFamily="34" charset="-120"/>
              </a:rPr>
              <a:t>xgb.plot_importance(
</a:t>
            </a:r>
            <a:pPr indent="0" marL="0">
              <a:buNone/>
            </a:pPr>
            <a:r>
              <a:rPr lang="en-US" sz="900" dirty="0">
                <a:solidFill>
                  <a:srgbClr val="CDD6F4"/>
                </a:solidFill>
                <a:latin typeface="Consolas" pitchFamily="34" charset="0"/>
                <a:ea typeface="Consolas" pitchFamily="34" charset="-122"/>
                <a:cs typeface="Consolas" pitchFamily="34" charset="-120"/>
              </a:rPr>
              <a:t>    model,
</a:t>
            </a:r>
            <a:pPr indent="0" marL="0">
              <a:buNone/>
            </a:pPr>
            <a:r>
              <a:rPr lang="en-US" sz="900" dirty="0">
                <a:solidFill>
                  <a:srgbClr val="F9E2AF"/>
                </a:solidFill>
                <a:latin typeface="Consolas" pitchFamily="34" charset="0"/>
                <a:ea typeface="Consolas" pitchFamily="34" charset="-122"/>
                <a:cs typeface="Consolas" pitchFamily="34" charset="-120"/>
              </a:rPr>
              <a:t>    importance_type='gain',
</a:t>
            </a:r>
            <a:pPr indent="0" marL="0">
              <a:buNone/>
            </a:pPr>
            <a:r>
              <a:rPr lang="en-US" sz="900" dirty="0">
                <a:solidFill>
                  <a:srgbClr val="F9E2AF"/>
                </a:solidFill>
                <a:latin typeface="Consolas" pitchFamily="34" charset="0"/>
                <a:ea typeface="Consolas" pitchFamily="34" charset="-122"/>
                <a:cs typeface="Consolas" pitchFamily="34" charset="-120"/>
              </a:rPr>
              <a:t>    max_num_features=10,
</a:t>
            </a:r>
            <a:pPr indent="0" marL="0">
              <a:buNone/>
            </a:pPr>
            <a:r>
              <a:rPr lang="en-US" sz="900" dirty="0">
                <a:solidFill>
                  <a:srgbClr val="F9E2AF"/>
                </a:solidFill>
                <a:latin typeface="Consolas" pitchFamily="34" charset="0"/>
                <a:ea typeface="Consolas" pitchFamily="34" charset="-122"/>
                <a:cs typeface="Consolas" pitchFamily="34" charset="-120"/>
              </a:rPr>
              <a:t>    title='En Önemli 10 Özellik'
</a:t>
            </a:r>
            <a:pPr indent="0" marL="0">
              <a:buNone/>
            </a:pPr>
            <a:r>
              <a:rPr lang="en-US" sz="900" dirty="0">
                <a:solidFill>
                  <a:srgbClr val="CDD6F4"/>
                </a:solidFill>
                <a:latin typeface="Consolas" pitchFamily="34" charset="0"/>
                <a:ea typeface="Consolas" pitchFamily="34" charset="-122"/>
                <a:cs typeface="Consolas" pitchFamily="34" charset="-120"/>
              </a:rPr>
              <a:t>)
</a:t>
            </a:r>
            <a:pPr indent="0" marL="0">
              <a:buNone/>
            </a:pPr>
            <a:r>
              <a:rPr lang="en-US" sz="900" dirty="0">
                <a:solidFill>
                  <a:srgbClr val="A6E3A1"/>
                </a:solidFill>
                <a:latin typeface="Consolas" pitchFamily="34" charset="0"/>
                <a:ea typeface="Consolas" pitchFamily="34" charset="-122"/>
                <a:cs typeface="Consolas" pitchFamily="34" charset="-120"/>
              </a:rPr>
              <a:t>plt.tight_layout()</a:t>
            </a:r>
            <a:endParaRPr lang="en-US" sz="900" dirty="0"/>
          </a:p>
          <a:p>
            <a:pPr indent="0" marL="0">
              <a:buNone/>
            </a:pPr>
            <a:r>
              <a:rPr lang="en-US" sz="900" dirty="0">
                <a:solidFill>
                  <a:srgbClr val="A6E3A1"/>
                </a:solidFill>
                <a:latin typeface="Consolas" pitchFamily="34" charset="0"/>
                <a:ea typeface="Consolas" pitchFamily="34" charset="-122"/>
                <a:cs typeface="Consolas" pitchFamily="34" charset="-120"/>
              </a:rPr>
              <a:t>plt.show()</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Overfitting Problemi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841248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280160"/>
          </a:xfrm>
          <a:prstGeom prst="rect">
            <a:avLst/>
          </a:prstGeom>
          <a:solidFill>
            <a:srgbClr val="D94F4F"/>
          </a:solidFill>
          <a:ln/>
        </p:spPr>
      </p:sp>
      <p:sp>
        <p:nvSpPr>
          <p:cNvPr id="10" name="Text 8"/>
          <p:cNvSpPr/>
          <p:nvPr/>
        </p:nvSpPr>
        <p:spPr>
          <a:xfrm>
            <a:off x="548640" y="960120"/>
            <a:ext cx="804672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Modelin En Büyük Düşmanı: Aşırı Uyum</a:t>
            </a:r>
            <a:endParaRPr lang="en-US" sz="1200" dirty="0"/>
          </a:p>
        </p:txBody>
      </p:sp>
      <p:sp>
        <p:nvSpPr>
          <p:cNvPr id="11" name="Text 9"/>
          <p:cNvSpPr/>
          <p:nvPr/>
        </p:nvSpPr>
        <p:spPr>
          <a:xfrm>
            <a:off x="548640" y="1325880"/>
            <a:ext cx="8046720" cy="6400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Overfitting, modelin eğitim verisini ezberlemesi demektir. Eğitim setinde mükemmel performans gösterirken, yeni (görülmemiş) veride başarısız olur. Bu, modelin genelleme yeteneğini kaybettiği anlamına gelir.</a:t>
            </a:r>
            <a:endParaRPr lang="en-US" sz="1100" dirty="0"/>
          </a:p>
        </p:txBody>
      </p:sp>
      <p:sp>
        <p:nvSpPr>
          <p:cNvPr id="12" name="Shape 10"/>
          <p:cNvSpPr/>
          <p:nvPr/>
        </p:nvSpPr>
        <p:spPr>
          <a:xfrm>
            <a:off x="365760" y="2377440"/>
            <a:ext cx="2697480" cy="25146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365760" y="2377440"/>
            <a:ext cx="2697480" cy="54864"/>
          </a:xfrm>
          <a:prstGeom prst="rect">
            <a:avLst/>
          </a:prstGeom>
          <a:solidFill>
            <a:srgbClr val="4A7FC7"/>
          </a:solidFill>
          <a:ln/>
        </p:spPr>
      </p:sp>
      <p:sp>
        <p:nvSpPr>
          <p:cNvPr id="14" name="Text 12"/>
          <p:cNvSpPr/>
          <p:nvPr/>
        </p:nvSpPr>
        <p:spPr>
          <a:xfrm>
            <a:off x="502920" y="2542032"/>
            <a:ext cx="2423160" cy="347472"/>
          </a:xfrm>
          <a:prstGeom prst="rect">
            <a:avLst/>
          </a:prstGeom>
          <a:noFill/>
          <a:ln/>
        </p:spPr>
        <p:txBody>
          <a:bodyPr wrap="square" lIns="0" tIns="0" rIns="0" bIns="0" rtlCol="0" anchor="ctr"/>
          <a:lstStyle/>
          <a:p>
            <a:pPr algn="ctr" indent="0" marL="0">
              <a:buNone/>
            </a:pPr>
            <a:r>
              <a:rPr lang="en-US" sz="1400" b="1" dirty="0">
                <a:solidFill>
                  <a:srgbClr val="4A7FC7"/>
                </a:solidFill>
                <a:latin typeface="Georgia" pitchFamily="34" charset="0"/>
                <a:ea typeface="Georgia" pitchFamily="34" charset="-122"/>
                <a:cs typeface="Georgia" pitchFamily="34" charset="-120"/>
              </a:rPr>
              <a:t>Underfitting</a:t>
            </a:r>
            <a:endParaRPr lang="en-US" sz="1400" dirty="0"/>
          </a:p>
        </p:txBody>
      </p:sp>
      <p:sp>
        <p:nvSpPr>
          <p:cNvPr id="15" name="Text 13"/>
          <p:cNvSpPr/>
          <p:nvPr/>
        </p:nvSpPr>
        <p:spPr>
          <a:xfrm>
            <a:off x="502920" y="2926080"/>
            <a:ext cx="2423160" cy="123444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Model çok basit</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Hem eğitim hem test</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hatası yüksek</a:t>
            </a:r>
            <a:endParaRPr lang="en-US" sz="1000" dirty="0"/>
          </a:p>
          <a:p>
            <a:pPr indent="0" marL="0">
              <a:buNone/>
            </a:pP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Örn: max_depth=1</a:t>
            </a:r>
            <a:endParaRPr lang="en-US" sz="1000" dirty="0"/>
          </a:p>
        </p:txBody>
      </p:sp>
      <p:sp>
        <p:nvSpPr>
          <p:cNvPr id="16" name="Shape 14"/>
          <p:cNvSpPr/>
          <p:nvPr/>
        </p:nvSpPr>
        <p:spPr>
          <a:xfrm>
            <a:off x="640080" y="4160520"/>
            <a:ext cx="2148840" cy="548640"/>
          </a:xfrm>
          <a:prstGeom prst="rect">
            <a:avLst/>
          </a:prstGeom>
          <a:solidFill>
            <a:srgbClr val="FEF5EE"/>
          </a:solidFill>
          <a:ln/>
        </p:spPr>
      </p:sp>
      <p:sp>
        <p:nvSpPr>
          <p:cNvPr id="17" name="Text 15"/>
          <p:cNvSpPr/>
          <p:nvPr/>
        </p:nvSpPr>
        <p:spPr>
          <a:xfrm>
            <a:off x="640080" y="4160520"/>
            <a:ext cx="2148840" cy="548640"/>
          </a:xfrm>
          <a:prstGeom prst="rect">
            <a:avLst/>
          </a:prstGeom>
          <a:noFill/>
          <a:ln/>
        </p:spPr>
        <p:txBody>
          <a:bodyPr wrap="square" lIns="0" tIns="0" rIns="0" bIns="0" rtlCol="0" anchor="ctr"/>
          <a:lstStyle/>
          <a:p>
            <a:pPr algn="ctr" indent="0" marL="0">
              <a:buNone/>
            </a:pPr>
            <a:r>
              <a:rPr lang="en-US" sz="950" dirty="0">
                <a:solidFill>
                  <a:srgbClr val="4A7FC7"/>
                </a:solidFill>
                <a:latin typeface="Consolas" pitchFamily="34" charset="0"/>
                <a:ea typeface="Consolas" pitchFamily="34" charset="-122"/>
                <a:cs typeface="Consolas" pitchFamily="34" charset="-120"/>
              </a:rPr>
              <a:t>Eğitim: %60</a:t>
            </a:r>
            <a:endParaRPr lang="en-US" sz="950" dirty="0"/>
          </a:p>
          <a:p>
            <a:pPr algn="ctr" indent="0" marL="0">
              <a:buNone/>
            </a:pPr>
            <a:r>
              <a:rPr lang="en-US" sz="950" dirty="0">
                <a:solidFill>
                  <a:srgbClr val="4A7FC7"/>
                </a:solidFill>
                <a:latin typeface="Consolas" pitchFamily="34" charset="0"/>
                <a:ea typeface="Consolas" pitchFamily="34" charset="-122"/>
                <a:cs typeface="Consolas" pitchFamily="34" charset="-120"/>
              </a:rPr>
              <a:t>Test: %58</a:t>
            </a:r>
            <a:endParaRPr lang="en-US" sz="950" dirty="0"/>
          </a:p>
        </p:txBody>
      </p:sp>
      <p:sp>
        <p:nvSpPr>
          <p:cNvPr id="18" name="Shape 16"/>
          <p:cNvSpPr/>
          <p:nvPr/>
        </p:nvSpPr>
        <p:spPr>
          <a:xfrm>
            <a:off x="3246120" y="2377440"/>
            <a:ext cx="2697480" cy="25146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9" name="Shape 17"/>
          <p:cNvSpPr/>
          <p:nvPr/>
        </p:nvSpPr>
        <p:spPr>
          <a:xfrm>
            <a:off x="3246120" y="2377440"/>
            <a:ext cx="2697480" cy="54864"/>
          </a:xfrm>
          <a:prstGeom prst="rect">
            <a:avLst/>
          </a:prstGeom>
          <a:solidFill>
            <a:srgbClr val="3A9E6B"/>
          </a:solidFill>
          <a:ln/>
        </p:spPr>
      </p:sp>
      <p:sp>
        <p:nvSpPr>
          <p:cNvPr id="20" name="Text 18"/>
          <p:cNvSpPr/>
          <p:nvPr/>
        </p:nvSpPr>
        <p:spPr>
          <a:xfrm>
            <a:off x="3383280" y="2542032"/>
            <a:ext cx="2423160" cy="347472"/>
          </a:xfrm>
          <a:prstGeom prst="rect">
            <a:avLst/>
          </a:prstGeom>
          <a:noFill/>
          <a:ln/>
        </p:spPr>
        <p:txBody>
          <a:bodyPr wrap="square" lIns="0" tIns="0" rIns="0" bIns="0" rtlCol="0" anchor="ctr"/>
          <a:lstStyle/>
          <a:p>
            <a:pPr algn="ctr" indent="0" marL="0">
              <a:buNone/>
            </a:pPr>
            <a:r>
              <a:rPr lang="en-US" sz="1400" b="1" dirty="0">
                <a:solidFill>
                  <a:srgbClr val="3A9E6B"/>
                </a:solidFill>
                <a:latin typeface="Georgia" pitchFamily="34" charset="0"/>
                <a:ea typeface="Georgia" pitchFamily="34" charset="-122"/>
                <a:cs typeface="Georgia" pitchFamily="34" charset="-120"/>
              </a:rPr>
              <a:t>Optimal Fit</a:t>
            </a:r>
            <a:endParaRPr lang="en-US" sz="1400" dirty="0"/>
          </a:p>
        </p:txBody>
      </p:sp>
      <p:sp>
        <p:nvSpPr>
          <p:cNvPr id="21" name="Text 19"/>
          <p:cNvSpPr/>
          <p:nvPr/>
        </p:nvSpPr>
        <p:spPr>
          <a:xfrm>
            <a:off x="3383280" y="2926080"/>
            <a:ext cx="2423160" cy="123444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Doğru karmaşıklık</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Eğitim ve test</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hatası dengeli</a:t>
            </a:r>
            <a:endParaRPr lang="en-US" sz="1000" dirty="0"/>
          </a:p>
          <a:p>
            <a:pPr indent="0" marL="0">
              <a:buNone/>
            </a:pP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Örn: max_depth=6</a:t>
            </a:r>
            <a:endParaRPr lang="en-US" sz="1000" dirty="0"/>
          </a:p>
        </p:txBody>
      </p:sp>
      <p:sp>
        <p:nvSpPr>
          <p:cNvPr id="22" name="Shape 20"/>
          <p:cNvSpPr/>
          <p:nvPr/>
        </p:nvSpPr>
        <p:spPr>
          <a:xfrm>
            <a:off x="3520440" y="4160520"/>
            <a:ext cx="2148840" cy="548640"/>
          </a:xfrm>
          <a:prstGeom prst="rect">
            <a:avLst/>
          </a:prstGeom>
          <a:solidFill>
            <a:srgbClr val="FEF5EE"/>
          </a:solidFill>
          <a:ln/>
        </p:spPr>
      </p:sp>
      <p:sp>
        <p:nvSpPr>
          <p:cNvPr id="23" name="Text 21"/>
          <p:cNvSpPr/>
          <p:nvPr/>
        </p:nvSpPr>
        <p:spPr>
          <a:xfrm>
            <a:off x="3520440" y="4160520"/>
            <a:ext cx="2148840" cy="548640"/>
          </a:xfrm>
          <a:prstGeom prst="rect">
            <a:avLst/>
          </a:prstGeom>
          <a:noFill/>
          <a:ln/>
        </p:spPr>
        <p:txBody>
          <a:bodyPr wrap="square" lIns="0" tIns="0" rIns="0" bIns="0" rtlCol="0" anchor="ctr"/>
          <a:lstStyle/>
          <a:p>
            <a:pPr algn="ctr" indent="0" marL="0">
              <a:buNone/>
            </a:pPr>
            <a:r>
              <a:rPr lang="en-US" sz="950" dirty="0">
                <a:solidFill>
                  <a:srgbClr val="3A9E6B"/>
                </a:solidFill>
                <a:latin typeface="Consolas" pitchFamily="34" charset="0"/>
                <a:ea typeface="Consolas" pitchFamily="34" charset="-122"/>
                <a:cs typeface="Consolas" pitchFamily="34" charset="-120"/>
              </a:rPr>
              <a:t>Eğitim: %92</a:t>
            </a:r>
            <a:endParaRPr lang="en-US" sz="950" dirty="0"/>
          </a:p>
          <a:p>
            <a:pPr algn="ctr" indent="0" marL="0">
              <a:buNone/>
            </a:pPr>
            <a:r>
              <a:rPr lang="en-US" sz="950" dirty="0">
                <a:solidFill>
                  <a:srgbClr val="3A9E6B"/>
                </a:solidFill>
                <a:latin typeface="Consolas" pitchFamily="34" charset="0"/>
                <a:ea typeface="Consolas" pitchFamily="34" charset="-122"/>
                <a:cs typeface="Consolas" pitchFamily="34" charset="-120"/>
              </a:rPr>
              <a:t>Test: %89</a:t>
            </a:r>
            <a:endParaRPr lang="en-US" sz="950" dirty="0"/>
          </a:p>
        </p:txBody>
      </p:sp>
      <p:sp>
        <p:nvSpPr>
          <p:cNvPr id="24" name="Shape 22"/>
          <p:cNvSpPr/>
          <p:nvPr/>
        </p:nvSpPr>
        <p:spPr>
          <a:xfrm>
            <a:off x="6126480" y="2377440"/>
            <a:ext cx="2697480" cy="25146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6126480" y="2377440"/>
            <a:ext cx="2697480" cy="54864"/>
          </a:xfrm>
          <a:prstGeom prst="rect">
            <a:avLst/>
          </a:prstGeom>
          <a:solidFill>
            <a:srgbClr val="D94F4F"/>
          </a:solidFill>
          <a:ln/>
        </p:spPr>
      </p:sp>
      <p:sp>
        <p:nvSpPr>
          <p:cNvPr id="26" name="Text 24"/>
          <p:cNvSpPr/>
          <p:nvPr/>
        </p:nvSpPr>
        <p:spPr>
          <a:xfrm>
            <a:off x="6263640" y="2542032"/>
            <a:ext cx="2423160" cy="347472"/>
          </a:xfrm>
          <a:prstGeom prst="rect">
            <a:avLst/>
          </a:prstGeom>
          <a:noFill/>
          <a:ln/>
        </p:spPr>
        <p:txBody>
          <a:bodyPr wrap="square" lIns="0" tIns="0" rIns="0" bIns="0" rtlCol="0" anchor="ctr"/>
          <a:lstStyle/>
          <a:p>
            <a:pPr algn="ctr" indent="0" marL="0">
              <a:buNone/>
            </a:pPr>
            <a:r>
              <a:rPr lang="en-US" sz="1400" b="1" dirty="0">
                <a:solidFill>
                  <a:srgbClr val="D94F4F"/>
                </a:solidFill>
                <a:latin typeface="Georgia" pitchFamily="34" charset="0"/>
                <a:ea typeface="Georgia" pitchFamily="34" charset="-122"/>
                <a:cs typeface="Georgia" pitchFamily="34" charset="-120"/>
              </a:rPr>
              <a:t>Overfitting</a:t>
            </a:r>
            <a:endParaRPr lang="en-US" sz="1400" dirty="0"/>
          </a:p>
        </p:txBody>
      </p:sp>
      <p:sp>
        <p:nvSpPr>
          <p:cNvPr id="27" name="Text 25"/>
          <p:cNvSpPr/>
          <p:nvPr/>
        </p:nvSpPr>
        <p:spPr>
          <a:xfrm>
            <a:off x="6263640" y="2926080"/>
            <a:ext cx="2423160" cy="123444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Model çok karmaşık</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Eğitim mükemmel</a:t>
            </a: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test kötü</a:t>
            </a:r>
            <a:endParaRPr lang="en-US" sz="1000" dirty="0"/>
          </a:p>
          <a:p>
            <a:pPr indent="0" marL="0">
              <a:buNone/>
            </a:pPr>
            <a:endParaRPr lang="en-US" sz="1000" dirty="0"/>
          </a:p>
          <a:p>
            <a:pPr indent="0" marL="0">
              <a:buNone/>
            </a:pPr>
            <a:r>
              <a:rPr lang="en-US" sz="1000" dirty="0">
                <a:solidFill>
                  <a:srgbClr val="2E1F1A"/>
                </a:solidFill>
                <a:latin typeface="Calibri" pitchFamily="34" charset="0"/>
                <a:ea typeface="Calibri" pitchFamily="34" charset="-122"/>
                <a:cs typeface="Calibri" pitchFamily="34" charset="-120"/>
              </a:rPr>
              <a:t>Örn: max_depth=50</a:t>
            </a:r>
            <a:endParaRPr lang="en-US" sz="1000" dirty="0"/>
          </a:p>
        </p:txBody>
      </p:sp>
      <p:sp>
        <p:nvSpPr>
          <p:cNvPr id="28" name="Shape 26"/>
          <p:cNvSpPr/>
          <p:nvPr/>
        </p:nvSpPr>
        <p:spPr>
          <a:xfrm>
            <a:off x="6400800" y="4160520"/>
            <a:ext cx="2148840" cy="548640"/>
          </a:xfrm>
          <a:prstGeom prst="rect">
            <a:avLst/>
          </a:prstGeom>
          <a:solidFill>
            <a:srgbClr val="FEF5EE"/>
          </a:solidFill>
          <a:ln/>
        </p:spPr>
      </p:sp>
      <p:sp>
        <p:nvSpPr>
          <p:cNvPr id="29" name="Text 27"/>
          <p:cNvSpPr/>
          <p:nvPr/>
        </p:nvSpPr>
        <p:spPr>
          <a:xfrm>
            <a:off x="6400800" y="4160520"/>
            <a:ext cx="2148840" cy="548640"/>
          </a:xfrm>
          <a:prstGeom prst="rect">
            <a:avLst/>
          </a:prstGeom>
          <a:noFill/>
          <a:ln/>
        </p:spPr>
        <p:txBody>
          <a:bodyPr wrap="square" lIns="0" tIns="0" rIns="0" bIns="0" rtlCol="0" anchor="ctr"/>
          <a:lstStyle/>
          <a:p>
            <a:pPr algn="ctr" indent="0" marL="0">
              <a:buNone/>
            </a:pPr>
            <a:r>
              <a:rPr lang="en-US" sz="950" dirty="0">
                <a:solidFill>
                  <a:srgbClr val="D94F4F"/>
                </a:solidFill>
                <a:latin typeface="Consolas" pitchFamily="34" charset="0"/>
                <a:ea typeface="Consolas" pitchFamily="34" charset="-122"/>
                <a:cs typeface="Consolas" pitchFamily="34" charset="-120"/>
              </a:rPr>
              <a:t>Eğitim: %99</a:t>
            </a:r>
            <a:endParaRPr lang="en-US" sz="950" dirty="0"/>
          </a:p>
          <a:p>
            <a:pPr algn="ctr" indent="0" marL="0">
              <a:buNone/>
            </a:pPr>
            <a:r>
              <a:rPr lang="en-US" sz="950" dirty="0">
                <a:solidFill>
                  <a:srgbClr val="D94F4F"/>
                </a:solidFill>
                <a:latin typeface="Consolas" pitchFamily="34" charset="0"/>
                <a:ea typeface="Consolas" pitchFamily="34" charset="-122"/>
                <a:cs typeface="Consolas" pitchFamily="34" charset="-120"/>
              </a:rPr>
              <a:t>Test: %72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Regularization</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02336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4023360" cy="54864"/>
          </a:xfrm>
          <a:prstGeom prst="rect">
            <a:avLst/>
          </a:prstGeom>
          <a:solidFill>
            <a:srgbClr val="2B7A78"/>
          </a:solidFill>
          <a:ln/>
        </p:spPr>
      </p:sp>
      <p:sp>
        <p:nvSpPr>
          <p:cNvPr id="10" name="Text 8"/>
          <p:cNvSpPr/>
          <p:nvPr/>
        </p:nvSpPr>
        <p:spPr>
          <a:xfrm>
            <a:off x="548640" y="1051560"/>
            <a:ext cx="36576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L1 — Lasso Regularization</a:t>
            </a:r>
            <a:endParaRPr lang="en-US" sz="1200" dirty="0"/>
          </a:p>
        </p:txBody>
      </p:sp>
      <p:sp>
        <p:nvSpPr>
          <p:cNvPr id="11" name="Text 9"/>
          <p:cNvSpPr/>
          <p:nvPr/>
        </p:nvSpPr>
        <p:spPr>
          <a:xfrm>
            <a:off x="548640" y="1417320"/>
            <a:ext cx="3657600" cy="12801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Ağırlıkların mutlak değerlerinin toplamını ceza terimi olarak ekler. Bazı ağırlıkları tamamen sıfırlar → otomatik özellik seçimi yapar.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XGBoost: reg_alpha parametresi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Formül: Loss + α × Σ|w|</a:t>
            </a:r>
            <a:endParaRPr lang="en-US" sz="1100" dirty="0"/>
          </a:p>
        </p:txBody>
      </p:sp>
      <p:sp>
        <p:nvSpPr>
          <p:cNvPr id="12" name="Shape 10"/>
          <p:cNvSpPr/>
          <p:nvPr/>
        </p:nvSpPr>
        <p:spPr>
          <a:xfrm>
            <a:off x="4754880" y="868680"/>
            <a:ext cx="4023360" cy="20116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754880" y="868680"/>
            <a:ext cx="4023360" cy="54864"/>
          </a:xfrm>
          <a:prstGeom prst="rect">
            <a:avLst/>
          </a:prstGeom>
          <a:solidFill>
            <a:srgbClr val="C97B5A"/>
          </a:solidFill>
          <a:ln/>
        </p:spPr>
      </p:sp>
      <p:sp>
        <p:nvSpPr>
          <p:cNvPr id="14" name="Text 12"/>
          <p:cNvSpPr/>
          <p:nvPr/>
        </p:nvSpPr>
        <p:spPr>
          <a:xfrm>
            <a:off x="4937760" y="1051560"/>
            <a:ext cx="365760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L2 — Ridge Regularization</a:t>
            </a:r>
            <a:endParaRPr lang="en-US" sz="1200" dirty="0"/>
          </a:p>
        </p:txBody>
      </p:sp>
      <p:sp>
        <p:nvSpPr>
          <p:cNvPr id="15" name="Text 13"/>
          <p:cNvSpPr/>
          <p:nvPr/>
        </p:nvSpPr>
        <p:spPr>
          <a:xfrm>
            <a:off x="4937760" y="1417320"/>
            <a:ext cx="3657600" cy="12801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Ağırlıkların karelerinin toplamını ceza terimi olarak ekler. Büyük ağırlıkları küçültür ama sıfırlamaz → tüm özellikler kalır.</a:t>
            </a:r>
            <a:endParaRPr lang="en-US" sz="1100" dirty="0"/>
          </a:p>
          <a:p>
            <a:pPr indent="0" marL="0">
              <a:buNone/>
            </a:pP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XGBoost: reg_lambda parametresi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Formül: Loss + λ × Σw²</a:t>
            </a:r>
            <a:endParaRPr lang="en-US" sz="1100" dirty="0"/>
          </a:p>
        </p:txBody>
      </p:sp>
      <p:sp>
        <p:nvSpPr>
          <p:cNvPr id="16" name="Shape 14"/>
          <p:cNvSpPr/>
          <p:nvPr/>
        </p:nvSpPr>
        <p:spPr>
          <a:xfrm>
            <a:off x="365760" y="3108960"/>
            <a:ext cx="8412480" cy="17373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365760" y="3108960"/>
            <a:ext cx="54864" cy="1737360"/>
          </a:xfrm>
          <a:prstGeom prst="rect">
            <a:avLst/>
          </a:prstGeom>
          <a:solidFill>
            <a:srgbClr val="E8913A"/>
          </a:solidFill>
          <a:ln/>
        </p:spPr>
      </p:sp>
      <p:sp>
        <p:nvSpPr>
          <p:cNvPr id="18" name="Text 16"/>
          <p:cNvSpPr/>
          <p:nvPr/>
        </p:nvSpPr>
        <p:spPr>
          <a:xfrm>
            <a:off x="548640" y="3200400"/>
            <a:ext cx="804672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Ensemble Modellerde Neden Gerekli?</a:t>
            </a:r>
            <a:endParaRPr lang="en-US" sz="1200" dirty="0"/>
          </a:p>
        </p:txBody>
      </p:sp>
      <p:sp>
        <p:nvSpPr>
          <p:cNvPr id="19" name="Shape 17"/>
          <p:cNvSpPr/>
          <p:nvPr/>
        </p:nvSpPr>
        <p:spPr>
          <a:xfrm>
            <a:off x="548640" y="3611880"/>
            <a:ext cx="329184" cy="329184"/>
          </a:xfrm>
          <a:prstGeom prst="ellipse">
            <a:avLst/>
          </a:prstGeom>
          <a:solidFill>
            <a:srgbClr val="2B7A78"/>
          </a:solidFill>
          <a:ln/>
        </p:spPr>
      </p:sp>
      <p:sp>
        <p:nvSpPr>
          <p:cNvPr id="20" name="Text 18"/>
          <p:cNvSpPr/>
          <p:nvPr/>
        </p:nvSpPr>
        <p:spPr>
          <a:xfrm>
            <a:off x="548640" y="3611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9"/>
          <p:cNvSpPr/>
          <p:nvPr/>
        </p:nvSpPr>
        <p:spPr>
          <a:xfrm>
            <a:off x="932688" y="3584448"/>
            <a:ext cx="2194560" cy="292608"/>
          </a:xfrm>
          <a:prstGeom prst="rect">
            <a:avLst/>
          </a:prstGeom>
          <a:noFill/>
          <a:ln/>
        </p:spPr>
        <p:txBody>
          <a:bodyPr wrap="square" lIns="0" tIns="0" rIns="0" bIns="0" rtlCol="0" anchor="ctr"/>
          <a:lstStyle/>
          <a:p>
            <a:pPr indent="0" marL="0">
              <a:buNone/>
            </a:pPr>
            <a:r>
              <a:rPr lang="en-US" sz="1050" b="1" dirty="0">
                <a:solidFill>
                  <a:srgbClr val="2B7A78"/>
                </a:solidFill>
                <a:latin typeface="Georgia" pitchFamily="34" charset="0"/>
                <a:ea typeface="Georgia" pitchFamily="34" charset="-122"/>
                <a:cs typeface="Georgia" pitchFamily="34" charset="-120"/>
              </a:rPr>
              <a:t>Karmaşıklık Kontrolü</a:t>
            </a:r>
            <a:endParaRPr lang="en-US" sz="1050" dirty="0"/>
          </a:p>
        </p:txBody>
      </p:sp>
      <p:sp>
        <p:nvSpPr>
          <p:cNvPr id="22" name="Text 20"/>
          <p:cNvSpPr/>
          <p:nvPr/>
        </p:nvSpPr>
        <p:spPr>
          <a:xfrm>
            <a:off x="548640" y="3931920"/>
            <a:ext cx="2560320" cy="77724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Yüzlerce ağaç → milyonlarca parametre. Regularization olmadan model ezberlemeye meyillidir.</a:t>
            </a:r>
            <a:endParaRPr lang="en-US" sz="950" dirty="0"/>
          </a:p>
        </p:txBody>
      </p:sp>
      <p:sp>
        <p:nvSpPr>
          <p:cNvPr id="23" name="Shape 21"/>
          <p:cNvSpPr/>
          <p:nvPr/>
        </p:nvSpPr>
        <p:spPr>
          <a:xfrm>
            <a:off x="3291840" y="3611880"/>
            <a:ext cx="329184" cy="329184"/>
          </a:xfrm>
          <a:prstGeom prst="ellipse">
            <a:avLst/>
          </a:prstGeom>
          <a:solidFill>
            <a:srgbClr val="C97B5A"/>
          </a:solidFill>
          <a:ln/>
        </p:spPr>
      </p:sp>
      <p:sp>
        <p:nvSpPr>
          <p:cNvPr id="24" name="Text 22"/>
          <p:cNvSpPr/>
          <p:nvPr/>
        </p:nvSpPr>
        <p:spPr>
          <a:xfrm>
            <a:off x="3291840" y="3611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p:nvPr/>
        </p:nvSpPr>
        <p:spPr>
          <a:xfrm>
            <a:off x="3675888" y="3584448"/>
            <a:ext cx="2194560" cy="292608"/>
          </a:xfrm>
          <a:prstGeom prst="rect">
            <a:avLst/>
          </a:prstGeom>
          <a:noFill/>
          <a:ln/>
        </p:spPr>
        <p:txBody>
          <a:bodyPr wrap="square" lIns="0" tIns="0" rIns="0" bIns="0" rtlCol="0" anchor="ctr"/>
          <a:lstStyle/>
          <a:p>
            <a:pPr indent="0" marL="0">
              <a:buNone/>
            </a:pPr>
            <a:r>
              <a:rPr lang="en-US" sz="1050" b="1" dirty="0">
                <a:solidFill>
                  <a:srgbClr val="C97B5A"/>
                </a:solidFill>
                <a:latin typeface="Georgia" pitchFamily="34" charset="0"/>
                <a:ea typeface="Georgia" pitchFamily="34" charset="-122"/>
                <a:cs typeface="Georgia" pitchFamily="34" charset="-120"/>
              </a:rPr>
              <a:t>Genelleme Gücü</a:t>
            </a:r>
            <a:endParaRPr lang="en-US" sz="1050" dirty="0"/>
          </a:p>
        </p:txBody>
      </p:sp>
      <p:sp>
        <p:nvSpPr>
          <p:cNvPr id="26" name="Text 24"/>
          <p:cNvSpPr/>
          <p:nvPr/>
        </p:nvSpPr>
        <p:spPr>
          <a:xfrm>
            <a:off x="3291840" y="3931920"/>
            <a:ext cx="2560320" cy="77724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Ceza terimi, modeli basit ve genellenebilir tutarak test performansını artırır.</a:t>
            </a:r>
            <a:endParaRPr lang="en-US" sz="950" dirty="0"/>
          </a:p>
        </p:txBody>
      </p:sp>
      <p:sp>
        <p:nvSpPr>
          <p:cNvPr id="27" name="Shape 25"/>
          <p:cNvSpPr/>
          <p:nvPr/>
        </p:nvSpPr>
        <p:spPr>
          <a:xfrm>
            <a:off x="6035040" y="3611880"/>
            <a:ext cx="329184" cy="329184"/>
          </a:xfrm>
          <a:prstGeom prst="ellipse">
            <a:avLst/>
          </a:prstGeom>
          <a:solidFill>
            <a:srgbClr val="E8913A"/>
          </a:solidFill>
          <a:ln/>
        </p:spPr>
      </p:sp>
      <p:sp>
        <p:nvSpPr>
          <p:cNvPr id="28" name="Text 26"/>
          <p:cNvSpPr/>
          <p:nvPr/>
        </p:nvSpPr>
        <p:spPr>
          <a:xfrm>
            <a:off x="6035040" y="36118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9" name="Text 27"/>
          <p:cNvSpPr/>
          <p:nvPr/>
        </p:nvSpPr>
        <p:spPr>
          <a:xfrm>
            <a:off x="6419088" y="3584448"/>
            <a:ext cx="2194560" cy="292608"/>
          </a:xfrm>
          <a:prstGeom prst="rect">
            <a:avLst/>
          </a:prstGeom>
          <a:noFill/>
          <a:ln/>
        </p:spPr>
        <p:txBody>
          <a:bodyPr wrap="square" lIns="0" tIns="0" rIns="0" bIns="0" rtlCol="0" anchor="ctr"/>
          <a:lstStyle/>
          <a:p>
            <a:pPr indent="0" marL="0">
              <a:buNone/>
            </a:pPr>
            <a:r>
              <a:rPr lang="en-US" sz="1050" b="1" dirty="0">
                <a:solidFill>
                  <a:srgbClr val="E8913A"/>
                </a:solidFill>
                <a:latin typeface="Georgia" pitchFamily="34" charset="0"/>
                <a:ea typeface="Georgia" pitchFamily="34" charset="-122"/>
                <a:cs typeface="Georgia" pitchFamily="34" charset="-120"/>
              </a:rPr>
              <a:t>Özellik Seçimi (L1)</a:t>
            </a:r>
            <a:endParaRPr lang="en-US" sz="1050" dirty="0"/>
          </a:p>
        </p:txBody>
      </p:sp>
      <p:sp>
        <p:nvSpPr>
          <p:cNvPr id="30" name="Text 28"/>
          <p:cNvSpPr/>
          <p:nvPr/>
        </p:nvSpPr>
        <p:spPr>
          <a:xfrm>
            <a:off x="6035040" y="3931920"/>
            <a:ext cx="2560320" cy="777240"/>
          </a:xfrm>
          <a:prstGeom prst="rect">
            <a:avLst/>
          </a:prstGeom>
          <a:noFill/>
          <a:ln/>
        </p:spPr>
        <p:txBody>
          <a:bodyPr wrap="square" lIns="0" tIns="0" rIns="0" bIns="0" rtlCol="0" anchor="ctr"/>
          <a:lstStyle/>
          <a:p>
            <a:pPr indent="0" marL="0">
              <a:buNone/>
            </a:pPr>
            <a:r>
              <a:rPr lang="en-US" sz="950" dirty="0">
                <a:solidFill>
                  <a:srgbClr val="2E1F1A"/>
                </a:solidFill>
                <a:latin typeface="Calibri" pitchFamily="34" charset="0"/>
                <a:ea typeface="Calibri" pitchFamily="34" charset="-122"/>
                <a:cs typeface="Calibri" pitchFamily="34" charset="-120"/>
              </a:rPr>
              <a:t>Gereksiz özelliklerin etkisini otomatik olarak sıfırlayarak modeli sadeleştirir.</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Hiperparametre Optimizasyonu</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023360" cy="32004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4023360" cy="54864"/>
          </a:xfrm>
          <a:prstGeom prst="rect">
            <a:avLst/>
          </a:prstGeom>
          <a:solidFill>
            <a:srgbClr val="2B7A78"/>
          </a:solidFill>
          <a:ln/>
        </p:spPr>
      </p:sp>
      <p:sp>
        <p:nvSpPr>
          <p:cNvPr id="10" name="Text 8"/>
          <p:cNvSpPr/>
          <p:nvPr/>
        </p:nvSpPr>
        <p:spPr>
          <a:xfrm>
            <a:off x="548640" y="1051560"/>
            <a:ext cx="36576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GridSearchCV</a:t>
            </a:r>
            <a:endParaRPr lang="en-US" sz="1200" dirty="0"/>
          </a:p>
        </p:txBody>
      </p:sp>
      <p:sp>
        <p:nvSpPr>
          <p:cNvPr id="11" name="Shape 9"/>
          <p:cNvSpPr/>
          <p:nvPr/>
        </p:nvSpPr>
        <p:spPr>
          <a:xfrm>
            <a:off x="502920" y="1417320"/>
            <a:ext cx="329184" cy="329184"/>
          </a:xfrm>
          <a:prstGeom prst="ellipse">
            <a:avLst/>
          </a:prstGeom>
          <a:solidFill>
            <a:srgbClr val="2B7A78"/>
          </a:solidFill>
          <a:ln/>
        </p:spPr>
      </p:sp>
      <p:sp>
        <p:nvSpPr>
          <p:cNvPr id="12" name="Text 10"/>
          <p:cNvSpPr/>
          <p:nvPr/>
        </p:nvSpPr>
        <p:spPr>
          <a:xfrm>
            <a:off x="502920" y="14173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p:nvPr/>
        </p:nvSpPr>
        <p:spPr>
          <a:xfrm>
            <a:off x="914400" y="141732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Tüm parametre kombinasyonlarını dener</a:t>
            </a:r>
            <a:endParaRPr lang="en-US" sz="1000" dirty="0"/>
          </a:p>
        </p:txBody>
      </p:sp>
      <p:sp>
        <p:nvSpPr>
          <p:cNvPr id="14" name="Shape 12"/>
          <p:cNvSpPr/>
          <p:nvPr/>
        </p:nvSpPr>
        <p:spPr>
          <a:xfrm>
            <a:off x="502920" y="1828800"/>
            <a:ext cx="329184" cy="329184"/>
          </a:xfrm>
          <a:prstGeom prst="ellipse">
            <a:avLst/>
          </a:prstGeom>
          <a:solidFill>
            <a:srgbClr val="2B7A78"/>
          </a:solidFill>
          <a:ln/>
        </p:spPr>
      </p:sp>
      <p:sp>
        <p:nvSpPr>
          <p:cNvPr id="15" name="Text 13"/>
          <p:cNvSpPr/>
          <p:nvPr/>
        </p:nvSpPr>
        <p:spPr>
          <a:xfrm>
            <a:off x="502920" y="1828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p:nvPr/>
        </p:nvSpPr>
        <p:spPr>
          <a:xfrm>
            <a:off x="914400" y="182880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Kapsamlı ama yavaş (brute force)</a:t>
            </a:r>
            <a:endParaRPr lang="en-US" sz="1000" dirty="0"/>
          </a:p>
        </p:txBody>
      </p:sp>
      <p:sp>
        <p:nvSpPr>
          <p:cNvPr id="17" name="Shape 15"/>
          <p:cNvSpPr/>
          <p:nvPr/>
        </p:nvSpPr>
        <p:spPr>
          <a:xfrm>
            <a:off x="502920" y="2240280"/>
            <a:ext cx="329184" cy="329184"/>
          </a:xfrm>
          <a:prstGeom prst="ellipse">
            <a:avLst/>
          </a:prstGeom>
          <a:solidFill>
            <a:srgbClr val="2B7A78"/>
          </a:solidFill>
          <a:ln/>
        </p:spPr>
      </p:sp>
      <p:sp>
        <p:nvSpPr>
          <p:cNvPr id="18" name="Text 16"/>
          <p:cNvSpPr/>
          <p:nvPr/>
        </p:nvSpPr>
        <p:spPr>
          <a:xfrm>
            <a:off x="502920" y="2240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914400" y="224028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Küçük parametre uzayları için ideal</a:t>
            </a:r>
            <a:endParaRPr lang="en-US" sz="1000" dirty="0"/>
          </a:p>
        </p:txBody>
      </p:sp>
      <p:sp>
        <p:nvSpPr>
          <p:cNvPr id="20" name="Shape 18"/>
          <p:cNvSpPr/>
          <p:nvPr/>
        </p:nvSpPr>
        <p:spPr>
          <a:xfrm>
            <a:off x="502920" y="2651760"/>
            <a:ext cx="329184" cy="329184"/>
          </a:xfrm>
          <a:prstGeom prst="ellipse">
            <a:avLst/>
          </a:prstGeom>
          <a:solidFill>
            <a:srgbClr val="2B7A78"/>
          </a:solidFill>
          <a:ln/>
        </p:spPr>
      </p:sp>
      <p:sp>
        <p:nvSpPr>
          <p:cNvPr id="21" name="Text 19"/>
          <p:cNvSpPr/>
          <p:nvPr/>
        </p:nvSpPr>
        <p:spPr>
          <a:xfrm>
            <a:off x="502920" y="2651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14400" y="265176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Cross-validation ile değerlendirir</a:t>
            </a:r>
            <a:endParaRPr lang="en-US" sz="1000" dirty="0"/>
          </a:p>
        </p:txBody>
      </p:sp>
      <p:sp>
        <p:nvSpPr>
          <p:cNvPr id="23" name="Shape 21"/>
          <p:cNvSpPr/>
          <p:nvPr/>
        </p:nvSpPr>
        <p:spPr>
          <a:xfrm>
            <a:off x="502920" y="3063240"/>
            <a:ext cx="329184" cy="329184"/>
          </a:xfrm>
          <a:prstGeom prst="ellipse">
            <a:avLst/>
          </a:prstGeom>
          <a:solidFill>
            <a:srgbClr val="2B7A78"/>
          </a:solidFill>
          <a:ln/>
        </p:spPr>
      </p:sp>
      <p:sp>
        <p:nvSpPr>
          <p:cNvPr id="24" name="Text 22"/>
          <p:cNvSpPr/>
          <p:nvPr/>
        </p:nvSpPr>
        <p:spPr>
          <a:xfrm>
            <a:off x="502920" y="3063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5" name="Text 23"/>
          <p:cNvSpPr/>
          <p:nvPr/>
        </p:nvSpPr>
        <p:spPr>
          <a:xfrm>
            <a:off x="914400" y="306324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En iyi: best_params_, best_score_</a:t>
            </a:r>
            <a:endParaRPr lang="en-US" sz="1000" dirty="0"/>
          </a:p>
        </p:txBody>
      </p:sp>
      <p:sp>
        <p:nvSpPr>
          <p:cNvPr id="26" name="Shape 24"/>
          <p:cNvSpPr/>
          <p:nvPr/>
        </p:nvSpPr>
        <p:spPr>
          <a:xfrm>
            <a:off x="4754880" y="868680"/>
            <a:ext cx="4023360" cy="32004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754880" y="868680"/>
            <a:ext cx="4023360" cy="54864"/>
          </a:xfrm>
          <a:prstGeom prst="rect">
            <a:avLst/>
          </a:prstGeom>
          <a:solidFill>
            <a:srgbClr val="C97B5A"/>
          </a:solidFill>
          <a:ln/>
        </p:spPr>
      </p:sp>
      <p:sp>
        <p:nvSpPr>
          <p:cNvPr id="28" name="Text 26"/>
          <p:cNvSpPr/>
          <p:nvPr/>
        </p:nvSpPr>
        <p:spPr>
          <a:xfrm>
            <a:off x="4937760" y="1051560"/>
            <a:ext cx="365760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RandomizedSearchCV</a:t>
            </a:r>
            <a:endParaRPr lang="en-US" sz="1200" dirty="0"/>
          </a:p>
        </p:txBody>
      </p:sp>
      <p:sp>
        <p:nvSpPr>
          <p:cNvPr id="29" name="Shape 27"/>
          <p:cNvSpPr/>
          <p:nvPr/>
        </p:nvSpPr>
        <p:spPr>
          <a:xfrm>
            <a:off x="4892040" y="1417320"/>
            <a:ext cx="329184" cy="329184"/>
          </a:xfrm>
          <a:prstGeom prst="ellipse">
            <a:avLst/>
          </a:prstGeom>
          <a:solidFill>
            <a:srgbClr val="C97B5A"/>
          </a:solidFill>
          <a:ln/>
        </p:spPr>
      </p:sp>
      <p:sp>
        <p:nvSpPr>
          <p:cNvPr id="30" name="Text 28"/>
          <p:cNvSpPr/>
          <p:nvPr/>
        </p:nvSpPr>
        <p:spPr>
          <a:xfrm>
            <a:off x="4892040" y="14173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1" name="Text 29"/>
          <p:cNvSpPr/>
          <p:nvPr/>
        </p:nvSpPr>
        <p:spPr>
          <a:xfrm>
            <a:off x="5303520" y="141732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Rastgele parametre örnekleri dener</a:t>
            </a:r>
            <a:endParaRPr lang="en-US" sz="1000" dirty="0"/>
          </a:p>
        </p:txBody>
      </p:sp>
      <p:sp>
        <p:nvSpPr>
          <p:cNvPr id="32" name="Shape 30"/>
          <p:cNvSpPr/>
          <p:nvPr/>
        </p:nvSpPr>
        <p:spPr>
          <a:xfrm>
            <a:off x="4892040" y="1828800"/>
            <a:ext cx="329184" cy="329184"/>
          </a:xfrm>
          <a:prstGeom prst="ellipse">
            <a:avLst/>
          </a:prstGeom>
          <a:solidFill>
            <a:srgbClr val="C97B5A"/>
          </a:solidFill>
          <a:ln/>
        </p:spPr>
      </p:sp>
      <p:sp>
        <p:nvSpPr>
          <p:cNvPr id="33" name="Text 31"/>
          <p:cNvSpPr/>
          <p:nvPr/>
        </p:nvSpPr>
        <p:spPr>
          <a:xfrm>
            <a:off x="4892040" y="1828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32"/>
          <p:cNvSpPr/>
          <p:nvPr/>
        </p:nvSpPr>
        <p:spPr>
          <a:xfrm>
            <a:off x="5303520" y="182880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n_iter ile deneme sayısı kontrol edilir</a:t>
            </a:r>
            <a:endParaRPr lang="en-US" sz="1000" dirty="0"/>
          </a:p>
        </p:txBody>
      </p:sp>
      <p:sp>
        <p:nvSpPr>
          <p:cNvPr id="35" name="Shape 33"/>
          <p:cNvSpPr/>
          <p:nvPr/>
        </p:nvSpPr>
        <p:spPr>
          <a:xfrm>
            <a:off x="4892040" y="2240280"/>
            <a:ext cx="329184" cy="329184"/>
          </a:xfrm>
          <a:prstGeom prst="ellipse">
            <a:avLst/>
          </a:prstGeom>
          <a:solidFill>
            <a:srgbClr val="C97B5A"/>
          </a:solidFill>
          <a:ln/>
        </p:spPr>
      </p:sp>
      <p:sp>
        <p:nvSpPr>
          <p:cNvPr id="36" name="Text 34"/>
          <p:cNvSpPr/>
          <p:nvPr/>
        </p:nvSpPr>
        <p:spPr>
          <a:xfrm>
            <a:off x="4892040" y="2240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7" name="Text 35"/>
          <p:cNvSpPr/>
          <p:nvPr/>
        </p:nvSpPr>
        <p:spPr>
          <a:xfrm>
            <a:off x="5303520" y="224028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Büyük parametre uzayları için ideal</a:t>
            </a:r>
            <a:endParaRPr lang="en-US" sz="1000" dirty="0"/>
          </a:p>
        </p:txBody>
      </p:sp>
      <p:sp>
        <p:nvSpPr>
          <p:cNvPr id="38" name="Shape 36"/>
          <p:cNvSpPr/>
          <p:nvPr/>
        </p:nvSpPr>
        <p:spPr>
          <a:xfrm>
            <a:off x="4892040" y="2651760"/>
            <a:ext cx="329184" cy="329184"/>
          </a:xfrm>
          <a:prstGeom prst="ellipse">
            <a:avLst/>
          </a:prstGeom>
          <a:solidFill>
            <a:srgbClr val="C97B5A"/>
          </a:solidFill>
          <a:ln/>
        </p:spPr>
      </p:sp>
      <p:sp>
        <p:nvSpPr>
          <p:cNvPr id="39" name="Text 37"/>
          <p:cNvSpPr/>
          <p:nvPr/>
        </p:nvSpPr>
        <p:spPr>
          <a:xfrm>
            <a:off x="4892040" y="2651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0" name="Text 38"/>
          <p:cNvSpPr/>
          <p:nvPr/>
        </p:nvSpPr>
        <p:spPr>
          <a:xfrm>
            <a:off x="5303520" y="265176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Benzer sonuç, çok daha hızlı</a:t>
            </a:r>
            <a:endParaRPr lang="en-US" sz="1000" dirty="0"/>
          </a:p>
        </p:txBody>
      </p:sp>
      <p:sp>
        <p:nvSpPr>
          <p:cNvPr id="41" name="Shape 39"/>
          <p:cNvSpPr/>
          <p:nvPr/>
        </p:nvSpPr>
        <p:spPr>
          <a:xfrm>
            <a:off x="4892040" y="3063240"/>
            <a:ext cx="329184" cy="329184"/>
          </a:xfrm>
          <a:prstGeom prst="ellipse">
            <a:avLst/>
          </a:prstGeom>
          <a:solidFill>
            <a:srgbClr val="C97B5A"/>
          </a:solidFill>
          <a:ln/>
        </p:spPr>
      </p:sp>
      <p:sp>
        <p:nvSpPr>
          <p:cNvPr id="42" name="Text 40"/>
          <p:cNvSpPr/>
          <p:nvPr/>
        </p:nvSpPr>
        <p:spPr>
          <a:xfrm>
            <a:off x="4892040" y="3063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3" name="Text 41"/>
          <p:cNvSpPr/>
          <p:nvPr/>
        </p:nvSpPr>
        <p:spPr>
          <a:xfrm>
            <a:off x="5303520" y="3063240"/>
            <a:ext cx="329184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Dağılım nesneleri kullanılabilir (scipy)</a:t>
            </a:r>
            <a:endParaRPr lang="en-US" sz="1000" dirty="0"/>
          </a:p>
        </p:txBody>
      </p:sp>
      <p:sp>
        <p:nvSpPr>
          <p:cNvPr id="44" name="Shape 42"/>
          <p:cNvSpPr/>
          <p:nvPr/>
        </p:nvSpPr>
        <p:spPr>
          <a:xfrm>
            <a:off x="457200" y="4251960"/>
            <a:ext cx="2743200" cy="320040"/>
          </a:xfrm>
          <a:prstGeom prst="rect">
            <a:avLst/>
          </a:prstGeom>
          <a:solidFill>
            <a:srgbClr val="5B2C1E"/>
          </a:solidFill>
          <a:ln/>
        </p:spPr>
      </p:sp>
      <p:sp>
        <p:nvSpPr>
          <p:cNvPr id="45" name="Text 43"/>
          <p:cNvSpPr/>
          <p:nvPr/>
        </p:nvSpPr>
        <p:spPr>
          <a:xfrm>
            <a:off x="457200" y="4251960"/>
            <a:ext cx="2743200" cy="32004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Kriter</a:t>
            </a:r>
            <a:endParaRPr lang="en-US" sz="950" dirty="0"/>
          </a:p>
        </p:txBody>
      </p:sp>
      <p:sp>
        <p:nvSpPr>
          <p:cNvPr id="46" name="Shape 44"/>
          <p:cNvSpPr/>
          <p:nvPr/>
        </p:nvSpPr>
        <p:spPr>
          <a:xfrm>
            <a:off x="3200400" y="4251960"/>
            <a:ext cx="2743200" cy="320040"/>
          </a:xfrm>
          <a:prstGeom prst="rect">
            <a:avLst/>
          </a:prstGeom>
          <a:solidFill>
            <a:srgbClr val="5B2C1E"/>
          </a:solidFill>
          <a:ln/>
        </p:spPr>
      </p:sp>
      <p:sp>
        <p:nvSpPr>
          <p:cNvPr id="47" name="Text 45"/>
          <p:cNvSpPr/>
          <p:nvPr/>
        </p:nvSpPr>
        <p:spPr>
          <a:xfrm>
            <a:off x="3200400" y="4251960"/>
            <a:ext cx="2743200" cy="32004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GridSearchCV</a:t>
            </a:r>
            <a:endParaRPr lang="en-US" sz="950" dirty="0"/>
          </a:p>
        </p:txBody>
      </p:sp>
      <p:sp>
        <p:nvSpPr>
          <p:cNvPr id="48" name="Shape 46"/>
          <p:cNvSpPr/>
          <p:nvPr/>
        </p:nvSpPr>
        <p:spPr>
          <a:xfrm>
            <a:off x="5943600" y="4251960"/>
            <a:ext cx="2743200" cy="320040"/>
          </a:xfrm>
          <a:prstGeom prst="rect">
            <a:avLst/>
          </a:prstGeom>
          <a:solidFill>
            <a:srgbClr val="5B2C1E"/>
          </a:solidFill>
          <a:ln/>
        </p:spPr>
      </p:sp>
      <p:sp>
        <p:nvSpPr>
          <p:cNvPr id="49" name="Text 47"/>
          <p:cNvSpPr/>
          <p:nvPr/>
        </p:nvSpPr>
        <p:spPr>
          <a:xfrm>
            <a:off x="5943600" y="4251960"/>
            <a:ext cx="2743200" cy="32004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RandomizedSearchCV</a:t>
            </a:r>
            <a:endParaRPr lang="en-US" sz="950" dirty="0"/>
          </a:p>
        </p:txBody>
      </p:sp>
      <p:sp>
        <p:nvSpPr>
          <p:cNvPr id="50" name="Shape 48"/>
          <p:cNvSpPr/>
          <p:nvPr/>
        </p:nvSpPr>
        <p:spPr>
          <a:xfrm>
            <a:off x="457200" y="4572000"/>
            <a:ext cx="2743200" cy="256032"/>
          </a:xfrm>
          <a:prstGeom prst="rect">
            <a:avLst/>
          </a:prstGeom>
          <a:solidFill>
            <a:srgbClr val="FEF5EE"/>
          </a:solidFill>
          <a:ln/>
        </p:spPr>
      </p:sp>
      <p:sp>
        <p:nvSpPr>
          <p:cNvPr id="51" name="Text 49"/>
          <p:cNvSpPr/>
          <p:nvPr/>
        </p:nvSpPr>
        <p:spPr>
          <a:xfrm>
            <a:off x="457200" y="4572000"/>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10 parametre × 5 değer</a:t>
            </a:r>
            <a:endParaRPr lang="en-US" sz="900" dirty="0"/>
          </a:p>
        </p:txBody>
      </p:sp>
      <p:sp>
        <p:nvSpPr>
          <p:cNvPr id="52" name="Shape 50"/>
          <p:cNvSpPr/>
          <p:nvPr/>
        </p:nvSpPr>
        <p:spPr>
          <a:xfrm>
            <a:off x="3200400" y="4572000"/>
            <a:ext cx="2743200" cy="256032"/>
          </a:xfrm>
          <a:prstGeom prst="rect">
            <a:avLst/>
          </a:prstGeom>
          <a:solidFill>
            <a:srgbClr val="FEF5EE"/>
          </a:solidFill>
          <a:ln/>
        </p:spPr>
      </p:sp>
      <p:sp>
        <p:nvSpPr>
          <p:cNvPr id="53" name="Text 51"/>
          <p:cNvSpPr/>
          <p:nvPr/>
        </p:nvSpPr>
        <p:spPr>
          <a:xfrm>
            <a:off x="3200400" y="4572000"/>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100.000 deneme</a:t>
            </a:r>
            <a:endParaRPr lang="en-US" sz="900" dirty="0"/>
          </a:p>
        </p:txBody>
      </p:sp>
      <p:sp>
        <p:nvSpPr>
          <p:cNvPr id="54" name="Shape 52"/>
          <p:cNvSpPr/>
          <p:nvPr/>
        </p:nvSpPr>
        <p:spPr>
          <a:xfrm>
            <a:off x="5943600" y="4572000"/>
            <a:ext cx="2743200" cy="256032"/>
          </a:xfrm>
          <a:prstGeom prst="rect">
            <a:avLst/>
          </a:prstGeom>
          <a:solidFill>
            <a:srgbClr val="FEF5EE"/>
          </a:solidFill>
          <a:ln/>
        </p:spPr>
      </p:sp>
      <p:sp>
        <p:nvSpPr>
          <p:cNvPr id="55" name="Text 53"/>
          <p:cNvSpPr/>
          <p:nvPr/>
        </p:nvSpPr>
        <p:spPr>
          <a:xfrm>
            <a:off x="5943600" y="4572000"/>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n_iter=50 deneme</a:t>
            </a:r>
            <a:endParaRPr lang="en-US" sz="900" dirty="0"/>
          </a:p>
        </p:txBody>
      </p:sp>
      <p:sp>
        <p:nvSpPr>
          <p:cNvPr id="56" name="Shape 54"/>
          <p:cNvSpPr/>
          <p:nvPr/>
        </p:nvSpPr>
        <p:spPr>
          <a:xfrm>
            <a:off x="457200" y="4828032"/>
            <a:ext cx="2743200" cy="256032"/>
          </a:xfrm>
          <a:prstGeom prst="rect">
            <a:avLst/>
          </a:prstGeom>
          <a:solidFill>
            <a:srgbClr val="FFFFFF"/>
          </a:solidFill>
          <a:ln/>
        </p:spPr>
      </p:sp>
      <p:sp>
        <p:nvSpPr>
          <p:cNvPr id="57" name="Text 55"/>
          <p:cNvSpPr/>
          <p:nvPr/>
        </p:nvSpPr>
        <p:spPr>
          <a:xfrm>
            <a:off x="457200" y="4828032"/>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Süre</a:t>
            </a:r>
            <a:endParaRPr lang="en-US" sz="900" dirty="0"/>
          </a:p>
        </p:txBody>
      </p:sp>
      <p:sp>
        <p:nvSpPr>
          <p:cNvPr id="58" name="Shape 56"/>
          <p:cNvSpPr/>
          <p:nvPr/>
        </p:nvSpPr>
        <p:spPr>
          <a:xfrm>
            <a:off x="3200400" y="4828032"/>
            <a:ext cx="2743200" cy="256032"/>
          </a:xfrm>
          <a:prstGeom prst="rect">
            <a:avLst/>
          </a:prstGeom>
          <a:solidFill>
            <a:srgbClr val="FFFFFF"/>
          </a:solidFill>
          <a:ln/>
        </p:spPr>
      </p:sp>
      <p:sp>
        <p:nvSpPr>
          <p:cNvPr id="59" name="Text 57"/>
          <p:cNvSpPr/>
          <p:nvPr/>
        </p:nvSpPr>
        <p:spPr>
          <a:xfrm>
            <a:off x="3200400" y="4828032"/>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Saatler/Günler</a:t>
            </a:r>
            <a:endParaRPr lang="en-US" sz="900" dirty="0"/>
          </a:p>
        </p:txBody>
      </p:sp>
      <p:sp>
        <p:nvSpPr>
          <p:cNvPr id="60" name="Shape 58"/>
          <p:cNvSpPr/>
          <p:nvPr/>
        </p:nvSpPr>
        <p:spPr>
          <a:xfrm>
            <a:off x="5943600" y="4828032"/>
            <a:ext cx="2743200" cy="256032"/>
          </a:xfrm>
          <a:prstGeom prst="rect">
            <a:avLst/>
          </a:prstGeom>
          <a:solidFill>
            <a:srgbClr val="FFFFFF"/>
          </a:solidFill>
          <a:ln/>
        </p:spPr>
      </p:sp>
      <p:sp>
        <p:nvSpPr>
          <p:cNvPr id="61" name="Text 59"/>
          <p:cNvSpPr/>
          <p:nvPr/>
        </p:nvSpPr>
        <p:spPr>
          <a:xfrm>
            <a:off x="5943600" y="4828032"/>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Dakikalar</a:t>
            </a:r>
            <a:endParaRPr lang="en-US" sz="900" dirty="0"/>
          </a:p>
        </p:txBody>
      </p:sp>
      <p:sp>
        <p:nvSpPr>
          <p:cNvPr id="62" name="Shape 60"/>
          <p:cNvSpPr/>
          <p:nvPr/>
        </p:nvSpPr>
        <p:spPr>
          <a:xfrm>
            <a:off x="457200" y="5084064"/>
            <a:ext cx="2743200" cy="256032"/>
          </a:xfrm>
          <a:prstGeom prst="rect">
            <a:avLst/>
          </a:prstGeom>
          <a:solidFill>
            <a:srgbClr val="FEF5EE"/>
          </a:solidFill>
          <a:ln/>
        </p:spPr>
      </p:sp>
      <p:sp>
        <p:nvSpPr>
          <p:cNvPr id="63" name="Text 61"/>
          <p:cNvSpPr/>
          <p:nvPr/>
        </p:nvSpPr>
        <p:spPr>
          <a:xfrm>
            <a:off x="457200" y="5084064"/>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Sonuç Kalitesi</a:t>
            </a:r>
            <a:endParaRPr lang="en-US" sz="900" dirty="0"/>
          </a:p>
        </p:txBody>
      </p:sp>
      <p:sp>
        <p:nvSpPr>
          <p:cNvPr id="64" name="Shape 62"/>
          <p:cNvSpPr/>
          <p:nvPr/>
        </p:nvSpPr>
        <p:spPr>
          <a:xfrm>
            <a:off x="3200400" y="5084064"/>
            <a:ext cx="2743200" cy="256032"/>
          </a:xfrm>
          <a:prstGeom prst="rect">
            <a:avLst/>
          </a:prstGeom>
          <a:solidFill>
            <a:srgbClr val="FEF5EE"/>
          </a:solidFill>
          <a:ln/>
        </p:spPr>
      </p:sp>
      <p:sp>
        <p:nvSpPr>
          <p:cNvPr id="65" name="Text 63"/>
          <p:cNvSpPr/>
          <p:nvPr/>
        </p:nvSpPr>
        <p:spPr>
          <a:xfrm>
            <a:off x="3200400" y="5084064"/>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Garantili en iyi</a:t>
            </a:r>
            <a:endParaRPr lang="en-US" sz="900" dirty="0"/>
          </a:p>
        </p:txBody>
      </p:sp>
      <p:sp>
        <p:nvSpPr>
          <p:cNvPr id="66" name="Shape 64"/>
          <p:cNvSpPr/>
          <p:nvPr/>
        </p:nvSpPr>
        <p:spPr>
          <a:xfrm>
            <a:off x="5943600" y="5084064"/>
            <a:ext cx="2743200" cy="256032"/>
          </a:xfrm>
          <a:prstGeom prst="rect">
            <a:avLst/>
          </a:prstGeom>
          <a:solidFill>
            <a:srgbClr val="FEF5EE"/>
          </a:solidFill>
          <a:ln/>
        </p:spPr>
      </p:sp>
      <p:sp>
        <p:nvSpPr>
          <p:cNvPr id="67" name="Text 65"/>
          <p:cNvSpPr/>
          <p:nvPr/>
        </p:nvSpPr>
        <p:spPr>
          <a:xfrm>
            <a:off x="5943600" y="5084064"/>
            <a:ext cx="2743200" cy="256032"/>
          </a:xfrm>
          <a:prstGeom prst="rect">
            <a:avLst/>
          </a:prstGeom>
          <a:noFill/>
          <a:ln/>
        </p:spPr>
        <p:txBody>
          <a:bodyPr wrap="square" lIns="0" tIns="0" rIns="0" bIns="0" rtlCol="0" anchor="ctr"/>
          <a:lstStyle/>
          <a:p>
            <a:pPr algn="ctr" indent="0" marL="0">
              <a:buNone/>
            </a:pPr>
            <a:r>
              <a:rPr lang="en-US" sz="900" dirty="0">
                <a:solidFill>
                  <a:srgbClr val="2E1F1A"/>
                </a:solidFill>
                <a:latin typeface="Calibri" pitchFamily="34" charset="0"/>
                <a:ea typeface="Calibri" pitchFamily="34" charset="-122"/>
                <a:cs typeface="Calibri" pitchFamily="34" charset="-120"/>
              </a:rPr>
              <a:t>Yaklaşık en iyi</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GridSearchCV Uygulaması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8412480" cy="3931920"/>
          </a:xfrm>
          <a:prstGeom prst="rect">
            <a:avLst/>
          </a:prstGeom>
          <a:solidFill>
            <a:srgbClr val="1E1E2E"/>
          </a:solidFill>
          <a:ln/>
        </p:spPr>
      </p:sp>
      <p:sp>
        <p:nvSpPr>
          <p:cNvPr id="9" name="Text 7"/>
          <p:cNvSpPr/>
          <p:nvPr/>
        </p:nvSpPr>
        <p:spPr>
          <a:xfrm>
            <a:off x="457200" y="914400"/>
            <a:ext cx="8229600" cy="3840480"/>
          </a:xfrm>
          <a:prstGeom prst="rect">
            <a:avLst/>
          </a:prstGeom>
          <a:noFill/>
          <a:ln/>
        </p:spPr>
        <p:txBody>
          <a:bodyPr wrap="square" rtlCol="0" anchor="ctr"/>
          <a:lstStyle/>
          <a:p>
            <a:pPr indent="0" marL="0">
              <a:buNone/>
            </a:pPr>
            <a:r>
              <a:rPr lang="en-US" sz="900" dirty="0">
                <a:solidFill>
                  <a:srgbClr val="89B4FA"/>
                </a:solidFill>
                <a:latin typeface="Consolas" pitchFamily="34" charset="0"/>
                <a:ea typeface="Consolas" pitchFamily="34" charset="-122"/>
                <a:cs typeface="Consolas" pitchFamily="34" charset="-120"/>
              </a:rPr>
              <a:t>from </a:t>
            </a:r>
            <a:pPr indent="0" marL="0">
              <a:buNone/>
            </a:pPr>
            <a:r>
              <a:rPr lang="en-US" sz="900" dirty="0">
                <a:solidFill>
                  <a:srgbClr val="CDD6F4"/>
                </a:solidFill>
                <a:latin typeface="Consolas" pitchFamily="34" charset="0"/>
                <a:ea typeface="Consolas" pitchFamily="34" charset="-122"/>
                <a:cs typeface="Consolas" pitchFamily="34" charset="-120"/>
              </a:rPr>
              <a:t>sklearn.model_selection </a:t>
            </a:r>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A6E3A1"/>
                </a:solidFill>
                <a:latin typeface="Consolas" pitchFamily="34" charset="0"/>
                <a:ea typeface="Consolas" pitchFamily="34" charset="-122"/>
                <a:cs typeface="Consolas" pitchFamily="34" charset="-120"/>
              </a:rPr>
              <a:t>GridSearchCV
</a:t>
            </a:r>
            <a:pPr indent="0" marL="0">
              <a:buNone/>
            </a:pPr>
            <a:r>
              <a:rPr lang="en-US" sz="900" dirty="0">
                <a:solidFill>
                  <a:srgbClr val="89B4FA"/>
                </a:solidFill>
                <a:latin typeface="Consolas" pitchFamily="34" charset="0"/>
                <a:ea typeface="Consolas" pitchFamily="34" charset="-122"/>
                <a:cs typeface="Consolas" pitchFamily="34" charset="-120"/>
              </a:rPr>
              <a:t>from </a:t>
            </a:r>
            <a:pPr indent="0" marL="0">
              <a:buNone/>
            </a:pPr>
            <a:r>
              <a:rPr lang="en-US" sz="900" dirty="0">
                <a:solidFill>
                  <a:srgbClr val="CDD6F4"/>
                </a:solidFill>
                <a:latin typeface="Consolas" pitchFamily="34" charset="0"/>
                <a:ea typeface="Consolas" pitchFamily="34" charset="-122"/>
                <a:cs typeface="Consolas" pitchFamily="34" charset="-120"/>
              </a:rPr>
              <a:t>xgboost </a:t>
            </a:r>
            <a:pPr indent="0" marL="0">
              <a:buNone/>
            </a:pPr>
            <a:r>
              <a:rPr lang="en-US" sz="900" dirty="0">
                <a:solidFill>
                  <a:srgbClr val="89B4FA"/>
                </a:solidFill>
                <a:latin typeface="Consolas" pitchFamily="34" charset="0"/>
                <a:ea typeface="Consolas" pitchFamily="34" charset="-122"/>
                <a:cs typeface="Consolas" pitchFamily="34" charset="-120"/>
              </a:rPr>
              <a:t>import </a:t>
            </a:r>
            <a:pPr indent="0" marL="0">
              <a:buNone/>
            </a:pPr>
            <a:r>
              <a:rPr lang="en-US" sz="900" dirty="0">
                <a:solidFill>
                  <a:srgbClr val="A6E3A1"/>
                </a:solidFill>
                <a:latin typeface="Consolas" pitchFamily="34" charset="0"/>
                <a:ea typeface="Consolas" pitchFamily="34" charset="-122"/>
                <a:cs typeface="Consolas" pitchFamily="34" charset="-120"/>
              </a:rPr>
              <a:t>XGBClassifier
</a:t>
            </a:r>
            <a:pPr indent="0" marL="0">
              <a:buNone/>
            </a:pPr>
            <a:r>
              <a:rPr lang="en-US" sz="900" dirty="0">
                <a:solidFill>
                  <a:srgbClr val="F9E2AF"/>
                </a:solidFill>
                <a:latin typeface="Consolas" pitchFamily="34" charset="0"/>
                <a:ea typeface="Consolas" pitchFamily="34" charset="-122"/>
                <a:cs typeface="Consolas" pitchFamily="34" charset="-120"/>
              </a:rPr>
              <a:t># Parametre ızgarası tanımla
</a:t>
            </a:r>
            <a:pPr indent="0" marL="0">
              <a:buNone/>
            </a:pPr>
            <a:r>
              <a:rPr lang="en-US" sz="900" dirty="0">
                <a:solidFill>
                  <a:srgbClr val="CDD6F4"/>
                </a:solidFill>
                <a:latin typeface="Consolas" pitchFamily="34" charset="0"/>
                <a:ea typeface="Consolas" pitchFamily="34" charset="-122"/>
                <a:cs typeface="Consolas" pitchFamily="34" charset="-120"/>
              </a:rPr>
              <a:t>param_grid = {
</a:t>
            </a:r>
            <a:pPr indent="0" marL="0">
              <a:buNone/>
            </a:pPr>
            <a:r>
              <a:rPr lang="en-US" sz="900" dirty="0">
                <a:solidFill>
                  <a:srgbClr val="F9E2AF"/>
                </a:solidFill>
                <a:latin typeface="Consolas" pitchFamily="34" charset="0"/>
                <a:ea typeface="Consolas" pitchFamily="34" charset="-122"/>
                <a:cs typeface="Consolas" pitchFamily="34" charset="-120"/>
              </a:rPr>
              <a:t>    'n_estimators': [100, 200, 300],
</a:t>
            </a:r>
            <a:pPr indent="0" marL="0">
              <a:buNone/>
            </a:pPr>
            <a:r>
              <a:rPr lang="en-US" sz="900" dirty="0">
                <a:solidFill>
                  <a:srgbClr val="F9E2AF"/>
                </a:solidFill>
                <a:latin typeface="Consolas" pitchFamily="34" charset="0"/>
                <a:ea typeface="Consolas" pitchFamily="34" charset="-122"/>
                <a:cs typeface="Consolas" pitchFamily="34" charset="-120"/>
              </a:rPr>
              <a:t>    'max_depth': [3, 5, 7],
</a:t>
            </a:r>
            <a:pPr indent="0" marL="0">
              <a:buNone/>
            </a:pPr>
            <a:r>
              <a:rPr lang="en-US" sz="900" dirty="0">
                <a:solidFill>
                  <a:srgbClr val="F9E2AF"/>
                </a:solidFill>
                <a:latin typeface="Consolas" pitchFamily="34" charset="0"/>
                <a:ea typeface="Consolas" pitchFamily="34" charset="-122"/>
                <a:cs typeface="Consolas" pitchFamily="34" charset="-120"/>
              </a:rPr>
              <a:t>    'learning_rate': [0.01, 0.1, 0.3],
</a:t>
            </a:r>
            <a:pPr indent="0" marL="0">
              <a:buNone/>
            </a:pPr>
            <a:r>
              <a:rPr lang="en-US" sz="900" dirty="0">
                <a:solidFill>
                  <a:srgbClr val="F9E2AF"/>
                </a:solidFill>
                <a:latin typeface="Consolas" pitchFamily="34" charset="0"/>
                <a:ea typeface="Consolas" pitchFamily="34" charset="-122"/>
                <a:cs typeface="Consolas" pitchFamily="34" charset="-120"/>
              </a:rPr>
              <a:t>    'subsample': [0.8, 1.0]
</a:t>
            </a:r>
            <a:pPr indent="0" marL="0">
              <a:buNone/>
            </a:pPr>
            <a:r>
              <a:rPr lang="en-US" sz="900" dirty="0">
                <a:solidFill>
                  <a:srgbClr val="CDD6F4"/>
                </a:solidFill>
                <a:latin typeface="Consolas" pitchFamily="34" charset="0"/>
                <a:ea typeface="Consolas" pitchFamily="34" charset="-122"/>
                <a:cs typeface="Consolas" pitchFamily="34" charset="-120"/>
              </a:rPr>
              <a:t>}
</a:t>
            </a:r>
            <a:pPr indent="0" marL="0">
              <a:buNone/>
            </a:pPr>
            <a:r>
              <a:rPr lang="en-US" sz="900" dirty="0">
                <a:solidFill>
                  <a:srgbClr val="F9E2AF"/>
                </a:solidFill>
                <a:latin typeface="Consolas" pitchFamily="34" charset="0"/>
                <a:ea typeface="Consolas" pitchFamily="34" charset="-122"/>
                <a:cs typeface="Consolas" pitchFamily="34" charset="-120"/>
              </a:rPr>
              <a:t># GridSearchCV ile en iyi parametreleri bul
</a:t>
            </a:r>
            <a:pPr indent="0" marL="0">
              <a:buNone/>
            </a:pPr>
            <a:r>
              <a:rPr lang="en-US" sz="900" dirty="0">
                <a:solidFill>
                  <a:srgbClr val="A6E3A1"/>
                </a:solidFill>
                <a:latin typeface="Consolas" pitchFamily="34" charset="0"/>
                <a:ea typeface="Consolas" pitchFamily="34" charset="-122"/>
                <a:cs typeface="Consolas" pitchFamily="34" charset="-120"/>
              </a:rPr>
              <a:t>grid = GridSearchCV(
</a:t>
            </a:r>
            <a:pPr indent="0" marL="0">
              <a:buNone/>
            </a:pPr>
            <a:r>
              <a:rPr lang="en-US" sz="900" dirty="0">
                <a:solidFill>
                  <a:srgbClr val="CDD6F4"/>
                </a:solidFill>
                <a:latin typeface="Consolas" pitchFamily="34" charset="0"/>
                <a:ea typeface="Consolas" pitchFamily="34" charset="-122"/>
                <a:cs typeface="Consolas" pitchFamily="34" charset="-120"/>
              </a:rPr>
              <a:t>    XGBClassifier(eval_metric='logloss'),
</a:t>
            </a:r>
            <a:pPr indent="0" marL="0">
              <a:buNone/>
            </a:pPr>
            <a:r>
              <a:rPr lang="en-US" sz="900" dirty="0">
                <a:solidFill>
                  <a:srgbClr val="F9E2AF"/>
                </a:solidFill>
                <a:latin typeface="Consolas" pitchFamily="34" charset="0"/>
                <a:ea typeface="Consolas" pitchFamily="34" charset="-122"/>
                <a:cs typeface="Consolas" pitchFamily="34" charset="-120"/>
              </a:rPr>
              <a:t>    param_grid, cv=5, scoring='accuracy',
</a:t>
            </a:r>
            <a:pPr indent="0" marL="0">
              <a:buNone/>
            </a:pPr>
            <a:r>
              <a:rPr lang="en-US" sz="900" dirty="0">
                <a:solidFill>
                  <a:srgbClr val="F9E2AF"/>
                </a:solidFill>
                <a:latin typeface="Consolas" pitchFamily="34" charset="0"/>
                <a:ea typeface="Consolas" pitchFamily="34" charset="-122"/>
                <a:cs typeface="Consolas" pitchFamily="34" charset="-120"/>
              </a:rPr>
              <a:t>    n_jobs=-1, verbose=1
</a:t>
            </a:r>
            <a:pPr indent="0" marL="0">
              <a:buNone/>
            </a:pPr>
            <a:r>
              <a:rPr lang="en-US" sz="900" dirty="0">
                <a:solidFill>
                  <a:srgbClr val="CDD6F4"/>
                </a:solidFill>
                <a:latin typeface="Consolas" pitchFamily="34" charset="0"/>
                <a:ea typeface="Consolas" pitchFamily="34" charset="-122"/>
                <a:cs typeface="Consolas" pitchFamily="34" charset="-120"/>
              </a:rPr>
              <a:t>)
</a:t>
            </a:r>
            <a:pPr indent="0" marL="0">
              <a:buNone/>
            </a:pPr>
            <a:r>
              <a:rPr lang="en-US" sz="900" dirty="0">
                <a:solidFill>
                  <a:srgbClr val="A6E3A1"/>
                </a:solidFill>
                <a:latin typeface="Consolas" pitchFamily="34" charset="0"/>
                <a:ea typeface="Consolas" pitchFamily="34" charset="-122"/>
                <a:cs typeface="Consolas" pitchFamily="34" charset="-120"/>
              </a:rPr>
              <a:t>grid.fit(X_train, y_train)
</a:t>
            </a:r>
            <a:pPr indent="0" marL="0">
              <a:buNone/>
            </a:pPr>
            <a:r>
              <a:rPr lang="en-US" sz="900" dirty="0">
                <a:solidFill>
                  <a:srgbClr val="CDD6F4"/>
                </a:solidFill>
                <a:latin typeface="Consolas" pitchFamily="34" charset="0"/>
                <a:ea typeface="Consolas" pitchFamily="34" charset="-122"/>
                <a:cs typeface="Consolas" pitchFamily="34" charset="-120"/>
              </a:rPr>
              <a:t>print(f"En iyi parametreler: {grid.best_params_}")
</a:t>
            </a:r>
            <a:pPr indent="0" marL="0">
              <a:buNone/>
            </a:pPr>
            <a:r>
              <a:rPr lang="en-US" sz="900" dirty="0">
                <a:solidFill>
                  <a:srgbClr val="CDD6F4"/>
                </a:solidFill>
                <a:latin typeface="Consolas" pitchFamily="34" charset="0"/>
                <a:ea typeface="Consolas" pitchFamily="34" charset="-122"/>
                <a:cs typeface="Consolas" pitchFamily="34" charset="-120"/>
              </a:rPr>
              <a:t>print(f"En iyi skor: {grid.best_score_:.4f}")</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Müşteri Terk Analizi (Churn)</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57200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463040"/>
          </a:xfrm>
          <a:prstGeom prst="rect">
            <a:avLst/>
          </a:prstGeom>
          <a:solidFill>
            <a:srgbClr val="C97B5A"/>
          </a:solidFill>
          <a:ln/>
        </p:spPr>
      </p:sp>
      <p:sp>
        <p:nvSpPr>
          <p:cNvPr id="10" name="Text 8"/>
          <p:cNvSpPr/>
          <p:nvPr/>
        </p:nvSpPr>
        <p:spPr>
          <a:xfrm>
            <a:off x="548640" y="960120"/>
            <a:ext cx="420624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Telco Customer Churn Dataset</a:t>
            </a:r>
            <a:endParaRPr lang="en-US" sz="1200" dirty="0"/>
          </a:p>
        </p:txBody>
      </p:sp>
      <p:sp>
        <p:nvSpPr>
          <p:cNvPr id="11" name="Text 9"/>
          <p:cNvSpPr/>
          <p:nvPr/>
        </p:nvSpPr>
        <p:spPr>
          <a:xfrm>
            <a:off x="548640" y="1325880"/>
            <a:ext cx="4206240" cy="8229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Bir telekomünikasyon şirketinin 7.043 müşterisi. Amaç: Hangi müşteriler hizmeti bırakacak? XGBoost ile tahmin ve iş kararlarına yön verme.</a:t>
            </a:r>
            <a:endParaRPr lang="en-US" sz="1100" dirty="0"/>
          </a:p>
        </p:txBody>
      </p:sp>
      <p:sp>
        <p:nvSpPr>
          <p:cNvPr id="12" name="Shape 10"/>
          <p:cNvSpPr/>
          <p:nvPr/>
        </p:nvSpPr>
        <p:spPr>
          <a:xfrm>
            <a:off x="5212080" y="868680"/>
            <a:ext cx="178308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5212080" y="868680"/>
            <a:ext cx="1783080" cy="54864"/>
          </a:xfrm>
          <a:prstGeom prst="rect">
            <a:avLst/>
          </a:prstGeom>
          <a:solidFill>
            <a:srgbClr val="C97B5A"/>
          </a:solidFill>
          <a:ln/>
        </p:spPr>
      </p:sp>
      <p:sp>
        <p:nvSpPr>
          <p:cNvPr id="14" name="Text 12"/>
          <p:cNvSpPr/>
          <p:nvPr/>
        </p:nvSpPr>
        <p:spPr>
          <a:xfrm>
            <a:off x="5212080" y="1005840"/>
            <a:ext cx="1783080" cy="594360"/>
          </a:xfrm>
          <a:prstGeom prst="rect">
            <a:avLst/>
          </a:prstGeom>
          <a:noFill/>
          <a:ln/>
        </p:spPr>
        <p:txBody>
          <a:bodyPr wrap="square" lIns="0" tIns="0" rIns="0" bIns="0" rtlCol="0" anchor="ctr"/>
          <a:lstStyle/>
          <a:p>
            <a:pPr algn="ctr" indent="0" marL="0">
              <a:buNone/>
            </a:pPr>
            <a:r>
              <a:rPr lang="en-US" sz="3400" b="1" dirty="0">
                <a:solidFill>
                  <a:srgbClr val="C97B5A"/>
                </a:solidFill>
                <a:latin typeface="Georgia" pitchFamily="34" charset="0"/>
                <a:ea typeface="Georgia" pitchFamily="34" charset="-122"/>
                <a:cs typeface="Georgia" pitchFamily="34" charset="-120"/>
              </a:rPr>
              <a:t>7K+</a:t>
            </a:r>
            <a:endParaRPr lang="en-US" sz="3400" dirty="0"/>
          </a:p>
        </p:txBody>
      </p:sp>
      <p:sp>
        <p:nvSpPr>
          <p:cNvPr id="15" name="Text 13"/>
          <p:cNvSpPr/>
          <p:nvPr/>
        </p:nvSpPr>
        <p:spPr>
          <a:xfrm>
            <a:off x="5303520" y="1618488"/>
            <a:ext cx="160020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Müşteri</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Kaydı</a:t>
            </a:r>
            <a:endParaRPr lang="en-US" sz="1050" dirty="0"/>
          </a:p>
        </p:txBody>
      </p:sp>
      <p:sp>
        <p:nvSpPr>
          <p:cNvPr id="16" name="Shape 14"/>
          <p:cNvSpPr/>
          <p:nvPr/>
        </p:nvSpPr>
        <p:spPr>
          <a:xfrm>
            <a:off x="7132320" y="868680"/>
            <a:ext cx="178308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7132320" y="868680"/>
            <a:ext cx="1783080" cy="54864"/>
          </a:xfrm>
          <a:prstGeom prst="rect">
            <a:avLst/>
          </a:prstGeom>
          <a:solidFill>
            <a:srgbClr val="2B7A78"/>
          </a:solidFill>
          <a:ln/>
        </p:spPr>
      </p:sp>
      <p:sp>
        <p:nvSpPr>
          <p:cNvPr id="18" name="Text 16"/>
          <p:cNvSpPr/>
          <p:nvPr/>
        </p:nvSpPr>
        <p:spPr>
          <a:xfrm>
            <a:off x="7132320" y="1005840"/>
            <a:ext cx="178308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21</a:t>
            </a:r>
            <a:endParaRPr lang="en-US" sz="3400" dirty="0"/>
          </a:p>
        </p:txBody>
      </p:sp>
      <p:sp>
        <p:nvSpPr>
          <p:cNvPr id="19" name="Text 17"/>
          <p:cNvSpPr/>
          <p:nvPr/>
        </p:nvSpPr>
        <p:spPr>
          <a:xfrm>
            <a:off x="7223760" y="1618488"/>
            <a:ext cx="1600200" cy="34747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Özellik</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Sayısı</a:t>
            </a:r>
            <a:endParaRPr lang="en-US" sz="1050" dirty="0"/>
          </a:p>
        </p:txBody>
      </p:sp>
      <p:sp>
        <p:nvSpPr>
          <p:cNvPr id="20" name="Shape 18"/>
          <p:cNvSpPr/>
          <p:nvPr/>
        </p:nvSpPr>
        <p:spPr>
          <a:xfrm>
            <a:off x="365760" y="2560320"/>
            <a:ext cx="1965960" cy="10972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365760" y="2560320"/>
            <a:ext cx="1965960" cy="54864"/>
          </a:xfrm>
          <a:prstGeom prst="rect">
            <a:avLst/>
          </a:prstGeom>
          <a:solidFill>
            <a:srgbClr val="2B7A78"/>
          </a:solidFill>
          <a:ln/>
        </p:spPr>
      </p:sp>
      <p:sp>
        <p:nvSpPr>
          <p:cNvPr id="22" name="Shape 20"/>
          <p:cNvSpPr/>
          <p:nvPr/>
        </p:nvSpPr>
        <p:spPr>
          <a:xfrm>
            <a:off x="1143000" y="2670048"/>
            <a:ext cx="329184" cy="329184"/>
          </a:xfrm>
          <a:prstGeom prst="ellipse">
            <a:avLst/>
          </a:prstGeom>
          <a:solidFill>
            <a:srgbClr val="2B7A78"/>
          </a:solidFill>
          <a:ln/>
        </p:spPr>
      </p:sp>
      <p:sp>
        <p:nvSpPr>
          <p:cNvPr id="23" name="Text 21"/>
          <p:cNvSpPr/>
          <p:nvPr/>
        </p:nvSpPr>
        <p:spPr>
          <a:xfrm>
            <a:off x="1143000" y="2670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4" name="Text 22"/>
          <p:cNvSpPr/>
          <p:nvPr/>
        </p:nvSpPr>
        <p:spPr>
          <a:xfrm>
            <a:off x="457200" y="3017520"/>
            <a:ext cx="1783080" cy="274320"/>
          </a:xfrm>
          <a:prstGeom prst="rect">
            <a:avLst/>
          </a:prstGeom>
          <a:noFill/>
          <a:ln/>
        </p:spPr>
        <p:txBody>
          <a:bodyPr wrap="square" lIns="0" tIns="0" rIns="0" bIns="0" rtlCol="0" anchor="ctr"/>
          <a:lstStyle/>
          <a:p>
            <a:pPr algn="ctr" indent="0" marL="0">
              <a:buNone/>
            </a:pPr>
            <a:r>
              <a:rPr lang="en-US" sz="1000" b="1" dirty="0">
                <a:solidFill>
                  <a:srgbClr val="2B7A78"/>
                </a:solidFill>
                <a:latin typeface="Georgia" pitchFamily="34" charset="0"/>
                <a:ea typeface="Georgia" pitchFamily="34" charset="-122"/>
                <a:cs typeface="Georgia" pitchFamily="34" charset="-120"/>
              </a:rPr>
              <a:t>Veri Yükleme</a:t>
            </a:r>
            <a:endParaRPr lang="en-US" sz="1000" dirty="0"/>
          </a:p>
        </p:txBody>
      </p:sp>
      <p:sp>
        <p:nvSpPr>
          <p:cNvPr id="25" name="Text 23"/>
          <p:cNvSpPr/>
          <p:nvPr/>
        </p:nvSpPr>
        <p:spPr>
          <a:xfrm>
            <a:off x="457200" y="3291840"/>
            <a:ext cx="1783080" cy="27432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CSV okuma, ilk inceleme</a:t>
            </a:r>
            <a:endParaRPr lang="en-US" sz="900" dirty="0"/>
          </a:p>
        </p:txBody>
      </p:sp>
      <p:sp>
        <p:nvSpPr>
          <p:cNvPr id="26" name="Shape 24"/>
          <p:cNvSpPr/>
          <p:nvPr/>
        </p:nvSpPr>
        <p:spPr>
          <a:xfrm>
            <a:off x="2514600" y="2560320"/>
            <a:ext cx="1965960" cy="10972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2514600" y="2560320"/>
            <a:ext cx="1965960" cy="54864"/>
          </a:xfrm>
          <a:prstGeom prst="rect">
            <a:avLst/>
          </a:prstGeom>
          <a:solidFill>
            <a:srgbClr val="C97B5A"/>
          </a:solidFill>
          <a:ln/>
        </p:spPr>
      </p:sp>
      <p:sp>
        <p:nvSpPr>
          <p:cNvPr id="28" name="Shape 26"/>
          <p:cNvSpPr/>
          <p:nvPr/>
        </p:nvSpPr>
        <p:spPr>
          <a:xfrm>
            <a:off x="3291840" y="2670048"/>
            <a:ext cx="329184" cy="329184"/>
          </a:xfrm>
          <a:prstGeom prst="ellipse">
            <a:avLst/>
          </a:prstGeom>
          <a:solidFill>
            <a:srgbClr val="C97B5A"/>
          </a:solidFill>
          <a:ln/>
        </p:spPr>
      </p:sp>
      <p:sp>
        <p:nvSpPr>
          <p:cNvPr id="29" name="Text 27"/>
          <p:cNvSpPr/>
          <p:nvPr/>
        </p:nvSpPr>
        <p:spPr>
          <a:xfrm>
            <a:off x="3291840" y="2670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Text 28"/>
          <p:cNvSpPr/>
          <p:nvPr/>
        </p:nvSpPr>
        <p:spPr>
          <a:xfrm>
            <a:off x="2606040" y="3017520"/>
            <a:ext cx="1783080" cy="274320"/>
          </a:xfrm>
          <a:prstGeom prst="rect">
            <a:avLst/>
          </a:prstGeom>
          <a:noFill/>
          <a:ln/>
        </p:spPr>
        <p:txBody>
          <a:bodyPr wrap="square" lIns="0" tIns="0" rIns="0" bIns="0" rtlCol="0" anchor="ctr"/>
          <a:lstStyle/>
          <a:p>
            <a:pPr algn="ctr" indent="0" marL="0">
              <a:buNone/>
            </a:pPr>
            <a:r>
              <a:rPr lang="en-US" sz="1000" b="1" dirty="0">
                <a:solidFill>
                  <a:srgbClr val="C97B5A"/>
                </a:solidFill>
                <a:latin typeface="Georgia" pitchFamily="34" charset="0"/>
                <a:ea typeface="Georgia" pitchFamily="34" charset="-122"/>
                <a:cs typeface="Georgia" pitchFamily="34" charset="-120"/>
              </a:rPr>
              <a:t>Ön İşleme</a:t>
            </a:r>
            <a:endParaRPr lang="en-US" sz="1000" dirty="0"/>
          </a:p>
        </p:txBody>
      </p:sp>
      <p:sp>
        <p:nvSpPr>
          <p:cNvPr id="31" name="Text 29"/>
          <p:cNvSpPr/>
          <p:nvPr/>
        </p:nvSpPr>
        <p:spPr>
          <a:xfrm>
            <a:off x="2606040" y="3291840"/>
            <a:ext cx="1783080" cy="27432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Encoding, ölçekleme, train/test</a:t>
            </a:r>
            <a:endParaRPr lang="en-US" sz="900" dirty="0"/>
          </a:p>
        </p:txBody>
      </p:sp>
      <p:sp>
        <p:nvSpPr>
          <p:cNvPr id="32" name="Shape 30"/>
          <p:cNvSpPr/>
          <p:nvPr/>
        </p:nvSpPr>
        <p:spPr>
          <a:xfrm>
            <a:off x="4663440" y="2560320"/>
            <a:ext cx="1965960" cy="10972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3" name="Shape 31"/>
          <p:cNvSpPr/>
          <p:nvPr/>
        </p:nvSpPr>
        <p:spPr>
          <a:xfrm>
            <a:off x="4663440" y="2560320"/>
            <a:ext cx="1965960" cy="54864"/>
          </a:xfrm>
          <a:prstGeom prst="rect">
            <a:avLst/>
          </a:prstGeom>
          <a:solidFill>
            <a:srgbClr val="E8913A"/>
          </a:solidFill>
          <a:ln/>
        </p:spPr>
      </p:sp>
      <p:sp>
        <p:nvSpPr>
          <p:cNvPr id="34" name="Shape 32"/>
          <p:cNvSpPr/>
          <p:nvPr/>
        </p:nvSpPr>
        <p:spPr>
          <a:xfrm>
            <a:off x="5440680" y="2670048"/>
            <a:ext cx="329184" cy="329184"/>
          </a:xfrm>
          <a:prstGeom prst="ellipse">
            <a:avLst/>
          </a:prstGeom>
          <a:solidFill>
            <a:srgbClr val="E8913A"/>
          </a:solidFill>
          <a:ln/>
        </p:spPr>
      </p:sp>
      <p:sp>
        <p:nvSpPr>
          <p:cNvPr id="35" name="Text 33"/>
          <p:cNvSpPr/>
          <p:nvPr/>
        </p:nvSpPr>
        <p:spPr>
          <a:xfrm>
            <a:off x="5440680" y="2670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Text 34"/>
          <p:cNvSpPr/>
          <p:nvPr/>
        </p:nvSpPr>
        <p:spPr>
          <a:xfrm>
            <a:off x="4754880" y="3017520"/>
            <a:ext cx="1783080" cy="274320"/>
          </a:xfrm>
          <a:prstGeom prst="rect">
            <a:avLst/>
          </a:prstGeom>
          <a:noFill/>
          <a:ln/>
        </p:spPr>
        <p:txBody>
          <a:bodyPr wrap="square" lIns="0" tIns="0" rIns="0" bIns="0" rtlCol="0" anchor="ctr"/>
          <a:lstStyle/>
          <a:p>
            <a:pPr algn="ctr" indent="0" marL="0">
              <a:buNone/>
            </a:pPr>
            <a:r>
              <a:rPr lang="en-US" sz="1000" b="1" dirty="0">
                <a:solidFill>
                  <a:srgbClr val="E8913A"/>
                </a:solidFill>
                <a:latin typeface="Georgia" pitchFamily="34" charset="0"/>
                <a:ea typeface="Georgia" pitchFamily="34" charset="-122"/>
                <a:cs typeface="Georgia" pitchFamily="34" charset="-120"/>
              </a:rPr>
              <a:t>XGBoost Eğitim</a:t>
            </a:r>
            <a:endParaRPr lang="en-US" sz="1000" dirty="0"/>
          </a:p>
        </p:txBody>
      </p:sp>
      <p:sp>
        <p:nvSpPr>
          <p:cNvPr id="37" name="Text 35"/>
          <p:cNvSpPr/>
          <p:nvPr/>
        </p:nvSpPr>
        <p:spPr>
          <a:xfrm>
            <a:off x="4754880" y="3291840"/>
            <a:ext cx="1783080" cy="27432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Model fit, hiperparametre ayarı</a:t>
            </a:r>
            <a:endParaRPr lang="en-US" sz="900" dirty="0"/>
          </a:p>
        </p:txBody>
      </p:sp>
      <p:sp>
        <p:nvSpPr>
          <p:cNvPr id="38" name="Shape 36"/>
          <p:cNvSpPr/>
          <p:nvPr/>
        </p:nvSpPr>
        <p:spPr>
          <a:xfrm>
            <a:off x="6812280" y="2560320"/>
            <a:ext cx="1965960" cy="10972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9" name="Shape 37"/>
          <p:cNvSpPr/>
          <p:nvPr/>
        </p:nvSpPr>
        <p:spPr>
          <a:xfrm>
            <a:off x="6812280" y="2560320"/>
            <a:ext cx="1965960" cy="54864"/>
          </a:xfrm>
          <a:prstGeom prst="rect">
            <a:avLst/>
          </a:prstGeom>
          <a:solidFill>
            <a:srgbClr val="3A9E6B"/>
          </a:solidFill>
          <a:ln/>
        </p:spPr>
      </p:sp>
      <p:sp>
        <p:nvSpPr>
          <p:cNvPr id="40" name="Shape 38"/>
          <p:cNvSpPr/>
          <p:nvPr/>
        </p:nvSpPr>
        <p:spPr>
          <a:xfrm>
            <a:off x="7589520" y="2670048"/>
            <a:ext cx="329184" cy="329184"/>
          </a:xfrm>
          <a:prstGeom prst="ellipse">
            <a:avLst/>
          </a:prstGeom>
          <a:solidFill>
            <a:srgbClr val="3A9E6B"/>
          </a:solidFill>
          <a:ln/>
        </p:spPr>
      </p:sp>
      <p:sp>
        <p:nvSpPr>
          <p:cNvPr id="41" name="Text 39"/>
          <p:cNvSpPr/>
          <p:nvPr/>
        </p:nvSpPr>
        <p:spPr>
          <a:xfrm>
            <a:off x="7589520" y="26700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2" name="Text 40"/>
          <p:cNvSpPr/>
          <p:nvPr/>
        </p:nvSpPr>
        <p:spPr>
          <a:xfrm>
            <a:off x="6903720" y="3017520"/>
            <a:ext cx="1783080" cy="274320"/>
          </a:xfrm>
          <a:prstGeom prst="rect">
            <a:avLst/>
          </a:prstGeom>
          <a:noFill/>
          <a:ln/>
        </p:spPr>
        <p:txBody>
          <a:bodyPr wrap="square" lIns="0" tIns="0" rIns="0" bIns="0" rtlCol="0" anchor="ctr"/>
          <a:lstStyle/>
          <a:p>
            <a:pPr algn="ctr" indent="0" marL="0">
              <a:buNone/>
            </a:pPr>
            <a:r>
              <a:rPr lang="en-US" sz="1000" b="1" dirty="0">
                <a:solidFill>
                  <a:srgbClr val="3A9E6B"/>
                </a:solidFill>
                <a:latin typeface="Georgia" pitchFamily="34" charset="0"/>
                <a:ea typeface="Georgia" pitchFamily="34" charset="-122"/>
                <a:cs typeface="Georgia" pitchFamily="34" charset="-120"/>
              </a:rPr>
              <a:t>Değerlendirme</a:t>
            </a:r>
            <a:endParaRPr lang="en-US" sz="1000" dirty="0"/>
          </a:p>
        </p:txBody>
      </p:sp>
      <p:sp>
        <p:nvSpPr>
          <p:cNvPr id="43" name="Text 41"/>
          <p:cNvSpPr/>
          <p:nvPr/>
        </p:nvSpPr>
        <p:spPr>
          <a:xfrm>
            <a:off x="6903720" y="3291840"/>
            <a:ext cx="1783080" cy="274320"/>
          </a:xfrm>
          <a:prstGeom prst="rect">
            <a:avLst/>
          </a:prstGeom>
          <a:noFill/>
          <a:ln/>
        </p:spPr>
        <p:txBody>
          <a:bodyPr wrap="square" lIns="0" tIns="0" rIns="0" bIns="0" rtlCol="0" anchor="ctr"/>
          <a:lstStyle/>
          <a:p>
            <a:pPr indent="0" marL="0">
              <a:buNone/>
            </a:pPr>
            <a:r>
              <a:rPr lang="en-US" sz="900" dirty="0">
                <a:solidFill>
                  <a:srgbClr val="6B5B52"/>
                </a:solidFill>
                <a:latin typeface="Calibri" pitchFamily="34" charset="0"/>
                <a:ea typeface="Calibri" pitchFamily="34" charset="-122"/>
                <a:cs typeface="Calibri" pitchFamily="34" charset="-120"/>
              </a:rPr>
              <a:t>Accuracy, Precision, Recall, F1</a:t>
            </a:r>
            <a:endParaRPr lang="en-US" sz="900" dirty="0"/>
          </a:p>
        </p:txBody>
      </p:sp>
      <p:sp>
        <p:nvSpPr>
          <p:cNvPr id="44" name="Shape 42"/>
          <p:cNvSpPr/>
          <p:nvPr/>
        </p:nvSpPr>
        <p:spPr>
          <a:xfrm>
            <a:off x="365760" y="3886200"/>
            <a:ext cx="1572768" cy="347472"/>
          </a:xfrm>
          <a:prstGeom prst="rect">
            <a:avLst/>
          </a:prstGeom>
          <a:solidFill>
            <a:srgbClr val="2B7A78"/>
          </a:solidFill>
          <a:ln/>
        </p:spPr>
      </p:sp>
      <p:sp>
        <p:nvSpPr>
          <p:cNvPr id="45" name="Text 43"/>
          <p:cNvSpPr/>
          <p:nvPr/>
        </p:nvSpPr>
        <p:spPr>
          <a:xfrm>
            <a:off x="365760" y="3886200"/>
            <a:ext cx="1572768"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Accuracy</a:t>
            </a:r>
            <a:endParaRPr lang="en-US" sz="900" dirty="0"/>
          </a:p>
        </p:txBody>
      </p:sp>
      <p:sp>
        <p:nvSpPr>
          <p:cNvPr id="46" name="Shape 44"/>
          <p:cNvSpPr/>
          <p:nvPr/>
        </p:nvSpPr>
        <p:spPr>
          <a:xfrm>
            <a:off x="365760" y="4233672"/>
            <a:ext cx="1572768" cy="548640"/>
          </a:xfrm>
          <a:prstGeom prst="rect">
            <a:avLst/>
          </a:prstGeom>
          <a:solidFill>
            <a:srgbClr val="FEF5EE"/>
          </a:solidFill>
          <a:ln w="6350">
            <a:solidFill>
              <a:srgbClr val="E8DDD3"/>
            </a:solidFill>
            <a:prstDash val="solid"/>
          </a:ln>
        </p:spPr>
      </p:sp>
      <p:sp>
        <p:nvSpPr>
          <p:cNvPr id="47" name="Text 45"/>
          <p:cNvSpPr/>
          <p:nvPr/>
        </p:nvSpPr>
        <p:spPr>
          <a:xfrm>
            <a:off x="365760" y="4233672"/>
            <a:ext cx="1572768" cy="548640"/>
          </a:xfrm>
          <a:prstGeom prst="rect">
            <a:avLst/>
          </a:prstGeom>
          <a:noFill/>
          <a:ln/>
        </p:spPr>
        <p:txBody>
          <a:bodyPr wrap="square" lIns="0" tIns="0" rIns="0" bIns="0" rtlCol="0" anchor="ctr"/>
          <a:lstStyle/>
          <a:p>
            <a:pPr algn="ctr" indent="0" marL="0">
              <a:buNone/>
            </a:pPr>
            <a:r>
              <a:rPr lang="en-US" sz="2200" b="1" dirty="0">
                <a:solidFill>
                  <a:srgbClr val="2B7A78"/>
                </a:solidFill>
                <a:latin typeface="Georgia" pitchFamily="34" charset="0"/>
                <a:ea typeface="Georgia" pitchFamily="34" charset="-122"/>
                <a:cs typeface="Georgia" pitchFamily="34" charset="-120"/>
              </a:rPr>
              <a:t>%81</a:t>
            </a:r>
            <a:endParaRPr lang="en-US" sz="2200" dirty="0"/>
          </a:p>
        </p:txBody>
      </p:sp>
      <p:sp>
        <p:nvSpPr>
          <p:cNvPr id="48" name="Shape 46"/>
          <p:cNvSpPr/>
          <p:nvPr/>
        </p:nvSpPr>
        <p:spPr>
          <a:xfrm>
            <a:off x="2084832" y="3886200"/>
            <a:ext cx="1572768" cy="347472"/>
          </a:xfrm>
          <a:prstGeom prst="rect">
            <a:avLst/>
          </a:prstGeom>
          <a:solidFill>
            <a:srgbClr val="C97B5A"/>
          </a:solidFill>
          <a:ln/>
        </p:spPr>
      </p:sp>
      <p:sp>
        <p:nvSpPr>
          <p:cNvPr id="49" name="Text 47"/>
          <p:cNvSpPr/>
          <p:nvPr/>
        </p:nvSpPr>
        <p:spPr>
          <a:xfrm>
            <a:off x="2084832" y="3886200"/>
            <a:ext cx="1572768"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Precision</a:t>
            </a:r>
            <a:endParaRPr lang="en-US" sz="900" dirty="0"/>
          </a:p>
        </p:txBody>
      </p:sp>
      <p:sp>
        <p:nvSpPr>
          <p:cNvPr id="50" name="Shape 48"/>
          <p:cNvSpPr/>
          <p:nvPr/>
        </p:nvSpPr>
        <p:spPr>
          <a:xfrm>
            <a:off x="2084832" y="4233672"/>
            <a:ext cx="1572768" cy="548640"/>
          </a:xfrm>
          <a:prstGeom prst="rect">
            <a:avLst/>
          </a:prstGeom>
          <a:solidFill>
            <a:srgbClr val="FEF5EE"/>
          </a:solidFill>
          <a:ln w="6350">
            <a:solidFill>
              <a:srgbClr val="E8DDD3"/>
            </a:solidFill>
            <a:prstDash val="solid"/>
          </a:ln>
        </p:spPr>
      </p:sp>
      <p:sp>
        <p:nvSpPr>
          <p:cNvPr id="51" name="Text 49"/>
          <p:cNvSpPr/>
          <p:nvPr/>
        </p:nvSpPr>
        <p:spPr>
          <a:xfrm>
            <a:off x="2084832" y="4233672"/>
            <a:ext cx="1572768" cy="548640"/>
          </a:xfrm>
          <a:prstGeom prst="rect">
            <a:avLst/>
          </a:prstGeom>
          <a:noFill/>
          <a:ln/>
        </p:spPr>
        <p:txBody>
          <a:bodyPr wrap="square" lIns="0" tIns="0" rIns="0" bIns="0" rtlCol="0" anchor="ctr"/>
          <a:lstStyle/>
          <a:p>
            <a:pPr algn="ctr" indent="0" marL="0">
              <a:buNone/>
            </a:pPr>
            <a:r>
              <a:rPr lang="en-US" sz="2200" b="1" dirty="0">
                <a:solidFill>
                  <a:srgbClr val="C97B5A"/>
                </a:solidFill>
                <a:latin typeface="Georgia" pitchFamily="34" charset="0"/>
                <a:ea typeface="Georgia" pitchFamily="34" charset="-122"/>
                <a:cs typeface="Georgia" pitchFamily="34" charset="-120"/>
              </a:rPr>
              <a:t>%79</a:t>
            </a:r>
            <a:endParaRPr lang="en-US" sz="2200" dirty="0"/>
          </a:p>
        </p:txBody>
      </p:sp>
      <p:sp>
        <p:nvSpPr>
          <p:cNvPr id="52" name="Shape 50"/>
          <p:cNvSpPr/>
          <p:nvPr/>
        </p:nvSpPr>
        <p:spPr>
          <a:xfrm>
            <a:off x="3803904" y="3886200"/>
            <a:ext cx="1572768" cy="347472"/>
          </a:xfrm>
          <a:prstGeom prst="rect">
            <a:avLst/>
          </a:prstGeom>
          <a:solidFill>
            <a:srgbClr val="E8913A"/>
          </a:solidFill>
          <a:ln/>
        </p:spPr>
      </p:sp>
      <p:sp>
        <p:nvSpPr>
          <p:cNvPr id="53" name="Text 51"/>
          <p:cNvSpPr/>
          <p:nvPr/>
        </p:nvSpPr>
        <p:spPr>
          <a:xfrm>
            <a:off x="3803904" y="3886200"/>
            <a:ext cx="1572768"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Recall</a:t>
            </a:r>
            <a:endParaRPr lang="en-US" sz="900" dirty="0"/>
          </a:p>
        </p:txBody>
      </p:sp>
      <p:sp>
        <p:nvSpPr>
          <p:cNvPr id="54" name="Shape 52"/>
          <p:cNvSpPr/>
          <p:nvPr/>
        </p:nvSpPr>
        <p:spPr>
          <a:xfrm>
            <a:off x="3803904" y="4233672"/>
            <a:ext cx="1572768" cy="548640"/>
          </a:xfrm>
          <a:prstGeom prst="rect">
            <a:avLst/>
          </a:prstGeom>
          <a:solidFill>
            <a:srgbClr val="FEF5EE"/>
          </a:solidFill>
          <a:ln w="6350">
            <a:solidFill>
              <a:srgbClr val="E8DDD3"/>
            </a:solidFill>
            <a:prstDash val="solid"/>
          </a:ln>
        </p:spPr>
      </p:sp>
      <p:sp>
        <p:nvSpPr>
          <p:cNvPr id="55" name="Text 53"/>
          <p:cNvSpPr/>
          <p:nvPr/>
        </p:nvSpPr>
        <p:spPr>
          <a:xfrm>
            <a:off x="3803904" y="4233672"/>
            <a:ext cx="1572768" cy="548640"/>
          </a:xfrm>
          <a:prstGeom prst="rect">
            <a:avLst/>
          </a:prstGeom>
          <a:noFill/>
          <a:ln/>
        </p:spPr>
        <p:txBody>
          <a:bodyPr wrap="square" lIns="0" tIns="0" rIns="0" bIns="0" rtlCol="0" anchor="ctr"/>
          <a:lstStyle/>
          <a:p>
            <a:pPr algn="ctr" indent="0" marL="0">
              <a:buNone/>
            </a:pPr>
            <a:r>
              <a:rPr lang="en-US" sz="2200" b="1" dirty="0">
                <a:solidFill>
                  <a:srgbClr val="E8913A"/>
                </a:solidFill>
                <a:latin typeface="Georgia" pitchFamily="34" charset="0"/>
                <a:ea typeface="Georgia" pitchFamily="34" charset="-122"/>
                <a:cs typeface="Georgia" pitchFamily="34" charset="-120"/>
              </a:rPr>
              <a:t>%56</a:t>
            </a:r>
            <a:endParaRPr lang="en-US" sz="2200" dirty="0"/>
          </a:p>
        </p:txBody>
      </p:sp>
      <p:sp>
        <p:nvSpPr>
          <p:cNvPr id="56" name="Shape 54"/>
          <p:cNvSpPr/>
          <p:nvPr/>
        </p:nvSpPr>
        <p:spPr>
          <a:xfrm>
            <a:off x="5522976" y="3886200"/>
            <a:ext cx="1572768" cy="347472"/>
          </a:xfrm>
          <a:prstGeom prst="rect">
            <a:avLst/>
          </a:prstGeom>
          <a:solidFill>
            <a:srgbClr val="3A9E6B"/>
          </a:solidFill>
          <a:ln/>
        </p:spPr>
      </p:sp>
      <p:sp>
        <p:nvSpPr>
          <p:cNvPr id="57" name="Text 55"/>
          <p:cNvSpPr/>
          <p:nvPr/>
        </p:nvSpPr>
        <p:spPr>
          <a:xfrm>
            <a:off x="5522976" y="3886200"/>
            <a:ext cx="1572768"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F1-Score</a:t>
            </a:r>
            <a:endParaRPr lang="en-US" sz="900" dirty="0"/>
          </a:p>
        </p:txBody>
      </p:sp>
      <p:sp>
        <p:nvSpPr>
          <p:cNvPr id="58" name="Shape 56"/>
          <p:cNvSpPr/>
          <p:nvPr/>
        </p:nvSpPr>
        <p:spPr>
          <a:xfrm>
            <a:off x="5522976" y="4233672"/>
            <a:ext cx="1572768" cy="548640"/>
          </a:xfrm>
          <a:prstGeom prst="rect">
            <a:avLst/>
          </a:prstGeom>
          <a:solidFill>
            <a:srgbClr val="FEF5EE"/>
          </a:solidFill>
          <a:ln w="6350">
            <a:solidFill>
              <a:srgbClr val="E8DDD3"/>
            </a:solidFill>
            <a:prstDash val="solid"/>
          </a:ln>
        </p:spPr>
      </p:sp>
      <p:sp>
        <p:nvSpPr>
          <p:cNvPr id="59" name="Text 57"/>
          <p:cNvSpPr/>
          <p:nvPr/>
        </p:nvSpPr>
        <p:spPr>
          <a:xfrm>
            <a:off x="5522976" y="4233672"/>
            <a:ext cx="1572768" cy="548640"/>
          </a:xfrm>
          <a:prstGeom prst="rect">
            <a:avLst/>
          </a:prstGeom>
          <a:noFill/>
          <a:ln/>
        </p:spPr>
        <p:txBody>
          <a:bodyPr wrap="square" lIns="0" tIns="0" rIns="0" bIns="0" rtlCol="0" anchor="ctr"/>
          <a:lstStyle/>
          <a:p>
            <a:pPr algn="ctr" indent="0" marL="0">
              <a:buNone/>
            </a:pPr>
            <a:r>
              <a:rPr lang="en-US" sz="2200" b="1" dirty="0">
                <a:solidFill>
                  <a:srgbClr val="3A9E6B"/>
                </a:solidFill>
                <a:latin typeface="Georgia" pitchFamily="34" charset="0"/>
                <a:ea typeface="Georgia" pitchFamily="34" charset="-122"/>
                <a:cs typeface="Georgia" pitchFamily="34" charset="-120"/>
              </a:rPr>
              <a:t>%65</a:t>
            </a:r>
            <a:endParaRPr lang="en-US" sz="2200" dirty="0"/>
          </a:p>
        </p:txBody>
      </p:sp>
      <p:sp>
        <p:nvSpPr>
          <p:cNvPr id="60" name="Shape 58"/>
          <p:cNvSpPr/>
          <p:nvPr/>
        </p:nvSpPr>
        <p:spPr>
          <a:xfrm>
            <a:off x="7242048" y="3886200"/>
            <a:ext cx="1572768" cy="347472"/>
          </a:xfrm>
          <a:prstGeom prst="rect">
            <a:avLst/>
          </a:prstGeom>
          <a:solidFill>
            <a:srgbClr val="7C5BBF"/>
          </a:solidFill>
          <a:ln/>
        </p:spPr>
      </p:sp>
      <p:sp>
        <p:nvSpPr>
          <p:cNvPr id="61" name="Text 59"/>
          <p:cNvSpPr/>
          <p:nvPr/>
        </p:nvSpPr>
        <p:spPr>
          <a:xfrm>
            <a:off x="7242048" y="3886200"/>
            <a:ext cx="1572768"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AUC-ROC</a:t>
            </a:r>
            <a:endParaRPr lang="en-US" sz="900" dirty="0"/>
          </a:p>
        </p:txBody>
      </p:sp>
      <p:sp>
        <p:nvSpPr>
          <p:cNvPr id="62" name="Shape 60"/>
          <p:cNvSpPr/>
          <p:nvPr/>
        </p:nvSpPr>
        <p:spPr>
          <a:xfrm>
            <a:off x="7242048" y="4233672"/>
            <a:ext cx="1572768" cy="548640"/>
          </a:xfrm>
          <a:prstGeom prst="rect">
            <a:avLst/>
          </a:prstGeom>
          <a:solidFill>
            <a:srgbClr val="FEF5EE"/>
          </a:solidFill>
          <a:ln w="6350">
            <a:solidFill>
              <a:srgbClr val="E8DDD3"/>
            </a:solidFill>
            <a:prstDash val="solid"/>
          </a:ln>
        </p:spPr>
      </p:sp>
      <p:sp>
        <p:nvSpPr>
          <p:cNvPr id="63" name="Text 61"/>
          <p:cNvSpPr/>
          <p:nvPr/>
        </p:nvSpPr>
        <p:spPr>
          <a:xfrm>
            <a:off x="7242048" y="4233672"/>
            <a:ext cx="1572768" cy="548640"/>
          </a:xfrm>
          <a:prstGeom prst="rect">
            <a:avLst/>
          </a:prstGeom>
          <a:noFill/>
          <a:ln/>
        </p:spPr>
        <p:txBody>
          <a:bodyPr wrap="square" lIns="0" tIns="0" rIns="0" bIns="0" rtlCol="0" anchor="ctr"/>
          <a:lstStyle/>
          <a:p>
            <a:pPr algn="ctr" indent="0" marL="0">
              <a:buNone/>
            </a:pPr>
            <a:r>
              <a:rPr lang="en-US" sz="2200" b="1" dirty="0">
                <a:solidFill>
                  <a:srgbClr val="7C5BBF"/>
                </a:solidFill>
                <a:latin typeface="Georgia" pitchFamily="34" charset="0"/>
                <a:ea typeface="Georgia" pitchFamily="34" charset="-122"/>
                <a:cs typeface="Georgia" pitchFamily="34" charset="-120"/>
              </a:rPr>
              <a:t>0.85</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Model Seçim Stratejisi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731520" y="868680"/>
            <a:ext cx="7863840" cy="71323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731520" y="868680"/>
            <a:ext cx="54864" cy="713232"/>
          </a:xfrm>
          <a:prstGeom prst="rect">
            <a:avLst/>
          </a:prstGeom>
          <a:solidFill>
            <a:srgbClr val="2B7A78"/>
          </a:solidFill>
          <a:ln/>
        </p:spPr>
      </p:sp>
      <p:sp>
        <p:nvSpPr>
          <p:cNvPr id="10" name="Shape 8"/>
          <p:cNvSpPr/>
          <p:nvPr/>
        </p:nvSpPr>
        <p:spPr>
          <a:xfrm>
            <a:off x="365760" y="1051560"/>
            <a:ext cx="329184" cy="329184"/>
          </a:xfrm>
          <a:prstGeom prst="ellipse">
            <a:avLst/>
          </a:prstGeom>
          <a:solidFill>
            <a:srgbClr val="2B7A78"/>
          </a:solidFill>
          <a:ln/>
        </p:spPr>
      </p:sp>
      <p:sp>
        <p:nvSpPr>
          <p:cNvPr id="11" name="Text 9"/>
          <p:cNvSpPr/>
          <p:nvPr/>
        </p:nvSpPr>
        <p:spPr>
          <a:xfrm>
            <a:off x="365760" y="10515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914400" y="886968"/>
            <a:ext cx="2743200" cy="310896"/>
          </a:xfrm>
          <a:prstGeom prst="rect">
            <a:avLst/>
          </a:prstGeom>
          <a:noFill/>
          <a:ln/>
        </p:spPr>
        <p:txBody>
          <a:bodyPr wrap="square" lIns="0" tIns="0" rIns="0" bIns="0" rtlCol="0" anchor="ctr"/>
          <a:lstStyle/>
          <a:p>
            <a:pPr indent="0" marL="0">
              <a:buNone/>
            </a:pPr>
            <a:r>
              <a:rPr lang="en-US" sz="1150" b="1" dirty="0">
                <a:solidFill>
                  <a:srgbClr val="2B7A78"/>
                </a:solidFill>
                <a:latin typeface="Georgia" pitchFamily="34" charset="0"/>
                <a:ea typeface="Georgia" pitchFamily="34" charset="-122"/>
                <a:cs typeface="Georgia" pitchFamily="34" charset="-120"/>
              </a:rPr>
              <a:t>1. Baseline</a:t>
            </a:r>
            <a:endParaRPr lang="en-US" sz="1150" dirty="0"/>
          </a:p>
        </p:txBody>
      </p:sp>
      <p:sp>
        <p:nvSpPr>
          <p:cNvPr id="13" name="Text 11"/>
          <p:cNvSpPr/>
          <p:nvPr/>
        </p:nvSpPr>
        <p:spPr>
          <a:xfrm>
            <a:off x="914400" y="1188720"/>
            <a:ext cx="749808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Basit model ile başlangıç skoru belirle (Logistic Regression / Decision Tree). Bu skor, iyileştirmenin referans noktasıdır.</a:t>
            </a:r>
            <a:endParaRPr lang="en-US" sz="1000" dirty="0"/>
          </a:p>
        </p:txBody>
      </p:sp>
      <p:sp>
        <p:nvSpPr>
          <p:cNvPr id="14" name="Shape 12"/>
          <p:cNvSpPr/>
          <p:nvPr/>
        </p:nvSpPr>
        <p:spPr>
          <a:xfrm>
            <a:off x="512064" y="1581912"/>
            <a:ext cx="36576" cy="109728"/>
          </a:xfrm>
          <a:prstGeom prst="rect">
            <a:avLst/>
          </a:prstGeom>
          <a:solidFill>
            <a:srgbClr val="6B5B52"/>
          </a:solidFill>
          <a:ln/>
        </p:spPr>
      </p:sp>
      <p:sp>
        <p:nvSpPr>
          <p:cNvPr id="15" name="Shape 13"/>
          <p:cNvSpPr/>
          <p:nvPr/>
        </p:nvSpPr>
        <p:spPr>
          <a:xfrm>
            <a:off x="731520" y="1691640"/>
            <a:ext cx="7863840" cy="71323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6" name="Shape 14"/>
          <p:cNvSpPr/>
          <p:nvPr/>
        </p:nvSpPr>
        <p:spPr>
          <a:xfrm>
            <a:off x="731520" y="1691640"/>
            <a:ext cx="54864" cy="713232"/>
          </a:xfrm>
          <a:prstGeom prst="rect">
            <a:avLst/>
          </a:prstGeom>
          <a:solidFill>
            <a:srgbClr val="C97B5A"/>
          </a:solidFill>
          <a:ln/>
        </p:spPr>
      </p:sp>
      <p:sp>
        <p:nvSpPr>
          <p:cNvPr id="17" name="Shape 15"/>
          <p:cNvSpPr/>
          <p:nvPr/>
        </p:nvSpPr>
        <p:spPr>
          <a:xfrm>
            <a:off x="365760" y="1874520"/>
            <a:ext cx="329184" cy="329184"/>
          </a:xfrm>
          <a:prstGeom prst="ellipse">
            <a:avLst/>
          </a:prstGeom>
          <a:solidFill>
            <a:srgbClr val="C97B5A"/>
          </a:solidFill>
          <a:ln/>
        </p:spPr>
      </p:sp>
      <p:sp>
        <p:nvSpPr>
          <p:cNvPr id="18" name="Text 16"/>
          <p:cNvSpPr/>
          <p:nvPr/>
        </p:nvSpPr>
        <p:spPr>
          <a:xfrm>
            <a:off x="365760" y="18745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9" name="Text 17"/>
          <p:cNvSpPr/>
          <p:nvPr/>
        </p:nvSpPr>
        <p:spPr>
          <a:xfrm>
            <a:off x="914400" y="1709928"/>
            <a:ext cx="2743200" cy="310896"/>
          </a:xfrm>
          <a:prstGeom prst="rect">
            <a:avLst/>
          </a:prstGeom>
          <a:noFill/>
          <a:ln/>
        </p:spPr>
        <p:txBody>
          <a:bodyPr wrap="square" lIns="0" tIns="0" rIns="0" bIns="0" rtlCol="0" anchor="ctr"/>
          <a:lstStyle/>
          <a:p>
            <a:pPr indent="0" marL="0">
              <a:buNone/>
            </a:pPr>
            <a:r>
              <a:rPr lang="en-US" sz="1150" b="1" dirty="0">
                <a:solidFill>
                  <a:srgbClr val="C97B5A"/>
                </a:solidFill>
                <a:latin typeface="Georgia" pitchFamily="34" charset="0"/>
                <a:ea typeface="Georgia" pitchFamily="34" charset="-122"/>
                <a:cs typeface="Georgia" pitchFamily="34" charset="-120"/>
              </a:rPr>
              <a:t>2. Ensemble Modeller</a:t>
            </a:r>
            <a:endParaRPr lang="en-US" sz="1150" dirty="0"/>
          </a:p>
        </p:txBody>
      </p:sp>
      <p:sp>
        <p:nvSpPr>
          <p:cNvPr id="20" name="Text 18"/>
          <p:cNvSpPr/>
          <p:nvPr/>
        </p:nvSpPr>
        <p:spPr>
          <a:xfrm>
            <a:off x="914400" y="2011680"/>
            <a:ext cx="749808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Random Forest, XGBoost ve LightGBM'i varsayılan parametrelerle dene. Hangi aile daha iyi çalışıyor?</a:t>
            </a:r>
            <a:endParaRPr lang="en-US" sz="1000" dirty="0"/>
          </a:p>
        </p:txBody>
      </p:sp>
      <p:sp>
        <p:nvSpPr>
          <p:cNvPr id="21" name="Shape 19"/>
          <p:cNvSpPr/>
          <p:nvPr/>
        </p:nvSpPr>
        <p:spPr>
          <a:xfrm>
            <a:off x="512064" y="2404872"/>
            <a:ext cx="36576" cy="109728"/>
          </a:xfrm>
          <a:prstGeom prst="rect">
            <a:avLst/>
          </a:prstGeom>
          <a:solidFill>
            <a:srgbClr val="6B5B52"/>
          </a:solidFill>
          <a:ln/>
        </p:spPr>
      </p:sp>
      <p:sp>
        <p:nvSpPr>
          <p:cNvPr id="22" name="Shape 20"/>
          <p:cNvSpPr/>
          <p:nvPr/>
        </p:nvSpPr>
        <p:spPr>
          <a:xfrm>
            <a:off x="731520" y="2514600"/>
            <a:ext cx="7863840" cy="71323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3" name="Shape 21"/>
          <p:cNvSpPr/>
          <p:nvPr/>
        </p:nvSpPr>
        <p:spPr>
          <a:xfrm>
            <a:off x="731520" y="2514600"/>
            <a:ext cx="54864" cy="713232"/>
          </a:xfrm>
          <a:prstGeom prst="rect">
            <a:avLst/>
          </a:prstGeom>
          <a:solidFill>
            <a:srgbClr val="E8913A"/>
          </a:solidFill>
          <a:ln/>
        </p:spPr>
      </p:sp>
      <p:sp>
        <p:nvSpPr>
          <p:cNvPr id="24" name="Shape 22"/>
          <p:cNvSpPr/>
          <p:nvPr/>
        </p:nvSpPr>
        <p:spPr>
          <a:xfrm>
            <a:off x="365760" y="2697480"/>
            <a:ext cx="329184" cy="329184"/>
          </a:xfrm>
          <a:prstGeom prst="ellipse">
            <a:avLst/>
          </a:prstGeom>
          <a:solidFill>
            <a:srgbClr val="E8913A"/>
          </a:solidFill>
          <a:ln/>
        </p:spPr>
      </p:sp>
      <p:sp>
        <p:nvSpPr>
          <p:cNvPr id="25" name="Text 23"/>
          <p:cNvSpPr/>
          <p:nvPr/>
        </p:nvSpPr>
        <p:spPr>
          <a:xfrm>
            <a:off x="365760" y="26974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6" name="Text 24"/>
          <p:cNvSpPr/>
          <p:nvPr/>
        </p:nvSpPr>
        <p:spPr>
          <a:xfrm>
            <a:off x="914400" y="2532888"/>
            <a:ext cx="2743200" cy="310896"/>
          </a:xfrm>
          <a:prstGeom prst="rect">
            <a:avLst/>
          </a:prstGeom>
          <a:noFill/>
          <a:ln/>
        </p:spPr>
        <p:txBody>
          <a:bodyPr wrap="square" lIns="0" tIns="0" rIns="0" bIns="0" rtlCol="0" anchor="ctr"/>
          <a:lstStyle/>
          <a:p>
            <a:pPr indent="0" marL="0">
              <a:buNone/>
            </a:pPr>
            <a:r>
              <a:rPr lang="en-US" sz="1150" b="1" dirty="0">
                <a:solidFill>
                  <a:srgbClr val="E8913A"/>
                </a:solidFill>
                <a:latin typeface="Georgia" pitchFamily="34" charset="0"/>
                <a:ea typeface="Georgia" pitchFamily="34" charset="-122"/>
                <a:cs typeface="Georgia" pitchFamily="34" charset="-120"/>
              </a:rPr>
              <a:t>3. Hiperparametre Tune</a:t>
            </a:r>
            <a:endParaRPr lang="en-US" sz="1150" dirty="0"/>
          </a:p>
        </p:txBody>
      </p:sp>
      <p:sp>
        <p:nvSpPr>
          <p:cNvPr id="27" name="Text 25"/>
          <p:cNvSpPr/>
          <p:nvPr/>
        </p:nvSpPr>
        <p:spPr>
          <a:xfrm>
            <a:off x="914400" y="2834640"/>
            <a:ext cx="749808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En iyi aileyi GridSearchCV veya RandomizedSearchCV ile optimize et. Cross-validation kullan.</a:t>
            </a:r>
            <a:endParaRPr lang="en-US" sz="1000" dirty="0"/>
          </a:p>
        </p:txBody>
      </p:sp>
      <p:sp>
        <p:nvSpPr>
          <p:cNvPr id="28" name="Shape 26"/>
          <p:cNvSpPr/>
          <p:nvPr/>
        </p:nvSpPr>
        <p:spPr>
          <a:xfrm>
            <a:off x="512064" y="3227832"/>
            <a:ext cx="36576" cy="109728"/>
          </a:xfrm>
          <a:prstGeom prst="rect">
            <a:avLst/>
          </a:prstGeom>
          <a:solidFill>
            <a:srgbClr val="6B5B52"/>
          </a:solidFill>
          <a:ln/>
        </p:spPr>
      </p:sp>
      <p:sp>
        <p:nvSpPr>
          <p:cNvPr id="29" name="Shape 27"/>
          <p:cNvSpPr/>
          <p:nvPr/>
        </p:nvSpPr>
        <p:spPr>
          <a:xfrm>
            <a:off x="731520" y="3337560"/>
            <a:ext cx="7863840" cy="71323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0" name="Shape 28"/>
          <p:cNvSpPr/>
          <p:nvPr/>
        </p:nvSpPr>
        <p:spPr>
          <a:xfrm>
            <a:off x="731520" y="3337560"/>
            <a:ext cx="54864" cy="713232"/>
          </a:xfrm>
          <a:prstGeom prst="rect">
            <a:avLst/>
          </a:prstGeom>
          <a:solidFill>
            <a:srgbClr val="3A9E6B"/>
          </a:solidFill>
          <a:ln/>
        </p:spPr>
      </p:sp>
      <p:sp>
        <p:nvSpPr>
          <p:cNvPr id="31" name="Shape 29"/>
          <p:cNvSpPr/>
          <p:nvPr/>
        </p:nvSpPr>
        <p:spPr>
          <a:xfrm>
            <a:off x="365760" y="3520440"/>
            <a:ext cx="329184" cy="329184"/>
          </a:xfrm>
          <a:prstGeom prst="ellipse">
            <a:avLst/>
          </a:prstGeom>
          <a:solidFill>
            <a:srgbClr val="3A9E6B"/>
          </a:solidFill>
          <a:ln/>
        </p:spPr>
      </p:sp>
      <p:sp>
        <p:nvSpPr>
          <p:cNvPr id="32" name="Text 30"/>
          <p:cNvSpPr/>
          <p:nvPr/>
        </p:nvSpPr>
        <p:spPr>
          <a:xfrm>
            <a:off x="365760" y="3520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3" name="Text 31"/>
          <p:cNvSpPr/>
          <p:nvPr/>
        </p:nvSpPr>
        <p:spPr>
          <a:xfrm>
            <a:off x="914400" y="3355848"/>
            <a:ext cx="2743200" cy="310896"/>
          </a:xfrm>
          <a:prstGeom prst="rect">
            <a:avLst/>
          </a:prstGeom>
          <a:noFill/>
          <a:ln/>
        </p:spPr>
        <p:txBody>
          <a:bodyPr wrap="square" lIns="0" tIns="0" rIns="0" bIns="0" rtlCol="0" anchor="ctr"/>
          <a:lstStyle/>
          <a:p>
            <a:pPr indent="0" marL="0">
              <a:buNone/>
            </a:pPr>
            <a:r>
              <a:rPr lang="en-US" sz="1150" b="1" dirty="0">
                <a:solidFill>
                  <a:srgbClr val="3A9E6B"/>
                </a:solidFill>
                <a:latin typeface="Georgia" pitchFamily="34" charset="0"/>
                <a:ea typeface="Georgia" pitchFamily="34" charset="-122"/>
                <a:cs typeface="Georgia" pitchFamily="34" charset="-120"/>
              </a:rPr>
              <a:t>4. Karşılaştır</a:t>
            </a:r>
            <a:endParaRPr lang="en-US" sz="1150" dirty="0"/>
          </a:p>
        </p:txBody>
      </p:sp>
      <p:sp>
        <p:nvSpPr>
          <p:cNvPr id="34" name="Text 32"/>
          <p:cNvSpPr/>
          <p:nvPr/>
        </p:nvSpPr>
        <p:spPr>
          <a:xfrm>
            <a:off x="914400" y="3657600"/>
            <a:ext cx="749808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Accuracy, F1, AUC-ROC metrikleri ile modelleri değerlendir. Eğitim/test farkını kontrol et (overfitting).</a:t>
            </a:r>
            <a:endParaRPr lang="en-US" sz="1000" dirty="0"/>
          </a:p>
        </p:txBody>
      </p:sp>
      <p:sp>
        <p:nvSpPr>
          <p:cNvPr id="35" name="Shape 33"/>
          <p:cNvSpPr/>
          <p:nvPr/>
        </p:nvSpPr>
        <p:spPr>
          <a:xfrm>
            <a:off x="512064" y="4050792"/>
            <a:ext cx="36576" cy="109728"/>
          </a:xfrm>
          <a:prstGeom prst="rect">
            <a:avLst/>
          </a:prstGeom>
          <a:solidFill>
            <a:srgbClr val="6B5B52"/>
          </a:solidFill>
          <a:ln/>
        </p:spPr>
      </p:sp>
      <p:sp>
        <p:nvSpPr>
          <p:cNvPr id="36" name="Shape 34"/>
          <p:cNvSpPr/>
          <p:nvPr/>
        </p:nvSpPr>
        <p:spPr>
          <a:xfrm>
            <a:off x="731520" y="4160520"/>
            <a:ext cx="7863840" cy="713232"/>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7" name="Shape 35"/>
          <p:cNvSpPr/>
          <p:nvPr/>
        </p:nvSpPr>
        <p:spPr>
          <a:xfrm>
            <a:off x="731520" y="4160520"/>
            <a:ext cx="54864" cy="713232"/>
          </a:xfrm>
          <a:prstGeom prst="rect">
            <a:avLst/>
          </a:prstGeom>
          <a:solidFill>
            <a:srgbClr val="7C5BBF"/>
          </a:solidFill>
          <a:ln/>
        </p:spPr>
      </p:sp>
      <p:sp>
        <p:nvSpPr>
          <p:cNvPr id="38" name="Shape 36"/>
          <p:cNvSpPr/>
          <p:nvPr/>
        </p:nvSpPr>
        <p:spPr>
          <a:xfrm>
            <a:off x="365760" y="4343400"/>
            <a:ext cx="329184" cy="329184"/>
          </a:xfrm>
          <a:prstGeom prst="ellipse">
            <a:avLst/>
          </a:prstGeom>
          <a:solidFill>
            <a:srgbClr val="7C5BBF"/>
          </a:solidFill>
          <a:ln/>
        </p:spPr>
      </p:sp>
      <p:sp>
        <p:nvSpPr>
          <p:cNvPr id="39" name="Text 37"/>
          <p:cNvSpPr/>
          <p:nvPr/>
        </p:nvSpPr>
        <p:spPr>
          <a:xfrm>
            <a:off x="365760" y="4343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0" name="Text 38"/>
          <p:cNvSpPr/>
          <p:nvPr/>
        </p:nvSpPr>
        <p:spPr>
          <a:xfrm>
            <a:off x="914400" y="4178808"/>
            <a:ext cx="2743200" cy="310896"/>
          </a:xfrm>
          <a:prstGeom prst="rect">
            <a:avLst/>
          </a:prstGeom>
          <a:noFill/>
          <a:ln/>
        </p:spPr>
        <p:txBody>
          <a:bodyPr wrap="square" lIns="0" tIns="0" rIns="0" bIns="0" rtlCol="0" anchor="ctr"/>
          <a:lstStyle/>
          <a:p>
            <a:pPr indent="0" marL="0">
              <a:buNone/>
            </a:pPr>
            <a:r>
              <a:rPr lang="en-US" sz="1150" b="1" dirty="0">
                <a:solidFill>
                  <a:srgbClr val="7C5BBF"/>
                </a:solidFill>
                <a:latin typeface="Georgia" pitchFamily="34" charset="0"/>
                <a:ea typeface="Georgia" pitchFamily="34" charset="-122"/>
                <a:cs typeface="Georgia" pitchFamily="34" charset="-120"/>
              </a:rPr>
              <a:t>5. Deploy</a:t>
            </a:r>
            <a:endParaRPr lang="en-US" sz="1150" dirty="0"/>
          </a:p>
        </p:txBody>
      </p:sp>
      <p:sp>
        <p:nvSpPr>
          <p:cNvPr id="41" name="Text 39"/>
          <p:cNvSpPr/>
          <p:nvPr/>
        </p:nvSpPr>
        <p:spPr>
          <a:xfrm>
            <a:off x="914400" y="4480560"/>
            <a:ext cx="7498080" cy="36576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En iyi modeli joblib ile kaydet. Pipeline oluştur. Monitoring sistemi kur.</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Haftalık Notebook'lar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841248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54864" cy="1234440"/>
          </a:xfrm>
          <a:prstGeom prst="rect">
            <a:avLst/>
          </a:prstGeom>
          <a:solidFill>
            <a:srgbClr val="2B7A78"/>
          </a:solidFill>
          <a:ln/>
        </p:spPr>
      </p:sp>
      <p:sp>
        <p:nvSpPr>
          <p:cNvPr id="10" name="Shape 8"/>
          <p:cNvSpPr/>
          <p:nvPr/>
        </p:nvSpPr>
        <p:spPr>
          <a:xfrm>
            <a:off x="502920" y="1005840"/>
            <a:ext cx="329184" cy="329184"/>
          </a:xfrm>
          <a:prstGeom prst="ellipse">
            <a:avLst/>
          </a:prstGeom>
          <a:solidFill>
            <a:srgbClr val="2B7A78"/>
          </a:solidFill>
          <a:ln/>
        </p:spPr>
      </p:sp>
      <p:sp>
        <p:nvSpPr>
          <p:cNvPr id="11" name="Text 9"/>
          <p:cNvSpPr/>
          <p:nvPr/>
        </p:nvSpPr>
        <p:spPr>
          <a:xfrm>
            <a:off x="502920" y="1005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914400" y="960120"/>
            <a:ext cx="4572000" cy="329184"/>
          </a:xfrm>
          <a:prstGeom prst="rect">
            <a:avLst/>
          </a:prstGeom>
          <a:noFill/>
          <a:ln/>
        </p:spPr>
        <p:txBody>
          <a:bodyPr wrap="square" lIns="0" tIns="0" rIns="0" bIns="0" rtlCol="0" anchor="ctr"/>
          <a:lstStyle/>
          <a:p>
            <a:pPr indent="0" marL="0">
              <a:buNone/>
            </a:pPr>
            <a:r>
              <a:rPr lang="en-US" sz="1200" b="1" dirty="0">
                <a:solidFill>
                  <a:srgbClr val="2B7A78"/>
                </a:solidFill>
                <a:latin typeface="Consolas" pitchFamily="34" charset="0"/>
                <a:ea typeface="Consolas" pitchFamily="34" charset="-122"/>
                <a:cs typeface="Consolas" pitchFamily="34" charset="-120"/>
              </a:rPr>
              <a:t>ensemble_modeller.ipynb</a:t>
            </a:r>
            <a:endParaRPr lang="en-US" sz="1200" dirty="0"/>
          </a:p>
        </p:txBody>
      </p:sp>
      <p:sp>
        <p:nvSpPr>
          <p:cNvPr id="13" name="Text 11"/>
          <p:cNvSpPr/>
          <p:nvPr/>
        </p:nvSpPr>
        <p:spPr>
          <a:xfrm>
            <a:off x="914400" y="1307592"/>
            <a:ext cx="7498080" cy="41148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Random Forest, Gradient Boosting, XGBoost ve LightGBM modellerinin temel kullanımı. Iris ve Wine dataset'leri üzerinde karşılaştırmalı analiz.</a:t>
            </a:r>
            <a:endParaRPr lang="en-US" sz="1000" dirty="0"/>
          </a:p>
        </p:txBody>
      </p:sp>
      <p:sp>
        <p:nvSpPr>
          <p:cNvPr id="14" name="Shape 12"/>
          <p:cNvSpPr/>
          <p:nvPr/>
        </p:nvSpPr>
        <p:spPr>
          <a:xfrm>
            <a:off x="914400" y="1737360"/>
            <a:ext cx="1211580" cy="256032"/>
          </a:xfrm>
          <a:prstGeom prst="rect">
            <a:avLst/>
          </a:prstGeom>
          <a:solidFill>
            <a:srgbClr val="FEF5EE"/>
          </a:solidFill>
          <a:ln w="10160">
            <a:solidFill>
              <a:srgbClr val="2B7A78"/>
            </a:solidFill>
            <a:prstDash val="solid"/>
          </a:ln>
        </p:spPr>
      </p:sp>
      <p:sp>
        <p:nvSpPr>
          <p:cNvPr id="15" name="Text 13"/>
          <p:cNvSpPr/>
          <p:nvPr/>
        </p:nvSpPr>
        <p:spPr>
          <a:xfrm>
            <a:off x="914400" y="1737360"/>
            <a:ext cx="1211580" cy="256032"/>
          </a:xfrm>
          <a:prstGeom prst="rect">
            <a:avLst/>
          </a:prstGeom>
          <a:noFill/>
          <a:ln/>
        </p:spPr>
        <p:txBody>
          <a:bodyPr wrap="square" lIns="0" tIns="0" rIns="0" bIns="0" rtlCol="0" anchor="ctr"/>
          <a:lstStyle/>
          <a:p>
            <a:pPr algn="ctr" indent="0" marL="0">
              <a:buNone/>
            </a:pPr>
            <a:r>
              <a:rPr lang="en-US" sz="850" dirty="0">
                <a:solidFill>
                  <a:srgbClr val="2B7A78"/>
                </a:solidFill>
                <a:latin typeface="Calibri" pitchFamily="34" charset="0"/>
                <a:ea typeface="Calibri" pitchFamily="34" charset="-122"/>
                <a:cs typeface="Calibri" pitchFamily="34" charset="-120"/>
              </a:rPr>
              <a:t>Random Forest</a:t>
            </a:r>
            <a:endParaRPr lang="en-US" sz="850" dirty="0"/>
          </a:p>
        </p:txBody>
      </p:sp>
      <p:sp>
        <p:nvSpPr>
          <p:cNvPr id="16" name="Shape 14"/>
          <p:cNvSpPr/>
          <p:nvPr/>
        </p:nvSpPr>
        <p:spPr>
          <a:xfrm>
            <a:off x="2217420" y="1737360"/>
            <a:ext cx="800100" cy="256032"/>
          </a:xfrm>
          <a:prstGeom prst="rect">
            <a:avLst/>
          </a:prstGeom>
          <a:solidFill>
            <a:srgbClr val="FEF5EE"/>
          </a:solidFill>
          <a:ln w="10160">
            <a:solidFill>
              <a:srgbClr val="2B7A78"/>
            </a:solidFill>
            <a:prstDash val="solid"/>
          </a:ln>
        </p:spPr>
      </p:sp>
      <p:sp>
        <p:nvSpPr>
          <p:cNvPr id="17" name="Text 15"/>
          <p:cNvSpPr/>
          <p:nvPr/>
        </p:nvSpPr>
        <p:spPr>
          <a:xfrm>
            <a:off x="2217420" y="1737360"/>
            <a:ext cx="800100" cy="256032"/>
          </a:xfrm>
          <a:prstGeom prst="rect">
            <a:avLst/>
          </a:prstGeom>
          <a:noFill/>
          <a:ln/>
        </p:spPr>
        <p:txBody>
          <a:bodyPr wrap="square" lIns="0" tIns="0" rIns="0" bIns="0" rtlCol="0" anchor="ctr"/>
          <a:lstStyle/>
          <a:p>
            <a:pPr algn="ctr" indent="0" marL="0">
              <a:buNone/>
            </a:pPr>
            <a:r>
              <a:rPr lang="en-US" sz="850" dirty="0">
                <a:solidFill>
                  <a:srgbClr val="2B7A78"/>
                </a:solidFill>
                <a:latin typeface="Calibri" pitchFamily="34" charset="0"/>
                <a:ea typeface="Calibri" pitchFamily="34" charset="-122"/>
                <a:cs typeface="Calibri" pitchFamily="34" charset="-120"/>
              </a:rPr>
              <a:t>XGBoost</a:t>
            </a:r>
            <a:endParaRPr lang="en-US" sz="850" dirty="0"/>
          </a:p>
        </p:txBody>
      </p:sp>
      <p:sp>
        <p:nvSpPr>
          <p:cNvPr id="18" name="Shape 16"/>
          <p:cNvSpPr/>
          <p:nvPr/>
        </p:nvSpPr>
        <p:spPr>
          <a:xfrm>
            <a:off x="3108960" y="1737360"/>
            <a:ext cx="868680" cy="256032"/>
          </a:xfrm>
          <a:prstGeom prst="rect">
            <a:avLst/>
          </a:prstGeom>
          <a:solidFill>
            <a:srgbClr val="FEF5EE"/>
          </a:solidFill>
          <a:ln w="10160">
            <a:solidFill>
              <a:srgbClr val="2B7A78"/>
            </a:solidFill>
            <a:prstDash val="solid"/>
          </a:ln>
        </p:spPr>
      </p:sp>
      <p:sp>
        <p:nvSpPr>
          <p:cNvPr id="19" name="Text 17"/>
          <p:cNvSpPr/>
          <p:nvPr/>
        </p:nvSpPr>
        <p:spPr>
          <a:xfrm>
            <a:off x="3108960" y="1737360"/>
            <a:ext cx="868680" cy="256032"/>
          </a:xfrm>
          <a:prstGeom prst="rect">
            <a:avLst/>
          </a:prstGeom>
          <a:noFill/>
          <a:ln/>
        </p:spPr>
        <p:txBody>
          <a:bodyPr wrap="square" lIns="0" tIns="0" rIns="0" bIns="0" rtlCol="0" anchor="ctr"/>
          <a:lstStyle/>
          <a:p>
            <a:pPr algn="ctr" indent="0" marL="0">
              <a:buNone/>
            </a:pPr>
            <a:r>
              <a:rPr lang="en-US" sz="850" dirty="0">
                <a:solidFill>
                  <a:srgbClr val="2B7A78"/>
                </a:solidFill>
                <a:latin typeface="Calibri" pitchFamily="34" charset="0"/>
                <a:ea typeface="Calibri" pitchFamily="34" charset="-122"/>
                <a:cs typeface="Calibri" pitchFamily="34" charset="-120"/>
              </a:rPr>
              <a:t>LightGBM</a:t>
            </a:r>
            <a:endParaRPr lang="en-US" sz="850" dirty="0"/>
          </a:p>
        </p:txBody>
      </p:sp>
      <p:sp>
        <p:nvSpPr>
          <p:cNvPr id="20" name="Shape 18"/>
          <p:cNvSpPr/>
          <p:nvPr/>
        </p:nvSpPr>
        <p:spPr>
          <a:xfrm>
            <a:off x="4069080" y="1737360"/>
            <a:ext cx="1211580" cy="256032"/>
          </a:xfrm>
          <a:prstGeom prst="rect">
            <a:avLst/>
          </a:prstGeom>
          <a:solidFill>
            <a:srgbClr val="FEF5EE"/>
          </a:solidFill>
          <a:ln w="10160">
            <a:solidFill>
              <a:srgbClr val="2B7A78"/>
            </a:solidFill>
            <a:prstDash val="solid"/>
          </a:ln>
        </p:spPr>
      </p:sp>
      <p:sp>
        <p:nvSpPr>
          <p:cNvPr id="21" name="Text 19"/>
          <p:cNvSpPr/>
          <p:nvPr/>
        </p:nvSpPr>
        <p:spPr>
          <a:xfrm>
            <a:off x="4069080" y="1737360"/>
            <a:ext cx="1211580" cy="256032"/>
          </a:xfrm>
          <a:prstGeom prst="rect">
            <a:avLst/>
          </a:prstGeom>
          <a:noFill/>
          <a:ln/>
        </p:spPr>
        <p:txBody>
          <a:bodyPr wrap="square" lIns="0" tIns="0" rIns="0" bIns="0" rtlCol="0" anchor="ctr"/>
          <a:lstStyle/>
          <a:p>
            <a:pPr algn="ctr" indent="0" marL="0">
              <a:buNone/>
            </a:pPr>
            <a:r>
              <a:rPr lang="en-US" sz="850" dirty="0">
                <a:solidFill>
                  <a:srgbClr val="2B7A78"/>
                </a:solidFill>
                <a:latin typeface="Calibri" pitchFamily="34" charset="0"/>
                <a:ea typeface="Calibri" pitchFamily="34" charset="-122"/>
                <a:cs typeface="Calibri" pitchFamily="34" charset="-120"/>
              </a:rPr>
              <a:t>Karşılaştırma</a:t>
            </a:r>
            <a:endParaRPr lang="en-US" sz="850" dirty="0"/>
          </a:p>
        </p:txBody>
      </p:sp>
      <p:sp>
        <p:nvSpPr>
          <p:cNvPr id="22" name="Shape 20"/>
          <p:cNvSpPr/>
          <p:nvPr/>
        </p:nvSpPr>
        <p:spPr>
          <a:xfrm>
            <a:off x="365760" y="2240280"/>
            <a:ext cx="841248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3" name="Shape 21"/>
          <p:cNvSpPr/>
          <p:nvPr/>
        </p:nvSpPr>
        <p:spPr>
          <a:xfrm>
            <a:off x="365760" y="2240280"/>
            <a:ext cx="54864" cy="1234440"/>
          </a:xfrm>
          <a:prstGeom prst="rect">
            <a:avLst/>
          </a:prstGeom>
          <a:solidFill>
            <a:srgbClr val="C97B5A"/>
          </a:solidFill>
          <a:ln/>
        </p:spPr>
      </p:sp>
      <p:sp>
        <p:nvSpPr>
          <p:cNvPr id="24" name="Shape 22"/>
          <p:cNvSpPr/>
          <p:nvPr/>
        </p:nvSpPr>
        <p:spPr>
          <a:xfrm>
            <a:off x="502920" y="2377440"/>
            <a:ext cx="329184" cy="329184"/>
          </a:xfrm>
          <a:prstGeom prst="ellipse">
            <a:avLst/>
          </a:prstGeom>
          <a:solidFill>
            <a:srgbClr val="C97B5A"/>
          </a:solidFill>
          <a:ln/>
        </p:spPr>
      </p:sp>
      <p:sp>
        <p:nvSpPr>
          <p:cNvPr id="25" name="Text 23"/>
          <p:cNvSpPr/>
          <p:nvPr/>
        </p:nvSpPr>
        <p:spPr>
          <a:xfrm>
            <a:off x="50292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4"/>
          <p:cNvSpPr/>
          <p:nvPr/>
        </p:nvSpPr>
        <p:spPr>
          <a:xfrm>
            <a:off x="914400" y="2331720"/>
            <a:ext cx="4572000" cy="329184"/>
          </a:xfrm>
          <a:prstGeom prst="rect">
            <a:avLst/>
          </a:prstGeom>
          <a:noFill/>
          <a:ln/>
        </p:spPr>
        <p:txBody>
          <a:bodyPr wrap="square" lIns="0" tIns="0" rIns="0" bIns="0" rtlCol="0" anchor="ctr"/>
          <a:lstStyle/>
          <a:p>
            <a:pPr indent="0" marL="0">
              <a:buNone/>
            </a:pPr>
            <a:r>
              <a:rPr lang="en-US" sz="1200" b="1" dirty="0">
                <a:solidFill>
                  <a:srgbClr val="C97B5A"/>
                </a:solidFill>
                <a:latin typeface="Consolas" pitchFamily="34" charset="0"/>
                <a:ea typeface="Consolas" pitchFamily="34" charset="-122"/>
                <a:cs typeface="Consolas" pitchFamily="34" charset="-120"/>
              </a:rPr>
              <a:t>musteri_terk.ipynb</a:t>
            </a:r>
            <a:endParaRPr lang="en-US" sz="1200" dirty="0"/>
          </a:p>
        </p:txBody>
      </p:sp>
      <p:sp>
        <p:nvSpPr>
          <p:cNvPr id="27" name="Text 25"/>
          <p:cNvSpPr/>
          <p:nvPr/>
        </p:nvSpPr>
        <p:spPr>
          <a:xfrm>
            <a:off x="914400" y="2679192"/>
            <a:ext cx="7498080" cy="41148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Telco Churn dataset üzerinde uçtan uca proje. Veri temizleme, feature engineering, XGBoost ile tahmin, SHAP ile yorumlama.</a:t>
            </a:r>
            <a:endParaRPr lang="en-US" sz="1000" dirty="0"/>
          </a:p>
        </p:txBody>
      </p:sp>
      <p:sp>
        <p:nvSpPr>
          <p:cNvPr id="28" name="Shape 26"/>
          <p:cNvSpPr/>
          <p:nvPr/>
        </p:nvSpPr>
        <p:spPr>
          <a:xfrm>
            <a:off x="914400" y="3108960"/>
            <a:ext cx="662940" cy="256032"/>
          </a:xfrm>
          <a:prstGeom prst="rect">
            <a:avLst/>
          </a:prstGeom>
          <a:solidFill>
            <a:srgbClr val="FEF5EE"/>
          </a:solidFill>
          <a:ln w="10160">
            <a:solidFill>
              <a:srgbClr val="C97B5A"/>
            </a:solidFill>
            <a:prstDash val="solid"/>
          </a:ln>
        </p:spPr>
      </p:sp>
      <p:sp>
        <p:nvSpPr>
          <p:cNvPr id="29" name="Text 27"/>
          <p:cNvSpPr/>
          <p:nvPr/>
        </p:nvSpPr>
        <p:spPr>
          <a:xfrm>
            <a:off x="914400" y="3108960"/>
            <a:ext cx="662940" cy="256032"/>
          </a:xfrm>
          <a:prstGeom prst="rect">
            <a:avLst/>
          </a:prstGeom>
          <a:noFill/>
          <a:ln/>
        </p:spPr>
        <p:txBody>
          <a:bodyPr wrap="square" lIns="0" tIns="0" rIns="0" bIns="0" rtlCol="0" anchor="ctr"/>
          <a:lstStyle/>
          <a:p>
            <a:pPr algn="ctr" indent="0" marL="0">
              <a:buNone/>
            </a:pPr>
            <a:r>
              <a:rPr lang="en-US" sz="850" dirty="0">
                <a:solidFill>
                  <a:srgbClr val="C97B5A"/>
                </a:solidFill>
                <a:latin typeface="Calibri" pitchFamily="34" charset="0"/>
                <a:ea typeface="Calibri" pitchFamily="34" charset="-122"/>
                <a:cs typeface="Calibri" pitchFamily="34" charset="-120"/>
              </a:rPr>
              <a:t>Churn</a:t>
            </a:r>
            <a:endParaRPr lang="en-US" sz="850" dirty="0"/>
          </a:p>
        </p:txBody>
      </p:sp>
      <p:sp>
        <p:nvSpPr>
          <p:cNvPr id="30" name="Shape 28"/>
          <p:cNvSpPr/>
          <p:nvPr/>
        </p:nvSpPr>
        <p:spPr>
          <a:xfrm>
            <a:off x="1668780" y="3108960"/>
            <a:ext cx="800100" cy="256032"/>
          </a:xfrm>
          <a:prstGeom prst="rect">
            <a:avLst/>
          </a:prstGeom>
          <a:solidFill>
            <a:srgbClr val="FEF5EE"/>
          </a:solidFill>
          <a:ln w="10160">
            <a:solidFill>
              <a:srgbClr val="C97B5A"/>
            </a:solidFill>
            <a:prstDash val="solid"/>
          </a:ln>
        </p:spPr>
      </p:sp>
      <p:sp>
        <p:nvSpPr>
          <p:cNvPr id="31" name="Text 29"/>
          <p:cNvSpPr/>
          <p:nvPr/>
        </p:nvSpPr>
        <p:spPr>
          <a:xfrm>
            <a:off x="1668780" y="3108960"/>
            <a:ext cx="800100" cy="256032"/>
          </a:xfrm>
          <a:prstGeom prst="rect">
            <a:avLst/>
          </a:prstGeom>
          <a:noFill/>
          <a:ln/>
        </p:spPr>
        <p:txBody>
          <a:bodyPr wrap="square" lIns="0" tIns="0" rIns="0" bIns="0" rtlCol="0" anchor="ctr"/>
          <a:lstStyle/>
          <a:p>
            <a:pPr algn="ctr" indent="0" marL="0">
              <a:buNone/>
            </a:pPr>
            <a:r>
              <a:rPr lang="en-US" sz="850" dirty="0">
                <a:solidFill>
                  <a:srgbClr val="C97B5A"/>
                </a:solidFill>
                <a:latin typeface="Calibri" pitchFamily="34" charset="0"/>
                <a:ea typeface="Calibri" pitchFamily="34" charset="-122"/>
                <a:cs typeface="Calibri" pitchFamily="34" charset="-120"/>
              </a:rPr>
              <a:t>XGBoost</a:t>
            </a:r>
            <a:endParaRPr lang="en-US" sz="850" dirty="0"/>
          </a:p>
        </p:txBody>
      </p:sp>
      <p:sp>
        <p:nvSpPr>
          <p:cNvPr id="32" name="Shape 30"/>
          <p:cNvSpPr/>
          <p:nvPr/>
        </p:nvSpPr>
        <p:spPr>
          <a:xfrm>
            <a:off x="2560320" y="3108960"/>
            <a:ext cx="594360" cy="256032"/>
          </a:xfrm>
          <a:prstGeom prst="rect">
            <a:avLst/>
          </a:prstGeom>
          <a:solidFill>
            <a:srgbClr val="FEF5EE"/>
          </a:solidFill>
          <a:ln w="10160">
            <a:solidFill>
              <a:srgbClr val="C97B5A"/>
            </a:solidFill>
            <a:prstDash val="solid"/>
          </a:ln>
        </p:spPr>
      </p:sp>
      <p:sp>
        <p:nvSpPr>
          <p:cNvPr id="33" name="Text 31"/>
          <p:cNvSpPr/>
          <p:nvPr/>
        </p:nvSpPr>
        <p:spPr>
          <a:xfrm>
            <a:off x="2560320" y="3108960"/>
            <a:ext cx="594360" cy="256032"/>
          </a:xfrm>
          <a:prstGeom prst="rect">
            <a:avLst/>
          </a:prstGeom>
          <a:noFill/>
          <a:ln/>
        </p:spPr>
        <p:txBody>
          <a:bodyPr wrap="square" lIns="0" tIns="0" rIns="0" bIns="0" rtlCol="0" anchor="ctr"/>
          <a:lstStyle/>
          <a:p>
            <a:pPr algn="ctr" indent="0" marL="0">
              <a:buNone/>
            </a:pPr>
            <a:r>
              <a:rPr lang="en-US" sz="850" dirty="0">
                <a:solidFill>
                  <a:srgbClr val="C97B5A"/>
                </a:solidFill>
                <a:latin typeface="Calibri" pitchFamily="34" charset="0"/>
                <a:ea typeface="Calibri" pitchFamily="34" charset="-122"/>
                <a:cs typeface="Calibri" pitchFamily="34" charset="-120"/>
              </a:rPr>
              <a:t>SHAP</a:t>
            </a:r>
            <a:endParaRPr lang="en-US" sz="850" dirty="0"/>
          </a:p>
        </p:txBody>
      </p:sp>
      <p:sp>
        <p:nvSpPr>
          <p:cNvPr id="34" name="Shape 32"/>
          <p:cNvSpPr/>
          <p:nvPr/>
        </p:nvSpPr>
        <p:spPr>
          <a:xfrm>
            <a:off x="3246120" y="3108960"/>
            <a:ext cx="868680" cy="256032"/>
          </a:xfrm>
          <a:prstGeom prst="rect">
            <a:avLst/>
          </a:prstGeom>
          <a:solidFill>
            <a:srgbClr val="FEF5EE"/>
          </a:solidFill>
          <a:ln w="10160">
            <a:solidFill>
              <a:srgbClr val="C97B5A"/>
            </a:solidFill>
            <a:prstDash val="solid"/>
          </a:ln>
        </p:spPr>
      </p:sp>
      <p:sp>
        <p:nvSpPr>
          <p:cNvPr id="35" name="Text 33"/>
          <p:cNvSpPr/>
          <p:nvPr/>
        </p:nvSpPr>
        <p:spPr>
          <a:xfrm>
            <a:off x="3246120" y="3108960"/>
            <a:ext cx="868680" cy="256032"/>
          </a:xfrm>
          <a:prstGeom prst="rect">
            <a:avLst/>
          </a:prstGeom>
          <a:noFill/>
          <a:ln/>
        </p:spPr>
        <p:txBody>
          <a:bodyPr wrap="square" lIns="0" tIns="0" rIns="0" bIns="0" rtlCol="0" anchor="ctr"/>
          <a:lstStyle/>
          <a:p>
            <a:pPr algn="ctr" indent="0" marL="0">
              <a:buNone/>
            </a:pPr>
            <a:r>
              <a:rPr lang="en-US" sz="850" dirty="0">
                <a:solidFill>
                  <a:srgbClr val="C97B5A"/>
                </a:solidFill>
                <a:latin typeface="Calibri" pitchFamily="34" charset="0"/>
                <a:ea typeface="Calibri" pitchFamily="34" charset="-122"/>
                <a:cs typeface="Calibri" pitchFamily="34" charset="-120"/>
              </a:rPr>
              <a:t>Pipeline</a:t>
            </a:r>
            <a:endParaRPr lang="en-US" sz="850" dirty="0"/>
          </a:p>
        </p:txBody>
      </p:sp>
      <p:sp>
        <p:nvSpPr>
          <p:cNvPr id="36" name="Shape 34"/>
          <p:cNvSpPr/>
          <p:nvPr/>
        </p:nvSpPr>
        <p:spPr>
          <a:xfrm>
            <a:off x="365760" y="3611880"/>
            <a:ext cx="841248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7" name="Shape 35"/>
          <p:cNvSpPr/>
          <p:nvPr/>
        </p:nvSpPr>
        <p:spPr>
          <a:xfrm>
            <a:off x="365760" y="3611880"/>
            <a:ext cx="54864" cy="1234440"/>
          </a:xfrm>
          <a:prstGeom prst="rect">
            <a:avLst/>
          </a:prstGeom>
          <a:solidFill>
            <a:srgbClr val="E8913A"/>
          </a:solidFill>
          <a:ln/>
        </p:spPr>
      </p:sp>
      <p:sp>
        <p:nvSpPr>
          <p:cNvPr id="38" name="Shape 36"/>
          <p:cNvSpPr/>
          <p:nvPr/>
        </p:nvSpPr>
        <p:spPr>
          <a:xfrm>
            <a:off x="502920" y="3749040"/>
            <a:ext cx="329184" cy="329184"/>
          </a:xfrm>
          <a:prstGeom prst="ellipse">
            <a:avLst/>
          </a:prstGeom>
          <a:solidFill>
            <a:srgbClr val="E8913A"/>
          </a:solidFill>
          <a:ln/>
        </p:spPr>
      </p:sp>
      <p:sp>
        <p:nvSpPr>
          <p:cNvPr id="39" name="Text 37"/>
          <p:cNvSpPr/>
          <p:nvPr/>
        </p:nvSpPr>
        <p:spPr>
          <a:xfrm>
            <a:off x="502920" y="3749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Text 38"/>
          <p:cNvSpPr/>
          <p:nvPr/>
        </p:nvSpPr>
        <p:spPr>
          <a:xfrm>
            <a:off x="914400" y="3703320"/>
            <a:ext cx="4572000" cy="329184"/>
          </a:xfrm>
          <a:prstGeom prst="rect">
            <a:avLst/>
          </a:prstGeom>
          <a:noFill/>
          <a:ln/>
        </p:spPr>
        <p:txBody>
          <a:bodyPr wrap="square" lIns="0" tIns="0" rIns="0" bIns="0" rtlCol="0" anchor="ctr"/>
          <a:lstStyle/>
          <a:p>
            <a:pPr indent="0" marL="0">
              <a:buNone/>
            </a:pPr>
            <a:r>
              <a:rPr lang="en-US" sz="1200" b="1" dirty="0">
                <a:solidFill>
                  <a:srgbClr val="E8913A"/>
                </a:solidFill>
                <a:latin typeface="Consolas" pitchFamily="34" charset="0"/>
                <a:ea typeface="Consolas" pitchFamily="34" charset="-122"/>
                <a:cs typeface="Consolas" pitchFamily="34" charset="-120"/>
              </a:rPr>
              <a:t>hiperparametre_avi.ipynb</a:t>
            </a:r>
            <a:endParaRPr lang="en-US" sz="1200" dirty="0"/>
          </a:p>
        </p:txBody>
      </p:sp>
      <p:sp>
        <p:nvSpPr>
          <p:cNvPr id="41" name="Text 39"/>
          <p:cNvSpPr/>
          <p:nvPr/>
        </p:nvSpPr>
        <p:spPr>
          <a:xfrm>
            <a:off x="914400" y="4050792"/>
            <a:ext cx="7498080" cy="411480"/>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GridSearchCV ve RandomizedSearchCV ile hiperparametre optimizasyonu. Learning curve analizi ve overfitting tespiti.</a:t>
            </a:r>
            <a:endParaRPr lang="en-US" sz="1000" dirty="0"/>
          </a:p>
        </p:txBody>
      </p:sp>
      <p:sp>
        <p:nvSpPr>
          <p:cNvPr id="42" name="Shape 40"/>
          <p:cNvSpPr/>
          <p:nvPr/>
        </p:nvSpPr>
        <p:spPr>
          <a:xfrm>
            <a:off x="914400" y="4480560"/>
            <a:ext cx="1005840" cy="256032"/>
          </a:xfrm>
          <a:prstGeom prst="rect">
            <a:avLst/>
          </a:prstGeom>
          <a:solidFill>
            <a:srgbClr val="FEF5EE"/>
          </a:solidFill>
          <a:ln w="10160">
            <a:solidFill>
              <a:srgbClr val="E8913A"/>
            </a:solidFill>
            <a:prstDash val="solid"/>
          </a:ln>
        </p:spPr>
      </p:sp>
      <p:sp>
        <p:nvSpPr>
          <p:cNvPr id="43" name="Text 41"/>
          <p:cNvSpPr/>
          <p:nvPr/>
        </p:nvSpPr>
        <p:spPr>
          <a:xfrm>
            <a:off x="914400" y="4480560"/>
            <a:ext cx="1005840" cy="256032"/>
          </a:xfrm>
          <a:prstGeom prst="rect">
            <a:avLst/>
          </a:prstGeom>
          <a:noFill/>
          <a:ln/>
        </p:spPr>
        <p:txBody>
          <a:bodyPr wrap="square" lIns="0" tIns="0" rIns="0" bIns="0" rtlCol="0" anchor="ctr"/>
          <a:lstStyle/>
          <a:p>
            <a:pPr algn="ctr" indent="0" marL="0">
              <a:buNone/>
            </a:pPr>
            <a:r>
              <a:rPr lang="en-US" sz="850" dirty="0">
                <a:solidFill>
                  <a:srgbClr val="E8913A"/>
                </a:solidFill>
                <a:latin typeface="Calibri" pitchFamily="34" charset="0"/>
                <a:ea typeface="Calibri" pitchFamily="34" charset="-122"/>
                <a:cs typeface="Calibri" pitchFamily="34" charset="-120"/>
              </a:rPr>
              <a:t>GridSearch</a:t>
            </a:r>
            <a:endParaRPr lang="en-US" sz="850" dirty="0"/>
          </a:p>
        </p:txBody>
      </p:sp>
      <p:sp>
        <p:nvSpPr>
          <p:cNvPr id="44" name="Shape 42"/>
          <p:cNvSpPr/>
          <p:nvPr/>
        </p:nvSpPr>
        <p:spPr>
          <a:xfrm>
            <a:off x="2011680" y="4480560"/>
            <a:ext cx="1143000" cy="256032"/>
          </a:xfrm>
          <a:prstGeom prst="rect">
            <a:avLst/>
          </a:prstGeom>
          <a:solidFill>
            <a:srgbClr val="FEF5EE"/>
          </a:solidFill>
          <a:ln w="10160">
            <a:solidFill>
              <a:srgbClr val="E8913A"/>
            </a:solidFill>
            <a:prstDash val="solid"/>
          </a:ln>
        </p:spPr>
      </p:sp>
      <p:sp>
        <p:nvSpPr>
          <p:cNvPr id="45" name="Text 43"/>
          <p:cNvSpPr/>
          <p:nvPr/>
        </p:nvSpPr>
        <p:spPr>
          <a:xfrm>
            <a:off x="2011680" y="4480560"/>
            <a:ext cx="1143000" cy="256032"/>
          </a:xfrm>
          <a:prstGeom prst="rect">
            <a:avLst/>
          </a:prstGeom>
          <a:noFill/>
          <a:ln/>
        </p:spPr>
        <p:txBody>
          <a:bodyPr wrap="square" lIns="0" tIns="0" rIns="0" bIns="0" rtlCol="0" anchor="ctr"/>
          <a:lstStyle/>
          <a:p>
            <a:pPr algn="ctr" indent="0" marL="0">
              <a:buNone/>
            </a:pPr>
            <a:r>
              <a:rPr lang="en-US" sz="850" dirty="0">
                <a:solidFill>
                  <a:srgbClr val="E8913A"/>
                </a:solidFill>
                <a:latin typeface="Calibri" pitchFamily="34" charset="0"/>
                <a:ea typeface="Calibri" pitchFamily="34" charset="-122"/>
                <a:cs typeface="Calibri" pitchFamily="34" charset="-120"/>
              </a:rPr>
              <a:t>RandomSearch</a:t>
            </a:r>
            <a:endParaRPr lang="en-US" sz="850" dirty="0"/>
          </a:p>
        </p:txBody>
      </p:sp>
      <p:sp>
        <p:nvSpPr>
          <p:cNvPr id="46" name="Shape 44"/>
          <p:cNvSpPr/>
          <p:nvPr/>
        </p:nvSpPr>
        <p:spPr>
          <a:xfrm>
            <a:off x="3246120" y="4480560"/>
            <a:ext cx="937260" cy="256032"/>
          </a:xfrm>
          <a:prstGeom prst="rect">
            <a:avLst/>
          </a:prstGeom>
          <a:solidFill>
            <a:srgbClr val="FEF5EE"/>
          </a:solidFill>
          <a:ln w="10160">
            <a:solidFill>
              <a:srgbClr val="E8913A"/>
            </a:solidFill>
            <a:prstDash val="solid"/>
          </a:ln>
        </p:spPr>
      </p:sp>
      <p:sp>
        <p:nvSpPr>
          <p:cNvPr id="47" name="Text 45"/>
          <p:cNvSpPr/>
          <p:nvPr/>
        </p:nvSpPr>
        <p:spPr>
          <a:xfrm>
            <a:off x="3246120" y="4480560"/>
            <a:ext cx="937260" cy="256032"/>
          </a:xfrm>
          <a:prstGeom prst="rect">
            <a:avLst/>
          </a:prstGeom>
          <a:noFill/>
          <a:ln/>
        </p:spPr>
        <p:txBody>
          <a:bodyPr wrap="square" lIns="0" tIns="0" rIns="0" bIns="0" rtlCol="0" anchor="ctr"/>
          <a:lstStyle/>
          <a:p>
            <a:pPr algn="ctr" indent="0" marL="0">
              <a:buNone/>
            </a:pPr>
            <a:r>
              <a:rPr lang="en-US" sz="850" dirty="0">
                <a:solidFill>
                  <a:srgbClr val="E8913A"/>
                </a:solidFill>
                <a:latin typeface="Calibri" pitchFamily="34" charset="0"/>
                <a:ea typeface="Calibri" pitchFamily="34" charset="-122"/>
                <a:cs typeface="Calibri" pitchFamily="34" charset="-120"/>
              </a:rPr>
              <a:t>Cross-Val</a:t>
            </a:r>
            <a:endParaRPr lang="en-US" sz="850" dirty="0"/>
          </a:p>
        </p:txBody>
      </p:sp>
      <p:sp>
        <p:nvSpPr>
          <p:cNvPr id="48" name="Shape 46"/>
          <p:cNvSpPr/>
          <p:nvPr/>
        </p:nvSpPr>
        <p:spPr>
          <a:xfrm>
            <a:off x="4274820" y="4480560"/>
            <a:ext cx="731520" cy="256032"/>
          </a:xfrm>
          <a:prstGeom prst="rect">
            <a:avLst/>
          </a:prstGeom>
          <a:solidFill>
            <a:srgbClr val="FEF5EE"/>
          </a:solidFill>
          <a:ln w="10160">
            <a:solidFill>
              <a:srgbClr val="E8913A"/>
            </a:solidFill>
            <a:prstDash val="solid"/>
          </a:ln>
        </p:spPr>
      </p:sp>
      <p:sp>
        <p:nvSpPr>
          <p:cNvPr id="49" name="Text 47"/>
          <p:cNvSpPr/>
          <p:nvPr/>
        </p:nvSpPr>
        <p:spPr>
          <a:xfrm>
            <a:off x="4274820" y="4480560"/>
            <a:ext cx="731520" cy="256032"/>
          </a:xfrm>
          <a:prstGeom prst="rect">
            <a:avLst/>
          </a:prstGeom>
          <a:noFill/>
          <a:ln/>
        </p:spPr>
        <p:txBody>
          <a:bodyPr wrap="square" lIns="0" tIns="0" rIns="0" bIns="0" rtlCol="0" anchor="ctr"/>
          <a:lstStyle/>
          <a:p>
            <a:pPr algn="ctr" indent="0" marL="0">
              <a:buNone/>
            </a:pPr>
            <a:r>
              <a:rPr lang="en-US" sz="850" dirty="0">
                <a:solidFill>
                  <a:srgbClr val="E8913A"/>
                </a:solidFill>
                <a:latin typeface="Calibri" pitchFamily="34" charset="0"/>
                <a:ea typeface="Calibri" pitchFamily="34" charset="-122"/>
                <a:cs typeface="Calibri" pitchFamily="34" charset="-120"/>
              </a:rPr>
              <a:t>Tuning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Ödev ve Kaynaklar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4</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365760" y="868680"/>
            <a:ext cx="4937760" cy="27432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365760" y="868680"/>
            <a:ext cx="4937760" cy="54864"/>
          </a:xfrm>
          <a:prstGeom prst="rect">
            <a:avLst/>
          </a:prstGeom>
          <a:solidFill>
            <a:srgbClr val="C97B5A"/>
          </a:solidFill>
          <a:ln/>
        </p:spPr>
      </p:sp>
      <p:sp>
        <p:nvSpPr>
          <p:cNvPr id="10" name="Text 8"/>
          <p:cNvSpPr/>
          <p:nvPr/>
        </p:nvSpPr>
        <p:spPr>
          <a:xfrm>
            <a:off x="548640" y="1051560"/>
            <a:ext cx="457200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Haftalık Ödev</a:t>
            </a:r>
            <a:endParaRPr lang="en-US" sz="1200" dirty="0"/>
          </a:p>
        </p:txBody>
      </p:sp>
      <p:sp>
        <p:nvSpPr>
          <p:cNvPr id="11" name="Shape 9"/>
          <p:cNvSpPr/>
          <p:nvPr/>
        </p:nvSpPr>
        <p:spPr>
          <a:xfrm>
            <a:off x="502920" y="1463040"/>
            <a:ext cx="329184" cy="329184"/>
          </a:xfrm>
          <a:prstGeom prst="ellipse">
            <a:avLst/>
          </a:prstGeom>
          <a:solidFill>
            <a:srgbClr val="C97B5A"/>
          </a:solidFill>
          <a:ln/>
        </p:spPr>
      </p:sp>
      <p:sp>
        <p:nvSpPr>
          <p:cNvPr id="12" name="Text 10"/>
          <p:cNvSpPr/>
          <p:nvPr/>
        </p:nvSpPr>
        <p:spPr>
          <a:xfrm>
            <a:off x="502920" y="1463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11"/>
          <p:cNvSpPr/>
          <p:nvPr/>
        </p:nvSpPr>
        <p:spPr>
          <a:xfrm>
            <a:off x="914400" y="1463040"/>
            <a:ext cx="4206240" cy="347472"/>
          </a:xfrm>
          <a:prstGeom prst="rect">
            <a:avLst/>
          </a:prstGeom>
          <a:noFill/>
          <a:ln/>
        </p:spPr>
        <p:txBody>
          <a:bodyPr wrap="square" lIns="0" tIns="0" rIns="0" bIns="0" rtlCol="0" anchor="ctr"/>
          <a:lstStyle/>
          <a:p>
            <a:pPr indent="0" marL="0">
              <a:buNone/>
            </a:pPr>
            <a:r>
              <a:rPr lang="en-US" sz="1000" dirty="0">
                <a:solidFill>
                  <a:srgbClr val="C97B5A"/>
                </a:solidFill>
                <a:latin typeface="Calibri" pitchFamily="34" charset="0"/>
                <a:ea typeface="Calibri" pitchFamily="34" charset="-122"/>
                <a:cs typeface="Calibri" pitchFamily="34" charset="-120"/>
              </a:rPr>
              <a:t>XGBoost ile Telco Churn tahmin modeli kur → %85+ accuracy hedefi</a:t>
            </a:r>
            <a:endParaRPr lang="en-US" sz="1000" dirty="0"/>
          </a:p>
        </p:txBody>
      </p:sp>
      <p:sp>
        <p:nvSpPr>
          <p:cNvPr id="14" name="Shape 12"/>
          <p:cNvSpPr/>
          <p:nvPr/>
        </p:nvSpPr>
        <p:spPr>
          <a:xfrm>
            <a:off x="502920" y="1847088"/>
            <a:ext cx="329184" cy="329184"/>
          </a:xfrm>
          <a:prstGeom prst="ellipse">
            <a:avLst/>
          </a:prstGeom>
          <a:solidFill>
            <a:srgbClr val="6B5B52"/>
          </a:solidFill>
          <a:ln/>
        </p:spPr>
      </p:sp>
      <p:sp>
        <p:nvSpPr>
          <p:cNvPr id="15" name="Text 13"/>
          <p:cNvSpPr/>
          <p:nvPr/>
        </p:nvSpPr>
        <p:spPr>
          <a:xfrm>
            <a:off x="502920" y="18470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p:nvPr/>
        </p:nvSpPr>
        <p:spPr>
          <a:xfrm>
            <a:off x="914400" y="1847088"/>
            <a:ext cx="4206240" cy="347472"/>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GridSearchCV ile en az 3 hiperparametre optimize et</a:t>
            </a:r>
            <a:endParaRPr lang="en-US" sz="1000" dirty="0"/>
          </a:p>
        </p:txBody>
      </p:sp>
      <p:sp>
        <p:nvSpPr>
          <p:cNvPr id="17" name="Shape 15"/>
          <p:cNvSpPr/>
          <p:nvPr/>
        </p:nvSpPr>
        <p:spPr>
          <a:xfrm>
            <a:off x="502920" y="2231136"/>
            <a:ext cx="329184" cy="329184"/>
          </a:xfrm>
          <a:prstGeom prst="ellipse">
            <a:avLst/>
          </a:prstGeom>
          <a:solidFill>
            <a:srgbClr val="6B5B52"/>
          </a:solidFill>
          <a:ln/>
        </p:spPr>
      </p:sp>
      <p:sp>
        <p:nvSpPr>
          <p:cNvPr id="18" name="Text 16"/>
          <p:cNvSpPr/>
          <p:nvPr/>
        </p:nvSpPr>
        <p:spPr>
          <a:xfrm>
            <a:off x="502920" y="22311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p:nvPr/>
        </p:nvSpPr>
        <p:spPr>
          <a:xfrm>
            <a:off x="914400" y="2231136"/>
            <a:ext cx="4206240" cy="347472"/>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Feature importance grafiği çiz ve en önemli 5 özelliği yorumla</a:t>
            </a:r>
            <a:endParaRPr lang="en-US" sz="1000" dirty="0"/>
          </a:p>
        </p:txBody>
      </p:sp>
      <p:sp>
        <p:nvSpPr>
          <p:cNvPr id="20" name="Shape 18"/>
          <p:cNvSpPr/>
          <p:nvPr/>
        </p:nvSpPr>
        <p:spPr>
          <a:xfrm>
            <a:off x="502920" y="2615184"/>
            <a:ext cx="329184" cy="329184"/>
          </a:xfrm>
          <a:prstGeom prst="ellipse">
            <a:avLst/>
          </a:prstGeom>
          <a:solidFill>
            <a:srgbClr val="6B5B52"/>
          </a:solidFill>
          <a:ln/>
        </p:spPr>
      </p:sp>
      <p:sp>
        <p:nvSpPr>
          <p:cNvPr id="21" name="Text 19"/>
          <p:cNvSpPr/>
          <p:nvPr/>
        </p:nvSpPr>
        <p:spPr>
          <a:xfrm>
            <a:off x="502920" y="2615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14400" y="2615184"/>
            <a:ext cx="4206240" cy="347472"/>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Random Forest vs XGBoost karşılaştırma raporu hazırla</a:t>
            </a:r>
            <a:endParaRPr lang="en-US" sz="1000" dirty="0"/>
          </a:p>
        </p:txBody>
      </p:sp>
      <p:sp>
        <p:nvSpPr>
          <p:cNvPr id="23" name="Shape 21"/>
          <p:cNvSpPr/>
          <p:nvPr/>
        </p:nvSpPr>
        <p:spPr>
          <a:xfrm>
            <a:off x="502920" y="2999232"/>
            <a:ext cx="329184" cy="329184"/>
          </a:xfrm>
          <a:prstGeom prst="ellipse">
            <a:avLst/>
          </a:prstGeom>
          <a:solidFill>
            <a:srgbClr val="6B5B52"/>
          </a:solidFill>
          <a:ln/>
        </p:spPr>
      </p:sp>
      <p:sp>
        <p:nvSpPr>
          <p:cNvPr id="24" name="Text 22"/>
          <p:cNvSpPr/>
          <p:nvPr/>
        </p:nvSpPr>
        <p:spPr>
          <a:xfrm>
            <a:off x="502920" y="29992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5" name="Text 23"/>
          <p:cNvSpPr/>
          <p:nvPr/>
        </p:nvSpPr>
        <p:spPr>
          <a:xfrm>
            <a:off x="914400" y="2999232"/>
            <a:ext cx="4206240" cy="347472"/>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Bonus: LightGBM ile aynı veriyi dene, hız farkını ölç</a:t>
            </a:r>
            <a:endParaRPr lang="en-US" sz="1000" dirty="0"/>
          </a:p>
        </p:txBody>
      </p:sp>
      <p:sp>
        <p:nvSpPr>
          <p:cNvPr id="26" name="Shape 24"/>
          <p:cNvSpPr/>
          <p:nvPr/>
        </p:nvSpPr>
        <p:spPr>
          <a:xfrm>
            <a:off x="548640" y="3246120"/>
            <a:ext cx="4389120" cy="274320"/>
          </a:xfrm>
          <a:prstGeom prst="rect">
            <a:avLst/>
          </a:prstGeom>
          <a:solidFill>
            <a:srgbClr val="E0F2F1"/>
          </a:solidFill>
          <a:ln/>
        </p:spPr>
      </p:sp>
      <p:sp>
        <p:nvSpPr>
          <p:cNvPr id="27" name="Text 25"/>
          <p:cNvSpPr/>
          <p:nvPr/>
        </p:nvSpPr>
        <p:spPr>
          <a:xfrm>
            <a:off x="640080" y="3246120"/>
            <a:ext cx="4206240" cy="274320"/>
          </a:xfrm>
          <a:prstGeom prst="rect">
            <a:avLst/>
          </a:prstGeom>
          <a:noFill/>
          <a:ln/>
        </p:spPr>
        <p:txBody>
          <a:bodyPr wrap="square" lIns="0" tIns="0" rIns="0" bIns="0" rtlCol="0" anchor="ctr"/>
          <a:lstStyle/>
          <a:p>
            <a:pPr indent="0" marL="0">
              <a:buNone/>
            </a:pPr>
            <a:r>
              <a:rPr lang="en-US" sz="900" dirty="0">
                <a:solidFill>
                  <a:srgbClr val="2B7A78"/>
                </a:solidFill>
                <a:latin typeface="Calibri" pitchFamily="34" charset="0"/>
                <a:ea typeface="Calibri" pitchFamily="34" charset="-122"/>
                <a:cs typeface="Calibri" pitchFamily="34" charset="-120"/>
              </a:rPr>
              <a:t>Teslim: Hafta 8 dersi öncesi · Format: Jupyter Notebook (.ipynb)</a:t>
            </a:r>
            <a:endParaRPr lang="en-US" sz="900" dirty="0"/>
          </a:p>
        </p:txBody>
      </p:sp>
      <p:sp>
        <p:nvSpPr>
          <p:cNvPr id="28" name="Shape 26"/>
          <p:cNvSpPr/>
          <p:nvPr/>
        </p:nvSpPr>
        <p:spPr>
          <a:xfrm>
            <a:off x="5486400" y="868680"/>
            <a:ext cx="3383280" cy="3931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9" name="Shape 27"/>
          <p:cNvSpPr/>
          <p:nvPr/>
        </p:nvSpPr>
        <p:spPr>
          <a:xfrm>
            <a:off x="5486400" y="868680"/>
            <a:ext cx="3383280" cy="54864"/>
          </a:xfrm>
          <a:prstGeom prst="rect">
            <a:avLst/>
          </a:prstGeom>
          <a:solidFill>
            <a:srgbClr val="2B7A78"/>
          </a:solidFill>
          <a:ln/>
        </p:spPr>
      </p:sp>
      <p:sp>
        <p:nvSpPr>
          <p:cNvPr id="30" name="Text 28"/>
          <p:cNvSpPr/>
          <p:nvPr/>
        </p:nvSpPr>
        <p:spPr>
          <a:xfrm>
            <a:off x="5669280" y="1051560"/>
            <a:ext cx="301752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Kaynaklar</a:t>
            </a:r>
            <a:endParaRPr lang="en-US" sz="1200" dirty="0"/>
          </a:p>
        </p:txBody>
      </p:sp>
      <p:sp>
        <p:nvSpPr>
          <p:cNvPr id="31" name="Shape 29"/>
          <p:cNvSpPr/>
          <p:nvPr/>
        </p:nvSpPr>
        <p:spPr>
          <a:xfrm>
            <a:off x="5623560" y="1463040"/>
            <a:ext cx="329184" cy="329184"/>
          </a:xfrm>
          <a:prstGeom prst="ellipse">
            <a:avLst/>
          </a:prstGeom>
          <a:solidFill>
            <a:srgbClr val="2B7A78"/>
          </a:solidFill>
          <a:ln/>
        </p:spPr>
      </p:sp>
      <p:sp>
        <p:nvSpPr>
          <p:cNvPr id="32" name="Text 30"/>
          <p:cNvSpPr/>
          <p:nvPr/>
        </p:nvSpPr>
        <p:spPr>
          <a:xfrm>
            <a:off x="5623560" y="14630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3" name="Text 31"/>
          <p:cNvSpPr/>
          <p:nvPr/>
        </p:nvSpPr>
        <p:spPr>
          <a:xfrm>
            <a:off x="5989320" y="1463040"/>
            <a:ext cx="2697480" cy="530352"/>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XGBoost Documentation</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xgboost.readthedocs.io</a:t>
            </a:r>
            <a:endParaRPr lang="en-US" sz="900" dirty="0"/>
          </a:p>
        </p:txBody>
      </p:sp>
      <p:sp>
        <p:nvSpPr>
          <p:cNvPr id="34" name="Shape 32"/>
          <p:cNvSpPr/>
          <p:nvPr/>
        </p:nvSpPr>
        <p:spPr>
          <a:xfrm>
            <a:off x="5623560" y="2057400"/>
            <a:ext cx="329184" cy="329184"/>
          </a:xfrm>
          <a:prstGeom prst="ellipse">
            <a:avLst/>
          </a:prstGeom>
          <a:solidFill>
            <a:srgbClr val="2B7A78"/>
          </a:solidFill>
          <a:ln/>
        </p:spPr>
      </p:sp>
      <p:sp>
        <p:nvSpPr>
          <p:cNvPr id="35" name="Text 33"/>
          <p:cNvSpPr/>
          <p:nvPr/>
        </p:nvSpPr>
        <p:spPr>
          <a:xfrm>
            <a:off x="562356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6" name="Text 34"/>
          <p:cNvSpPr/>
          <p:nvPr/>
        </p:nvSpPr>
        <p:spPr>
          <a:xfrm>
            <a:off x="5989320" y="2057400"/>
            <a:ext cx="2697480" cy="530352"/>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LightGBM Documentation</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lightgbm.readthedocs.io</a:t>
            </a:r>
            <a:endParaRPr lang="en-US" sz="900" dirty="0"/>
          </a:p>
        </p:txBody>
      </p:sp>
      <p:sp>
        <p:nvSpPr>
          <p:cNvPr id="37" name="Shape 35"/>
          <p:cNvSpPr/>
          <p:nvPr/>
        </p:nvSpPr>
        <p:spPr>
          <a:xfrm>
            <a:off x="5623560" y="2651760"/>
            <a:ext cx="329184" cy="329184"/>
          </a:xfrm>
          <a:prstGeom prst="ellipse">
            <a:avLst/>
          </a:prstGeom>
          <a:solidFill>
            <a:srgbClr val="2B7A78"/>
          </a:solidFill>
          <a:ln/>
        </p:spPr>
      </p:sp>
      <p:sp>
        <p:nvSpPr>
          <p:cNvPr id="38" name="Text 36"/>
          <p:cNvSpPr/>
          <p:nvPr/>
        </p:nvSpPr>
        <p:spPr>
          <a:xfrm>
            <a:off x="5623560" y="2651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9" name="Text 37"/>
          <p:cNvSpPr/>
          <p:nvPr/>
        </p:nvSpPr>
        <p:spPr>
          <a:xfrm>
            <a:off x="5989320" y="2651760"/>
            <a:ext cx="2697480" cy="530352"/>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scikit-learn Ensemble</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sklearn User Guide</a:t>
            </a:r>
            <a:endParaRPr lang="en-US" sz="900" dirty="0"/>
          </a:p>
        </p:txBody>
      </p:sp>
      <p:sp>
        <p:nvSpPr>
          <p:cNvPr id="40" name="Shape 38"/>
          <p:cNvSpPr/>
          <p:nvPr/>
        </p:nvSpPr>
        <p:spPr>
          <a:xfrm>
            <a:off x="5623560" y="3246120"/>
            <a:ext cx="329184" cy="329184"/>
          </a:xfrm>
          <a:prstGeom prst="ellipse">
            <a:avLst/>
          </a:prstGeom>
          <a:solidFill>
            <a:srgbClr val="2B7A78"/>
          </a:solidFill>
          <a:ln/>
        </p:spPr>
      </p:sp>
      <p:sp>
        <p:nvSpPr>
          <p:cNvPr id="41" name="Text 39"/>
          <p:cNvSpPr/>
          <p:nvPr/>
        </p:nvSpPr>
        <p:spPr>
          <a:xfrm>
            <a:off x="5623560" y="32461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2" name="Text 40"/>
          <p:cNvSpPr/>
          <p:nvPr/>
        </p:nvSpPr>
        <p:spPr>
          <a:xfrm>
            <a:off x="5989320" y="3246120"/>
            <a:ext cx="2697480" cy="530352"/>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Kaggle Learn:</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Intro to Machine Learning</a:t>
            </a:r>
            <a:endParaRPr lang="en-US" sz="900" dirty="0"/>
          </a:p>
        </p:txBody>
      </p:sp>
      <p:sp>
        <p:nvSpPr>
          <p:cNvPr id="43" name="Shape 41"/>
          <p:cNvSpPr/>
          <p:nvPr/>
        </p:nvSpPr>
        <p:spPr>
          <a:xfrm>
            <a:off x="5623560" y="3840480"/>
            <a:ext cx="329184" cy="329184"/>
          </a:xfrm>
          <a:prstGeom prst="ellipse">
            <a:avLst/>
          </a:prstGeom>
          <a:solidFill>
            <a:srgbClr val="2B7A78"/>
          </a:solidFill>
          <a:ln/>
        </p:spPr>
      </p:sp>
      <p:sp>
        <p:nvSpPr>
          <p:cNvPr id="44" name="Text 42"/>
          <p:cNvSpPr/>
          <p:nvPr/>
        </p:nvSpPr>
        <p:spPr>
          <a:xfrm>
            <a:off x="5623560" y="38404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5" name="Text 43"/>
          <p:cNvSpPr/>
          <p:nvPr/>
        </p:nvSpPr>
        <p:spPr>
          <a:xfrm>
            <a:off x="5989320" y="3840480"/>
            <a:ext cx="2697480" cy="530352"/>
          </a:xfrm>
          <a:prstGeom prst="rect">
            <a:avLst/>
          </a:prstGeom>
          <a:noFill/>
          <a:ln/>
        </p:spPr>
        <p:txBody>
          <a:bodyPr wrap="square" lIns="0" tIns="0" rIns="0" bIns="0" rtlCol="0" anchor="ctr"/>
          <a:lstStyle/>
          <a:p>
            <a:pPr indent="0" marL="0">
              <a:buNone/>
            </a:pPr>
            <a:r>
              <a:rPr lang="en-US" sz="900" dirty="0">
                <a:solidFill>
                  <a:srgbClr val="2E1F1A"/>
                </a:solidFill>
                <a:latin typeface="Calibri" pitchFamily="34" charset="0"/>
                <a:ea typeface="Calibri" pitchFamily="34" charset="-122"/>
                <a:cs typeface="Calibri" pitchFamily="34" charset="-120"/>
              </a:rPr>
              <a:t>Hands-On ML (Géron)</a:t>
            </a:r>
            <a:endParaRPr lang="en-US" sz="900" dirty="0"/>
          </a:p>
          <a:p>
            <a:pPr indent="0" marL="0">
              <a:buNone/>
            </a:pPr>
            <a:r>
              <a:rPr lang="en-US" sz="900" dirty="0">
                <a:solidFill>
                  <a:srgbClr val="2E1F1A"/>
                </a:solidFill>
                <a:latin typeface="Calibri" pitchFamily="34" charset="0"/>
                <a:ea typeface="Calibri" pitchFamily="34" charset="-122"/>
                <a:cs typeface="Calibri" pitchFamily="34" charset="-120"/>
              </a:rPr>
              <a:t>Bölüm 7: Ensemble</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B7A78"/>
          </a:solidFill>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Hafta 7 — Özet</a:t>
            </a:r>
            <a:endParaRPr lang="en-US" sz="2800" dirty="0"/>
          </a:p>
        </p:txBody>
      </p:sp>
      <p:sp>
        <p:nvSpPr>
          <p:cNvPr id="4" name="Shape 2"/>
          <p:cNvSpPr/>
          <p:nvPr/>
        </p:nvSpPr>
        <p:spPr>
          <a:xfrm>
            <a:off x="457200" y="749808"/>
            <a:ext cx="2286000" cy="36576"/>
          </a:xfrm>
          <a:prstGeom prst="rect">
            <a:avLst/>
          </a:prstGeom>
          <a:solidFill>
            <a:srgbClr val="C97B5A"/>
          </a:solidFill>
          <a:ln/>
        </p:spPr>
      </p:sp>
      <p:sp>
        <p:nvSpPr>
          <p:cNvPr id="5" name="Shape 3"/>
          <p:cNvSpPr/>
          <p:nvPr/>
        </p:nvSpPr>
        <p:spPr>
          <a:xfrm>
            <a:off x="457200" y="960120"/>
            <a:ext cx="8229600" cy="548640"/>
          </a:xfrm>
          <a:prstGeom prst="rect">
            <a:avLst/>
          </a:prstGeom>
          <a:solidFill>
            <a:srgbClr val="3D231A"/>
          </a:solidFill>
          <a:ln w="12700">
            <a:solidFill>
              <a:srgbClr val="5A3828"/>
            </a:solidFill>
            <a:prstDash val="solid"/>
          </a:ln>
        </p:spPr>
      </p:sp>
      <p:sp>
        <p:nvSpPr>
          <p:cNvPr id="6" name="Shape 4"/>
          <p:cNvSpPr/>
          <p:nvPr/>
        </p:nvSpPr>
        <p:spPr>
          <a:xfrm>
            <a:off x="566928" y="1069848"/>
            <a:ext cx="329184" cy="329184"/>
          </a:xfrm>
          <a:prstGeom prst="ellipse">
            <a:avLst/>
          </a:prstGeom>
          <a:solidFill>
            <a:srgbClr val="2B7A78"/>
          </a:solidFill>
          <a:ln/>
        </p:spPr>
      </p:sp>
      <p:sp>
        <p:nvSpPr>
          <p:cNvPr id="7" name="Text 5"/>
          <p:cNvSpPr/>
          <p:nvPr/>
        </p:nvSpPr>
        <p:spPr>
          <a:xfrm>
            <a:off x="566928" y="1069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024128" y="960120"/>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Ensemble Learning: Birden fazla modelin birleşik gücü, tek modelden her zaman daha güçlüdür</a:t>
            </a:r>
            <a:endParaRPr lang="en-US" sz="1200" dirty="0"/>
          </a:p>
        </p:txBody>
      </p:sp>
      <p:sp>
        <p:nvSpPr>
          <p:cNvPr id="9" name="Shape 7"/>
          <p:cNvSpPr/>
          <p:nvPr/>
        </p:nvSpPr>
        <p:spPr>
          <a:xfrm>
            <a:off x="457200" y="1618488"/>
            <a:ext cx="8229600" cy="548640"/>
          </a:xfrm>
          <a:prstGeom prst="rect">
            <a:avLst/>
          </a:prstGeom>
          <a:solidFill>
            <a:srgbClr val="3D231A"/>
          </a:solidFill>
          <a:ln w="12700">
            <a:solidFill>
              <a:srgbClr val="5A3828"/>
            </a:solidFill>
            <a:prstDash val="solid"/>
          </a:ln>
        </p:spPr>
      </p:sp>
      <p:sp>
        <p:nvSpPr>
          <p:cNvPr id="10" name="Shape 8"/>
          <p:cNvSpPr/>
          <p:nvPr/>
        </p:nvSpPr>
        <p:spPr>
          <a:xfrm>
            <a:off x="566928" y="1728216"/>
            <a:ext cx="329184" cy="329184"/>
          </a:xfrm>
          <a:prstGeom prst="ellipse">
            <a:avLst/>
          </a:prstGeom>
          <a:solidFill>
            <a:srgbClr val="C97B5A"/>
          </a:solidFill>
          <a:ln/>
        </p:spPr>
      </p:sp>
      <p:sp>
        <p:nvSpPr>
          <p:cNvPr id="11" name="Text 9"/>
          <p:cNvSpPr/>
          <p:nvPr/>
        </p:nvSpPr>
        <p:spPr>
          <a:xfrm>
            <a:off x="566928" y="17282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024128" y="1618488"/>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Bagging varyansı düşürür (RF), Boosting bias'ı düşürür (XGBoost, LightGBM)</a:t>
            </a:r>
            <a:endParaRPr lang="en-US" sz="1200" dirty="0"/>
          </a:p>
        </p:txBody>
      </p:sp>
      <p:sp>
        <p:nvSpPr>
          <p:cNvPr id="13" name="Shape 11"/>
          <p:cNvSpPr/>
          <p:nvPr/>
        </p:nvSpPr>
        <p:spPr>
          <a:xfrm>
            <a:off x="457200" y="2276856"/>
            <a:ext cx="8229600" cy="548640"/>
          </a:xfrm>
          <a:prstGeom prst="rect">
            <a:avLst/>
          </a:prstGeom>
          <a:solidFill>
            <a:srgbClr val="3D231A"/>
          </a:solidFill>
          <a:ln w="12700">
            <a:solidFill>
              <a:srgbClr val="5A3828"/>
            </a:solidFill>
            <a:prstDash val="solid"/>
          </a:ln>
        </p:spPr>
      </p:sp>
      <p:sp>
        <p:nvSpPr>
          <p:cNvPr id="14" name="Shape 12"/>
          <p:cNvSpPr/>
          <p:nvPr/>
        </p:nvSpPr>
        <p:spPr>
          <a:xfrm>
            <a:off x="566928" y="2386584"/>
            <a:ext cx="329184" cy="329184"/>
          </a:xfrm>
          <a:prstGeom prst="ellipse">
            <a:avLst/>
          </a:prstGeom>
          <a:solidFill>
            <a:srgbClr val="E8913A"/>
          </a:solidFill>
          <a:ln/>
        </p:spPr>
      </p:sp>
      <p:sp>
        <p:nvSpPr>
          <p:cNvPr id="15" name="Text 13"/>
          <p:cNvSpPr/>
          <p:nvPr/>
        </p:nvSpPr>
        <p:spPr>
          <a:xfrm>
            <a:off x="566928"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024128" y="2276856"/>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XGBoost: Regularization + paralel hesaplama ile Kaggle'ın en popüler modeli</a:t>
            </a:r>
            <a:endParaRPr lang="en-US" sz="1200" dirty="0"/>
          </a:p>
        </p:txBody>
      </p:sp>
      <p:sp>
        <p:nvSpPr>
          <p:cNvPr id="17" name="Shape 15"/>
          <p:cNvSpPr/>
          <p:nvPr/>
        </p:nvSpPr>
        <p:spPr>
          <a:xfrm>
            <a:off x="457200" y="2935224"/>
            <a:ext cx="8229600" cy="548640"/>
          </a:xfrm>
          <a:prstGeom prst="rect">
            <a:avLst/>
          </a:prstGeom>
          <a:solidFill>
            <a:srgbClr val="3D231A"/>
          </a:solidFill>
          <a:ln w="12700">
            <a:solidFill>
              <a:srgbClr val="5A3828"/>
            </a:solidFill>
            <a:prstDash val="solid"/>
          </a:ln>
        </p:spPr>
      </p:sp>
      <p:sp>
        <p:nvSpPr>
          <p:cNvPr id="18" name="Shape 16"/>
          <p:cNvSpPr/>
          <p:nvPr/>
        </p:nvSpPr>
        <p:spPr>
          <a:xfrm>
            <a:off x="566928" y="3044952"/>
            <a:ext cx="329184" cy="329184"/>
          </a:xfrm>
          <a:prstGeom prst="ellipse">
            <a:avLst/>
          </a:prstGeom>
          <a:solidFill>
            <a:srgbClr val="3A9E6B"/>
          </a:solidFill>
          <a:ln/>
        </p:spPr>
      </p:sp>
      <p:sp>
        <p:nvSpPr>
          <p:cNvPr id="19" name="Text 17"/>
          <p:cNvSpPr/>
          <p:nvPr/>
        </p:nvSpPr>
        <p:spPr>
          <a:xfrm>
            <a:off x="566928" y="3044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024128" y="2935224"/>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Overfitting kontrolü: Regularization (L1/L2) ve cross-validation şart</a:t>
            </a:r>
            <a:endParaRPr lang="en-US" sz="1200" dirty="0"/>
          </a:p>
        </p:txBody>
      </p:sp>
      <p:sp>
        <p:nvSpPr>
          <p:cNvPr id="21" name="Shape 19"/>
          <p:cNvSpPr/>
          <p:nvPr/>
        </p:nvSpPr>
        <p:spPr>
          <a:xfrm>
            <a:off x="457200" y="3593592"/>
            <a:ext cx="8229600" cy="548640"/>
          </a:xfrm>
          <a:prstGeom prst="rect">
            <a:avLst/>
          </a:prstGeom>
          <a:solidFill>
            <a:srgbClr val="3D231A"/>
          </a:solidFill>
          <a:ln w="12700">
            <a:solidFill>
              <a:srgbClr val="5A3828"/>
            </a:solidFill>
            <a:prstDash val="solid"/>
          </a:ln>
        </p:spPr>
      </p:sp>
      <p:sp>
        <p:nvSpPr>
          <p:cNvPr id="22" name="Shape 20"/>
          <p:cNvSpPr/>
          <p:nvPr/>
        </p:nvSpPr>
        <p:spPr>
          <a:xfrm>
            <a:off x="566928" y="3703320"/>
            <a:ext cx="329184" cy="329184"/>
          </a:xfrm>
          <a:prstGeom prst="ellipse">
            <a:avLst/>
          </a:prstGeom>
          <a:solidFill>
            <a:srgbClr val="7C5BBF"/>
          </a:solidFill>
          <a:ln/>
        </p:spPr>
      </p:sp>
      <p:sp>
        <p:nvSpPr>
          <p:cNvPr id="23" name="Text 21"/>
          <p:cNvSpPr/>
          <p:nvPr/>
        </p:nvSpPr>
        <p:spPr>
          <a:xfrm>
            <a:off x="566928" y="37033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024128" y="3593592"/>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Hiperparametre optimizasyonu model başarısını %5-15 artırabilir</a:t>
            </a:r>
            <a:endParaRPr lang="en-US" sz="1200" dirty="0"/>
          </a:p>
        </p:txBody>
      </p:sp>
      <p:sp>
        <p:nvSpPr>
          <p:cNvPr id="25" name="Shape 23"/>
          <p:cNvSpPr/>
          <p:nvPr/>
        </p:nvSpPr>
        <p:spPr>
          <a:xfrm>
            <a:off x="0" y="4251960"/>
            <a:ext cx="9144000" cy="891540"/>
          </a:xfrm>
          <a:prstGeom prst="rect">
            <a:avLst/>
          </a:prstGeom>
          <a:solidFill>
            <a:srgbClr val="2E1710"/>
          </a:solidFill>
          <a:ln/>
        </p:spPr>
      </p:sp>
      <p:sp>
        <p:nvSpPr>
          <p:cNvPr id="26" name="Text 24"/>
          <p:cNvSpPr/>
          <p:nvPr/>
        </p:nvSpPr>
        <p:spPr>
          <a:xfrm>
            <a:off x="457200" y="4315968"/>
            <a:ext cx="8229600" cy="411480"/>
          </a:xfrm>
          <a:prstGeom prst="rect">
            <a:avLst/>
          </a:prstGeom>
          <a:noFill/>
          <a:ln/>
        </p:spPr>
        <p:txBody>
          <a:bodyPr wrap="square" lIns="0" tIns="0" rIns="0" bIns="0" rtlCol="0" anchor="ctr"/>
          <a:lstStyle/>
          <a:p>
            <a:pPr indent="0" marL="0">
              <a:buNone/>
            </a:pPr>
            <a:r>
              <a:rPr lang="en-US" sz="1600" b="1" i="1" dirty="0">
                <a:solidFill>
                  <a:srgbClr val="C97B5A"/>
                </a:solidFill>
                <a:latin typeface="Georgia" pitchFamily="34" charset="0"/>
                <a:ea typeface="Georgia" pitchFamily="34" charset="-122"/>
                <a:cs typeface="Georgia" pitchFamily="34" charset="-120"/>
              </a:rPr>
              <a:t>“Tek bir ağaç devrilebilir, ama bir ormanı devirmek çok zordur.”</a:t>
            </a:r>
            <a:endParaRPr lang="en-US" sz="1600" dirty="0"/>
          </a:p>
        </p:txBody>
      </p:sp>
      <p:sp>
        <p:nvSpPr>
          <p:cNvPr id="27" name="Text 25"/>
          <p:cNvSpPr/>
          <p:nvPr/>
        </p:nvSpPr>
        <p:spPr>
          <a:xfrm>
            <a:off x="457200" y="4754880"/>
            <a:ext cx="82296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Dr. Murat Altun  ·  Veri Bilimi ve Yapay Zekâ Eğitimi  ·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Hafta 7: İleri Makine Öğrenmesi ve Ensemble Modeller</dc:title>
  <dc:subject>PptxGenJS Presentation</dc:subject>
  <dc:creator>Dr. Murat Altun</dc:creator>
  <cp:lastModifiedBy>Dr. Murat Altun</cp:lastModifiedBy>
  <cp:revision>1</cp:revision>
  <dcterms:created xsi:type="dcterms:W3CDTF">2026-04-09T11:39:42Z</dcterms:created>
  <dcterms:modified xsi:type="dcterms:W3CDTF">2026-04-09T11:39:42Z</dcterms:modified>
</cp:coreProperties>
</file>