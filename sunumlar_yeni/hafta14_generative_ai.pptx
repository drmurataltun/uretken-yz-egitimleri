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Yapay Zekâ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(Generative AI)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548640" y="2971800"/>
            <a:ext cx="256032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127248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LLM'ler, Prompt Engineering, RAG ve Gemini API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389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Hafta 14  · 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0"/>
            <a:ext cx="54864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594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0" y="125272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milyarlarca parametre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1874520"/>
            <a:ext cx="2011680" cy="27432"/>
          </a:xfrm>
          <a:prstGeom prst="rect">
            <a:avLst/>
          </a:prstGeom>
          <a:solidFill>
            <a:srgbClr val="048B9A"/>
          </a:solidFill>
          <a:ln w="12700">
            <a:solidFill>
              <a:srgbClr val="048B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0116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0" y="26700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çok modlu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3291840"/>
            <a:ext cx="2011680" cy="27432"/>
          </a:xfrm>
          <a:prstGeom prst="rect">
            <a:avLst/>
          </a:prstGeom>
          <a:solidFill>
            <a:srgbClr val="048B9A"/>
          </a:solidFill>
          <a:ln w="12700">
            <a:solidFill>
              <a:srgbClr val="048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4290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00800" y="40873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Dış bilgi kaynağından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çekme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0A20"/>
          </a:solidFill>
          <a:ln w="12700">
            <a:solidFill>
              <a:srgbClr val="0C0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Nedir?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— Büyük Dil Modelleri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15544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Dil Modelleri: Milyarlarca parametre ile eğitilmiş sinir ağları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19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 üretme, anlama, çeviri, kod yazma gibi görevleri yerine getirir. Self-supervised learning ile bir sonraki kelimeyi tahmin ederek eğitilir.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697480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697480"/>
            <a:ext cx="64008" cy="11155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706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/ GPT-4.1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(OpenAI)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08152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modlu, güçlü muhakeme, en yeni ve güçlü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2697480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697480"/>
            <a:ext cx="64008" cy="11155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7706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(Google)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08152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ve Pro versiyonları, çok hızlı çıkarım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904488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904488"/>
            <a:ext cx="64008" cy="11155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776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4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(Anthropic)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28853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bağlam, güvenli tasarım, 200K token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3904488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904488"/>
            <a:ext cx="64008" cy="11155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9776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(Meta)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428853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kaynak, özelleştirilebilir, verimli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5111496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5111496"/>
            <a:ext cx="64008" cy="11155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1846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(Mistral AI)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49554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Verimli, Avrupa menşeli, performanslı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0A20"/>
          </a:solidFill>
          <a:ln w="12700">
            <a:solidFill>
              <a:srgbClr val="0C0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Mimarisi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All You Need (2017)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657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Mekanizması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" y="1618488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55448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kelime, diğer tüm kelimelere 'dikkat' eder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" y="213055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066544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(Q), Key (K), Value (V) matrisleri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" y="2642616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57860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Attention(Q,K,V) = softmax(QK^T / √d) × V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" y="3154680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090672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 — paralel dikkat başlıkları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" y="3666744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60273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ilişki türlerini aynı anda yakalar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05156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051560"/>
            <a:ext cx="64008" cy="3657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Mimarisi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28032" y="161848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155448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 yapısı (BERT: encoder, GPT: decoder)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28032" y="213055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206654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 — kelime sırası bilgisi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264261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257860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katmanları — dense ağlar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28032" y="315468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309067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Normalization — eğitim stabilizasyonu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28032" y="366674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360273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RNN/LSTM'lerin sıralı bağımlılığını ortadan kaldırdı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0A20"/>
          </a:solidFill>
          <a:ln w="12700">
            <a:solidFill>
              <a:srgbClr val="0C0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LLM'lerden En İyi Sonuç Almak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64008" cy="11155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52704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vermeden doğrudan görev tanımı — 'Bu metnin duygusunu analiz et'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115568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15568"/>
            <a:ext cx="64008" cy="11155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52704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Birkaç örnek vererek yönlendirme — Örnek 1: 'Harika' → Pozitif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322576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22576"/>
            <a:ext cx="64008" cy="11155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3957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73405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adım düşünme — karmaşık problemlerde başarıyı artırır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322576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322576"/>
            <a:ext cx="64008" cy="11155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3957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73405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rol vermek — 'Sen bir veri bilimcisin'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529584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529584"/>
            <a:ext cx="64008" cy="11155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6027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94106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 formatını belirtmek — JSON, tablo, liste gibi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529584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529584"/>
            <a:ext cx="64008" cy="11155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6027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94106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Kısıtlamalar belirtmek — 'Max 100 kelime', 'Türkçe cevap'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0A20"/>
          </a:solidFill>
          <a:ln w="12700">
            <a:solidFill>
              <a:srgbClr val="0C0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Python'da LLM Entegrasyonu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210312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80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38912" y="192024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google-generativeai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06040" y="1115568"/>
            <a:ext cx="2148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115568"/>
            <a:ext cx="214884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2801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gemini-2.5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679192" y="1920240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&amp; Pro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92040" y="1115568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92040" y="1115568"/>
            <a:ext cx="20116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965192" y="19202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alınır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086600" y="1115568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86600" y="1115568"/>
            <a:ext cx="201168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genai.config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159752" y="19202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authentication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011680"/>
            <a:ext cx="8412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011680"/>
            <a:ext cx="64008" cy="2743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2167128"/>
            <a:ext cx="201168" cy="2011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167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21488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anahtarı: Google AI Studio (aistudio.google.com) → API key oluştur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0352" y="2532888"/>
            <a:ext cx="201168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25328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251460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Kurulum: pip install google-generativeai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0352" y="2898648"/>
            <a:ext cx="20116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8986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" y="288036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Import: import google.generativeai as genai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0352" y="3264408"/>
            <a:ext cx="201168" cy="2011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3264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" y="324612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Konfigürasyon: genai.configure(api_key='YOUR_API_KEY')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30352" y="3630168"/>
            <a:ext cx="201168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3630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2960" y="361188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yükleme: model = genai.GenerativeModel('gemini-2.5-flash')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30352" y="3995928"/>
            <a:ext cx="201168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" y="39959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22960" y="39776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 üretme: response = model.generate_content('Merhaba!')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30352" y="4361688"/>
            <a:ext cx="201168" cy="2011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" y="4361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22960" y="434340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turlu sohbet: chat = model.start_chat()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0A20"/>
          </a:solidFill>
          <a:ln w="12700">
            <a:solidFill>
              <a:srgbClr val="0C0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ve Persona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Rol Kazandırmak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14630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Prompt: Modelin davranışını belirleyen talimat — rol ve kişilik kazandırır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19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Gemini: system_instruction parametresi → Modele davranış kuralları belirtir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651760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651760"/>
            <a:ext cx="64008" cy="11155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249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Rol Tanımı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03580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 ne olduğunu açık şekilde belirt — 'Sen bir Türkçe dil uzmanısın'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2651760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651760"/>
            <a:ext cx="64008" cy="11155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7249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Davranış Kısıtları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03580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Neleri yapıp yapamayacağını belirt — 'Zararlı içerik üretme'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858768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858768"/>
            <a:ext cx="64008" cy="11155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31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 Stili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24281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Yanıtın tonunu ve formatını belirt — 'Akademik ve detaylı cevap ver'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3858768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858768"/>
            <a:ext cx="64008" cy="11155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931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Bilmediği Konular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424281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Sınırlarını tanımla — 'Bilmediğin konuda "bilmiyorum" de'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5065776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5065776"/>
            <a:ext cx="64008" cy="11155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1389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Tutarlılık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44982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yanıtlarda aynı karakterde kalması — pervasive character consistency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0A20"/>
          </a:solidFill>
          <a:ln w="12700">
            <a:solidFill>
              <a:srgbClr val="0C0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Yapısal Çıktı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Mode — Yapılandırılmış Veri Almak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13716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LLM'den yapılandırılmış veri almak — API entegrasyonu, veri çıkarma, form doldurma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40233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514600"/>
            <a:ext cx="64008" cy="2377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78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Prompt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9718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"Aşağıdaki metinden bilgileri çıkar.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formatında döndür: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{"isim": "", "yaş": "", "şehir": ""}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Metin: Ahmet 30 yaşında,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İstanbul'da yaşıyor."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2514600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514600"/>
            <a:ext cx="64008" cy="2377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5786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JSON Mode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97180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generation_config =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response_mime_type: 'application/json',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response_schema: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type: "OBJECT",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properties: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isim: {"type": "STRING"},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yaş: {"type": "INTEGER"},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şehir: {"type": "STRING"}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0A20"/>
          </a:solidFill>
          <a:ln w="12700">
            <a:solidFill>
              <a:srgbClr val="0C0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Retrieval-Augmented Generation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Dış Bilgi Kaynaklarından Yararlanma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13716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LLM'lerin bilgisi eğitim tarihiyle sınırlı → Çözüm: RAG ile güncel bilgiye erişim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40233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560320"/>
            <a:ext cx="64008" cy="2560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24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Adımları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3035808"/>
            <a:ext cx="18288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0358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30175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Belgeleri parçala (chunking) — dokümanlı bilgiyi parçalara böl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0352" y="3419856"/>
            <a:ext cx="18288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4198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34015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Embedding'e dönüştür — her parçayı sayısal vektöre çevir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0352" y="3803904"/>
            <a:ext cx="18288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8039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378561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Vektör veritabanına kaydet — ChromaDB, Pinecone, pgvector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560320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560320"/>
            <a:ext cx="64008" cy="2560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6243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Avantajları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28032" y="308152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301752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 bilgiye erişim — eğitim tarihi sınırlanmaz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359359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352958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Halüsinasyon azaltma — kaynak gösterilir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28032" y="410565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404164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Özel/kurumsal bilgi — şirket içi dokümanlar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28032" y="461772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455371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yeniden eğitim gerektirmez — hızlı güncelleme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0A20"/>
          </a:solidFill>
          <a:ln w="12700">
            <a:solidFill>
              <a:srgbClr val="0C0A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ve Vektör Veritabanı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ve RAG Altyapısı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2286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" y="1591056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55448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 → sayısal vektör dönüşümü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" y="197510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1938528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Benzer anlamlı metinler → yakın vektörler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" y="235915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32257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Gemini: models/text-embedding-004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" y="274320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706624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Similarity: cos(A,B) = (A·B)/(|A|×|B|)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" y="312724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09067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= aynı yön, 0 = ilişkisiz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051560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051560"/>
            <a:ext cx="64008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Vektör Veritabanları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28032" y="159105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1554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— Hafif, lokal, Python-dostu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28032" y="197510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19385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— Bulut tabanlı, ölçeklenebilir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235915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3225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 — Açık kaynak, GraphQL API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28032" y="274320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27066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— PostgreSQL eklentisi (Supabase)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28032" y="312724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30906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— Facebook AI Similarity Search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474720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474720"/>
            <a:ext cx="64008" cy="13716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5661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RAG Örneği: ChromaDB + Gemini Embedding + Gemini 2.5 Flash — Ders notu asistanı, müşteri destek botu, şirket içi doküman soru-cevap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657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 ve Sonuç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68680"/>
            <a:ext cx="201168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3385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97280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LLM'ler milyarlarca parametre ile eğitilmiş güçlü dil modelleridir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59105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54480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mimarisi, attention mekanizması ile NLP'de devrim yarattı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04825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11680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Engineering: Zero-shot, few-shot ve chain-of-thought teknikleri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50545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68880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ile Python'da kolayca metin üretimi yapılabilir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96265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926080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ile modele rol ve davranış kuralları verilir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41985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383280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mode ile yapılandırılmış çıktı alınabilir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87705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840480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RAG, dış bilgi kaynaklarını LLM ile birleştiren güçlü mimaridir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433425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297680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Vektör veritabanları (ChromaDB, pgvector) RAG'ın temelini oluşturur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hafta: AI Etiği ve Capstone Projeler  ·  Dr. Murat Altun  ·  Hafta 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Üretken Yapay Zekâ</dc:title>
  <dc:subject>PptxGenJS Presentation</dc:subject>
  <dc:creator>Dr. Murat Altun</dc:creator>
  <cp:lastModifiedBy>Dr. Murat Altun</cp:lastModifiedBy>
  <cp:revision>1</cp:revision>
  <dcterms:created xsi:type="dcterms:W3CDTF">2026-04-07T16:27:47Z</dcterms:created>
  <dcterms:modified xsi:type="dcterms:W3CDTF">2026-04-07T16:27:47Z</dcterms:modified>
</cp:coreProperties>
</file>