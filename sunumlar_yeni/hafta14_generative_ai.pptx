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Prompt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Mühendisliği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14 · Modül 14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Dil Modelleri, Prompt Teknikleri ve RAG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Olasılık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Temelleri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· Self-Attention · GPT · Gemini · Claude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Zero/Few-shot · Chain-of-Thought · Sistem Prompt’u · Persona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6–9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 API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google-generativeai · JSON çıktı · Chatbot · Blog Yazan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10–14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Giriş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· Vektör DB · ChromaDB · Basit RAG Sistemi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15–20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Büyük Dil Modelleri (LLM)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4630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Milyarlarca parametreyle eğitilmiş, insan benzeri metin üreten devasa sinir ağları. Dil’i anlayan, çeviren, özetleyen ve yeni içerik üreten yapılar.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60320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560320"/>
            <a:ext cx="182880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697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175B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57200" y="33101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377440" y="2560320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377440" y="2560320"/>
            <a:ext cx="1828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2697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1.8T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468880" y="33101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 (tahmin)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0" y="2560320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9120" y="2560320"/>
            <a:ext cx="18288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0" y="2697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2T+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480560" y="33101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Ultra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0" y="86868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669280" y="868680"/>
            <a:ext cx="54864" cy="64008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6" name="Text 24"/>
          <p:cNvSpPr/>
          <p:nvPr/>
        </p:nvSpPr>
        <p:spPr>
          <a:xfrm>
            <a:off x="5852160" y="9144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GPT (OpenAI)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1978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ChatGPT’in arkasındaki model ailesi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0" y="160020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669280" y="1600200"/>
            <a:ext cx="54864" cy="64008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30" name="Text 28"/>
          <p:cNvSpPr/>
          <p:nvPr/>
        </p:nvSpPr>
        <p:spPr>
          <a:xfrm>
            <a:off x="5852160" y="16459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 (Google)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52160" y="19293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Multimodal: metin + görüntü + kod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69280" y="233172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669280" y="2331720"/>
            <a:ext cx="54864" cy="64008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4" name="Text 32"/>
          <p:cNvSpPr/>
          <p:nvPr/>
        </p:nvSpPr>
        <p:spPr>
          <a:xfrm>
            <a:off x="5852160" y="23774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(Anthropic)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52160" y="2660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Güvenli, anayasal AI yaklaşımı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0" y="306324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69280" y="3063240"/>
            <a:ext cx="54864" cy="64008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8" name="Text 36"/>
          <p:cNvSpPr/>
          <p:nvPr/>
        </p:nvSpPr>
        <p:spPr>
          <a:xfrm>
            <a:off x="5852160" y="31089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LLaMA (Meta)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852160" y="33924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kaynak, topluluk odaklı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65760" y="3931920"/>
            <a:ext cx="8503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65760" y="3931920"/>
            <a:ext cx="85039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4114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İpucu: Parametre sayısı = modelin öğrenme kapasitesi. Daha fazla parametre ≠ her zaman daha iyi sonuç. Verimlilik (efficiency) de önemli!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Transformer Mimarisi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01168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"Attention Is All You Need" (2017)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Google’ın çığır açan makalesi. RNN/LSTM’nin sıralı işleme sorununu çözdü. Tüm kelimeleri aynı anda işleyerek paralel eğitim mümkün kıldı.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fikir: Her kelime, cümledeki diğer tüm kelimelere "bakarak" bağlamını anlar.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868680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868680"/>
            <a:ext cx="420624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4" name="Shape 12"/>
          <p:cNvSpPr/>
          <p:nvPr/>
        </p:nvSpPr>
        <p:spPr>
          <a:xfrm>
            <a:off x="4800600" y="1097280"/>
            <a:ext cx="457200" cy="457200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94960" y="10332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94960" y="1344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 metnini anlamlı vektörlere dönüştürür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874520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874520"/>
            <a:ext cx="42062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0600" y="2103120"/>
            <a:ext cx="457200" cy="457200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94960" y="20391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Decoder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94960" y="2350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metnini token token üretir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2880360"/>
            <a:ext cx="4206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288036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6" name="Shape 24"/>
          <p:cNvSpPr/>
          <p:nvPr/>
        </p:nvSpPr>
        <p:spPr>
          <a:xfrm>
            <a:off x="4800600" y="3108960"/>
            <a:ext cx="457200" cy="457200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9496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94960" y="3355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Kelimeler arası ilişkileri öğrenir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108960"/>
            <a:ext cx="8503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8640" y="320040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C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RNN vs Transformer Karşılaştırması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3547872"/>
            <a:ext cx="2651760" cy="256032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291840" y="3547872"/>
            <a:ext cx="2651760" cy="256032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/ LSTM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47872"/>
            <a:ext cx="2651760" cy="256032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3803904"/>
            <a:ext cx="26517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3803904"/>
            <a:ext cx="26517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Sıralı (yavaş)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035040" y="3803904"/>
            <a:ext cx="26517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(hızlı)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8640" y="4059936"/>
            <a:ext cx="265176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bağlam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291840" y="4059936"/>
            <a:ext cx="265176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Unutma sorunu var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035040" y="4059936"/>
            <a:ext cx="265176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ile çözülür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8640" y="4315968"/>
            <a:ext cx="26517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süresi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291840" y="4315968"/>
            <a:ext cx="26517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35040" y="4315968"/>
            <a:ext cx="26517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(GPU paralelliği)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Self-Attention Mekanizması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5039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5039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Sorgu (Q) — Anahtar (K) — Değer (V)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4173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kelime üç vektöre dönüştürülür: Sorgu ("neyi arıyorum?"), Anahtar ("ben neyim?"), Değer ("içeriğim ne?"). Sorgu ile Anahtar çarpılır → attention skoru → Değerler ağırlıklı toplanır. Böylece her kelime, hangi diğer kelimelere "dikkat etmesi" gerektiğini öğrenir.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14600"/>
            <a:ext cx="4114800" cy="1005840"/>
          </a:xfrm>
          <a:prstGeom prst="rect">
            <a:avLst/>
          </a:prstGeom>
          <a:solidFill>
            <a:srgbClr val="1E1E2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Attention(Q, K, V) = softmax(QKᵀ / √dₖ) × V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dₖ = anahtar boyutu (normalizasyon için)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51460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514600"/>
            <a:ext cx="54864" cy="10058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Multi-Head Attention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944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Birden fazla attention başı paralel çalışır. Her baş farklı bir ilişki türünü (sözdizimi, anlam, referans) öğrenir.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74904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749040"/>
            <a:ext cx="20116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86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Paralel işleme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187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kelimeler aynı anda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42032" y="374904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542032" y="3749040"/>
            <a:ext cx="20116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5" name="Text 23"/>
          <p:cNvSpPr/>
          <p:nvPr/>
        </p:nvSpPr>
        <p:spPr>
          <a:xfrm>
            <a:off x="2633472" y="3886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Uzun mesafe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33472" y="4187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1000+ token bağlamı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18304" y="374904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18304" y="3749040"/>
            <a:ext cx="20116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9" name="Text 27"/>
          <p:cNvSpPr/>
          <p:nvPr/>
        </p:nvSpPr>
        <p:spPr>
          <a:xfrm>
            <a:off x="4809744" y="3886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Ölçeklenebilirlik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9744" y="4187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GPU’larda verimli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94576" y="374904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894576" y="3749040"/>
            <a:ext cx="20116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3" name="Text 31"/>
          <p:cNvSpPr/>
          <p:nvPr/>
        </p:nvSpPr>
        <p:spPr>
          <a:xfrm>
            <a:off x="6986016" y="38862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öğrenme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86016" y="41879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+ fine-tune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503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5039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= LLM’e verilen talimat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LLM’lerden en iyi sonucu almak için talimatları (prompt’ları) sistematik olarak tasarlama sanatı ve bilimi. Küçük değişiklikler çıktıda dev farklar yaratabilir.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48840"/>
            <a:ext cx="40233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148840"/>
            <a:ext cx="402336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286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 Kötü Prompt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"Python’da bir şey yaz"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0815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"Makine öğrenimi anlat"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"Veri analizi yap"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Belirsiz, bağlamsız, format belirtilmemiş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148840"/>
            <a:ext cx="40233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148840"/>
            <a:ext cx="40233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2286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 İyi Prompt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2697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"Python’da Pandas ile CSV oku,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 verileri doldur, gruplama yap"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319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"Lojistik regresyonu, 5 maddelik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halinde, örneklerle açıkla"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Spesifik, bağlamlı, format ve çıktı belirli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Zero-shot vs Few-shot Prompting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Zero-shot (Sıfır Örnek)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hiç örnek vermeden doğrudan soru sorma. Model, önceden öğrendiği bilgilerle yanıt üretir.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"Bu yorum olumlu mu olumsuz mu?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Yorum: Harika bir ürün!"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86868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868680"/>
            <a:ext cx="40233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Few-shot (Birkaç Örnek)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3716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2–5 örnek göstererek pattern öğretme. Model, örüntüyü kavrayıp devam eder.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"Harika! → Olumlu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Berbat! → Olumsuz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kaçmaz! → ?"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8503920" cy="19202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71800"/>
            <a:ext cx="8321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Few-shot Prompt Örneği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= """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Metin sınıflandırma yapıyorsun. Örnekler: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"Çok beğendim" → Olumlu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"Kötü hizmet" → Olumsuz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"İdare eder" → Nötr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Şimdi sınıflandır: "Mükemmel kalite, teşekkürler!" →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Chain-of-Thought (CoT) Prompting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4630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Adım Adım Düşünme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"Adım adım düşün" eklediğinizde model, cevaba atlamak yerine mantık zinciri kurar. Matematik, kodlama ve mantıksal çıkarım görevlerinde %40–70 doğruluk artışı sağlar.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8686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0" y="868680"/>
            <a:ext cx="1554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+40%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760720" y="16184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0" y="868680"/>
            <a:ext cx="1554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0" y="868680"/>
            <a:ext cx="15544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0058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+70%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06640" y="16184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Mantık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560320"/>
            <a:ext cx="8503920" cy="2194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606040"/>
            <a:ext cx="8321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Chain-of-Thought Prompt Örneği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= """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Soru: Bir mağazada 15 elma var. 8 tanesini sattılar,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sonra 12 tane daha geldi. Kaç elma kaldı?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Adım adım düşünerek çöz: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Başlangıç: 15 elma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Satılan: 15 - 8 = 7 elma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Gelen: 7 + 12 = 19 elma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Cevap: 19 elma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Sistem Prompt’u ve Persona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Sistem Prompt’u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Chatbot’un kişiliğini, davranış kurallarını ve sınırlarını belirleyen gizli talimat. Kullanıcı görmez ama her yanıtı etkiler.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86868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868680"/>
            <a:ext cx="54864" cy="47548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9052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Bilimci Asistan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11247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Teknik, ölçümlü, kod odaklı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6320" y="1435608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435608"/>
            <a:ext cx="54864" cy="475488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4721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Türkçe Öğretmen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1691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Sabrlı, teşvik edici, basit dil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46320" y="200253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2002536"/>
            <a:ext cx="54864" cy="47548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203911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SEO Uzmanı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0" y="22585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Anahtar kelime odaklı, pragmatik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2743200"/>
            <a:ext cx="8503920" cy="20116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788920"/>
            <a:ext cx="8321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Sistem Prompt Örneği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system_instruction = """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 bir veri bilimi eğitmenisin.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Kuralların: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Her açıklamaya bir Python örneği ekle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Türkçe yanıt ver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Bilmediğin konularda 'bilmiyorum' de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Zararlı içerik üretme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Gemini API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2697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26974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51560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024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Key 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1508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Studio’dan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ücretsiz API anahtarı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868680"/>
            <a:ext cx="2697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86868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Shape 14"/>
          <p:cNvSpPr/>
          <p:nvPr/>
        </p:nvSpPr>
        <p:spPr>
          <a:xfrm>
            <a:off x="3383280" y="10515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94760" y="1024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SDK Kur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1508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google-generativeai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868680"/>
            <a:ext cx="2697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868680"/>
            <a:ext cx="2697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3640" y="105156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1024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63640" y="1508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genai.configure() +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GenerativeModel()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256032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560320"/>
            <a:ext cx="20116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1M+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457200" y="33101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 Penceresi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560320" y="256032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560320" y="2560320"/>
            <a:ext cx="20116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2" name="Text 30"/>
          <p:cNvSpPr/>
          <p:nvPr/>
        </p:nvSpPr>
        <p:spPr>
          <a:xfrm>
            <a:off x="256032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Ücretsiz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2651760" y="33101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Başlangıç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Kotası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256032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2560320"/>
            <a:ext cx="20116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36" name="Text 34"/>
          <p:cNvSpPr/>
          <p:nvPr/>
        </p:nvSpPr>
        <p:spPr>
          <a:xfrm>
            <a:off x="475488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4846320" y="33101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Metin+Görüntü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+Kod+Ses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949440" y="256032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949440" y="2560320"/>
            <a:ext cx="20116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0" y="26974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7040880" y="33101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Flash/Pro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Seçimi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65760" y="3886200"/>
            <a:ext cx="8503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65760" y="3886200"/>
            <a:ext cx="54864" cy="77724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3931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  GÜVENLİK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011680" y="393192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key’i ASLA frontend koduna (VITE_, NEXT_PUBLIC_) veya GitHub’a eklemeyin! Supabase Edge Function veya backend .env dosyasında saklayın.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 API — Temel Kullanım Kodu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503920" cy="38404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83210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Gemini API — Temel Kullanım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google.generativeai as genai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API key yapılandır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genai.configure(api_key="YOUR_API_KEY")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Model seç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genai.GenerativeModel("gemini-2.5-flash")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İçerik üret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model.generate_content(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"Python'da liste comprehension'ı açıkla"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4) Sonucu yazdır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print(response.text)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Yapısal Çıktı — JSON Üretme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3840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4630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Yapısal Çıktı?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LLM’den düz metin yerine JSON, CSV veya tablo formatında çıktı almak, veriyi programatik olarak işlemek için kritiktir. Gemini API’da response_schema ile garanti edilir.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868680"/>
            <a:ext cx="4480560" cy="1463040"/>
          </a:xfrm>
          <a:prstGeom prst="rect">
            <a:avLst/>
          </a:prstGeom>
          <a:solidFill>
            <a:srgbClr val="1E1E2E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96012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Beklenen JSON çıktı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"konu": "Makine Öğrenimi",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"özet": "Veriden öğrenen...",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"seviye": "başlangıç"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8503920" cy="2194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06040"/>
            <a:ext cx="8321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JSON çıktı almak için prompt tasarımı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= """Aşağıdaki metni analiz et ve JSON döndür: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{"duygu": "olumlu/olumsuz/nötr", "güven": 0.0-1.0}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Metin: 'Bu ürün gerçekten harika!'"""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model.generate_content(prompt)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json.loads(response.text)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print(result["duygu"])  # → olumlu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Kişisel Asistan Chatbot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503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5039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 + System Instruction + Çok Turlu Konuşma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Chatbot’a kişilik verin, kural koyun, geçmiş mesajları hatırlasın. Gemini’nin chat() metodu çok turlu konuşmayı otomatik yönetir.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057400"/>
            <a:ext cx="8503920" cy="27432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03120"/>
            <a:ext cx="8321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Kişisel Asistan Chatbot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google.generativeai as genai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genai.configure(api_key=API_KEY)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genai.GenerativeModel(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"gemini-2.5-flash",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system_instruction="Sen yardımcı bir veri bilimi asistanısın."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= model.start_chat(history=[])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user_input = input("Sen: ")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chat.send_message(user_input)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print(f"Asistan: {response.text}")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Yazarı Uygulaması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9202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SEO Uyumlu Blog Üretimi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LLM’e detaylı talimat vererek otomatik blog yazısı ürettirme: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Konu ve hedef kitle belirle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SEO anahtar kelimeleri listele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Başlık, giriş, gelişme, sonuç yapısı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 description ve etiketler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86868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868680"/>
            <a:ext cx="54864" cy="54864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4" name="Shape 12"/>
          <p:cNvSpPr/>
          <p:nvPr/>
        </p:nvSpPr>
        <p:spPr>
          <a:xfrm>
            <a:off x="4983480" y="978408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978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40680" y="9052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Konu Girdisi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40680" y="11430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"Yapay zekâ eğitimde"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46320" y="150876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1508760"/>
            <a:ext cx="54864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Shape 18"/>
          <p:cNvSpPr/>
          <p:nvPr/>
        </p:nvSpPr>
        <p:spPr>
          <a:xfrm>
            <a:off x="4983480" y="1618488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1545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Şablonu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40680" y="1783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talimatları + format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14884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148840"/>
            <a:ext cx="54864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26" name="Shape 24"/>
          <p:cNvSpPr/>
          <p:nvPr/>
        </p:nvSpPr>
        <p:spPr>
          <a:xfrm>
            <a:off x="4983480" y="225856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40680" y="21854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Üretimi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4068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yazısı + meta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278892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2788920"/>
            <a:ext cx="54864" cy="54864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4983480" y="2898648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40680" y="28254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 Çıktı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40680" y="30632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HTML/Markdown blog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65760" y="3017520"/>
            <a:ext cx="8503920" cy="17373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3063240"/>
            <a:ext cx="8321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Blog Yazarı Prompt Tasarımı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blog_prompt = f"""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Konu: {konu} | Hedef Kitle: {hedef_kitle}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SEO Anahtar Kelimeler: {anahtar_kelimeler}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Görev: 800-1200 kelimelik, SEO uyumlu blog yaz.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Format: Markdown, H2/H3 başlıklar, meta description ekle.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Nedir? (Retrieval-Augmented Generation)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5039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5039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Bilgi Tabanı + LLM = Doğru ve Güncel Yanıtlar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8988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LLM’ler eğitim verisiyle sınırlıdır ve "halüsinasyon" yapabilir. RAG, önce ilgili dokümanları arar (Retrieval), sonra bu dokümanları prompt’a ekleyerek (Augmented) LLM’in doğru cevap üretmesini (Generation) sağlar.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688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468880"/>
            <a:ext cx="269748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6334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Retrieval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017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Sorguyu vektör DB’de ara, en benzer dokümanları bul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46120" y="24688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246888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26334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Augmentation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017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Bulunan dokümanları prompt’a context olarak ekle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246888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2468880"/>
            <a:ext cx="269748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26334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Generation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63640" y="30175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LLM, context + soru ile doğru cevap üretir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4023360"/>
            <a:ext cx="4023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4023360"/>
            <a:ext cx="54864" cy="68580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Sade LLM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4325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Eski bilgi, halüsinasyon riski yüksek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4023360"/>
            <a:ext cx="4023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4023360"/>
            <a:ext cx="54864" cy="68580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+ LLM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4325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Güncel, kaynak gösterebilen, doğru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Embedding ve Vektör Veritabanı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01168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Metin → Vektör Dönüşümü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metin parçası, yüzlerce boyutlu bir sayı dizisine (vektör) dönüştürülür. Anlamca yakın metinlerin vektörleri de yakındır.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"kral" - "erkek" + "kadın" ≈ "kraliçe"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ilişkiler, cosine similarity ile ölçülür.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868680"/>
            <a:ext cx="4023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868680"/>
            <a:ext cx="54864" cy="438912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89611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ChromaDB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8961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kaynak, Python-native, kolay başlangıç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6320" y="1380744"/>
            <a:ext cx="4023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380744"/>
            <a:ext cx="54864" cy="438912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Pinecone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14081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 tabanlı, yönetilen hizmet, ölçeklenebilir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46320" y="1892808"/>
            <a:ext cx="4023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1892808"/>
            <a:ext cx="54864" cy="438912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19202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FAISS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Meta’nın kütüphanesi, çok hızlı, lokal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2404872"/>
            <a:ext cx="4023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404872"/>
            <a:ext cx="54864" cy="438912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2432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Weaviate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4323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GraphQL API, hibrit arama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108960"/>
            <a:ext cx="8503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108960"/>
            <a:ext cx="85039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2461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Cosine Similarity — Benzerlik Ölçümü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8138160" cy="8686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657600"/>
            <a:ext cx="7955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sklearn.metrics.pairwise import cosine_similarity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embedding1 ve embedding2: iki metnin vektör temsilleri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benzerlik = cosine_similarity([emb1], [emb2])  # 0.0 - 1.0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Basit RAG Sistemi — Kod Örneği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503920" cy="38404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83210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Basit RAG Sistemi — ChromaDB + Gemini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chromadb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google.generativeai as genai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Dokümanları yükle ve embedding oluştur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chromadb.Client()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collection = client.create_collection("dersler")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collection.add(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documents=["Pandas ile veri analizi...", "Scikit-learn ile ML..."],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ids=["doc1", "doc2"]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Kullanıcı sorusuyla en benzer dokümanı bul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collection.query(query_texts=["Veri nasıl analiz edilir?"], n_results=2)</a:t>
            </a:r>
            <a:pPr indent="0" marL="0">
              <a:buNone/>
            </a:pP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Bulunan dokümanları prompt'a ekleyip LLM'e gönder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= "\n".join(results["documents"][0])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= f"Bağlam: {context}\n\nSoru: Veri nasıl analiz edilir?"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model.generate_content(prompt)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Notebook’lar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51560"/>
            <a:ext cx="457200" cy="45720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033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gemini_api.ipynb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1600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API’ye bağlanma, metin üretme, parametre ayarlama (temperature, top_p)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20040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7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SDK · Temel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86868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86868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Shape 16"/>
          <p:cNvSpPr/>
          <p:nvPr/>
        </p:nvSpPr>
        <p:spPr>
          <a:xfrm>
            <a:off x="4800600" y="1051560"/>
            <a:ext cx="457200" cy="4572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94960" y="1033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kisisel_asistan.ipynb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1600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turlu chatbot oluşturma, sistem prompt’u, konuşma hafızası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0600" y="2194560"/>
            <a:ext cx="320040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Persona · Memory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2788920"/>
            <a:ext cx="41148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971800"/>
            <a:ext cx="457200" cy="4572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29535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blog_yazari.ipynb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" y="3520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uyumlu blog üretimi, prompt şablonu, Markdown çıktı, meta tag’ler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4114800"/>
            <a:ext cx="320040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41148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· SEO · İçerik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278892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2788920"/>
            <a:ext cx="41148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4" name="Shape 32"/>
          <p:cNvSpPr/>
          <p:nvPr/>
        </p:nvSpPr>
        <p:spPr>
          <a:xfrm>
            <a:off x="4800600" y="2971800"/>
            <a:ext cx="457200" cy="45720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94960" y="29535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rag_giris.ipynb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00600" y="3520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kurulumu, embedding oluşturma, basit RAG pipeline, sorgulama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800600" y="4114800"/>
            <a:ext cx="3200400" cy="25603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9" name="Text 37"/>
          <p:cNvSpPr/>
          <p:nvPr/>
        </p:nvSpPr>
        <p:spPr>
          <a:xfrm>
            <a:off x="4892040" y="41148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ChromaDB · Vektör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Hafta 14 Ödevi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536192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1463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ile kişisel chatbot oluşturun (persona + 3 kural)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2212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farklı prompt tekniğini karşılaştırın (tablo formatında)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035808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96265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 RAG sistemi kurun: 5 doküman + soru-cevap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Teslim: Jupyter Notebook (.ipynb) formatında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86868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868680"/>
            <a:ext cx="40233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1024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Kaynaklar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1417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AI Studio: aistudio.google.com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0" y="17465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Prompt Engineering Guide: promptingguide.ai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0" y="20756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LangChain Docs: python.langchain.com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0" y="24048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ChromaDB Docs: docs.trychroma.com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27340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Attention Is All You Need (2017 makalesi)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0" y="3063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Generative AI Cookbook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0" y="33924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OpenAI Prompt Best Practices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3721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 Face NLP Course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14 — Özet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LLM’ler Transformer mimarisi üzerine inşa edilir; Self-Attention her şeyi değiştirdi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mühendisliği: Zero-shot, Few-shot ve Chain-of-Thought ile sonuçlar %40–70 iyileşir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ile Python’dan metin üretme, chatbot ve JSON çıktı almak 5 satır kod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prompt’u ile chatbot’a kişilik, kural ve sınır verilebilir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= Retrieval + Augmentation + Generation — halüsinasyonu azaltır, doğruluğu artırır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“Yapay zekâ soru sormayı bilene cevap verir; prompt mühendisliği, doğru soruyu sorma sanatıdır.”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14: Generative AI ve Prompt Mühendisliği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