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NumPy ve Pandas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ile EDA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Keşifsel Veri Analizi: Veriden Anlam Çıkarmanın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Araçları ve Teknikleri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Kütüphane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+ Pandas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%80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bilimcilerin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vaktinin EDA'ya ayrılan oranı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dk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CSV'den ilk içgörüye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süre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3785616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39410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26480" y="444398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cevaplanabilecek soru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NumPy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oluşturma · Matematiksel işlemler · İstatistik fonksiyonları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3-5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Pandas Temelleri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ve DataFrame · CSV/Excel okuma · Veri seçme (loc, iloc)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6-9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Keşifsel Veri Analizi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komutları · Eksik veri · Filtreleme · GroupBy · Apply/Lambda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10-16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Uygulama ve Özet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EDA · Tips analizi · Kontrol listesi · Hatalar ·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17-22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NumPy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846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8288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Python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89888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Python'da yüksek performanslı sayısal hesaplama için temel kütüphanedir. Çok boyutlu diziler (ndarray) üzerinde vektörize işlemler yaparak döngülerden 10-100x daha hızlı çalışır.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3832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914400"/>
            <a:ext cx="33832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0515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NumPy?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144475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14447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vektörize işlemler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17373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N-boyutlu dizi desteği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02996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80760" y="20299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Matematiksel fonksiyonlar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232257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322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080760" y="23225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Bellek verimliliği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2926080"/>
            <a:ext cx="8503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2926080"/>
            <a:ext cx="850392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0632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Listesi vs NumPy Array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Özellik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Listesi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 Array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Hız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Yavaş (döngü)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hızlı (vektörize)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Bellek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Fazla tüketir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 edilmiş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Karışık tipler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Homojen (tek tip)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(iç içe ile 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Doğal nD desteği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İşlemler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Manuel döngü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Elementwise otomatik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NumPy Array Oluşturma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029200" cy="39319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60120"/>
            <a:ext cx="48463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Listeden array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np.array([1, 2, 3, 4, 5])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Sıfırlardan oluşan 3x3 matris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zeros = np.zeros((3, 3))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Birlerden oluşan matris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ones = np.ones((2, 4))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Aralıklı dizi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rng = np.arange(0, 10, 2)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2, 4, 6, 8]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Eşit aralıklı 5 sayı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 = np.linspace(0, 1, 5)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Rastgele 3x3 matris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 = np.random.rand(3, 3)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Birim matris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eye = np.eye(4)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91440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914400"/>
            <a:ext cx="54864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9418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np.array()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11887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Listeden NumPy dizisi oluşturur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577840" y="155448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577840" y="1554480"/>
            <a:ext cx="54864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1581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np.zeros() / ones()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828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 veya bir dolu matris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577840" y="219456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77840" y="2194560"/>
            <a:ext cx="54864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222199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np.arange()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2468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adımlarla aralık dizisi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577840" y="283464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77840" y="2834640"/>
            <a:ext cx="54864" cy="5486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28620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np.linspace()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31089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aralıklı n adet sayı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77840" y="347472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77840" y="3474720"/>
            <a:ext cx="54864" cy="54864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0" y="35021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np.random.rand()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3749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arası rastgele matris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77840" y="411480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577840" y="4114800"/>
            <a:ext cx="54864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0" y="41422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np.eye()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4389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nxn birim (identity) matris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NumPy İşlemler: Matematik ve İstatistik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Matematiksel İşlemler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np.array([10, 20, 30])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np.array([1, 2, 3])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[11, 22, 33]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* b)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[10, 40, 90]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** 2)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[100, 400, 900]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İstatistik Fonksiyonları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93192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46304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 = np.array([85, 90, 78, 92, 88])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np.mean(veri)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86.6  (ortalama)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np.median(veri)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88.0  (medyan)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np.std(veri)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4.84  (std sapma)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np.min(veri)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78    (minimum)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np.max(veri)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92    (maksimum)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3200400"/>
            <a:ext cx="157276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200400"/>
            <a:ext cx="1572768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38328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mean()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84832" y="3200400"/>
            <a:ext cx="157276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084832" y="3200400"/>
            <a:ext cx="1572768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4" name="Text 22"/>
          <p:cNvSpPr/>
          <p:nvPr/>
        </p:nvSpPr>
        <p:spPr>
          <a:xfrm>
            <a:off x="2084832" y="338328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median()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76272" y="393192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Ortanca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803904" y="3200400"/>
            <a:ext cx="157276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803904" y="3200400"/>
            <a:ext cx="1572768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3803904" y="338328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std()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895344" y="393192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522976" y="3200400"/>
            <a:ext cx="157276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522976" y="3200400"/>
            <a:ext cx="1572768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522976" y="338328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614416" y="393192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Varyans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242048" y="3200400"/>
            <a:ext cx="157276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242048" y="3200400"/>
            <a:ext cx="1572768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6" name="Text 34"/>
          <p:cNvSpPr/>
          <p:nvPr/>
        </p:nvSpPr>
        <p:spPr>
          <a:xfrm>
            <a:off x="7242048" y="338328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333488" y="393192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Pandas Nedir? Series vs DataFrame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0972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→ Pandas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yapılandırılmış (tablo) verilerle çalışmak için Python'un en güçlü kütüphanesidir. İki temel veri yapısı sunar: Series (tek sütun) ve DataFrame (tablo). Veri okuma, temizleme, dönüştürme ve analiz için tek durak çözümdür.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19456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331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Series (1 Boyutlu)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3749040" cy="10972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74320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notlar = pd.Series(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[85, 90, 78, 92],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index=['Ali','Ayşe','Can','Defne']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8862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Etiketli tek boyutlu dizi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Index + değerlerden oluşur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NumPy array'in etiketli hâli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Sözlükten de oluşturulabilir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456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19456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DataFrame (2 Boyutlu)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2697480"/>
            <a:ext cx="3840480" cy="10972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27432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pd.DataFrame({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'İsim': ['Ali','Ayşe','Can'],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'Not':  [85, 90, 78],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'Yaş':  [20, 22, 21]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(df.shape)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(3, 3)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Satır ve sütunlu tablo yapısı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 sütun bir Series'dir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tablosu / Excel sayfası gibi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Sözlük, liste veya dosyadan oluşturulur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DataFrame Oluşturma ve Dosya Okuma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CSV Dosya Okuma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1188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Basit okuma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pd.read_csv('veri.csv')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Parametreli okuma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'veri.csv',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sep=';', encoding='utf-8',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index_col=0, nrows=1000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Excel Dosya Okuma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931920" cy="1188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4630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Excel okuma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pd.read_excel('veri.xlsx')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Belirli sayfa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pd.read_excel(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'veri.xlsx',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sheet_name='Sayfa2',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header=0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8503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926080"/>
            <a:ext cx="850392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Diğer Veri Kaynakları ve Kaydetme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Fonksiyon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pd.read_json()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dosya okuma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pd.read_json('veri.json')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pd.read_sql()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veritabanından okuma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pd.read_sql(query, conn)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pd.read_html()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sayfasından tablo çekme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pd.read_html(url)[0]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df.to_csv()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olarak kaydetme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df.to_csv('sonuc.csv', index=False)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df.to_excel()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olarak kaydetme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df.to_excel('sonuc.xlsx')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Seçme: .loc[] ve .iloc[]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.loc[] — Etiket Bazlı Seçim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27432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 satır (etiketle)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df.loc[0]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indexli satır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Satır + sütun seçimi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df.loc[0:2, 'İsim':'Not']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Koşullu seçim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df.loc[df['Not'] &gt; 85]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Belirli sütunlar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df.loc[:, ['İsim', 'Not']]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 hücre değeri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df.loc[0, 'İsim']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'Ali'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251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 (label) ile erişim — aralıklar dahil (inclusive)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.iloc[] — Pozisyon Bazlı Seçim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1417320"/>
            <a:ext cx="3931920" cy="27432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46304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İlk satır (indexle)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df.iloc[0]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 pozisyon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İlk 3 satır, ilk 2 sütun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df.iloc[0:3, 0:2]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Son satır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df.iloc[-1]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Belirli satır ve sütunlar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df.iloc[[0, 2], [0, 1]]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 hücre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df.iloc[0, 1]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Pozisyon (integer) ile erişim — aralıklar hariç (exclusive)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Koşullu Filtreleme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2560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6012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 koşul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yuksek_not = df[df['Not'] &gt; 85]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Birden fazla koşul (VE)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filtre = df[(df['Not'] &gt; 80) &amp; (df['Yaş'] &lt; 22)]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Birden fazla koşul (VEYA)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filtre2 = df[(df['Bölüm'] == 'BT') | (df['Bölüm'] == 'YBS')]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isin() ile çoklu değer kontrolü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secim = df[df['Şehir'].isin(['İstanbul', 'Ankara', 'İzmir'])]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Metin içeriğine göre filtreleme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 = df[df['İsim'].str.contains('Ali')]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between() ile aralık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aralik = df[df['Not'].between(70, 90)]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3657600"/>
            <a:ext cx="1965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3657600"/>
            <a:ext cx="19659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3749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Koşulu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koşul parantez içinde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operatörü kullan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3657600"/>
            <a:ext cx="1965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14600" y="365760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2514600" y="3749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VEYA Koşulu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06040" y="4343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koşul parantez içinde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operatörü kullan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3657600"/>
            <a:ext cx="1965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65760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749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DEĞİL (NOT)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4343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Koşulun tersini almak için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operatörü kullan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12280" y="3657600"/>
            <a:ext cx="1965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365760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6812280" y="3749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372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isin()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03720" y="4343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değer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kontrolü için idealdir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EDA Komutları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3108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Döner?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1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df.shape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Satır ve sütun sayısı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(1000, 8)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df.info()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Sütun tipleri, null sayısı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Özet tablo (konsol)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df.describe()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Sayısal sütunların istatistikleri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count, mean, std, min, max...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df.dtypes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sütunun veri tipi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int64, float64, object...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df.head(n)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İlk n satır (varsayılan 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DataFrame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df.tail(n)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 n satır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DataFrame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Sütun isimleri listesi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objesi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df.nunique()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sütundaki benzersiz değer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Sayısal Series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df.value_counts()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Değer frekansları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Sıralı Series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solidFill>
            <a:srgbClr val="E0F2F1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İpucu: </a:t>
            </a:r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yeni veri setinde ilk 5 komutu (shape, info, describe, head, dtypes) mutlaka çalıştırın. Bu, verinin genel yapısını anlamanın en hızlı yoludur.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Veri Analizi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84124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Veriyi Tespit Etme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8138160" cy="8229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df.isnull().sum()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Her sütundaki eksik sayısı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df.isnull().mean() * 100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Eksik oranı (%)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df.isna().any()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Hangi sütunda eksik var?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56032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560320"/>
            <a:ext cx="40233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Silme: dropna()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63240"/>
            <a:ext cx="3749040" cy="1554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10896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Eksik olan satırları sil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Sadece tümü eksik olanları sil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df.dropna(how='all')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Belirli sütuna göre sil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df.dropna(subset=['Not'])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Eşik: en az 3 dolu değer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df.dropna(thresh=3)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56032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560320"/>
            <a:ext cx="41148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697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Doldurma: fillna()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3063240"/>
            <a:ext cx="3840480" cy="1554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31089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Sabit değerle doldur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df['Not'].fillna(0)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Ortalama ile doldur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df['Not'].fillna(df['Not'].mean())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Medyan ile doldur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df['Not'].fillna(df['Not'].median())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Önceki değerle doldur (ffill)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df['Not'].fillna(method='ffill')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Manipülasyonu: Sıralama ve Filtreleme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Sıralama: sort_values()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1554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Artan sıralama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df.sort_values('Not')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Azalan sıralama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df.sort_values('Not', ascending=False)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Çoklu sütun sıralama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df.sort_values(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['Bölüm', 'Not'],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ascending=[True, False]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Sütun İşlemleri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931920" cy="1554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4630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Sütun silme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df.drop('Gereksiz', axis=1)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Sütun adı değiştirme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df.rename(columns={
  'eski_ad': 'yeni_ad'
})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Tip dönüştürme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 = df['Not'].astype(float)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3291840"/>
            <a:ext cx="8503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291840"/>
            <a:ext cx="8503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4290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Tekrar Eden ve Benzersiz Değerler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794760"/>
            <a:ext cx="8138160" cy="10058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4048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df.duplicated().sum()  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Tekrar eden satır sayısı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df.drop_duplicates()   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Tekrarları temizle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df['Şehir'].unique()   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Benzersiz değerler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df['Şehir'].value_counts()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Frekans tablosu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GroupBy ile Gruplama ve Özet Tablolar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2011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60120"/>
            <a:ext cx="8229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 sütuna göre gruplama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df.groupby('Bölüm')['Not'].mean()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Çoklu aggregation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df.groupby('Bölüm')['Not'].agg(['mean', 'std', 'min', 'max', 'count'])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Çoklu sütuna göre gruplama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df.groupby(['Bölüm', 'Cinsiyet'])['Not'].mean()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Farklı sütunlara farklı işlem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df.groupby('Bölüm').agg({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'Not': 'mean',
    'Yaş': 'median',
    'İsim': 'count'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3108960"/>
            <a:ext cx="5029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3108960"/>
            <a:ext cx="5029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Sonuç Tablosu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11880"/>
          <a:ext cx="4754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1887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Ort.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Sapma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Öğrenci Sayısı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Bilişim Tek.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Yönetim Bil.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İstatistik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Matematik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577840" y="3108960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77840" y="3108960"/>
            <a:ext cx="32004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6" name="Text 13"/>
          <p:cNvSpPr/>
          <p:nvPr/>
        </p:nvSpPr>
        <p:spPr>
          <a:xfrm>
            <a:off x="5760720" y="32461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GroupBy Akışı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63931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5"/>
          <p:cNvSpPr/>
          <p:nvPr/>
        </p:nvSpPr>
        <p:spPr>
          <a:xfrm>
            <a:off x="57607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393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 (Split)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760720" y="40233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1" name="Text 18"/>
          <p:cNvSpPr/>
          <p:nvPr/>
        </p:nvSpPr>
        <p:spPr>
          <a:xfrm>
            <a:off x="57607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72200" y="40233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 (Apply)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60720" y="4407408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172200" y="44074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Birleştir (Combine)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Yeni Sütun Oluşturma: Apply ve Lambda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Basit Yeni Sütun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10058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Doğrudan hesaplama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df['Harf_Notu'] = df['Not'] &gt;= 50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Matematiksel işlem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df['Not_Yuzde'] = df['Not'] / 100 * 40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+ Lambda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931920" cy="10058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4630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Lambda ile harf notu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df['Durum'] = df['Not'].apply(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lambda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x: 'Geçti'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&gt;= 50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'Kaldı'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85039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743200"/>
            <a:ext cx="850392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880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Fonksiyon ile Apply — Karmaşık Dönüşümler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46120"/>
            <a:ext cx="4114800" cy="1463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29184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harf_notu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(not_degeri):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not_degeri &gt;= 90: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'AA'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not_degeri &gt;= 80: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'BA'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not_degeri &gt;= 70: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'BB'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'FF'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54880" y="3246120"/>
            <a:ext cx="4023360" cy="1463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Fonksiyonu uygula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df['Harf'] = df['Not'].apply(harf_notu)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map() ile sözlük eşleme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cinsiyet_map = {'E': 'Erkek', 'K': 'Kadın'}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df['Cinsiyet'] = df['C'].map(cinsiyet_map)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applymap() — tüm hücrelere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df[['N1','N2']].applymap(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lambda x: round(x, 1)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Pivot Table ve Çapraz Tablolar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8412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pd.pivot_table() — Excel Pivot Benzeri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8138160" cy="1188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Pivot tablo oluşturma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pivot = pd.pivot_table(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values='Not', 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Değer sütunu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index='Bölüm',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Satır grupları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columns='Cinsiyet',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Sütun grupları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aggfunc='mean',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Toplama fonksiyonu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margins=True  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Genel toplam satırı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4572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26080"/>
            <a:ext cx="4572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63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Pivot Sonucu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29000"/>
          <a:ext cx="4297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Erkek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Kadın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Bilişim Tek.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Yönetim Bil.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İstatistik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2926080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120640" y="2926080"/>
            <a:ext cx="3749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0" y="3063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pd.crosstab()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57800" y="3429000"/>
            <a:ext cx="3474720" cy="12801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1" name="Text 18"/>
          <p:cNvSpPr/>
          <p:nvPr/>
        </p:nvSpPr>
        <p:spPr>
          <a:xfrm>
            <a:off x="5349240" y="34747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Çapraz tablo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pd.crosstab(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df['Bölüm'],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df['Cinsiyet'],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margins=True,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normalize='index'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oran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String ve Tarih İşlemleri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String (.str) İşlemleri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417320"/>
            <a:ext cx="3749040" cy="32004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46304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Küçük/büyük harf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df['İsim'].str.lower()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df['İsim'].str.upper()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İçerik kontrolü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df['İsim'].str.contains('Ali')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df['İsim'].str.startswith('A')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Değiştirme ve bölme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df['Tel'].str.replace('-', '')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df['Ad_Soyad'].str.split(' 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Uzunluk ve kırpma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df['İsim'].str.len()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df['İsim'].str.strip()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Tarih (datetime) İşlemleri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931920" cy="32004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46304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String → datetime dönüşümü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df['Tarih'] = pd.to_datetime(
  df['Tarih']
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Yıl, ay, gün çıkarma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df['Yıl'] = df['Tarih'].dt.year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df['Ay']  = df['Tarih'].dt.month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df['Gün'] = df['Tarih'].dt.day_name()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Tarih farkı hesaplama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df['Süre'] = (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df['Bitiş'] - df['Başlangıç']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).dt.days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Tarih aralığı filtreleme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 = df['Tarih'] &gt; '2024-01-01'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 Veri Seti: Titanic EDA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6400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veri seti: 891 yolcu, 12 sütun — hayatta kalma (Survived), cinsiyet (Sex), yaş (Age), bilet sınıfı (Pclass), ücret (Fare) gibi değişkenler içerir.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5029200" cy="30175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78308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pd.read_csv('titanic.csv')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Genel bakış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print(df.shape)        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(891, 12)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print(df.isnull().sum())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Age:177 eksik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Hayatta kalma oranı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df['Survived'].value_counts(normalize=True)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%61.6  |  1: %38.4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Cinsiyete göre hayatta kalma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df.groupby('Sex')['Survived'].mean()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female: 0.74  |  male: 0.19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Sınıfa göre hayatta kalma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df.groupby('Pclass')['Survived'].mean()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1: 0.63  |  2: 0.47  |  3: 0.24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0" y="173736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0" y="1737360"/>
            <a:ext cx="31089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1874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%38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760720" y="2487168"/>
            <a:ext cx="292608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Hayatta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 Oranı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0" y="2487168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0" y="2487168"/>
            <a:ext cx="3108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0" y="2624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%74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760720" y="3236976"/>
            <a:ext cx="292608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Kadınların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Hayatta Kalması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23697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669280" y="3236976"/>
            <a:ext cx="3108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3374136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%63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60720" y="3986784"/>
            <a:ext cx="292608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Sınıf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Hayatta Kalma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3986784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669280" y="3986784"/>
            <a:ext cx="3108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0" y="412394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760720" y="4736592"/>
            <a:ext cx="292608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 Yaş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Değeri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 Veri Seti: Tips (Bahşiş) Analizi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6012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seaborn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tips = sns.load_dataset('tips')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Bahşiş oranı hesapla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tips['tip_pct'] = (
  tips['tip'] / tips['total_bill'] * 100
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Güne göre bahşiş ortalaması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tips.groupby('day')['tip_pct'].mean()
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Cinsiyet + sigara durumuna göre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pd.pivot_table(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tips, values='tip_pct',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index='sex', columns='smoker',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aggfunc='mean'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914400"/>
            <a:ext cx="32918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914400"/>
            <a:ext cx="32918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1051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Güne Göre Bahşiş %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17320"/>
          <a:ext cx="3108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Ort. Bahşiş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A7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Perşembe (Thur)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Cuma (Fri)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Cumartesi (Sat)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Pazar (Sun)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577840" y="292608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77840" y="2926080"/>
            <a:ext cx="32918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6" name="Text 13"/>
          <p:cNvSpPr/>
          <p:nvPr/>
        </p:nvSpPr>
        <p:spPr>
          <a:xfrm>
            <a:off x="5760720" y="30632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Öne Çıkan Bulgular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4290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5"/>
          <p:cNvSpPr/>
          <p:nvPr/>
        </p:nvSpPr>
        <p:spPr>
          <a:xfrm>
            <a:off x="576072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429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Cuma günü bahşiş oranı en yüksek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490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1" name="Text 18"/>
          <p:cNvSpPr/>
          <p:nvPr/>
        </p:nvSpPr>
        <p:spPr>
          <a:xfrm>
            <a:off x="576072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72200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Sigara içenler daha az bahşiş veriyor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760720" y="40690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17220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Erkekler daha yüksek hesap ödüyor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760720" y="438912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7" name="Text 24"/>
          <p:cNvSpPr/>
          <p:nvPr/>
        </p:nvSpPr>
        <p:spPr>
          <a:xfrm>
            <a:off x="5760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17220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Akşam yemeklerinde bahşiş oranı düşük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65760" y="3931920"/>
            <a:ext cx="5029200" cy="914400"/>
          </a:xfrm>
          <a:prstGeom prst="rect">
            <a:avLst/>
          </a:prstGeom>
          <a:solidFill>
            <a:srgbClr val="E0F2F1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3977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Adımları: </a:t>
            </a:r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shape &amp; info → 2) describe → 3) isnull → 4) value_counts → 5) groupby → 6) yeni sütun → 7) pivot_table → 8) görselleştirme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Kontrol Listesi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solidFill>
            <a:srgbClr val="FFF9F3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93268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932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Veriyi Yükle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914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pd.read_csv() / pd.read_excel()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1316736"/>
            <a:ext cx="8412480" cy="36576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335024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335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3167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Boyut Kontrol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131673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df.shape, df.columns, df.dtypes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1719072"/>
            <a:ext cx="8412480" cy="365760"/>
          </a:xfrm>
          <a:prstGeom prst="rect">
            <a:avLst/>
          </a:prstGeom>
          <a:solidFill>
            <a:srgbClr val="FFF9F3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17373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1719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İlk Bakış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91840" y="171907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df.head(), df.tail(), df.sample(5)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2121408"/>
            <a:ext cx="8412480" cy="36576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13969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2121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İstatistik Özet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91840" y="2121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df.describe(), df.info()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523744"/>
            <a:ext cx="8412480" cy="365760"/>
          </a:xfrm>
          <a:prstGeom prst="rect">
            <a:avLst/>
          </a:prstGeom>
          <a:solidFill>
            <a:srgbClr val="FFF9F3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2542032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4400" y="25237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Veri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252374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df.isnull().sum(), df.isnull().mean()*100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2926080"/>
            <a:ext cx="8412480" cy="36576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2944368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440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Tekrarlar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91840" y="29260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df.duplicated().sum(), df.drop_duplicates()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328416"/>
            <a:ext cx="8412480" cy="365760"/>
          </a:xfrm>
          <a:prstGeom prst="rect">
            <a:avLst/>
          </a:prstGeom>
          <a:solidFill>
            <a:srgbClr val="FFF9F3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4400" y="33284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Kategorik Analiz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91840" y="332841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df['col'].value_counts(), df.nunique()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65760" y="3730752"/>
            <a:ext cx="8412480" cy="36576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374904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14400" y="3730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Gruplama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91840" y="373075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df.groupby('col')['val'].agg([...])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" y="4133088"/>
            <a:ext cx="8412480" cy="365760"/>
          </a:xfrm>
          <a:prstGeom prst="rect">
            <a:avLst/>
          </a:prstGeom>
          <a:solidFill>
            <a:srgbClr val="FFF9F3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4151376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4151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14400" y="4133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Yeni Sütunlar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df['new'] = ..., df['col'].apply(func)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65760" y="4535424"/>
            <a:ext cx="8412480" cy="36576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455371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14400" y="45354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Görselleştirme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291840" y="45354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Histogramlar, boxplot, scatter, heatmap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E0F2F1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4617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İpucu: </a:t>
            </a:r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listeyi her yeni veri setine uygulamak, analiz kalitesini ve tutarlılığını önemli ölçüde artırır.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Sık Yapılan Hatalar ve Çözümleri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91440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HATA:  </a:t>
            </a:r>
            <a:pPr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df['Not'] &gt; 80 &amp; df['Yaş'] &lt; 25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2252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DOĞRU: </a:t>
            </a:r>
            <a:pPr indent="0" marL="0">
              <a:buNone/>
            </a:pPr>
            <a:r>
              <a:rPr lang="en-US" sz="900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(df['Not'] &gt; 80) &amp; (df['Yaş'] &lt; 25)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1508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Parantez unutulması — &amp; operatörünün önceliği &gt; dan yüksek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1920240"/>
            <a:ext cx="54864" cy="9144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9659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HATA:  </a:t>
            </a:r>
            <a:pPr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df.dropna(inplace=True)  # sessiz kayıp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22311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DOĞRU: </a:t>
            </a:r>
            <a:pPr indent="0" marL="0">
              <a:buNone/>
            </a:pPr>
            <a:r>
              <a:rPr lang="en-US" sz="900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df.dropna()  # açık atama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25146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inplace=True yerine açık atama tercih edin, iz sürülebilirlik artar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926080"/>
            <a:ext cx="54864" cy="9144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718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HATA:  </a:t>
            </a:r>
            <a:pPr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df[df['Yaş'] == NaN]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3236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DOĞRU: </a:t>
            </a:r>
            <a:pPr indent="0" marL="0">
              <a:buNone/>
            </a:pPr>
            <a:r>
              <a:rPr lang="en-US" sz="900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df[df['Yaş'].isna()]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5204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 == NaN her zaman False döner, isna() kullanın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931920"/>
            <a:ext cx="54864" cy="9144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9776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HATA:  </a:t>
            </a:r>
            <a:pPr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df.groupby('A').mean()  # SettingWithCopy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24281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DOĞRU: </a:t>
            </a:r>
            <a:pPr indent="0" marL="0">
              <a:buNone/>
            </a:pPr>
            <a:r>
              <a:rPr lang="en-US" sz="900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df.loc[mask, 'col'] = value  # .loc[] kullanın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452628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Zincirleme indexleme (chained indexing) kopya üzerinde değişiklik yapar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Ödev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841248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Ödev: Titanic Veri Seti ile EDA Raporu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veri setini (CSV) kullanarak kapsamlı bir Keşifsel Veri Analizi raporu hazırlayın. Jupyter Notebook formatında teslim edin.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26771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1945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Yükleme ve İlk Bakış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219456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oku, shape, info, describe, head — ilk 5 gözlemi incele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26700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Veri Analizi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66160" y="2670048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sütundaki eksik veri oranını hesapla, uygun strateji ile doldur/sil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18688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14553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Keşifsel Analiz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66160" y="3145536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Kategorik: value_counts() | Sayısal: describe() | Korelasyon matrisi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94176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6210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GroupBy Analiz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3621024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Cinsiyet, sınıf ve binme limanına göre hayatta kalma analizi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169664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409651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66160" y="4096512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az 2 yeni sütun oluştur (yaş grubu, aile büyüklüğü vb.)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6451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457200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 ve Yorum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66160" y="457200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5 veri odaklı içgörü yazın, her birini kodla destekleyin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solidFill>
            <a:srgbClr val="FFF3E8"/>
          </a:solidFill>
          <a:ln w="12700">
            <a:solidFill>
              <a:srgbClr val="C97B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6177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Teslim: </a:t>
            </a:r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dersine kadar  ·  Format: Jupyter Notebook (.ipynb)  ·  Bonus: Matplotlib/Seaborn ile en az 3 görselleştirme ekleyin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Özet ve Çıkarımlar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Python'da sayısal hesaplamanın temelidir — vektörize işlemlerle performans kazanın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yapılandırılmış verilerle çalışmanın en güçlü aracıdır — Series ve DataFrame'i iyi öğrenin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EDA, her veri projesinin ilk ve en kritik adımıdır — sistematik yaklaşın, kontrol listesini takip edin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 veri ve veri tipleri göz ardı edilmemeli — isnull(), dtypes ve describe() ile başlayın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ve Apply, veriyi anlamlı özetlere dönüştürür — pivot table ile görselleştirmeye hazırlayın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“Veri bilimi, merak ve kodun buluştuğu noktada başlar.”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2: NumPy ve Pandas ile Keşifsel Veri Analizi</dc:title>
  <dc:subject>PptxGenJS Presentation</dc:subject>
  <dc:creator>Dr. Murat Altun</dc:creator>
  <cp:lastModifiedBy>Dr. Murat Altun</cp:lastModifiedBy>
  <cp:revision>1</cp:revision>
  <dcterms:created xsi:type="dcterms:W3CDTF">2026-04-09T11:39:41Z</dcterms:created>
  <dcterms:modified xsi:type="dcterms:W3CDTF">2026-04-09T11:39:41Z</dcterms:modified>
</cp:coreProperties>
</file>