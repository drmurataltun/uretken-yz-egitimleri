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İstatistiksel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Analiz ve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A/B Testleri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4 · Modül 4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Tanımlayıcı İstatistik, Dağılımlar, Hipotez Testleri ve A/B Testi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7+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İstatistik Testi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Tanımlayıcı İstatistik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· Medyan · Mod · Standart Sapma · Merkezi Eğilim · Yayılım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Dağılımlar ve Korelasyon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Dağılım · Normallik Testleri · Pearson · Spearman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5–7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Hipotez Testleri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H0/H1 · p-value · T-Test · ANOVA · Ki-Kare · Güven Aralıkları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8–13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A/B Testi ve Uygulama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Metodoloji · Uygulama · Tip I/II Hata · Notebook’lar · Ödev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14–20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Tanımlayıcı İstatistik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19202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0515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değerlerin toplamının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sayısına bölümü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68880" y="91440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68880" y="914400"/>
            <a:ext cx="1920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10515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M̃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560320" y="166420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Medyan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Sıralanmış verinin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orthadaki değeri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91440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914400"/>
            <a:ext cx="19202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0515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663440" y="166420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tekrar eden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675120" y="91440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75120" y="914400"/>
            <a:ext cx="19202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0515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6766560" y="166420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 Sapma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Verinin ortalamadan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kadar saptığı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2743200"/>
            <a:ext cx="8412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2743200"/>
            <a:ext cx="8412480" cy="54864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285292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ile Hesaplama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246120"/>
            <a:ext cx="8046720" cy="15087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291840"/>
            <a:ext cx="7863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 = pd.Series([12, 15, 12, 18, 20, 15, 12, 25, 30])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print(f"Ortalama: {veri.mean():.2f}")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print(f"Medyan:   {veri.median():.2f}")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print(f"Mod:      {veri.mode()[0]}")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print(f"Std:      {veri.std():.2f}")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Merkezi Eğilim vs Yayılım Ölçüleri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39319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Merkezi Eğilim Ölçüleri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Ortalama (Mean)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değerlerin aritmetik ortalaması. Aşırı değerlerden etkilenir.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313432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13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2677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Medyan (Median)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5420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Sıralanmış verinin orta noktası. Aşırı değerlere dayanıklı.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118104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0723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 (Mode)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334670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tekrar eden değer. Kategorik veri için idealdir.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922776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922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" y="38770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Ağırlıklı Ortalama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415137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değere farklı ağırlık verilir. Örn: not ortalaması.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914400"/>
            <a:ext cx="4206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91440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1051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Yayılım Ölçüleri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15087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12080" y="1463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Varyans (σ²)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12080" y="1737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Ortalamadan sapmaların karelerinin ortalaması.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231343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2313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212080" y="22677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Standart Sapma (σ)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12080" y="25420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Varyansın karekökü. Orijinal birimle aynı ölçekte.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54880" y="3118104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9" name="Text 37"/>
          <p:cNvSpPr/>
          <p:nvPr/>
        </p:nvSpPr>
        <p:spPr>
          <a:xfrm>
            <a:off x="4754880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212080" y="30723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Aralık (Range)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212080" y="334670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− Min. En basit yayılım ölçüsü, aşırı değerlere hassas.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392277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0" y="3922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212080" y="387705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IQR (Q3 − Q1)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212080" y="41513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Çeyrekler arası açıklık. Boxplot’un temelini oluşturur.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Dağılım (Gauss Eğrisi)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206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22860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Dağılım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Doğadaki pek çok olay normal dağılıma uyar: boy, ağırlık, sınav puanları...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Simetrik, çan şeklinde eğri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Ortalama = Medyan = Mod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μ (ortalama) ve σ (std sapma) ile tanımlanır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Pek çok istatistiksel testin ön koşulu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14400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914400"/>
            <a:ext cx="39319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0241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68-95-99.7 Kuralı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1417320"/>
            <a:ext cx="1463040" cy="41148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417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 ± 1σ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1417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%68.3 veri bu aralıkta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1965960"/>
            <a:ext cx="1463040" cy="41148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9659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 ± 2σ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19659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%95.4 veri bu aralıkta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2514600"/>
            <a:ext cx="1463040" cy="41148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 ± 3σ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2514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%99.7 veri bu aralıkta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383280"/>
            <a:ext cx="8412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383280"/>
            <a:ext cx="8412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930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Çan Eğrisi Özellikleri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3840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Eğri altındaki toplam alan =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Ortalamadan uzaklaştıkça olasılık azalır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Z-skoru: (X − μ) / σ ile standartlaştırılır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840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σ küçük → sivri eğri (homojen veri)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σ büyük → yayvan eğri (heterojen veri)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Merkezi limit teoremi: n≥30 → örneklem dağılımı ≈ normal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Normallik Testleri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5720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2801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Normallik Testi?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280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 çok parametrik test (t-test, ANOVA) verinin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dağıldığını varsayar. Test seçiminden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 normallik kontrolü şart!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20640" y="86868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0" y="868680"/>
            <a:ext cx="36576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0" y="9784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Görsel vs İstatistiksel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Histogram + KDE → gözle değerlendirme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Q-Q Plot → doğruya yakınlık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Shapiro-Wilk → p &lt; 0.05 → normal değil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331720"/>
            <a:ext cx="8412480" cy="26060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377440"/>
            <a:ext cx="82296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scipy.stats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matplotlib.pyplot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Shapiro-Wilk normallik testi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stat, p_value = shapiro(veri)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print(f"Test İstatistik: {stat:.4f}")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print(f"p-value: {p_value:.4f}")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p_value &gt; 0.05: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print("✅ Normal dağılım varsayımı reddedilmez")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print("❌ Normal dağılım değil → non-parametrik test")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Histogram ile görsel kontrol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plt.hist(veri, bins=20, edgecolor='black', alpha=0.7)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plt.title('Veri Dağılımı')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Korelasyon Analizi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8412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Pearson vs Spearman Karşılaştırması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371600"/>
            <a:ext cx="1828800" cy="347472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7440" y="1371600"/>
            <a:ext cx="3017520" cy="347472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4" name="Text 12"/>
          <p:cNvSpPr/>
          <p:nvPr/>
        </p:nvSpPr>
        <p:spPr>
          <a:xfrm>
            <a:off x="2377440" y="13716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(r)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1371600"/>
            <a:ext cx="3200400" cy="347472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3716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(ρ)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1719072"/>
            <a:ext cx="1828800" cy="32918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17190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Türü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1719072"/>
            <a:ext cx="3017520" cy="32918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2377440" y="17190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Sürekli, normal dağılım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1719072"/>
            <a:ext cx="3200400" cy="32918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1719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Sıralı veya sürekli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2048256"/>
            <a:ext cx="18288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0482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 Tipi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77440" y="2048256"/>
            <a:ext cx="3017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2377440" y="20482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Doğrusal ilişki ölçer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2048256"/>
            <a:ext cx="32004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048256"/>
            <a:ext cx="32004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 ilişki ölçer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2377440"/>
            <a:ext cx="1828800" cy="32918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3774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Dayanıklılık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377440" y="2377440"/>
            <a:ext cx="3017520" cy="32918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2" name="Text 30"/>
          <p:cNvSpPr/>
          <p:nvPr/>
        </p:nvSpPr>
        <p:spPr>
          <a:xfrm>
            <a:off x="2377440" y="2377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Aşırı değerlere hassas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2377440"/>
            <a:ext cx="3200400" cy="329184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23774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Aşırı değerlere dayanıklı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2706624"/>
            <a:ext cx="18288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7066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377440" y="2706624"/>
            <a:ext cx="3017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377440" y="27066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Yaş–Gelir ilişkisi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2706624"/>
            <a:ext cx="32004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2706624"/>
            <a:ext cx="3200400" cy="32918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memnuniyeti sıralaması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3291840"/>
            <a:ext cx="8412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3291840"/>
            <a:ext cx="54864" cy="16002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" y="33832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Korelasyon Katsayısı Yorumlama Rehberi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" y="3767328"/>
            <a:ext cx="1463040" cy="320040"/>
          </a:xfrm>
          <a:prstGeom prst="rect">
            <a:avLst/>
          </a:prstGeom>
          <a:solidFill>
            <a:srgbClr val="A39585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37673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 – 0.19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48640" y="4114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Zayıf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194560" y="3767328"/>
            <a:ext cx="1463040" cy="3200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8" name="Text 46"/>
          <p:cNvSpPr/>
          <p:nvPr/>
        </p:nvSpPr>
        <p:spPr>
          <a:xfrm>
            <a:off x="2194560" y="37673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 – 0.39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194560" y="4114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Zayıf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840480" y="3767328"/>
            <a:ext cx="1463040" cy="32004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51" name="Text 49"/>
          <p:cNvSpPr/>
          <p:nvPr/>
        </p:nvSpPr>
        <p:spPr>
          <a:xfrm>
            <a:off x="3840480" y="37673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 – 0.59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840480" y="4114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486400" y="3767328"/>
            <a:ext cx="1463040" cy="3200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0" y="37673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 – 0.79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486400" y="4114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32320" y="3767328"/>
            <a:ext cx="1463040" cy="32004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57" name="Text 55"/>
          <p:cNvSpPr/>
          <p:nvPr/>
        </p:nvSpPr>
        <p:spPr>
          <a:xfrm>
            <a:off x="7132320" y="37673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 – 1.00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132320" y="4114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Güçlü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Hipotez Testi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393192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H₀ — Sıfır Hipotezi (Null)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“Fark yoktur” veya “Etki yoktur” iddiası.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Yeni ilaç ile plasebo arasında fark yoktur.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sonucunda ya reddedilir ya da reddedilemez.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91440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914400"/>
            <a:ext cx="420624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H₁ — Alternatif Hipotez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3716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“Fark vardır” veya “Etki vardır” iddiası.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Yeni ilaç plaseboya göre daha etkilidir.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Kanıtlamak istediğimiz hipotezdir.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43891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926080"/>
            <a:ext cx="54864" cy="201168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0175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p-value (Anlamlılık Değeri)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38328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doğruyken gözlenen sonucu elde etme olasılığı.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 &lt; 0.05 → İstatistiksel olarak anlamlı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 &lt; 0.01 → Yüksek düzeyde anlamlı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 &lt; 0.001 → Çok yüksek düzeyde anlamlı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Düşük p-value = H₀’a karşı güçlü kanıt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0" y="2926080"/>
            <a:ext cx="3749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2926080"/>
            <a:ext cx="37490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α = 0.05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5120640" y="3675888"/>
            <a:ext cx="35661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Anlamlılık Düzeyi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(Eşik Değer)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0" y="3977640"/>
            <a:ext cx="3749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0" y="3977640"/>
            <a:ext cx="37490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Text 24"/>
          <p:cNvSpPr/>
          <p:nvPr/>
        </p:nvSpPr>
        <p:spPr>
          <a:xfrm>
            <a:off x="5212080" y="4114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α = 0.05 → %5 hata payı (en yaygın)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α = 0.01 → %1 hata payı (katı kriter)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 &lt; α ise H₀ reddedilir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Hipotez Testi Adımları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54864"/>
          </a:xfrm>
          <a:prstGeom prst="rect">
            <a:avLst/>
          </a:prstGeom>
          <a:solidFill>
            <a:srgbClr val="E8DDD3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11430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Hipotez Kur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ve H₁’i net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şekilde tanımla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06040" y="1874520"/>
            <a:ext cx="502920" cy="50292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2606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48840" y="11430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Topla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48840" y="25146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Örneklem büyüklüğü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yöntemi belirle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1874520"/>
            <a:ext cx="502920" cy="502920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11430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Seç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25146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türüne uygun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istatistik testi seç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9320" y="1874520"/>
            <a:ext cx="502920" cy="502920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59893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32120" y="11430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Hesapla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32120" y="25146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istatistiği 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hesapla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680960" y="1874520"/>
            <a:ext cx="502920" cy="502920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223760" y="11430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Karar Ver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23760" y="25146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α ise H₀’ı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reddet, sonucu yorumla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383280"/>
            <a:ext cx="8412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383280"/>
            <a:ext cx="8412480" cy="54864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4930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Kritik Uyarılar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38404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İstatistiksel anlamlılık ≠ pratik anlamlılık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p-value etkinin büyüklüğünü göstermez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Etki büyüklüğü (Cohen’s d) mutlaka raporlayın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54880" y="3840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Çoklu karşılaştırma? Bonferroni düzeltmesi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Örneklem büyüklüğü yeterli mi? Güç analizi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Varsayımları her zaman kontrol edin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T-Test: İki Grup Karşılaştırması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114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Bağımsız İki Örneklem T-Testi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grubun ortalamaları arasında istatistiksel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olarak anlamlı bir fark olup olmadığını test eder.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Önkoşul: Normal dağılım + varyans homojenliği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14400"/>
            <a:ext cx="40233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T-Test Türleri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258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49240" y="1325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Bağımsız: 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1325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gruplar (kontrol vs deney)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16459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49240" y="1645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Eşlenikli: 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1645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grup, önce-sonra ölçüm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37760" y="19659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49240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Örneklem: 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2240" y="1965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ortalaması vs bilinen değer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2560320"/>
            <a:ext cx="8412480" cy="2331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606040"/>
            <a:ext cx="82296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scipy.stats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ttest_ind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grubu: Eski reklam     B grubu: Yeni reklam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grup_a = [23, 25, 28, 22, 30, 27, 24, 26, 29, 31]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grup_b = [30, 33, 35, 28, 38, 32, 36, 34, 31, 37]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t_stat, p_value = ttest_ind(grup_a, grup_b)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print(f"T istatistiği: {t_stat:.4f}")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print(f"p-value:       {p_value:.4f}")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p_value &lt; 0.05: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print("✅ Gruplar arasında anlamlı fark var!")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ANOVA: Çoklu Grup Karşılaştırması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8288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 Yönlü ANOVA (One-Way)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veya daha fazla grubun ortalamalarını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anda karşılaştırır.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 istatistiği = Gruplar arası varyans / Grup içi varyans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 büyük → Gruplar arası fark anlamlı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Post-hoc test (Tukey) ile hangi gruplar farklı?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14400"/>
            <a:ext cx="40233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T-Test vs ANOVA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3716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T-Test: 2 grup karşılaştırması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ANOVA: 2+ grup karşılaştırması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3+ grup için çoklu t-test YAPMAYIN!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(Tip I hata artar: α' = 1-(1-α)^k)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ANOVA sonucu anlamlı → Post-hoc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Varsayım: Normal dağılım + eşit varyans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8412480" cy="19659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71800"/>
            <a:ext cx="82296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scipy.stats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f_oneway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Üç farklı öğretim yöntemiyle sınav puanları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yontem_a = [78, 82, 85, 79, 88, 90]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yontem_b = [65, 70, 68, 72, 66, 74]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yontem_c = [90, 92, 88, 95, 91, 87]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f_stat, p_value = f_oneway(yontem_a, yontem_b, yontem_c)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print(f"F istatistiği: {f_stat:.4f}, p-value: {p_value:.6f}")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Ki-Kare (χ²) Bağımsızlık Testi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114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Ki-Kare Testi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kategorik değişken arasında bağımsızlık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olup olmadığını test eder.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Örn: Yolcu sınıfı ile hayatta kalma arasında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ilişki var mı? (Titanic)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14400"/>
            <a:ext cx="40233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Titanic Örneği: Çapraz Tablo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1353312"/>
            <a:ext cx="1097280" cy="27432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353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1353312"/>
            <a:ext cx="1188720" cy="27432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3533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Hayatta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1353312"/>
            <a:ext cx="1188720" cy="27432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13533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Vefat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627632"/>
            <a:ext cx="109728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16276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Sınıf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1627632"/>
            <a:ext cx="118872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16276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200" y="1627632"/>
            <a:ext cx="118872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6276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0" y="1883664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0" y="18836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Sınıf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1883664"/>
            <a:ext cx="11887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88366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315200" y="1883664"/>
            <a:ext cx="11887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88366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0" y="2139696"/>
            <a:ext cx="109728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0" y="213969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Sınıf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26480" y="2139696"/>
            <a:ext cx="118872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21396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15200" y="2139696"/>
            <a:ext cx="118872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0" y="21396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2560320"/>
            <a:ext cx="8412480" cy="2331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606040"/>
            <a:ext cx="82296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scipy.stats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chi2_contingency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Titanic veri seti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pd.read_csv('titanic.csv')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capraz = pd.crosstab(df['Pclass'], df['Survived'])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chi2, p_val, dof, expected = chi2_contingency(capraz)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print(f"χ² = {chi2:.2f}, p = {p_val:.6f}")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print(f"Serbestlik derecesi: {dof}")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 &lt; 0.05 → Sınıf ile hayatta kalma ilişkili!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Güven Aralıkları (Confidence Intervals)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5029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82880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%95 Güven Aralığı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Popülasyon parametresinin (gerçek ortalama)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aralıkta olduğuna dair tahmin.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 kez örneklem alsan, 95’inde gerçek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değer bu aralıkta olur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Aralık dar → tahmin kesin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Aralık geniş → belirsizlik yüksek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914400"/>
            <a:ext cx="3154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23560" y="914400"/>
            <a:ext cx="31546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4" name="Text 12"/>
          <p:cNvSpPr/>
          <p:nvPr/>
        </p:nvSpPr>
        <p:spPr>
          <a:xfrm>
            <a:off x="5806440" y="1024128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Formül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06440" y="14173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x̄ ± z × (σ / √n)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806440" y="19202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x̄ = örneklem ortalaması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1.96 (%95 için)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standart sapma, n = örneklem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84124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926080"/>
            <a:ext cx="84124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Örnek Hesaplama: Müşteri Memnuniyet Puanı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1737360" cy="50292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474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37947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(veri sayısı)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560320" y="3474720"/>
            <a:ext cx="1737360" cy="5029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4" name="Text 22"/>
          <p:cNvSpPr/>
          <p:nvPr/>
        </p:nvSpPr>
        <p:spPr>
          <a:xfrm>
            <a:off x="2560320" y="3474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560320" y="37947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x̄ (ortalama)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0" y="3474720"/>
            <a:ext cx="1737360" cy="50292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474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0" y="37947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(std sapma)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583680" y="3474720"/>
            <a:ext cx="1737360" cy="50292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0" y="3474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0" y="37947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(%95)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solidFill>
            <a:srgbClr val="E0F2F1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 = 7.2 ± 1.96 × (1.5 / √100) = 7.2 ± 0.294 = [6.906 , 7.494]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A/B Testi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13716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Kontrollü Deney Yöntemi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(veya daha fazla) versiyonun rastgele seçilmiş kullanıcı gruplarına sunularak performans farkının istatistiksel olarak ölçüldüğü deneysel yöntem. Veri odaklı karar vermenin temel taşıdır.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514600"/>
            <a:ext cx="196596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6974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Tasarımı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611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Buton rengi, sayfa düzeni,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metni, form uzunluğu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14600" y="2514600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14600" y="2514600"/>
            <a:ext cx="19659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2514600" y="26974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265176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E-Ticaret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Fiyatlandırma, ürün görseli,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ödeme akışı, kampanya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514600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514600"/>
            <a:ext cx="1965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6974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80060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 Uygulama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00600" y="3611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akışı, bildirim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zamanla, UI değişikliği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12280" y="2514600"/>
            <a:ext cx="1965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12280" y="2514600"/>
            <a:ext cx="19659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Text 27"/>
          <p:cNvSpPr/>
          <p:nvPr/>
        </p:nvSpPr>
        <p:spPr>
          <a:xfrm>
            <a:off x="6812280" y="26974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94944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Pazarlama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49440" y="3611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E-posta konu satırı, reklam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metni, hedef kitle seçimi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A/B Testi Metodolojisi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2697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2697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97280"/>
            <a:ext cx="457200" cy="45720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Hedef Belirle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16916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seç: dönüşüm oranı,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tıklama oranı, gelir...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914400"/>
            <a:ext cx="2697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91440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Shape 14"/>
          <p:cNvSpPr/>
          <p:nvPr/>
        </p:nvSpPr>
        <p:spPr>
          <a:xfrm>
            <a:off x="3383280" y="1097280"/>
            <a:ext cx="457200" cy="45720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93192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Hipotez Kur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16916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Fark yok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H₁: Yeni versiyon daha iyi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914400"/>
            <a:ext cx="2697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914400"/>
            <a:ext cx="26974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3640" y="1097280"/>
            <a:ext cx="457200" cy="457200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1228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Örneklem Hesapla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63640" y="16916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 analizi ile gerekli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sayısını bul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2880360"/>
            <a:ext cx="2697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880360"/>
            <a:ext cx="26974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" y="3063240"/>
            <a:ext cx="457200" cy="457200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5156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Uygula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Rastgele atama ile A/B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gruplarına böl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46120" y="2880360"/>
            <a:ext cx="2697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46120" y="2880360"/>
            <a:ext cx="26974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4" name="Shape 32"/>
          <p:cNvSpPr/>
          <p:nvPr/>
        </p:nvSpPr>
        <p:spPr>
          <a:xfrm>
            <a:off x="3383280" y="3063240"/>
            <a:ext cx="457200" cy="457200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5" name="Text 33"/>
          <p:cNvSpPr/>
          <p:nvPr/>
        </p:nvSpPr>
        <p:spPr>
          <a:xfrm>
            <a:off x="33832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93192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Analiz Et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8328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Yeterli veri sonrası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istatistik testi uygula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26480" y="2880360"/>
            <a:ext cx="2697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26480" y="2880360"/>
            <a:ext cx="2697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0" name="Shape 38"/>
          <p:cNvSpPr/>
          <p:nvPr/>
        </p:nvSpPr>
        <p:spPr>
          <a:xfrm>
            <a:off x="6263640" y="3063240"/>
            <a:ext cx="457200" cy="457200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81228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Karar 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26364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α ise kazananı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kalıcı yap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A/B Testi: Mobil Oyun Reklam Örneği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9144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8755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Senaryo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280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 oyun şirketi yeni reklam formatını test ediyor. A: mevcut reklam (banner), B: yeni reklam (video). Metrik: günlük gelir ($).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011680"/>
            <a:ext cx="8412480" cy="28803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57400"/>
            <a:ext cx="822960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scipy.stats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ttest_ind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np.random.seed(42)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grubu: banner reklam (30 günlük gelir)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banner = np.random.normal(loc=45, scale=8, size=30)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 grubu: video reklam (30 günlük gelir)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video  = np.random.normal(loc=52, scale=10, size=30)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t_stat, p_value = ttest_ind(banner, video)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print(f"Banner ortalama: ${banner.mean():.2f}")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print(f"Video  ortalama: ${video.mean():.2f}")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print(f"T-istatistik:    {t_stat:.4f}")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print(f"p-value:         {p_value:.4f}")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0.05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p_value &lt; alpha: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print("✅ Video reklam anlamlı fark yaratıyor!")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print("❌ Anlamlı fark bulunamadı")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 I ve Tip II Hata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097280"/>
            <a:ext cx="1828800" cy="4572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↓ / Gerçek 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77440" y="1097280"/>
            <a:ext cx="2926080" cy="45720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1" name="Text 9"/>
          <p:cNvSpPr/>
          <p:nvPr/>
        </p:nvSpPr>
        <p:spPr>
          <a:xfrm>
            <a:off x="2377440" y="1097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Doğru (Fark Yok)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3520" y="1097280"/>
            <a:ext cx="2926080" cy="45720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1097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 Yanlış (Fark Var)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1554480"/>
            <a:ext cx="1828800" cy="13716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Reddedildi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1554480"/>
            <a:ext cx="2926080" cy="1371600"/>
          </a:xfrm>
          <a:prstGeom prst="rect">
            <a:avLst/>
          </a:prstGeom>
          <a:solidFill>
            <a:srgbClr val="FDEAEA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60320" y="16459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Tip I Hata (α)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20116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 yokken “fark var” demek.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Örn: Etkisiz ilacı “etkili”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ilan etmek. (Yanlış Pozitif)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03520" y="1554480"/>
            <a:ext cx="2926080" cy="1371600"/>
          </a:xfrm>
          <a:prstGeom prst="rect">
            <a:avLst/>
          </a:prstGeom>
          <a:solidFill>
            <a:srgbClr val="E0F2F1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0" y="16459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Doğru Karar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0" y="20116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Gerçekten fark varken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“fark var” demek.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(Doğru Pozitif — Güç = 1−β)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2926080"/>
            <a:ext cx="1828800" cy="13716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9260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Reddedilmedi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377440" y="2926080"/>
            <a:ext cx="2926080" cy="1371600"/>
          </a:xfrm>
          <a:prstGeom prst="rect">
            <a:avLst/>
          </a:prstGeom>
          <a:solidFill>
            <a:srgbClr val="E0F2F1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560320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Doğru Karar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Gerçekten fark yokken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“fark yok” demek.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(Doğru Negatif)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0" y="2926080"/>
            <a:ext cx="2926080" cy="1371600"/>
          </a:xfrm>
          <a:prstGeom prst="rect">
            <a:avLst/>
          </a:prstGeom>
          <a:solidFill>
            <a:srgbClr val="FEF3E0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0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Tip II Hata (β)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0" y="33832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 varken “fark yok” demek.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Örn: Etkili ilacı “etkisiz”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ilan etmek. (Yanlış Negatif)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Notebook’lar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2697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97280"/>
            <a:ext cx="2423160" cy="36576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97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istatistik_temel.ipynb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16002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Tanımlayıcı istatistik hesaplamaları, normal dağılım analizi, Shapiro-Wilk testi, korelasyon matrisi oluşturma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describe(), mean(), median()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20040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200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normallik testi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118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&amp; Spearman korelasyon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+ Q-Q Plot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9144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46120" y="91440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7" name="Shape 25"/>
          <p:cNvSpPr/>
          <p:nvPr/>
        </p:nvSpPr>
        <p:spPr>
          <a:xfrm>
            <a:off x="3383280" y="1097280"/>
            <a:ext cx="2423160" cy="3657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8" name="Text 26"/>
          <p:cNvSpPr/>
          <p:nvPr/>
        </p:nvSpPr>
        <p:spPr>
          <a:xfrm>
            <a:off x="3383280" y="1097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ab_testi.ipynb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16002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testi tasarımı, uygulaması ve sonuç analizi. T-test ile grup karşılaştırması, güven aralığı hesaplama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83280" y="278892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1" name="Text 29"/>
          <p:cNvSpPr/>
          <p:nvPr/>
        </p:nvSpPr>
        <p:spPr>
          <a:xfrm>
            <a:off x="338328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9476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Rastgele grup ataması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83280" y="320040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4" name="Text 32"/>
          <p:cNvSpPr/>
          <p:nvPr/>
        </p:nvSpPr>
        <p:spPr>
          <a:xfrm>
            <a:off x="3383280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794760" y="3200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ttest_ind ile analiz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83280" y="361188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37" name="Text 35"/>
          <p:cNvSpPr/>
          <p:nvPr/>
        </p:nvSpPr>
        <p:spPr>
          <a:xfrm>
            <a:off x="33832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79476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 aralığı hesaplama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383280" y="40233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794760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büyüklüğü (Cohen's d)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26480" y="9144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126480" y="914400"/>
            <a:ext cx="26974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4" name="Shape 42"/>
          <p:cNvSpPr/>
          <p:nvPr/>
        </p:nvSpPr>
        <p:spPr>
          <a:xfrm>
            <a:off x="6263640" y="1097280"/>
            <a:ext cx="2423160" cy="36576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5" name="Text 43"/>
          <p:cNvSpPr/>
          <p:nvPr/>
        </p:nvSpPr>
        <p:spPr>
          <a:xfrm>
            <a:off x="6263640" y="1097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chi_square.ipynb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63640" y="16002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veri seti üzerinde Ki-Kare bağımsızlık testi, çapraz tablo analizi ve görselleştirme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3640" y="27889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8" name="Text 46"/>
          <p:cNvSpPr/>
          <p:nvPr/>
        </p:nvSpPr>
        <p:spPr>
          <a:xfrm>
            <a:off x="626364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67512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pd.crosstab() kullanımı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63640" y="320040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51" name="Text 49"/>
          <p:cNvSpPr/>
          <p:nvPr/>
        </p:nvSpPr>
        <p:spPr>
          <a:xfrm>
            <a:off x="6263640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675120" y="3200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chi2_contingency testi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263640" y="361188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54" name="Text 52"/>
          <p:cNvSpPr/>
          <p:nvPr/>
        </p:nvSpPr>
        <p:spPr>
          <a:xfrm>
            <a:off x="6263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67512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görselleştirme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263640" y="402336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57" name="Text 55"/>
          <p:cNvSpPr/>
          <p:nvPr/>
        </p:nvSpPr>
        <p:spPr>
          <a:xfrm>
            <a:off x="626364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675120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ve post-hoc testler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39319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Ödevler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1: Tanımlayıcı İstatistik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1691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veri seti için ortalama, medyan, mod, std hesaplayın ve normal dağılımı kontrol edin.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30428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258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2: Korelasyon Analizi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5328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az 3 sayısal değişken arasında Pearson ve Spearman korelasyonu hesaplayın.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145536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145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099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3: A/B Testi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337413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senaryo oluşturup t-test ile A/B testi gerçekleştirin ve güven aralığı hesaplayın.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986784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" y="3941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4: Ki-Kare Testi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42153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veri setinde farklı çapraz tablo kombinasyonları ile χ² testi uygulayın.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91440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914400"/>
            <a:ext cx="54864" cy="39319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Kaynaklar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937760" y="1435608"/>
            <a:ext cx="274320" cy="274320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31" name="Text 29"/>
          <p:cNvSpPr/>
          <p:nvPr/>
        </p:nvSpPr>
        <p:spPr>
          <a:xfrm>
            <a:off x="53492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SciPy Stats Dokümantasyonu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4924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docs.scipy.org/doc/scipy/reference/stats.html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937760" y="2093976"/>
            <a:ext cx="274320" cy="274320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4" name="Text 32"/>
          <p:cNvSpPr/>
          <p:nvPr/>
        </p:nvSpPr>
        <p:spPr>
          <a:xfrm>
            <a:off x="5349240" y="2075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Stats (Allen Downey)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49240" y="2350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Ücretsiz e-kitap: greenteapress.com/thinkstats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937760" y="2752344"/>
            <a:ext cx="274320" cy="274320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37" name="Text 35"/>
          <p:cNvSpPr/>
          <p:nvPr/>
        </p:nvSpPr>
        <p:spPr>
          <a:xfrm>
            <a:off x="5349240" y="2734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Khan Academy: İstatistik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349240" y="3008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istatistik dersleri (Türkçe alt yazılı)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7760" y="3410712"/>
            <a:ext cx="274320" cy="274320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0" name="Text 38"/>
          <p:cNvSpPr/>
          <p:nvPr/>
        </p:nvSpPr>
        <p:spPr>
          <a:xfrm>
            <a:off x="5349240" y="33924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Trustworthy Online Experiments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349240" y="36667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Kohavi et al. — A/B Testi referans kitabı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937760" y="4069080"/>
            <a:ext cx="274320" cy="274320"/>
          </a:xfrm>
          <a:prstGeom prst="ellipse">
            <a:avLst/>
          </a:prstGeom>
          <a:solidFill>
            <a:srgbClr val="D94F4F"/>
          </a:solidFill>
          <a:ln/>
        </p:spPr>
      </p:sp>
      <p:sp>
        <p:nvSpPr>
          <p:cNvPr id="43" name="Text 41"/>
          <p:cNvSpPr/>
          <p:nvPr/>
        </p:nvSpPr>
        <p:spPr>
          <a:xfrm>
            <a:off x="5349240" y="40507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Statistics for Data Science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349240" y="4325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Field, A. (2013) — Discovering Statistics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4 — Özet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Tanımlayıcı istatistik (ortalama, medyan, std) verinin hikayesini anlamamızı sağlar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Normallik testi, doğru istatistiksel yöntemi seçmek için önkoşuldur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Hipotez testleri (t-test, ANOVA, χ²) farklı senaryolarda karar desteği sunar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testi, veri odaklı karar vermenin en güçlü aracıdır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tek başına yetmez: etki büyüklüğü ve güven aralığı da raporlayın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“Veri olmadan fikir yürütmek, karşı takımı görmeden strateji kurmaya benzer.”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4: İstatistiksel Analiz ve A/B Testleri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