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 ve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3291840"/>
            <a:ext cx="2286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29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Hipotez Testleri, T-Test, ANOVA ve Güven Aralıkları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731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anlamlılık eşiği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2194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/ H1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ve alternatif hipotezler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0" y="4389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grubunun karşılaştırması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Tanımlayıcı İstatistik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özetleme ölçümleri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Eğilim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(Mean): </a:t>
            </a:r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değerlerin toplamı / 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Medyan (Median): </a:t>
            </a:r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Ortadaki değer (sıralı)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(Mode): </a:t>
            </a:r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sık tekrarlanan değer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566160" cy="27432"/>
          </a:xfrm>
          <a:prstGeom prst="rect">
            <a:avLst/>
          </a:prstGeom>
          <a:solidFill>
            <a:srgbClr val="D1E7D4"/>
          </a:solidFill>
          <a:ln w="12700">
            <a:solidFill>
              <a:srgbClr val="D1E7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Hangisi?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dağılım → Ortalama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Çarpık dağılım → Medyan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veri → Mod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Yayılım Ölçüleri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5361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 (Range)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- Min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Varyans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Sapmaların karelerinin ort.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852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Sapma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Varyansın karekökü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5112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Q3 - Q1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Dağılım (Gaussian)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temeller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581912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361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Çan eğrisi şeklinde simetrik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020824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751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= Medyan = Mod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459736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41401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%68.2 veri → ±1σ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898648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8529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%95.4 veri → ±2σ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3337560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291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%99.7 veri → ±3σ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3776472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7307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Birçok istatistiksel testin varsayımı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Normallik Testi (Python)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463040"/>
            <a:ext cx="3749040" cy="2926080"/>
          </a:xfrm>
          <a:prstGeom prst="rect">
            <a:avLst/>
          </a:prstGeom>
          <a:solidFill>
            <a:srgbClr val="0D2817"/>
          </a:solidFill>
          <a:ln w="12700">
            <a:solidFill>
              <a:srgbClr val="0D28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527048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Shapiro-Wilk testi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stat, p = stats.shapiro(veri)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 &gt; 0.05 → Normal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Görsel kontrol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sns.histplot(veri, kde=True)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stats.probplot(veri, plot=plt)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 değilse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 dönüşümü yapın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Non-parametrik testler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kullanın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Hipotez Testi Kavramı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H0, H1, p-value ve hatalar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ve H1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(Sıfır Hipotezi)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Gruplar arasında anlamlı fark YOKTUR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(Alternatif)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Gruplar arasında anlamlı fark VARDIR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α (0.05)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reddedilir → Fark anlamlı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≥ α (0.05)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reddedilemez → Anlamsız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ve Hatalar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36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- </a:t>
            </a:r>
            <a:pPr indent="0" marL="0">
              <a:buNone/>
            </a:pPr>
            <a:r>
              <a:rPr lang="en-US" sz="9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doğruyken gözlenen sonucun olasılığı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(Alfa) - </a:t>
            </a:r>
            <a:pPr indent="0" marL="0">
              <a:buNone/>
            </a:pPr>
            <a:r>
              <a:rPr lang="en-US" sz="9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Anlamlılık düzeyi (genellikle 0.05)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I Hata - </a:t>
            </a:r>
            <a:pPr indent="0" marL="0">
              <a:buNone/>
            </a:pPr>
            <a:r>
              <a:rPr lang="en-US" sz="9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doğru ama reddettik (α)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33192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II Hata - </a:t>
            </a:r>
            <a:pPr indent="0" marL="0">
              <a:buNone/>
            </a:pPr>
            <a:r>
              <a:rPr lang="en-US" sz="9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yanlış ama reddedemedik (β)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 İki Grubun Karşılaştırılması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ve eşleştirilmiş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Türleri ve Kod Örneği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solidFill>
            <a:srgbClr val="0D2817"/>
          </a:solidFill>
          <a:ln w="12700">
            <a:solidFill>
              <a:srgbClr val="0D28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Bağımsız iki örneklem t-testi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erkek_maas = df[df["cinsiyet"]=="E"]["maaş"]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kadin_maas = df[df["cinsiyet"]=="K"]["maaş"]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t_stat, p_value = stats.ttest_ind(erkek_maas, kadin_maas)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Diğer t-testler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stats.ttest_1samp(veri, beklenen)     # Tek örneklem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stats.ttest_rel(once, sonra)          # Eşleştirilmiş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Karar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p_value &lt; 0.05: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print("Anlamlı fark var")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Birden Fazla Grubun Karşılaştırılması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yönlü varyans analizi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Nedir?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grubun ortalamaları karşılaştırılır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Tüm grup ortalamaları eşit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En az bir grup farklı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334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Varsayımlar: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 dağılım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364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Homojen varyanslar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Bağımsız gözlemler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078992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78992"/>
            <a:ext cx="64008" cy="3566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3749040" cy="2926080"/>
          </a:xfrm>
          <a:prstGeom prst="rect">
            <a:avLst/>
          </a:prstGeom>
          <a:solidFill>
            <a:srgbClr val="0D2817"/>
          </a:solidFill>
          <a:ln w="12700">
            <a:solidFill>
              <a:srgbClr val="0D28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527048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grubun karşılaştırması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bilgisayar = df[df["bölüm"]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=="Bilgisayar"]["not"]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elektrik = df[df["bölüm"]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=="Elektrik"]["not"]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makine = df[df["bölüm"]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=="Makine"]["not"]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f_stat, p_value =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stats.f_oneway(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bilgisayar, elektrik, makine)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Post-hoc test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scikit_posthocs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F4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posthoc_tukey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 Metodolojisi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Kontrollü deney ile karşılaştırma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Adımlı Süreç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Hipotez belirleme (H0 / H1)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Metrik seçimi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Örneklem büyüklüğü hesaplama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Trafik bölme (A, B)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 toplama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59359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İstatistiksel 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00507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Karar verme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Örneği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536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Sitesi Buton Rengi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(A): Mavi buton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523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(B): Yeşil buton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852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Tıklama oranı (CTR)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A: 1000 → 120 (%12)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B: 1000 → 145 (%14.5)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840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0.032 &lt; 0.05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4169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Yeşil buton kazandı!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Testi Kullanmalıyım?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seçim yol haritası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" cy="3566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Parametrik Testler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grup + sayısal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t-test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grup + sayısal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ANOVA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5237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Önce-sonra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Eşleştirilmiş 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kategorik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Ki-kare testi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5112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sayısal - </a:t>
            </a:r>
            <a:pPr indent="0" marL="0">
              <a:buNone/>
            </a:pPr>
            <a:r>
              <a:rPr lang="en-US" sz="95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Pearson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78992"/>
            <a:ext cx="64008" cy="3566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0424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grup - </a:t>
            </a:r>
            <a:pPr indent="0" marL="0">
              <a:buNone/>
            </a:pPr>
            <a:r>
              <a:rPr lang="en-US" sz="9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 → Mann-Whitney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0424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grup - </a:t>
            </a:r>
            <a:pPr indent="0" marL="0">
              <a:buNone/>
            </a:pPr>
            <a:r>
              <a:rPr lang="en-US" sz="9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 → Kruskal-Wallis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0424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Önce-sonra - </a:t>
            </a:r>
            <a:pPr indent="0" marL="0">
              <a:buNone/>
            </a:pPr>
            <a:r>
              <a:rPr lang="en-US" sz="9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 → Wilcoxon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0424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sayısal - </a:t>
            </a:r>
            <a:pPr indent="0" marL="0">
              <a:buNone/>
            </a:pPr>
            <a:r>
              <a:rPr lang="en-US" sz="900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 → Spearman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0424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ADIM - </a:t>
            </a:r>
            <a:pPr indent="0" marL="0">
              <a:buNone/>
            </a:pPr>
            <a:r>
              <a:rPr lang="en-US" sz="900" b="1" dirty="0">
                <a:solidFill>
                  <a:srgbClr val="0D2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Normallik testi yapın!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Değerlendirme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64008" cy="3657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Çıkarımlar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55448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179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Tanımlayıcı istatistik verinin genel resmini çizer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30352" y="192024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836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dağılım birçok testin varsayımıdır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30352" y="228600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4942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 → istatistiksel anlamlılık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30352" y="265176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1518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 2 grup karşılaştırması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30352" y="301752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3+ grup karşılaştırması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30352" y="338328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467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Ki-kare: kategorik ilişki testi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30352" y="374904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12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 veri odaklı karar vermenin temelidir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97280"/>
            <a:ext cx="64008" cy="3657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/ Uygulama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517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scipy.stats ile 3 test uygulayın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846320" y="18836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Titanic: cinsiyet-hayatta kalma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46320" y="2249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Ki-kare testi yapın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846320" y="26151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bazında ücret (ANOVA)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846320" y="2980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Normallik testi yapın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846320" y="33467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testi seçin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846320" y="37124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senaryosu oluşturun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Hafta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İstatistik ve A/B Testi</dc:title>
  <dc:subject>PptxGenJS Presentation</dc:subject>
  <dc:creator>Dr. Murat Altun</dc:creator>
  <cp:lastModifiedBy>Dr. Murat Altun</cp:lastModifiedBy>
  <cp:revision>1</cp:revision>
  <dcterms:created xsi:type="dcterms:W3CDTF">2026-04-07T16:16:45Z</dcterms:created>
  <dcterms:modified xsi:type="dcterms:W3CDTF">2026-04-07T16:16:45Z</dcterms:modified>
</cp:coreProperties>
</file>