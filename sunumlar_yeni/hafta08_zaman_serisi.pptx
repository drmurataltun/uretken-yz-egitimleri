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Serisi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Analizi ve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Tahmini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48640" y="2834640"/>
            <a:ext cx="182880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718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Verinin Zamanla Dansı — Geçmişten Geleceğe Tahmin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ECS Hafta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D3B37"/>
          </a:solidFill>
          <a:ln w="12700">
            <a:solidFill>
              <a:srgbClr val="0D3B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457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0" y="1051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bileşen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55080" y="19202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0" y="2514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kütüphanesi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55080" y="3383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400800" y="3977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Serisi Nedir?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Zamanla Kaydedilen Veriler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5661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3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Belirli zaman aralıklarıyla kaydedilen veri noktaları dizisidir.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Sıralama önemlidir — gözlemler birbirine bağımlıdır.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35661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70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Dünya Örnekleri: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Borsa tahmini (günlük/saatlik)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Hava sıcaklığı (saatlik)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749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E-ticaret satış (aylık)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069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Elektrik tüketimi (saatlik)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05156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051560"/>
            <a:ext cx="64008" cy="3566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115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 Alanları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49240" y="1645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49240" y="18745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Borsa tahmini, risk analizi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21214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49240" y="21214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Meteoroloji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9240" y="235000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Hava durumu tahmini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259689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49240" y="259689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49240" y="282549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sayısı, salgın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30723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49240" y="307238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Enerji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49240" y="33009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Tüketim tahmini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Serisinin Bileşenleri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Trend, Mevsimsellik, Döngü, Düzensizlik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1691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247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vadeli artış/azalış yönü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8013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Yolcu sayısı yıldan yıla artıyor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0600" y="105156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051560"/>
            <a:ext cx="64008" cy="1691640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1247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Mevsimsellik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463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Düzenli tekrarlayan kalıplar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37760" y="18013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yaz zirve, her kış dip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80360"/>
            <a:ext cx="64008" cy="1691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9535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Döngü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291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Mevsimsel olmayan uzun dalgalanmalar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36301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Ekonomik genişleme/daralma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288036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880360"/>
            <a:ext cx="64008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9535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Düzensizlik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291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Rastgele, açıklanamayan dalgalanmalar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37760" y="36301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 — tahmin edilemez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572000"/>
            <a:ext cx="8412480" cy="109728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590288"/>
            <a:ext cx="8229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y(t) = Trend(t) + Mevsimsellik(t) + Döngü(t) + Düzensizlik(t)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Durağanlık (Stationarity)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Serisi Stabilite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5661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3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Durağan Seri Nedir?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Ortalama zamanla değişmez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Varyans zamanla değişmez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Otokorelasyon zamanla değişmez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35661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99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3192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Çoğu istatistiksel model durağan veri varsayar!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05156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51560"/>
            <a:ext cx="64008" cy="1645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Testi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15087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&lt; 0.05 → Durağan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&gt; 0.05 → Durağan değil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8346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834640"/>
            <a:ext cx="64008" cy="1645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926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Durağan Hale Getirme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291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Fark Alma (Differencing)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Log Dönüşümü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Mevsimsel Fark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Tahmin Yöntemleri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ARIMA, SARIMA, Üstel Düzleştirme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1691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Naif Tahmin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49047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değeri gelecek olarak kullan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51560"/>
            <a:ext cx="64008" cy="1691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1430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Hareketli Ort.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49047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n dönemin ortalaması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05156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51560"/>
            <a:ext cx="64008" cy="1691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1430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Üstel Düzleştirme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149047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Yakın geçmişe daha fazla ağırlık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88036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880360"/>
            <a:ext cx="64008" cy="1691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971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31927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Integrated MA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288036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880360"/>
            <a:ext cx="64008" cy="1691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971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331927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Mevsimsel ARIMA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Prophet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Meta'nın Zaman Serisi Tahmin Aracı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5661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3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Avantajları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Eksik veriyi tolere eder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Tatil/özel gün desteği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965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Otomatik trend değişim tespiti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77440" y="1965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Yorum yapılabilir bileşenler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Python ve R desteği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Kolay hiperparametre ayarı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05156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51560"/>
            <a:ext cx="64008" cy="3566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115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Bileşenleri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92040" y="1600200"/>
            <a:ext cx="3657600" cy="2057400"/>
          </a:xfrm>
          <a:prstGeom prst="rect">
            <a:avLst/>
          </a:prstGeom>
          <a:solidFill>
            <a:srgbClr val="F0F9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69164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y(t) = g(t) + s(t) + h(t) + ε(t)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g(t) = Trend fonksiyonu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s(t) = Mevsimsellik (Fourier)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h(t) = Tatil/özel gün etkileri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ε(t) = Hata terimi (gürültü)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3749040"/>
            <a:ext cx="3657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822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Kurulum: pip install prophet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ile Tahmin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Adım Uygulama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1691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247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11430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Hazırla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49047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(tarih) ve y (değer) sütunları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0515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51560"/>
            <a:ext cx="64008" cy="1691640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1247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977640" y="11430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Oluştur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149047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Prophet(yearly_seasonality=True)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0515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051560"/>
            <a:ext cx="64008" cy="1691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1247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12280" y="11430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149047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model.fit(prophet_df)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8803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880360"/>
            <a:ext cx="64008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9535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43000" y="2971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Oluştur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31927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make_future_dataframe(periods=90)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0" y="28803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2880360"/>
            <a:ext cx="64008" cy="1691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29535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977640" y="2971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 Yap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37560" y="331927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= model.predict(future)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35040" y="28803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35040" y="2880360"/>
            <a:ext cx="64008" cy="1691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29535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812280" y="2971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Görselleştir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72200" y="331927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model.plot(forecast)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Parametreleri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Ayarlama ve Tuning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2560320" cy="365760"/>
          </a:xfrm>
          <a:prstGeom prst="rect">
            <a:avLst/>
          </a:prstGeom>
          <a:solidFill>
            <a:srgbClr val="134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005840"/>
            <a:ext cx="1645920" cy="365760"/>
          </a:xfrm>
          <a:prstGeom prst="rect">
            <a:avLst/>
          </a:prstGeom>
          <a:solidFill>
            <a:srgbClr val="134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Varsayılan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005840"/>
            <a:ext cx="3840480" cy="365760"/>
          </a:xfrm>
          <a:prstGeom prst="rect">
            <a:avLst/>
          </a:prstGeom>
          <a:solidFill>
            <a:srgbClr val="134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Açıklama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8412480" cy="493776"/>
          </a:xfrm>
          <a:prstGeom prst="rect">
            <a:avLst/>
          </a:prstGeom>
          <a:solidFill>
            <a:srgbClr val="F0F9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2704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changepoint_prior_scale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63240" y="152704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152704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esnekliği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011680"/>
            <a:ext cx="8412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574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seasonality_prior_scale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63240" y="205740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20574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Mevsimsellik gücü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542032"/>
            <a:ext cx="8412480" cy="493776"/>
          </a:xfrm>
          <a:prstGeom prst="rect">
            <a:avLst/>
          </a:prstGeom>
          <a:solidFill>
            <a:srgbClr val="F0F9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58775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yearly_seasonality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63240" y="258775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5877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Yıllık mevsimsellik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072384"/>
            <a:ext cx="8412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1810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weekly_seasonality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63240" y="311810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11810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Haftalık mevsimsellik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602736"/>
            <a:ext cx="8412480" cy="493776"/>
          </a:xfrm>
          <a:prstGeom prst="rect">
            <a:avLst/>
          </a:prstGeom>
          <a:solidFill>
            <a:srgbClr val="F0F9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64845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interval_width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63240" y="364845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364845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 aralığı genişliği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Değerlendirme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Metrikler ve Çapraz Doğrulama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5661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3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 Metrikleri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1600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Mutlak Hata — kolay yorumlanır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2331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Kök Ortalama Kare Hata — büyük hatalara hassas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063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3063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Yüzdesel hata — farklı ölçekler arası karşılaştırma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05156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51560"/>
            <a:ext cx="64008" cy="3566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115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Çapraz Doğrulama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92040" y="1600200"/>
            <a:ext cx="3657600" cy="1920240"/>
          </a:xfrm>
          <a:prstGeom prst="rect">
            <a:avLst/>
          </a:prstGeom>
          <a:solidFill>
            <a:srgbClr val="F0F9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69164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cross_validation(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model,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initial='365 days',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period='90 days',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horizon='90 days')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initial: Eğitim dönemi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period: Kesme arası mesafe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horizon: Tahmin ufku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Dünya Uygulamaları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Endüstrilerde Zaman Serisi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1691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Perakende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 tahminı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optimizasyonu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0515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51560"/>
            <a:ext cx="64008" cy="1691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9184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1783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Hisse senedi fiyatı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Döviz kuru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10515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051560"/>
            <a:ext cx="64008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2648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Enerji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1783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Tüketim tahmini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Güneş enerjisi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8803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880360"/>
            <a:ext cx="64008" cy="1691640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926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5720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611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sayısı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Salgın modelleme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0" y="28803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2880360"/>
            <a:ext cx="64008" cy="1691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2926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329184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Web/IT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91840" y="3611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Trafik tahmini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Sunucu kapasitesi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35040" y="28803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35040" y="2880360"/>
            <a:ext cx="64008" cy="1691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2926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12648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26480" y="3611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Yolcu sayısı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Talep tahmini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 ve Sonuç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828800" cy="45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2743200" cy="1554480"/>
          </a:xfrm>
          <a:prstGeom prst="rect">
            <a:avLst/>
          </a:prstGeom>
          <a:solidFill>
            <a:srgbClr val="0F5A57"/>
          </a:solidFill>
          <a:ln w="12700">
            <a:solidFill>
              <a:srgbClr val="148E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2743200" cy="45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Bileşenler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79222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Trend, mevsimsellik, döngü ve düzensizlik — dört temel yapı taşı.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743200" cy="1554480"/>
          </a:xfrm>
          <a:prstGeom prst="rect">
            <a:avLst/>
          </a:prstGeom>
          <a:solidFill>
            <a:srgbClr val="0F5A57"/>
          </a:solidFill>
          <a:ln w="12700">
            <a:solidFill>
              <a:srgbClr val="148E8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005840"/>
            <a:ext cx="27432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0789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83280" y="14813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Durağanlık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179222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serisinin durağan olması şarttır. ADF ile test edin.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80760" y="1005840"/>
            <a:ext cx="2743200" cy="1554480"/>
          </a:xfrm>
          <a:prstGeom prst="rect">
            <a:avLst/>
          </a:prstGeom>
          <a:solidFill>
            <a:srgbClr val="0F5A57"/>
          </a:solidFill>
          <a:ln w="12700">
            <a:solidFill>
              <a:srgbClr val="148E8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1005840"/>
            <a:ext cx="27432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0789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17920" y="14813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Yöntemler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179222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ARIMA/SARIMA deneyime sahip yöntemler. Baseline model olarak kullanın.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2697480"/>
            <a:ext cx="2743200" cy="1554480"/>
          </a:xfrm>
          <a:prstGeom prst="rect">
            <a:avLst/>
          </a:prstGeom>
          <a:solidFill>
            <a:srgbClr val="0F5A57"/>
          </a:solidFill>
          <a:ln w="12700">
            <a:solidFill>
              <a:srgbClr val="148E8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697480"/>
            <a:ext cx="2743200" cy="45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7706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8640" y="31729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Prophet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48386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kullanıcı-dostu, eksik veri toleranslı ve tatil desteğine sahip.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46120" y="2697480"/>
            <a:ext cx="2743200" cy="1554480"/>
          </a:xfrm>
          <a:prstGeom prst="rect">
            <a:avLst/>
          </a:prstGeom>
          <a:solidFill>
            <a:srgbClr val="0F5A57"/>
          </a:solidFill>
          <a:ln w="12700">
            <a:solidFill>
              <a:srgbClr val="148E8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2697480"/>
            <a:ext cx="2743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27706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383280" y="31729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348386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MAE/RMSE/MAPE metrikleri ve çapraz doğrulama şarttır.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0760" y="2697480"/>
            <a:ext cx="2743200" cy="1554480"/>
          </a:xfrm>
          <a:prstGeom prst="rect">
            <a:avLst/>
          </a:prstGeom>
          <a:solidFill>
            <a:srgbClr val="0F5A57"/>
          </a:solidFill>
          <a:ln w="12700">
            <a:solidFill>
              <a:srgbClr val="148E8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80760" y="2697480"/>
            <a:ext cx="27432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27706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217920" y="31729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Uygulamalar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72200" y="348386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Finans, perakende, enerji, sağlık — zaman serisi her yerde vardır.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370832"/>
            <a:ext cx="9144000" cy="772668"/>
          </a:xfrm>
          <a:prstGeom prst="rect">
            <a:avLst/>
          </a:prstGeom>
          <a:solidFill>
            <a:srgbClr val="0D3B37"/>
          </a:solidFill>
          <a:ln w="12700">
            <a:solidFill>
              <a:srgbClr val="0D3B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40740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serisi tahmini, verinin geçmişini anlayarak geleceği öngörmektir. Başarı, doğru bileşen ayrıştırmasında yatar.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Zaman Serisi Analizi ve Tahmini</dc:title>
  <dc:subject>PptxGenJS Presentation</dc:subject>
  <dc:creator>Dr. Murat Altun</dc:creator>
  <cp:lastModifiedBy>Dr. Murat Altun</cp:lastModifiedBy>
  <cp:revision>1</cp:revision>
  <dcterms:created xsi:type="dcterms:W3CDTF">2026-04-07T16:16:39Z</dcterms:created>
  <dcterms:modified xsi:type="dcterms:W3CDTF">2026-04-07T16:16:39Z</dcterms:modified>
</cp:coreProperties>
</file>