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5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Doğal Dil İşleme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Hugging Face</a:t>
            </a:r>
            <a:endParaRPr lang="en-US" sz="4600" dirty="0"/>
          </a:p>
        </p:txBody>
      </p:sp>
      <p:sp>
        <p:nvSpPr>
          <p:cNvPr id="3" name="Shape 1"/>
          <p:cNvSpPr/>
          <p:nvPr/>
        </p:nvSpPr>
        <p:spPr>
          <a:xfrm>
            <a:off x="548640" y="3154680"/>
            <a:ext cx="2560320" cy="5486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310128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0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Metin işleme, dönüştürücüler ve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D0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 çe NLP uygulamaları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3891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Murat Altun  ·  Hafta 13  · 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D5B52"/>
          </a:solidFill>
          <a:ln w="12700">
            <a:solidFill>
              <a:srgbClr val="0D5B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0"/>
            <a:ext cx="54864" cy="51435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5943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500K+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0" y="125272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Eğitilmiş 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Hub'de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75120" y="1874520"/>
            <a:ext cx="2011680" cy="27432"/>
          </a:xfrm>
          <a:prstGeom prst="rect">
            <a:avLst/>
          </a:prstGeom>
          <a:solidFill>
            <a:srgbClr val="0B4942"/>
          </a:solidFill>
          <a:ln w="12700">
            <a:solidFill>
              <a:srgbClr val="0B49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0116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100K+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00800" y="267004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 veri seti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mevcuttur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0" y="3291840"/>
            <a:ext cx="2011680" cy="27432"/>
          </a:xfrm>
          <a:prstGeom prst="rect">
            <a:avLst/>
          </a:prstGeom>
          <a:solidFill>
            <a:srgbClr val="0B4942"/>
          </a:solidFill>
          <a:ln w="12700">
            <a:solidFill>
              <a:srgbClr val="0B49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34290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400800" y="408736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Çift yönlü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bağlam anlama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5E59"/>
          </a:solidFill>
          <a:ln w="12700">
            <a:solidFill>
              <a:srgbClr val="115E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Nedir?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Doğal Dil İşleme Tanım ve Uygulamaları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C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14630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Doğal Dil İşleme (NLP): Bilgisayarların insan dilini anlaması ve işlemesi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7190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Metin sınıflandırma, çeviri, özetleme, soru-cevap, duygu analizi gibi görevleri kapsayan YZ alanı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651760"/>
            <a:ext cx="40233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C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651760"/>
            <a:ext cx="64008" cy="2057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7157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NLP Görevleri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0352" y="3145536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108960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Metin sınıflandırma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0352" y="3511296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474720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Ünvan/yer tanıma (NER)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0352" y="3877056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840480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translation (çeviri)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30352" y="4242816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4206240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summarization (özetleme)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2651760"/>
            <a:ext cx="41148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C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651760"/>
            <a:ext cx="64008" cy="2057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7157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NLP'nin Zorlukları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28032" y="3145536"/>
            <a:ext cx="118872" cy="1188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0912" y="31089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Belirsizlik (ambiguity) — kelimelerin birden fazla anlamı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28032" y="3511296"/>
            <a:ext cx="118872" cy="1188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34747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Bağlam bağımlılığı — kelimenin anlamı cümlede değişir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28032" y="3877056"/>
            <a:ext cx="118872" cy="1188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10912" y="384048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morfolojisi — zengin ve karmaşık yapı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28032" y="4242816"/>
            <a:ext cx="118872" cy="1188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10912" y="42062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azlığı — İngilizce kadar eğitim verisi yok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5E59"/>
          </a:solidFill>
          <a:ln w="12700">
            <a:solidFill>
              <a:srgbClr val="115E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Metin Ön İşleme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Tokenization, Stemming, Lemmatization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C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15568"/>
            <a:ext cx="64008" cy="11155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887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49961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Metni kelimelere/alt kelimelere ayırma — 'Kediler sevimlidir' → ['Kediler', 'sevimlidir']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115568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C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15568"/>
            <a:ext cx="64008" cy="11155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1887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49961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harfleri küçük yapma — büyük/küçük harf farklılığını ortadan kaldırma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322576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C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322576"/>
            <a:ext cx="64008" cy="11155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3957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Words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2706624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Anlam taşımayan kelimeleri çıkarma — 've', 'bir', 'bu' gibi kelimeler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2322576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C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322576"/>
            <a:ext cx="64008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3957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Stemming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706624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Kelimenin kökünü bulma — 'koşuyordum' → 'koş' (kurallı kesme)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529584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C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529584"/>
            <a:ext cx="64008" cy="11155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6027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Lemmatization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391363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Sözlük formuna dönüştürme — daha doğru ama yavaş işlem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3529584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C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529584"/>
            <a:ext cx="64008" cy="1115568"/>
          </a:xfrm>
          <a:prstGeom prst="rect">
            <a:avLst/>
          </a:prstGeom>
          <a:solidFill>
            <a:srgbClr val="0D5B52"/>
          </a:solidFill>
          <a:ln w="12700">
            <a:solidFill>
              <a:srgbClr val="0D5B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6027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391363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Ardışık n kelimelik gruplar — bigram, trigram ile bağlam yakalama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5E59"/>
          </a:solidFill>
          <a:ln w="12700">
            <a:solidFill>
              <a:srgbClr val="115E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 of Words &amp; TF-IDF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Metin Temsili Yöntemleri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C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3657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15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 of Words (BoW)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0352" y="1618488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55448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Metni kelime frekans vektörüne dönüştürme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" y="2130552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066544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Kelime sırası kaybolur, sadece sayılar kalır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0352" y="2642616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578608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CountVectorizer ile kolay uygulama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0352" y="3154680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090672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Avantaj: Basit, hızlı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0352" y="3666744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602736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Dezavantaj: Anlam kaybı, yüksek boyut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05156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C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051560"/>
            <a:ext cx="64008" cy="3657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115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28032" y="1618488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155448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Frequency – Inverse Document Frequency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28032" y="2130552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206654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Nadir kelimeler daha önemli, yaygın kelimeler az önemli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28032" y="2642616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257860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TF: Kelimenin belgede geçme sıklığı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28032" y="3154680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309067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IDF: log(toplam belge / kelimeyi içeren belge)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28032" y="3666744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360273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iyi ağırlıklandırma ve performans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5E59"/>
          </a:solidFill>
          <a:ln w="12700">
            <a:solidFill>
              <a:srgbClr val="115E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Embeddings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Kelimeleri Anlamsal Vektörlere Dönüştürme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C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14630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Embeddings: Kelimeleri yoğun vektörlerle temsil etme (50-300 boyut)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6276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Örnek: 'kral' - 'erkek' + 'kadın' ≈ 'kraliçe' — anlamsal benzerlik yakalaması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651760"/>
            <a:ext cx="40233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C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651760"/>
            <a:ext cx="64008" cy="2057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7157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Klassik Embedding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0352" y="314553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108960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 — CBOW ve Skip-gram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0352" y="34930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456432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 — Global matris faktörizasyonu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0352" y="384048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803904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FastText — Alt-kelime (subword) bilgisi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0352" y="41879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4151376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kelimelere aynı vektör (context-free)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651760"/>
            <a:ext cx="41148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C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651760"/>
            <a:ext cx="64008" cy="2057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7157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Bağlamsal Embedding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28032" y="3145536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0912" y="31089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ELMo — Bağlamdan etkilenen vektörler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28032" y="3493008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34564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— Çift yönlü transformer modeli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28032" y="3840480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10912" y="380390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'mouse' (hayvan) ≠ 'mouse' (bilgisayar)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28032" y="4187952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10912" y="415137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doğru anlama ve temsil (context-aware)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5E59"/>
          </a:solidFill>
          <a:ln w="12700">
            <a:solidFill>
              <a:srgbClr val="115E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Transformers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Ekosistemi ve Kütüphane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C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15568"/>
            <a:ext cx="2011680" cy="640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80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500K+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38912" y="192024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Hub'de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68880" y="1115568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C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115568"/>
            <a:ext cx="201168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280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100K+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542032" y="192024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Seti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0" y="1115568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C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115568"/>
            <a:ext cx="201168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1280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645152" y="192024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675120" y="1115568"/>
            <a:ext cx="2194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C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75120" y="1115568"/>
            <a:ext cx="219456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1280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PyTorch/TF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748272" y="192024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Desteği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2057400"/>
            <a:ext cx="40233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C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057400"/>
            <a:ext cx="64008" cy="2743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1214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Bileşenler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30352" y="2578608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2514600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AutoModel — Otomatik model yükleme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30352" y="3017520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2953512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AutoTokenizer — Model-uyumlu tokenizer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30352" y="3456432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3392424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— Kolay kullanım arayüzü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30352" y="3895344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3831336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 — Demo ve sunum platformu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63440" y="2057400"/>
            <a:ext cx="41148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C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2057400"/>
            <a:ext cx="64008" cy="2743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21214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Avantajlar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28032" y="2578608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74920" y="25146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Kurulum: pip install transformers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828032" y="3017520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74920" y="295351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Ücretsiz GPU — Colab/Kaggle entegrasyonu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28032" y="3456432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74920" y="339242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Güncel modeller — BERT, GPT, Mistral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828032" y="3895344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74920" y="383133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Topluluk desteği — 50.000+ GitHub star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5E59"/>
          </a:solidFill>
          <a:ln w="12700">
            <a:solidFill>
              <a:srgbClr val="115E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ve DistilBERT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Tabanlı Dil Modelleri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C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3657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15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Encoder Representations from Transformers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0352" y="1892808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82880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tarafından 2018'de yayınlandı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0352" y="2368296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304288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Çift yönlü bağlam anlama (sağ + sol)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0352" y="2843784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779776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Language Model (MLM) ile eğitim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0352" y="3319272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255264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110M parametre (base), 340M (large)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0352" y="3794760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730752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Devrimin başlangıcı — NLP'yi değiştirdi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05156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C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051560"/>
            <a:ext cx="64008" cy="3657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115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1508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BERT'in Hafif Versiyonu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28032" y="1892808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182880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daha hızlı eğitim ve çıkarım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28032" y="2368296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230428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daha küçük model boyutu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28032" y="2843784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277977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Performansın 97%'sini korur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28032" y="3319272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325526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 damıtma (knowledge distillation)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28032" y="3794760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373075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ve edge cihazlar için ideal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5E59"/>
          </a:solidFill>
          <a:ln w="12700">
            <a:solidFill>
              <a:srgbClr val="115E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Kullanımı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 NLP Görevleri Tek Satırda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C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15568"/>
            <a:ext cx="64008" cy="11155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52704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Duygu Analizi — metin pozitif mi negatif mi?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115568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C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15568"/>
            <a:ext cx="64008" cy="11155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Entity Recognition (NER)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52704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Ünvan, yer, kişi adı gibi varlıkları tanıma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322576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C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322576"/>
            <a:ext cx="64008" cy="11155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3957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Summarization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273405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 metni kısa özete dönüştürme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2322576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C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322576"/>
            <a:ext cx="64008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3957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Answering (QA)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73405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Soruya metinde verilen cevabı bulma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529584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C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529584"/>
            <a:ext cx="64008" cy="11155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6027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Translation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394106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 çevirisi — Türkçe → İngilizce vs.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3529584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C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529584"/>
            <a:ext cx="64008" cy="1115568"/>
          </a:xfrm>
          <a:prstGeom prst="rect">
            <a:avLst/>
          </a:prstGeom>
          <a:solidFill>
            <a:srgbClr val="0D5B52"/>
          </a:solidFill>
          <a:ln w="12700">
            <a:solidFill>
              <a:srgbClr val="0D5B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6027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Generation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394106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Prompt'tan devam eden metin oluşturma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5E59"/>
          </a:solidFill>
          <a:ln w="12700">
            <a:solidFill>
              <a:srgbClr val="115E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NLP Modelleri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BERTurk ve Diğer Türkçe-Özel Modeller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233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C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2103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155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Modeller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154533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508760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BERTurk — dbmdz/bert-base-turkish-cased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" y="18928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1856232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Sentiment — bert-base-turkish-sentiment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0352" y="224028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203704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NER — bert-base-turkish-ner-cased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0352" y="25877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2551176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T5 — Özetleme ve çeviri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051560"/>
            <a:ext cx="41148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C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051560"/>
            <a:ext cx="64008" cy="2103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1155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NLP Zorlukları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28032" y="1545336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10912" y="15087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Sondan eklemeli yapı — 'ev' → 'evlerimizden'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28032" y="1892808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18562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Zengin morfoloji — karmaşık dönüşümler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28032" y="2240280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0912" y="220370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azlığı — İngilizce kadar eğitim verisi yok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28032" y="2587752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255117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Lehçe farklılıkları — Atatürk Türkçesi vs modern Türkçe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291840"/>
            <a:ext cx="8412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C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291840"/>
            <a:ext cx="64008" cy="1371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3832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 Stratejileri: Çoklu dil modelleri (mBERT, XLM-R)  •  Türkçe özelleştirilmiş tokenizer'lar  •  Veri artırma (data augmentation)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5E59"/>
          </a:solidFill>
          <a:ln w="12700">
            <a:solidFill>
              <a:srgbClr val="115E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Pratik: Duygu Analizi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Adım Uygulama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C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36576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188720"/>
            <a:ext cx="237744" cy="23774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1887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170432"/>
            <a:ext cx="7726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Kütüphaneleri yükle: pip install transformers torch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30352" y="1664208"/>
            <a:ext cx="237744" cy="2377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6642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1645920"/>
            <a:ext cx="7726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oluştur: sentiment = pipeline('sentiment-analysis')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0352" y="2139696"/>
            <a:ext cx="237744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1396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2121408"/>
            <a:ext cx="7726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 yap: result = sentiment('Bu ürün çok kaliteli!')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0352" y="2615184"/>
            <a:ext cx="237744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6151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2596896"/>
            <a:ext cx="7726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Toplu analiz: sentiment(['Harika!', 'Kötü deneyim'])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30352" y="3090672"/>
            <a:ext cx="237744" cy="237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090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3072384"/>
            <a:ext cx="7726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{'label': 'positive', 'score': 0.98}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0352" y="3566160"/>
            <a:ext cx="237744" cy="237744"/>
          </a:xfrm>
          <a:prstGeom prst="rect">
            <a:avLst/>
          </a:prstGeom>
          <a:solidFill>
            <a:srgbClr val="0D5B52"/>
          </a:solidFill>
          <a:ln w="12700">
            <a:solidFill>
              <a:srgbClr val="0D5B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5661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3547872"/>
            <a:ext cx="7726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Görselleştirme: matplotlib ile bar chart oluşturma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30352" y="4041648"/>
            <a:ext cx="237744" cy="237744"/>
          </a:xfrm>
          <a:prstGeom prst="rect">
            <a:avLst/>
          </a:prstGeom>
          <a:solidFill>
            <a:srgbClr val="4B6B63"/>
          </a:solidFill>
          <a:ln w="12700">
            <a:solidFill>
              <a:srgbClr val="4B6B6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40416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68680" y="4023360"/>
            <a:ext cx="7726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Gerçek dünya uygulamada (ürün yorum analizi)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5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657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 ve Sonuç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68680"/>
            <a:ext cx="2011680" cy="5486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70432"/>
            <a:ext cx="164592" cy="16459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97280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NLP, bilgisayarların insan dilini anlamasını sağlayan yapay zekâ alanıdır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164592" cy="16459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64208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Metin ön işleme: tokenization, stemming, lemmatization temel adımlardır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304288"/>
            <a:ext cx="164592" cy="16459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231136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 ve TF-IDF geleneksel metin temsil yöntemleridir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871216"/>
            <a:ext cx="164592" cy="16459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798064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Embeddings kelimeleri anlamsal vektörlere dönüştürür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438144"/>
            <a:ext cx="164592" cy="16459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364992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Face, NLP modellerini kolay kullanılır hâle getirir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4005072"/>
            <a:ext cx="164592" cy="16459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931920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çift yönlü bağlam anlama ile devrim yarattı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5B52"/>
          </a:solidFill>
          <a:ln w="12700">
            <a:solidFill>
              <a:srgbClr val="0D5B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681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 hafta: Üretken Yapay Zekâ (Generative AI) ve LLM'ler  ·  Dr. Murat Altun  ·  Hafta 13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NLP ve Hugging Face</dc:title>
  <dc:subject>PptxGenJS Presentation</dc:subject>
  <dc:creator>Dr. Murat Altun</dc:creator>
  <cp:lastModifiedBy>Dr. Murat Altun</cp:lastModifiedBy>
  <cp:revision>1</cp:revision>
  <dcterms:created xsi:type="dcterms:W3CDTF">2026-04-07T16:27:43Z</dcterms:created>
  <dcterms:modified xsi:type="dcterms:W3CDTF">2026-04-07T16:27:43Z</dcterms:modified>
</cp:coreProperties>
</file>