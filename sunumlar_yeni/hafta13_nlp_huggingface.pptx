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4A2518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0" y="0"/>
            <a:ext cx="45720" cy="51435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BİLİMİ DERSİ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NLP ve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Hugging Face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2743200" cy="4572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1546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13 · Modül 13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Doğal Dil İşleme Temelleri ve Hugging Face Ekosistemi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251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Murat Altun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354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Bilimi ve Yapay Zekâ Eğitimi  · 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0" y="320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26480" y="822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1371600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126480" y="20299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0" y="2578608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273405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1M+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323697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Model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İçindekiler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60120"/>
            <a:ext cx="54864" cy="841248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8" name="Shape 6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NLP Temelleri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435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Tanım · Kullanım alanları · Tarihçe · Temel kavramlar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0" y="11795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3–5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965960"/>
            <a:ext cx="54864" cy="841248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20574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Metin Ön İşleme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24414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· BoW · TF-IDF · Word Embeddings · BERT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0" y="2185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6–9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971800"/>
            <a:ext cx="54864" cy="84124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Shape 20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280160" y="3063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Hugging Face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80160" y="34472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Ekosistem · pipeline() · Duygu analizi · NER · Özetleme · Türkçe NLP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0" y="31912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10–15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977640"/>
            <a:ext cx="54864" cy="841248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9" name="Shape 27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280160" y="4069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Uygulamalar ve Özet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280160" y="44531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tespiti · Proje iş akışı · Notebook'lar · Ödev · Kapanış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132320" y="419709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16–20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Doğal Dil İşleme (NLP) Nedir?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937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41732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Tanım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(Natural Language Processing), bilgisayarların insan dilini anlama, yorumlama ve üretme yeteneğidir. Yapay zekânın en hızlı büyüyen alt alanlarından biridir.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468880"/>
            <a:ext cx="2377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468880"/>
            <a:ext cx="23774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" y="263347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Chatbot &amp; Asistan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Siri, Alexa, ChatGPT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26080" y="2468880"/>
            <a:ext cx="2377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926080" y="2468880"/>
            <a:ext cx="237744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8" name="Text 16"/>
          <p:cNvSpPr/>
          <p:nvPr/>
        </p:nvSpPr>
        <p:spPr>
          <a:xfrm>
            <a:off x="3035808" y="263347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Makine Çevirisi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Translate, DeepL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520440"/>
            <a:ext cx="2377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520440"/>
            <a:ext cx="237744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" y="36850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Metin Özetleme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" y="4023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Haber, makale, belge özetleri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926080" y="3520440"/>
            <a:ext cx="2377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926080" y="3520440"/>
            <a:ext cx="237744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6" name="Text 24"/>
          <p:cNvSpPr/>
          <p:nvPr/>
        </p:nvSpPr>
        <p:spPr>
          <a:xfrm>
            <a:off x="3035808" y="36850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Duygu Analizi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035808" y="4023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Sosyal medya, müşteri yorumları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0" y="868680"/>
            <a:ext cx="1600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0" y="868680"/>
            <a:ext cx="16002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0" y="10058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$43B</a:t>
            </a:r>
            <a:endParaRPr lang="en-US" sz="3400" dirty="0"/>
          </a:p>
        </p:txBody>
      </p:sp>
      <p:sp>
        <p:nvSpPr>
          <p:cNvPr id="31" name="Text 29"/>
          <p:cNvSpPr/>
          <p:nvPr/>
        </p:nvSpPr>
        <p:spPr>
          <a:xfrm>
            <a:off x="5577840" y="161848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Pazar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Büyüklüğü (2025)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269480" y="868680"/>
            <a:ext cx="1600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269480" y="868680"/>
            <a:ext cx="16002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34" name="Text 32"/>
          <p:cNvSpPr/>
          <p:nvPr/>
        </p:nvSpPr>
        <p:spPr>
          <a:xfrm>
            <a:off x="7269480" y="10058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%25+</a:t>
            </a:r>
            <a:endParaRPr lang="en-US" sz="3400" dirty="0"/>
          </a:p>
        </p:txBody>
      </p:sp>
      <p:sp>
        <p:nvSpPr>
          <p:cNvPr id="35" name="Text 33"/>
          <p:cNvSpPr/>
          <p:nvPr/>
        </p:nvSpPr>
        <p:spPr>
          <a:xfrm>
            <a:off x="7360920" y="161848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Yıllık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Büyüme Oranı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0" y="2148840"/>
            <a:ext cx="33832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86400" y="2148840"/>
            <a:ext cx="54864" cy="228600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0" y="22402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NLP Tarihçesi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0" y="260604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 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 Testi
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1966 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ELIZA — ilk chatbot
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 devrimi
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mimarisi
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— bidirectional
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— LLM çağı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Metin Ön İşleme Pipeline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6858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09728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097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9875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28016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Metni kelime veya alt-kelime parçalarına ayırma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0" y="15361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1719072"/>
            <a:ext cx="54864" cy="6858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1901952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1901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179222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Lowercasing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20848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karakterleri küçük harfe çevirme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0" y="23408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2523744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2523744"/>
            <a:ext cx="54864" cy="68580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2706624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706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05840" y="259689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Stop Words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05840" y="288950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Anlam taşımayan kelimeleri çıkarma (ve, bir, ile...)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0" y="314553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3328416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3328416"/>
            <a:ext cx="54864" cy="6858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1" name="Shape 29"/>
          <p:cNvSpPr/>
          <p:nvPr/>
        </p:nvSpPr>
        <p:spPr>
          <a:xfrm>
            <a:off x="548640" y="3511296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05840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Stemming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369417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Kelimeleri kök formuna indirgeme (koşuyordum → koş)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114800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133088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4133088"/>
            <a:ext cx="54864" cy="68580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315968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" y="4315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05840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Lemmatization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05840" y="449884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Sözlük temelli kök bulma (better → good)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Tokenization Yöntemleri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0233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02412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Tokenization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13716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Metni boşluk ve noktalama işaretlerine göre ayırır. Basit ama etkili yöntem.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1965960"/>
            <a:ext cx="3749040" cy="6400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0116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nltk.tokenize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word_tokenize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tokens = word_tokenize(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"NLP çok güçlü bir alan"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['NLP', 'çok', 'güçlü', 'bir', 'alan']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86868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868680"/>
            <a:ext cx="41148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1024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Subword Tokenization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3716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BPE, WordPiece gibi yöntemlerle kelimeleri alt parçalara ayırır. BERT ve GPT bu yöntemi kullanır.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1965960"/>
            <a:ext cx="3840480" cy="6400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9" name="Text 17"/>
          <p:cNvSpPr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transformers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AutoTokenizer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 = AutoTokenizer.from_pretrained(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"bert-base-uncased"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['un', '##believ', '##able']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2880360"/>
            <a:ext cx="8412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" y="297180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Karşılaştırma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291840"/>
            <a:ext cx="8046720" cy="32004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291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3464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Tokenization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77840" y="3291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Subword Tokenization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3639312"/>
            <a:ext cx="8046720" cy="292608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36393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Bilinmeyen kelimeler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363931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OOV (tanımsız)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77840" y="36393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 parçalara ayırır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804672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39319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Sözlük boyutu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34640" y="3931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büyük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77840" y="39319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Kompakt (~30K)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4224528"/>
            <a:ext cx="8046720" cy="292608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2245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Kullanım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834640" y="42245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NLTK, spaCy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77840" y="42245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BERT, GPT, T5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Bag of Words (Kelime Torbası)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389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4630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BoW Yaklaşımı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belgeyi, içerdiği kelimelerin frekanslarıyla temsil eder. Kelime sırası dikkate alınmaz. Basit ama güçlü bir başlangıç noktasıdır. Metin sınıflandırma ve bilgi çıkarma için yaygın kullanılır.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937760" y="868680"/>
            <a:ext cx="3840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37760" y="868680"/>
            <a:ext cx="3840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5074920" y="10241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BoW Matris Örneği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74920" y="1389888"/>
            <a:ext cx="3566160" cy="25603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074920" y="13898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Belge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97880" y="13898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46520" y="13898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güçlü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86600" y="13898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635240" y="13898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74920" y="1664208"/>
            <a:ext cx="3566160" cy="237744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2" name="Text 20"/>
          <p:cNvSpPr/>
          <p:nvPr/>
        </p:nvSpPr>
        <p:spPr>
          <a:xfrm>
            <a:off x="5074920" y="166420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897880" y="16642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46520" y="166420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086600" y="16642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35240" y="166420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74920" y="1901952"/>
            <a:ext cx="3566160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190195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897880" y="1901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4652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086600" y="1901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63524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74920" y="2139696"/>
            <a:ext cx="3566160" cy="237744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2139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97880" y="21396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46520" y="213969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086600" y="21396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635240" y="213969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5760" y="2514600"/>
            <a:ext cx="8412480" cy="19659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560320"/>
            <a:ext cx="822960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sklearn.feature_extraction.text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CountVectorizer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corpus = [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"NLP güçlü bir alan",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"NLP model eğitimi",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"güçlü alan model"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vectorizer = CountVectorizer()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vectorizer.fit_transform(corpus)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print(X.toarray())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TF-IDF: Kelime Önem Ağırlıklandırma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937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9377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2412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 Formülü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TF-IDF(t,d) = TF(t,d) × IDF(t)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 (Term Frequency):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Kelimenin belgede kaç kez geçtiği
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 (Inverse Document Frequency):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log(Toplam belge / Kelimeyi içeren belge)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0" y="86868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0" y="868680"/>
            <a:ext cx="54864" cy="155448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0" y="96012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TF-IDF?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0" y="13258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BoW'dan daha bilgilendirici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Yaygın kelimelerin ağırlığını düşürür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Nadir ama önemli kelimeleri öne çıkarır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Metin sınıflandırma ve bilgi erişiminde standart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606040"/>
            <a:ext cx="8412480" cy="18745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651760"/>
            <a:ext cx="82296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sklearn.feature_extraction.text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TfidfVectorizer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corpus = [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"makine öğrenmesi ile doğal dil işleme",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"doğal dil işleme uygulamaları",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"derin öğrenme modelleri"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tfidf = TfidfVectorizer()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matrix = tfidf.fit_transform(corpus)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print(tfidf.get_feature_names_out())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Embeddings: Kelimeler Vektör Uzayında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38912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21031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Word2Vec (2013 — Mikolov et al.)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4023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kelimeyi sabit boyutlu bir vektörle temsil eder (genellikle 100-300 boyut).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Anlamsal ilişkileri yakalar: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kral − erkek + kadın ≈ kraliçe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Ankara − Türkiye + Fransa ≈ Paris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mimari: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CBOW: Bağlamdan kelime tahmin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Skip-gram: Kelimeden bağlam tahmin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937760" y="868680"/>
            <a:ext cx="3840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37760" y="868680"/>
            <a:ext cx="54864" cy="566928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5074920" y="91440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623560" y="9144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Word2Vec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23560" y="11612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Statik, kelime düzeyi, hızlı eğitim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37760" y="1527048"/>
            <a:ext cx="3840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937760" y="1527048"/>
            <a:ext cx="54864" cy="566928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9" name="Text 17"/>
          <p:cNvSpPr/>
          <p:nvPr/>
        </p:nvSpPr>
        <p:spPr>
          <a:xfrm>
            <a:off x="5074920" y="1572768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23560" y="15727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GloVe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23560" y="181965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Eş-oluşum matrisi tabanlı, global istatistik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937760" y="2185416"/>
            <a:ext cx="3840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937760" y="2185416"/>
            <a:ext cx="54864" cy="566928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4" name="Text 22"/>
          <p:cNvSpPr/>
          <p:nvPr/>
        </p:nvSpPr>
        <p:spPr>
          <a:xfrm>
            <a:off x="5074920" y="2231136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623560" y="22311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FastText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23560" y="247802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Alt-kelime bilgisi, nadir kelimelerde güçlü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937760" y="2843784"/>
            <a:ext cx="3840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937760" y="2843784"/>
            <a:ext cx="54864" cy="56692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9" name="Text 27"/>
          <p:cNvSpPr/>
          <p:nvPr/>
        </p:nvSpPr>
        <p:spPr>
          <a:xfrm>
            <a:off x="5074920" y="2889504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2018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623560" y="28895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ELMo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23560" y="313639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Bağlam duyarlı, çift yönlü LSTM tabanlı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937760" y="3502152"/>
            <a:ext cx="3840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937760" y="3502152"/>
            <a:ext cx="54864" cy="566928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3547872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2018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623560" y="35478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23560" y="37947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Transformer, dinamik bağlam, SOTA performans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5760" y="3154680"/>
            <a:ext cx="8412480" cy="12801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32004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gensim.models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Word2Vec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Word2Vec(sentences, vector_size=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window=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min_count=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similar = model.wv.most_similar(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"yapay_zeka"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topn=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BERT: Bidirectional Encoder Representations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937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93776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2412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BERT Nedir? (Google, 2018)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89888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mimarisinin encoder kısmını kullanan, çift yönlü (bidirectional) dil modeli.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Pre-training görevleri: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1. Masked Language Model (MLM): Rastgele kelimeleri maskele, tahmin 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2. Next Sentence Prediction (NSP): İki cümle ardışık mı?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ile her NLP görevine uyarlanabilir.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868680"/>
            <a:ext cx="3291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0" y="868680"/>
            <a:ext cx="54864" cy="438912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5623560" y="86868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086600" y="86868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110M / 340M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0" y="1371600"/>
            <a:ext cx="3291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0" y="1371600"/>
            <a:ext cx="54864" cy="43891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8" name="Text 16"/>
          <p:cNvSpPr/>
          <p:nvPr/>
        </p:nvSpPr>
        <p:spPr>
          <a:xfrm>
            <a:off x="5623560" y="137160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086600" y="13716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24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0" y="1874520"/>
            <a:ext cx="3291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0" y="1874520"/>
            <a:ext cx="54864" cy="438912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5623560" y="187452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Gizli Boyut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86600" y="18745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768 / 1024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0" y="2377440"/>
            <a:ext cx="3291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0" y="2377440"/>
            <a:ext cx="54864" cy="438912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237744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Head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86600" y="237744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16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063240"/>
            <a:ext cx="8412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3063240"/>
            <a:ext cx="54864" cy="150876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15468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Transformer Avantajları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352044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Self-Attention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37947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kelime diğer tüm kelimelere bakabilir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337560" y="352044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Paralel İşleme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337560" y="37947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RNN'den farklı olarak sıralı değil, paralel eğitim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0" y="352044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Transfer Learning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126480" y="37947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kez eğit, her göreve uyarla (fine-tuning)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Hugging Face Ekosistemi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069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0690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051560"/>
            <a:ext cx="502920" cy="502920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051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10972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🤗 Transformers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155448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ve TensorFlow ile 100K+ model. pipeline() ile tek satırda NLP. AutoModel, AutoTokenizer sınıfları.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868680"/>
            <a:ext cx="4069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868680"/>
            <a:ext cx="40690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0600" y="1051560"/>
            <a:ext cx="502920" cy="502920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1051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40680" y="10972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Hub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155448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1M+ açık kaynak model. Filtrele, dene, indir. Topluluk katkıları ve model kartları.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880360"/>
            <a:ext cx="4069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2880360"/>
            <a:ext cx="406908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" y="3063240"/>
            <a:ext cx="502920" cy="502920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063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43000" y="31089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356616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50K+ hazır veri seti. load_dataset() ile anında yükle. Streaming desteği büyük veriler için.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2880360"/>
            <a:ext cx="4069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2880360"/>
            <a:ext cx="40690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0600" y="3063240"/>
            <a:ext cx="502920" cy="502920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29" name="Text 27"/>
          <p:cNvSpPr/>
          <p:nvPr/>
        </p:nvSpPr>
        <p:spPr>
          <a:xfrm>
            <a:off x="4800600" y="3063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440680" y="31089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Spaces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00600" y="356616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ve Streamlit ile demo oluştur. Ücretsiz GPU/TPU. Model denemeleri ve paylaşım.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pipeline() ile Tek Satırda NLP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93268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pipeline() fonksiyonu, model yükleme, tokenization ve inference işlemlerini tek satırda gerçekleştirir.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4023360" cy="1417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645920"/>
            <a:ext cx="3840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Duygu Analizi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transformers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classifier = pipeline(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"sentiment-analysis"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classifier("Bu film harikaydı!")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1600200"/>
            <a:ext cx="4023360" cy="1417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645920"/>
            <a:ext cx="3840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İsim Varlık Tanıma (NER)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ner = pipeline(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"ner"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grouped_entities=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ner("Ankara Türkiye'nin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başkentidir.")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3154680"/>
            <a:ext cx="4023360" cy="1417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00400"/>
            <a:ext cx="3840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Metin Özetleme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summarizer = pipeline(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"summarization"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 = summarizer(long_text,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max_length=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130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min_length=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3154680"/>
            <a:ext cx="4023360" cy="1417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3200400"/>
            <a:ext cx="3840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Çeviri (EN → FR)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translator = pipeline(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"translation_en_to_fr"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translator(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"Natural Language Processing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is amazing!"</a:t>
            </a:r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Duygu Analizi Uygulaması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3891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3716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Twitter/X Duygu Analizi Senaryosu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Twitter API ile tweet toplama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Metin ön işleme (temizleme, tokenization)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HF pipeline ile duygu sınıflandırma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Sonuçları görselleştirme (pasta, bar grafik)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868680"/>
            <a:ext cx="12344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0" y="868680"/>
            <a:ext cx="123444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100584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%62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120640" y="1618488"/>
            <a:ext cx="1051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0" y="868680"/>
            <a:ext cx="12344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0" y="868680"/>
            <a:ext cx="123444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00584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%28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492240" y="1618488"/>
            <a:ext cx="1051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Negatif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0" y="868680"/>
            <a:ext cx="10972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0" y="868680"/>
            <a:ext cx="1097280" cy="54864"/>
          </a:xfrm>
          <a:prstGeom prst="rect">
            <a:avLst/>
          </a:prstGeom>
          <a:solidFill>
            <a:srgbClr val="6B5B52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0" y="100584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B5B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%10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7863840" y="1618488"/>
            <a:ext cx="914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Nötr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5760" y="2423160"/>
            <a:ext cx="8412480" cy="21031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4688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transformers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classifier = pipeline(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"sentiment-analysis"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tweets = pd.read_csv(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"tweets.csv"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tweets[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"duygu"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tweets[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"text"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].apply(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x: classifier(x[:512])[0][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"label"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print(tweets[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"duygu"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].value_counts())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NER: İsim Varlık Tanıma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5720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18872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Named Entity Recognition (NER)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Metindeki özel isimleri (kişi, kurum, yer, tarih, miktar) otomatik olarak tespit eder ve kategorize eder.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120640" y="868680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120640" y="868680"/>
            <a:ext cx="54864" cy="475488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5257800" y="86868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52160" y="86868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Kişi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37960" y="8686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20640" y="1417320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120640" y="1417320"/>
            <a:ext cx="54864" cy="475488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9" name="Text 17"/>
          <p:cNvSpPr/>
          <p:nvPr/>
        </p:nvSpPr>
        <p:spPr>
          <a:xfrm>
            <a:off x="5257800" y="141732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52160" y="141732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Kurum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37960" y="14173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Face, Google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120640" y="1965960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120640" y="1965960"/>
            <a:ext cx="54864" cy="475488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4" name="Text 22"/>
          <p:cNvSpPr/>
          <p:nvPr/>
        </p:nvSpPr>
        <p:spPr>
          <a:xfrm>
            <a:off x="5257800" y="196596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52160" y="196596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Ankara, Türkiye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120640" y="2514600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120640" y="2514600"/>
            <a:ext cx="54864" cy="47548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9" name="Text 27"/>
          <p:cNvSpPr/>
          <p:nvPr/>
        </p:nvSpPr>
        <p:spPr>
          <a:xfrm>
            <a:off x="5257800" y="251460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852160" y="25146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Diğer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37960" y="25146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BERT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2240280"/>
            <a:ext cx="8412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65760" y="2240280"/>
            <a:ext cx="841248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235915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Örnek Çıktı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8640" y="2670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pPr indent="0" marL="0">
              <a:buNone/>
            </a:pPr>
            <a:r>
              <a:rPr lang="en-US" sz="11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</a:t>
            </a:r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100" b="1" dirty="0">
                <a:solidFill>
                  <a:srgbClr val="4A7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Ankara</a:t>
            </a:r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'da </a:t>
            </a:r>
            <a:pPr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</a:t>
            </a:r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eğitimi verdi."</a:t>
            </a:r>
            <a:pPr indent="0" marL="0">
              <a:buNone/>
            </a:pPr>
            <a:r>
              <a:rPr lang="en-US" sz="1000" b="1" dirty="0">
                <a:solidFill>
                  <a:srgbClr val="3A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PER | LOC | ORG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3200400"/>
            <a:ext cx="8412480" cy="13716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324612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transformers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ner = pipeline(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"ner"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grouped_entities=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entities = ner("Dr. Murat Altun Ankara'da eğitim verdi.")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entities: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print(f"{e['word']}: {e['entity_group']} ({e['score']:.2f})")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Metin Özetleme ve Çeviri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1148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024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Abstractive Summarization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1371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Orijinal metni yeniden ifade ederek özet üretir. Kopyalama değil, anlama ve yeniden yazma. T5, BART, Pegasus gibi modeller kullanılır.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868680"/>
            <a:ext cx="41148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868680"/>
            <a:ext cx="411480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1024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Translation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0600" y="1371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dilden diğerine otomatik çeviri. Helsinki-NLP ve MarianMT modelleri. 500+ dil çifti destekli.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331720"/>
            <a:ext cx="4114800" cy="21945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377440"/>
            <a:ext cx="39319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Metin Özetleme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transformers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summarizer = pipeline(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"summarization"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model=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"facebook/bart-large-cnn"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=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"Uzun makale metni..."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 = summarizer(text,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max_length=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2331720"/>
            <a:ext cx="4114800" cy="21945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2377440"/>
            <a:ext cx="39319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Makine Çevirisi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transformers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translator = pipeline(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"translation"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model=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"Helsinki-NLP/
    opus-mt-en-tr"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translator(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"Deep learning has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transformed NLP."</a:t>
            </a:r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Türkçe NLP: Zorluklar ve Çözümler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572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5720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241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dbmdz/bert-base-turkish-cased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BERT modeli (MDZ Digital Library). 35GB Türkçe metin ile eğitildi. Duygu analizi, NER, soru cevaplama ve metin sınıflandırmada İngilizce BERT'ten çok daha başarılı Türkçe sonuçlar.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120640" y="868680"/>
            <a:ext cx="36576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120640" y="868680"/>
            <a:ext cx="54864" cy="146304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0" y="9601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Türkçe NLP Zorlukları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13258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Sondan eklemeli dil (agglutinative)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Kelime sayısı çok fazla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Serbest söz dizimi (SOV)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Etiketli veri kıtlığı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Özel karakter sorunları (İ/ı, Ş/ş)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514600"/>
            <a:ext cx="2697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514600"/>
            <a:ext cx="2697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" y="26700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Morphological Analysis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" y="3017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Zemberek kütüphanesi ile Türkçe morfolojik çözümleme. Kök bulma ve ek ayrıştırma.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46120" y="2514600"/>
            <a:ext cx="2697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46120" y="2514600"/>
            <a:ext cx="269748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2" name="Text 20"/>
          <p:cNvSpPr/>
          <p:nvPr/>
        </p:nvSpPr>
        <p:spPr>
          <a:xfrm>
            <a:off x="3355848" y="26700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Transfer Learning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55848" y="3017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dilli modeller (mBERT, XLM-R) fine-tune ederek Türkçe'ye uyarlama.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26480" y="2514600"/>
            <a:ext cx="2697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2514600"/>
            <a:ext cx="269748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6" name="Text 24"/>
          <p:cNvSpPr/>
          <p:nvPr/>
        </p:nvSpPr>
        <p:spPr>
          <a:xfrm>
            <a:off x="6236208" y="26700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Artırma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36208" y="3017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Back-translation ve paraphrase ile Türkçe eğitim verisini zenginleştirme.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3749040"/>
            <a:ext cx="8412480" cy="8686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794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transformers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classifier = pipeline(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"sentiment-analysis"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model=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"savasy/bert-base-turkish-sentiment-cased"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print(classifier("Bu ürün gerçekten harika!"))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SMS Spam Tespiti: NLP + ML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3891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3716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NLP + ML Pipeline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SMS verisi yükleme (ham/spam etiketli)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Metin temizleme ve ön işleme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TF-IDF ile özellik çıkarma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Naive Bayes / SVM / Random Forest ile sınıflandırma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Precision, Recall, F1-Score ile değerlendirme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868680"/>
            <a:ext cx="12344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0" y="868680"/>
            <a:ext cx="123444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100584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%97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120640" y="1618488"/>
            <a:ext cx="1051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0" y="868680"/>
            <a:ext cx="12344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0" y="868680"/>
            <a:ext cx="12344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00584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%95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492240" y="1618488"/>
            <a:ext cx="1051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0" y="868680"/>
            <a:ext cx="10972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0" y="868680"/>
            <a:ext cx="109728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0" y="100584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5.5K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7863840" y="1618488"/>
            <a:ext cx="914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Veri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5760" y="2423160"/>
            <a:ext cx="8412480" cy="21945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468880"/>
            <a:ext cx="82296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sklearn.feature_extraction.text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TfidfVectorizer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sklearn.naive_bayes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MultinomialNB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sklearn.pipeline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make_pipeline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sklearn.metrics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classification_report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Pipeline: TF-IDF → Naive Bayes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make_pipeline(TfidfVectorizer(), MultinomialNB())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model.fit(X_train, y_train)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y_pred = model.predict(X_test)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print(classification_report(y_test, y_pred))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NLP Projeleri İş Akışı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914400"/>
            <a:ext cx="384048" cy="384048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91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76656" y="1316736"/>
            <a:ext cx="36576" cy="256032"/>
          </a:xfrm>
          <a:prstGeom prst="rect">
            <a:avLst/>
          </a:prstGeom>
          <a:solidFill>
            <a:srgbClr val="E8DDD3"/>
          </a:solidFill>
          <a:ln/>
        </p:spPr>
      </p:sp>
      <p:sp>
        <p:nvSpPr>
          <p:cNvPr id="11" name="Shape 9"/>
          <p:cNvSpPr/>
          <p:nvPr/>
        </p:nvSpPr>
        <p:spPr>
          <a:xfrm>
            <a:off x="1051560" y="841248"/>
            <a:ext cx="7680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841248"/>
            <a:ext cx="54864" cy="59436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84124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Toplama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841248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scraping, API, hazır veri setleri. Metin verisi toplama ve etiketleme.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384048" cy="384048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76656" y="2029968"/>
            <a:ext cx="36576" cy="256032"/>
          </a:xfrm>
          <a:prstGeom prst="rect">
            <a:avLst/>
          </a:prstGeom>
          <a:solidFill>
            <a:srgbClr val="E8DDD3"/>
          </a:solidFill>
          <a:ln/>
        </p:spPr>
      </p:sp>
      <p:sp>
        <p:nvSpPr>
          <p:cNvPr id="18" name="Shape 16"/>
          <p:cNvSpPr/>
          <p:nvPr/>
        </p:nvSpPr>
        <p:spPr>
          <a:xfrm>
            <a:off x="1051560" y="1554480"/>
            <a:ext cx="7680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51560" y="1554480"/>
            <a:ext cx="54864" cy="59436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0" name="Text 18"/>
          <p:cNvSpPr/>
          <p:nvPr/>
        </p:nvSpPr>
        <p:spPr>
          <a:xfrm>
            <a:off x="1188720" y="1554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Ön İşleme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155448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Temizleme, tokenization, stop words, lemmatization. Veri kalitesi her şeydir.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2340864"/>
            <a:ext cx="384048" cy="384048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76656" y="2743200"/>
            <a:ext cx="36576" cy="256032"/>
          </a:xfrm>
          <a:prstGeom prst="rect">
            <a:avLst/>
          </a:prstGeom>
          <a:solidFill>
            <a:srgbClr val="E8DDD3"/>
          </a:solidFill>
          <a:ln/>
        </p:spPr>
      </p:sp>
      <p:sp>
        <p:nvSpPr>
          <p:cNvPr id="25" name="Shape 23"/>
          <p:cNvSpPr/>
          <p:nvPr/>
        </p:nvSpPr>
        <p:spPr>
          <a:xfrm>
            <a:off x="1051560" y="2267712"/>
            <a:ext cx="7680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51560" y="2267712"/>
            <a:ext cx="54864" cy="59436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7" name="Text 25"/>
          <p:cNvSpPr/>
          <p:nvPr/>
        </p:nvSpPr>
        <p:spPr>
          <a:xfrm>
            <a:off x="1188720" y="22677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Özellik Çıkarma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00400" y="2267712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BoW, TF-IDF, Word Embeddings. Metni sayısal vektörlere dönüştürme.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3054096"/>
            <a:ext cx="384048" cy="384048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76656" y="3456432"/>
            <a:ext cx="36576" cy="256032"/>
          </a:xfrm>
          <a:prstGeom prst="rect">
            <a:avLst/>
          </a:prstGeom>
          <a:solidFill>
            <a:srgbClr val="E8DDD3"/>
          </a:solidFill>
          <a:ln/>
        </p:spPr>
      </p:sp>
      <p:sp>
        <p:nvSpPr>
          <p:cNvPr id="32" name="Shape 30"/>
          <p:cNvSpPr/>
          <p:nvPr/>
        </p:nvSpPr>
        <p:spPr>
          <a:xfrm>
            <a:off x="1051560" y="2980944"/>
            <a:ext cx="7680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51560" y="2980944"/>
            <a:ext cx="54864" cy="59436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4" name="Text 32"/>
          <p:cNvSpPr/>
          <p:nvPr/>
        </p:nvSpPr>
        <p:spPr>
          <a:xfrm>
            <a:off x="1188720" y="2980944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Seçimi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200400" y="2980944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Geleneksel ML (NB, SVM) veya Transformer (BERT, GPT). Görevin karmaşıklığına göre karar.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02920" y="3767328"/>
            <a:ext cx="384048" cy="384048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76656" y="4169664"/>
            <a:ext cx="36576" cy="256032"/>
          </a:xfrm>
          <a:prstGeom prst="rect">
            <a:avLst/>
          </a:prstGeom>
          <a:solidFill>
            <a:srgbClr val="E8DDD3"/>
          </a:solidFill>
          <a:ln/>
        </p:spPr>
      </p:sp>
      <p:sp>
        <p:nvSpPr>
          <p:cNvPr id="39" name="Shape 37"/>
          <p:cNvSpPr/>
          <p:nvPr/>
        </p:nvSpPr>
        <p:spPr>
          <a:xfrm>
            <a:off x="1051560" y="3694176"/>
            <a:ext cx="7680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51560" y="3694176"/>
            <a:ext cx="54864" cy="59436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41" name="Text 39"/>
          <p:cNvSpPr/>
          <p:nvPr/>
        </p:nvSpPr>
        <p:spPr>
          <a:xfrm>
            <a:off x="1188720" y="3694176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Değerlendirme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200400" y="3694176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Precision, Recall, F1-Score. Confusion matrix ve cross-validation.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02920" y="4480560"/>
            <a:ext cx="384048" cy="384048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44" name="Text 42"/>
          <p:cNvSpPr/>
          <p:nvPr/>
        </p:nvSpPr>
        <p:spPr>
          <a:xfrm>
            <a:off x="50292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051560" y="4407408"/>
            <a:ext cx="7680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1051560" y="4407408"/>
            <a:ext cx="54864" cy="59436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47" name="Text 45"/>
          <p:cNvSpPr/>
          <p:nvPr/>
        </p:nvSpPr>
        <p:spPr>
          <a:xfrm>
            <a:off x="1188720" y="440740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3200400" y="4407408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 Flask + Hugging Face Spaces / Docker. Model servisi ve API oluşturma.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Haftalık Notebook'lar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868680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868680"/>
            <a:ext cx="26974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429768" y="1024128"/>
            <a:ext cx="457200" cy="457200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024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 1: NLP Temelleri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9768" y="15727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hafta13_nlp_temel.ipynb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29768" y="1901952"/>
            <a:ext cx="182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" y="190195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NLTK ile tokenization ve stop words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2404872"/>
            <a:ext cx="182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2648" y="240487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CountVectorizer ile Bag of Words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" y="2907792"/>
            <a:ext cx="182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" y="290779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TfidfVectorizer ile TF-IDF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29768" y="3410712"/>
            <a:ext cx="182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2648" y="341071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 bulutu (WordCloud) görselleştirme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0" y="868680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0" y="868680"/>
            <a:ext cx="2697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4" name="Shape 22"/>
          <p:cNvSpPr/>
          <p:nvPr/>
        </p:nvSpPr>
        <p:spPr>
          <a:xfrm>
            <a:off x="3310128" y="1024128"/>
            <a:ext cx="457200" cy="457200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5" name="Text 23"/>
          <p:cNvSpPr/>
          <p:nvPr/>
        </p:nvSpPr>
        <p:spPr>
          <a:xfrm>
            <a:off x="3310128" y="1024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88620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 2: Duygu Analizi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310128" y="15727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hafta13_duygu_analizi.ipynb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10128" y="1901952"/>
            <a:ext cx="182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493008" y="190195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pipeline ile İngilizce duygu analizi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10128" y="2404872"/>
            <a:ext cx="182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93008" y="240487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BERT ile Türkçe duygu analizi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310128" y="2907792"/>
            <a:ext cx="182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93008" y="290779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Tweet veri seti ile toplu analiz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310128" y="3410712"/>
            <a:ext cx="182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93008" y="341071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Sonuçları Matplotlib ile görselleştirme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80760" y="868680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080760" y="868680"/>
            <a:ext cx="26974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8" name="Shape 36"/>
          <p:cNvSpPr/>
          <p:nvPr/>
        </p:nvSpPr>
        <p:spPr>
          <a:xfrm>
            <a:off x="6190488" y="1024128"/>
            <a:ext cx="457200" cy="457200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9" name="Text 37"/>
          <p:cNvSpPr/>
          <p:nvPr/>
        </p:nvSpPr>
        <p:spPr>
          <a:xfrm>
            <a:off x="6190488" y="1024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6656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 3: Spam Tespiti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190488" y="15727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hafta13_spam_tespiti.ipynb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190488" y="1901952"/>
            <a:ext cx="182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73368" y="190195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Spam Collection veri seti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190488" y="2404872"/>
            <a:ext cx="182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73368" y="240487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Naive Bayes pipeline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190488" y="2907792"/>
            <a:ext cx="182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373368" y="290779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karşılaştırma (NB vs SVM vs RF)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90488" y="3410712"/>
            <a:ext cx="182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373368" y="341071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report ve confusion matrix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 ve Kaynaklar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2412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 1: Duygu Analizi (1000+ Tweet)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89888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Twitter/X API veya hazır veri seti kullanın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 az 1000 tweet toplayın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HF pipeline ile duygu sınıflandırma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Pozitif/negatif/nötr dağılımı görselleştirin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 yaygın kelimeler için WordCloud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Teslim: Jupyter Notebook + rapor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86868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868680"/>
            <a:ext cx="41148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02412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 2: SMS Spam Tespiti Raporu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389888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SMS Spam Collection veri setini indirin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TF-IDF + en az 3 farklı sınıflandırıcı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Performans karşılaştırma tablosu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 iyi modelin confusion matrix'i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Yanlış sınıflandırılan örnekleri analiz edin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Teslim: Jupyter Notebook + rapor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880360"/>
            <a:ext cx="8412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880360"/>
            <a:ext cx="54864" cy="169164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97180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Kaynaklar ve İleri Okuma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310128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Docs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huggingface.co/docs/transformers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NLTK Book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nltk.org/book — Doğal Dil İşleme ile Python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and Language Processing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Jurafsky &amp; Martin (3rd Ed.) — web.stanford.edu/~jurafsky/slp3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NLP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github.com/Firat-Yilmaz/TurkishNLPResources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With Code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paperswithcode.com/area/natural-language-processing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 13 — Özet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2286000" cy="36576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6984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069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960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NLP, bilgisayarların insan dilini anlamasını sağlayan yapay zekânın en dinamik alanıdır.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18488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72821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161848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Tokenization, BoW, TF-IDF ve Word Embeddings metin temsil yöntemlerinin temelini oluşturur.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76856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86584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2386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227685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ve Transformer mimarisi, NLP'de devrim yaratarak transfer learning'i mümkün kıldı.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35224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3044952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24128" y="29352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pipeline() ile tek satırda duygu analizi, NER, özetleme ve çeviri yapılabilir.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593592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37033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3703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24128" y="359359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NLP için özel modeller (bert-base-turkish) ve morfolojik analiz araçları gereklidir.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2E171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“Dil, düşüncenin giysisidir. — Samuel Johnson”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  ·  Veri Bilimi ve Yapay Zekâ Eğitimi  · 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Hafta 13: NLP ve Hugging Face Ekosistemi</dc:title>
  <dc:subject>PptxGenJS Presentation</dc:subject>
  <dc:creator>Dr. Murat Altun</dc:creator>
  <cp:lastModifiedBy>Dr. Murat Altun</cp:lastModifiedBy>
  <cp:revision>1</cp:revision>
  <dcterms:created xsi:type="dcterms:W3CDTF">2026-04-09T11:39:42Z</dcterms:created>
  <dcterms:modified xsi:type="dcterms:W3CDTF">2026-04-09T11:39:42Z</dcterms:modified>
</cp:coreProperties>
</file>