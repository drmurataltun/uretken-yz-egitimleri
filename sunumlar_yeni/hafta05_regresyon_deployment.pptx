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4A2518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0" y="0"/>
            <a:ext cx="45720" cy="51435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BİLİMİ DERSİ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Makine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Öğrenmesi I: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Regresyon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2743200" cy="4572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1546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5 · Modül 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251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Murat Altun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354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Bilimi ve Yapay Zekâ Eğitimi  · 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26480" y="320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126480" y="8229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83680" y="1371600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126480" y="20299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0" y="2578608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273405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323697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Regresyon Türü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İçindekiler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60120"/>
            <a:ext cx="54864" cy="841248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8" name="Shape 6"/>
          <p:cNvSpPr/>
          <p:nvPr/>
        </p:nvSpPr>
        <p:spPr>
          <a:xfrm>
            <a:off x="512064" y="1097280"/>
            <a:ext cx="640080" cy="5486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" y="1097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Temelleri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1435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Denetimli · Denetimsiz · Pekiştirmeli öğrenme · Regresyon vs Sınıflandırma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0" y="11795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3–4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1965960"/>
            <a:ext cx="54864" cy="841248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" y="2103120"/>
            <a:ext cx="640080" cy="5486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20574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Regresyon Modelleri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24414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Basit lineer · Çoklu lineer · Polinom regresyon · Train/Test Split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0" y="21854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5–9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971800"/>
            <a:ext cx="54864" cy="841248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Shape 20"/>
          <p:cNvSpPr/>
          <p:nvPr/>
        </p:nvSpPr>
        <p:spPr>
          <a:xfrm>
            <a:off x="512064" y="3108960"/>
            <a:ext cx="640080" cy="5486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31089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280160" y="30632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Değerlendirme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80160" y="34472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· MSE · RMSE · R² · Feature Engineering · Pipeline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32320" y="31912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10–14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977640"/>
            <a:ext cx="54864" cy="841248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9" name="Shape 27"/>
          <p:cNvSpPr/>
          <p:nvPr/>
        </p:nvSpPr>
        <p:spPr>
          <a:xfrm>
            <a:off x="512064" y="4114800"/>
            <a:ext cx="640080" cy="54864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" y="41148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280160" y="4069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280160" y="44531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kaydetme · Gradio arayüz · Hugging Face Spaces · Ödev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132320" y="419709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15–20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Makine Öğrenmesi Nedir?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26060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260604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1430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Denetimli Öğrenme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1554480"/>
            <a:ext cx="2331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Etiketli veri ile eğitim. Model, giriş-çıkış ilişkisini öğrenir. Regresyon ve sınıflandırma bu kategoridedir.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914400"/>
            <a:ext cx="26060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914400"/>
            <a:ext cx="26060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3337560" y="11430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Denetimsiz Öğrenme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1554480"/>
            <a:ext cx="2331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Etiketsiz veride örüntü keşfi. Kümeleme (K-Means), boyut indirgeme (PCA) gibi yöntemler kullanılır.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914400"/>
            <a:ext cx="26060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914400"/>
            <a:ext cx="260604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8" name="Text 16"/>
          <p:cNvSpPr/>
          <p:nvPr/>
        </p:nvSpPr>
        <p:spPr>
          <a:xfrm>
            <a:off x="6172200" y="11430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Pekiştirmeli Öğrenme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72200" y="1554480"/>
            <a:ext cx="2331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Ödül-ceza mekanizması ile öğrenme. Ajan, ortamla etkileşerek en iyi stratejiyi keşfeder (oyunlar, robotik).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251960"/>
            <a:ext cx="8412480" cy="502920"/>
          </a:xfrm>
          <a:prstGeom prst="rect">
            <a:avLst/>
          </a:prstGeom>
          <a:solidFill>
            <a:srgbClr val="FEF5EE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8640" y="42519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2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derste odağımız: Denetimli Öğrenme → Regresyon. Sürekli bir sayısal değeri (fiyat, sıcaklık, satış) tahmin etmek.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Denetimli Öğrenme: Regresyon vs Sınıflandırma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3931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393192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972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Regresyon (Sürekli Çıktı)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15544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Çıktı: Sürekli sayısal değer (ör: 345.000 TL)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fiyat tahmini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46888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Araç değer tahmini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292608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012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Sıcaklık tahmini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38328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383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33832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Satış miktarı öngörüsü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0" y="914400"/>
            <a:ext cx="42062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0" y="914400"/>
            <a:ext cx="42062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8" name="Text 26"/>
          <p:cNvSpPr/>
          <p:nvPr/>
        </p:nvSpPr>
        <p:spPr>
          <a:xfrm>
            <a:off x="4754880" y="10972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Sınıflandırma (Kategorik Çıktı)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54880" y="155448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166360" y="15544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Çıktı: Kategori (ör: spam / spam değil)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54880" y="201168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33" name="Text 31"/>
          <p:cNvSpPr/>
          <p:nvPr/>
        </p:nvSpPr>
        <p:spPr>
          <a:xfrm>
            <a:off x="475488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66360" y="20116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E-posta sınıflandırma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54880" y="246888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36" name="Text 34"/>
          <p:cNvSpPr/>
          <p:nvPr/>
        </p:nvSpPr>
        <p:spPr>
          <a:xfrm>
            <a:off x="47548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66360" y="24688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Hastalık teşhisi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0" y="292608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39" name="Text 37"/>
          <p:cNvSpPr/>
          <p:nvPr/>
        </p:nvSpPr>
        <p:spPr>
          <a:xfrm>
            <a:off x="475488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166360" y="29260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kaybı tahmini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754880" y="338328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42" name="Text 40"/>
          <p:cNvSpPr/>
          <p:nvPr/>
        </p:nvSpPr>
        <p:spPr>
          <a:xfrm>
            <a:off x="4754880" y="3383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166360" y="33832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tanıma (kedi/köpek)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Basit Lineer Regresyon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754880" cy="1280160"/>
          </a:xfrm>
          <a:prstGeom prst="rect">
            <a:avLst/>
          </a:prstGeom>
          <a:solidFill>
            <a:srgbClr val="FEF5EE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4754880" cy="54864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= mx + b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48640" y="166420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y: tahmin · m: eğim (katsayı) · x: bağımsız değişken · b: kesişim (intercept)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349240" y="914400"/>
            <a:ext cx="34290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914400"/>
            <a:ext cx="54864" cy="128016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5532120" y="100584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Görsel Analoji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532120" y="1371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Noktalar arasından en iyi geçen doğruyu çizmek — tüm noktaların hatalarının karelerinin toplamını minimize eden çizgi.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423160"/>
            <a:ext cx="26060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23160"/>
            <a:ext cx="260604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57860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Amaç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29260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Bağımsız değişken (X) ile bağımlı değişken (Y) arasındaki doğrusal ilişkiyi modellemek.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2423160"/>
            <a:ext cx="26060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0" y="2423160"/>
            <a:ext cx="26060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2" name="Text 20"/>
          <p:cNvSpPr/>
          <p:nvPr/>
        </p:nvSpPr>
        <p:spPr>
          <a:xfrm>
            <a:off x="3337560" y="257860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OLS (En Küçük Kareler)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37560" y="29260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 karelerinin toplamını minimize eden m ve b değerlerini bulur. sklearn bu hesaplamayı otomatik yapar.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35040" y="2423160"/>
            <a:ext cx="26060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2423160"/>
            <a:ext cx="260604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6" name="Text 24"/>
          <p:cNvSpPr/>
          <p:nvPr/>
        </p:nvSpPr>
        <p:spPr>
          <a:xfrm>
            <a:off x="6172200" y="257860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Varsayımlar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72200" y="29260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Doğrusallık, bağımsızlık, homojenlik (sabit varyans), normal dağılım. Gerçek dünyada nadiren tam karşılanır.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Lineer Regresyon — Python Kodu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5120640" cy="34747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6012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sklearn.linear_model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LinearRegression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sklearn.model_selection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train_test_split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Veriyi ayir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X_train, X_test, y_train, y_test = train_test_split(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X, y,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test_size=0.2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random_state=42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Model olustur ve egit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LinearRegression()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model.fit(X_train, y_train)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Tahmin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y_pred = model.predict(X_test)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f"R2 Skoru: {model.score(X_test, y_test):.4f}"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0" y="96012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80760" y="914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Import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8076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LinearRegression ve train_test_split kütüphanelerini yükle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669280" y="1655064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0" y="1655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80760" y="16093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Ayır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80760" y="18836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%80 eğitim, %20 test olarak böl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0" y="2350008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0" y="2350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080760" y="2304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Eğit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80760" y="2578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fit() metodu ile modeli eğit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0" y="3044952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0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08076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Tahmin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80760" y="32735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predict() ile test verisi üzerinde tahmin yap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0" y="3739896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0" y="3739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80760" y="36941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Değerlendir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80760" y="3968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skoru ile modelin başarısını ölç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Çoklu Lineer Regresyon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1005840"/>
          </a:xfrm>
          <a:prstGeom prst="rect">
            <a:avLst/>
          </a:prstGeom>
          <a:solidFill>
            <a:srgbClr val="FEF5EE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8412480" cy="54864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8755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= b0 + b1*x1 + b2*x2 + ... + bn*xn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48640" y="14630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Birden fazla bağımsız değişken ile tahmin — her xi bir özellik (feature), her bi o özelliğin katsayısı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2148840"/>
            <a:ext cx="47548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148840"/>
            <a:ext cx="54864" cy="256032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24028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 Fiyat Tahmini Örneği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4389120" cy="32004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651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 (Feature)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11680" y="2651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Katsayı (bi)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74720" y="2651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Yorum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2971800"/>
            <a:ext cx="4389120" cy="384048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9718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(Alan)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11680" y="29718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+2.500 TL/m2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74720" y="29718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arttıkça fiyat artar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3355848"/>
            <a:ext cx="4389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355848"/>
            <a:ext cx="146304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 Sayısı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011680" y="3355848"/>
            <a:ext cx="146304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+15.000 TL/oda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74720" y="3355848"/>
            <a:ext cx="146304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oda fiyatı yükseltir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3739896"/>
            <a:ext cx="4389120" cy="384048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739896"/>
            <a:ext cx="146304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Şehir Merkezi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011680" y="3739896"/>
            <a:ext cx="146304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-1.200 TL/km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474720" y="3739896"/>
            <a:ext cx="146304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Merkeze yakınlık değerli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4123944"/>
            <a:ext cx="4389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123944"/>
            <a:ext cx="146304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 Yaşı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011680" y="4123944"/>
            <a:ext cx="146304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-800 TL/yıl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474720" y="4123944"/>
            <a:ext cx="146304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Eski bina fiyatı düşürür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34290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349240" y="2148840"/>
            <a:ext cx="34290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230428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 vs Çoklu Regresyon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532120" y="2743200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39" name="Text 37"/>
          <p:cNvSpPr/>
          <p:nvPr/>
        </p:nvSpPr>
        <p:spPr>
          <a:xfrm>
            <a:off x="5532120" y="2743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943600" y="2743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değişken -&gt; sınırlı bilgi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532120" y="3108960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42" name="Text 40"/>
          <p:cNvSpPr/>
          <p:nvPr/>
        </p:nvSpPr>
        <p:spPr>
          <a:xfrm>
            <a:off x="553212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9436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Çoklu değişken -&gt; gerçekçi model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532120" y="3474720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45" name="Text 43"/>
          <p:cNvSpPr/>
          <p:nvPr/>
        </p:nvSpPr>
        <p:spPr>
          <a:xfrm>
            <a:off x="5532120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943600" y="3474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Multicollinearity riski kontrol et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532120" y="3840480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48" name="Text 46"/>
          <p:cNvSpPr/>
          <p:nvPr/>
        </p:nvSpPr>
        <p:spPr>
          <a:xfrm>
            <a:off x="5532120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94360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 önemli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532120" y="4206240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51" name="Text 49"/>
          <p:cNvSpPr/>
          <p:nvPr/>
        </p:nvSpPr>
        <p:spPr>
          <a:xfrm>
            <a:off x="5532120" y="4206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9436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Overfitting'e dikkat!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Polinom Regresyon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754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146304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Doğrusal Olmayan İlişkiler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Veriler doğrusal bir ilişki göstermediğinde, polinom terimler (x2, x3, ...) ekleyerek eğrisel bir model oluşturabiliriz. Dikkat: Yüksek dereceler overfitting'e yol açabilir!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49240" y="914400"/>
            <a:ext cx="3429000" cy="1463040"/>
          </a:xfrm>
          <a:prstGeom prst="rect">
            <a:avLst/>
          </a:prstGeom>
          <a:solidFill>
            <a:srgbClr val="FEF5EE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914400"/>
            <a:ext cx="342900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4" name="Text 12"/>
          <p:cNvSpPr/>
          <p:nvPr/>
        </p:nvSpPr>
        <p:spPr>
          <a:xfrm>
            <a:off x="5532120" y="107899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= b0 + b1*x + b2*x2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532120" y="16002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Derece 2 (quadratic) örneği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Derece arttıkça model karmaşıklaşır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606040"/>
            <a:ext cx="8412480" cy="21031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65176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sklearn.preprocessing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PolynomialFeatures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sklearn.linear_model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LinearRegression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Polinom ozellikleri olustur (derece=2)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 = PolynomialFeatures(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degree=2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X_poly = poly.fit_transform(X_train)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Lineer regresyon uygula (polinom ozelliklerle)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LinearRegression()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model.fit(X_poly, y_train)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 verisini de donustur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X_test_poly = poly.transform(X_test)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y_pred = model.predict(X_test_poly)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Train/Test Split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40233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789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Veriyi Ayırıyoruz?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08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15087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 görmediği veri üzerinde test etmek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1801368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1801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18013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Overfitting'i (aşırı öğrenme) tespit etmek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209397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dünya performansını ölçmek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386584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386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0120" y="23865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Genelleme yeteneğini doğrulamak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17720" y="914400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17720" y="914400"/>
            <a:ext cx="416052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5" name="Text 23"/>
          <p:cNvSpPr/>
          <p:nvPr/>
        </p:nvSpPr>
        <p:spPr>
          <a:xfrm>
            <a:off x="4800600" y="1078992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Yaygın Bölme Oranları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00600" y="1554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%80 / %20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669280" y="1581912"/>
            <a:ext cx="2926080" cy="201168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8" name="Shape 26"/>
          <p:cNvSpPr/>
          <p:nvPr/>
        </p:nvSpPr>
        <p:spPr>
          <a:xfrm>
            <a:off x="8595360" y="1581912"/>
            <a:ext cx="731520" cy="201168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29" name="Text 27"/>
          <p:cNvSpPr/>
          <p:nvPr/>
        </p:nvSpPr>
        <p:spPr>
          <a:xfrm>
            <a:off x="9418320" y="1554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yaygın (varsayılan)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80060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%70 / %30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69280" y="1947672"/>
            <a:ext cx="2560320" cy="201168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2" name="Shape 30"/>
          <p:cNvSpPr/>
          <p:nvPr/>
        </p:nvSpPr>
        <p:spPr>
          <a:xfrm>
            <a:off x="8229600" y="1947672"/>
            <a:ext cx="1097280" cy="201168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33" name="Text 31"/>
          <p:cNvSpPr/>
          <p:nvPr/>
        </p:nvSpPr>
        <p:spPr>
          <a:xfrm>
            <a:off x="941832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veri setleri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800600" y="22860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%90 / %10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669280" y="2313432"/>
            <a:ext cx="3291840" cy="201168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6" name="Shape 34"/>
          <p:cNvSpPr/>
          <p:nvPr/>
        </p:nvSpPr>
        <p:spPr>
          <a:xfrm>
            <a:off x="8961120" y="2313432"/>
            <a:ext cx="365760" cy="201168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37" name="Text 35"/>
          <p:cNvSpPr/>
          <p:nvPr/>
        </p:nvSpPr>
        <p:spPr>
          <a:xfrm>
            <a:off x="9418320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 veri setleri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65760" y="2926080"/>
            <a:ext cx="8412480" cy="16459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2971800"/>
            <a:ext cx="8229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sklearn.model_selection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train_test_split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Veriyi %80 egitim, %20 test olarak bol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X_train, X_test, y_train, y_test = train_test_split(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X, y,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test_size=0.2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      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%20 test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random_state=42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Tekrarlanabilirlik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Regresyon Başarı Metrikleri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9144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554480" y="914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Formül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0" y="914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Açıklama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06640" y="914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İdeal Değer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1280160"/>
            <a:ext cx="8412480" cy="777240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1463040"/>
            <a:ext cx="914400" cy="36576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463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54480" y="12801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SUM|yi - yi_hat| / 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0" y="1280160"/>
            <a:ext cx="3291840" cy="777240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 Mutlak Hata — Tahmin hatalarının ortalama büyüklüğü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406640" y="12801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0'a yakın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057400"/>
            <a:ext cx="8412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2240280"/>
            <a:ext cx="914400" cy="365760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2240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MSE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554480" y="2057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SUM(yi - yi_hat)^2 / 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2057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 Kare Hata — Büyük hataları daha çok cezalandırır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406640" y="205740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7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0'a yakın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2834640"/>
            <a:ext cx="8412480" cy="777240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3017520"/>
            <a:ext cx="914400" cy="36576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3017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RMSE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554480" y="28346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SQRT(MSE)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114800" y="28346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MSE'nin karekökü — Y birimi ile aynı ölçekte, yorumlaması kolay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406640" y="28346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0'a yakın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5760" y="3611880"/>
            <a:ext cx="8412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3794760"/>
            <a:ext cx="914400" cy="36576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3" name="Text 31"/>
          <p:cNvSpPr/>
          <p:nvPr/>
        </p:nvSpPr>
        <p:spPr>
          <a:xfrm>
            <a:off x="502920" y="3794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554480" y="361188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1 - (SS_res / SS_tot)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0" y="36118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Belirleme katsayısı — Modelin varyansı ne kadar açıkladığı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406640" y="36118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1'e yakın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5760" y="4434840"/>
            <a:ext cx="8412480" cy="411480"/>
          </a:xfrm>
          <a:prstGeom prst="rect">
            <a:avLst/>
          </a:prstGeom>
          <a:solidFill>
            <a:srgbClr val="FEF5EE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48640" y="44348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2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bir metriğe güvenmeyin! R2 yüksek olsa bile residual (artık) analizi yapın. RMSE, tahmin hatanızın ortalama büyüklüğünü verir.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4069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914400"/>
            <a:ext cx="40690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109728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 Encoding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150876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Kategorik değişkeni sayıya çevir.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Örnek: Kırmızı=0, Mavi=1, Yeşil=2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Dikkat: Sıralı olmayan verilerde yanıltıcı olabilir.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0" y="914400"/>
            <a:ext cx="4069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914400"/>
            <a:ext cx="40690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4709160" y="109728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One-Hot Encoding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9160" y="150876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kategori için yeni sütun.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Örnek: Renk_Kırmızı, Renk_Mavi, Renk_Yeşil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pd.get_dummies() ile kolayca uygulanır.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880360"/>
            <a:ext cx="4069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880360"/>
            <a:ext cx="406908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06324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Ölçeklendirme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" y="347472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 ölçekleri normalize et.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StandardScaler: ortalama=0, std=1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MinMaxScaler: [0, 1] aralığına sıkıştır.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2880360"/>
            <a:ext cx="4069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0" y="2880360"/>
            <a:ext cx="406908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306324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Eksik Değerler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09160" y="347472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değerleri doldur veya sil.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SimpleImputer: ortalama, medyan, mod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Imputer: komşulara bakarak doldur.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Scikit-learn Pipeline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7315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8755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Pipeline?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06240" y="987552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 işleme adımlarını ve modeli tek bir nesnede birleştir. Tekrarlanabilir, temiz, hata riski az. Cross-validation ile doğrudan kullanılabilir.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828800"/>
            <a:ext cx="8412480" cy="27432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874520"/>
            <a:ext cx="8229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sklearn.pipeline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sklearn.preprocessing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StandardScaler, PolynomialFeatures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sklearn.linear_model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LinearRegression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Pipeline olustur: Olcekle -&gt; Polinom -&gt; Regresyon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 = Pipeline([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"scaler"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  StandardScaler()),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"poly"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    PolynomialFeatures(degree=2)),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"model"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   LinearRegression()),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pipe.fit(X_train, y_train)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pipe.score(X_test, y_test)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f"Pipeline R2: {score:.4f}"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Araç Fiyat Tahmini Örneği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023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40233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Seti: cars.xls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417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Kaynak: Gerçek araç satış verileri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161848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Özellikler: marka, model, yıl, km, motor hacmi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181965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Hedef: Araç satış fiyatı (TL)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0" y="202082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Satır sayısı: ~2000+ kayıt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17720" y="914400"/>
            <a:ext cx="41605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914400"/>
            <a:ext cx="416052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105156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Sonuçları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00600" y="1463040"/>
            <a:ext cx="1097280" cy="685800"/>
          </a:xfrm>
          <a:prstGeom prst="rect">
            <a:avLst/>
          </a:prstGeom>
          <a:solidFill>
            <a:srgbClr val="FEF5EE"/>
          </a:solidFill>
          <a:ln w="19050">
            <a:solidFill>
              <a:srgbClr val="3A9E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14630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0.87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00600" y="1874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80760" y="1463040"/>
            <a:ext cx="1097280" cy="685800"/>
          </a:xfrm>
          <a:prstGeom prst="rect">
            <a:avLst/>
          </a:prstGeom>
          <a:solidFill>
            <a:srgbClr val="FEF5EE"/>
          </a:solidFill>
          <a:ln w="19050">
            <a:solidFill>
              <a:srgbClr val="4A7F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0760" y="14630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12.400 TL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080760" y="1874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360920" y="1463040"/>
            <a:ext cx="1097280" cy="685800"/>
          </a:xfrm>
          <a:prstGeom prst="rect">
            <a:avLst/>
          </a:prstGeom>
          <a:solidFill>
            <a:srgbClr val="FEF5EE"/>
          </a:solidFill>
          <a:ln w="19050">
            <a:solidFill>
              <a:srgbClr val="E891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14630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18.200 TL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60920" y="1874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65760" y="2514600"/>
            <a:ext cx="8412480" cy="2148840"/>
          </a:xfrm>
          <a:prstGeom prst="rect">
            <a:avLst/>
          </a:prstGeom>
          <a:solidFill>
            <a:srgbClr val="FEF5EE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26060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 İş Akışı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306324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63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34564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Yükleme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3730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pd.read_excel('cars.xls')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783080" y="3063240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2176272" y="306324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35" name="Text 33"/>
          <p:cNvSpPr/>
          <p:nvPr/>
        </p:nvSpPr>
        <p:spPr>
          <a:xfrm>
            <a:off x="2176272" y="3063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084832" y="34564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084832" y="3730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df.describe(), korelasyon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410712" y="3063240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3803904" y="306324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40" name="Text 38"/>
          <p:cNvSpPr/>
          <p:nvPr/>
        </p:nvSpPr>
        <p:spPr>
          <a:xfrm>
            <a:off x="3803904" y="3063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3712464" y="34564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Ön İşleme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712464" y="3730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Encoding, scaling, split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5038344" y="3063240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5431536" y="3063240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45" name="Text 43"/>
          <p:cNvSpPr/>
          <p:nvPr/>
        </p:nvSpPr>
        <p:spPr>
          <a:xfrm>
            <a:off x="5431536" y="3063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340096" y="34564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Eğitimi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40096" y="3730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LinearRegression().fit()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6665976" y="3063240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7059168" y="3063240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50" name="Text 48"/>
          <p:cNvSpPr/>
          <p:nvPr/>
        </p:nvSpPr>
        <p:spPr>
          <a:xfrm>
            <a:off x="7059168" y="3063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967728" y="34564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Değerlendirme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967728" y="3730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R2, MAE, RMSE hesapla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 Fiyat Tahmini — California Housing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2103120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California Housing Dataset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ile hazır gelen popüler veri seti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1737360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MedInc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737360" y="1737360"/>
            <a:ext cx="2103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Medyan gelir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1947672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HouseAge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737360" y="1947672"/>
            <a:ext cx="2103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 yaşı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2157984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AveRooms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737360" y="2157984"/>
            <a:ext cx="2103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 oda sayısı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2368296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AveOccup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737360" y="2368296"/>
            <a:ext cx="2103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 doluluk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2578608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Latitude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737360" y="2578608"/>
            <a:ext cx="2103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Enlem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2788920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Longitude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737360" y="2788920"/>
            <a:ext cx="2103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Boylam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17720" y="914400"/>
            <a:ext cx="416052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17720" y="914400"/>
            <a:ext cx="416052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6" name="Text 24"/>
          <p:cNvSpPr/>
          <p:nvPr/>
        </p:nvSpPr>
        <p:spPr>
          <a:xfrm>
            <a:off x="4800600" y="105156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Importance (Önem Sırası)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00600" y="1463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MedInc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943600" y="1499616"/>
            <a:ext cx="2377440" cy="155448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29" name="Text 27"/>
          <p:cNvSpPr/>
          <p:nvPr/>
        </p:nvSpPr>
        <p:spPr>
          <a:xfrm>
            <a:off x="8412480" y="14630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800600" y="170992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AveOccup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943600" y="1746504"/>
            <a:ext cx="438912" cy="155448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17099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00600" y="195681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Latitude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943600" y="1993392"/>
            <a:ext cx="292608" cy="155448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35" name="Text 33"/>
          <p:cNvSpPr/>
          <p:nvPr/>
        </p:nvSpPr>
        <p:spPr>
          <a:xfrm>
            <a:off x="6327648" y="1956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7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00600" y="220370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Longitude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943600" y="2240280"/>
            <a:ext cx="256032" cy="155448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8" name="Text 36"/>
          <p:cNvSpPr/>
          <p:nvPr/>
        </p:nvSpPr>
        <p:spPr>
          <a:xfrm>
            <a:off x="6291072" y="220370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800600" y="24505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HouseAge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43600" y="2487168"/>
            <a:ext cx="182880" cy="155448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41" name="Text 39"/>
          <p:cNvSpPr/>
          <p:nvPr/>
        </p:nvSpPr>
        <p:spPr>
          <a:xfrm>
            <a:off x="6217920" y="24505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800600" y="26974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AveRooms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943600" y="2734056"/>
            <a:ext cx="109728" cy="155448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44" name="Text 42"/>
          <p:cNvSpPr/>
          <p:nvPr/>
        </p:nvSpPr>
        <p:spPr>
          <a:xfrm>
            <a:off x="6144768" y="26974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65760" y="3246120"/>
            <a:ext cx="8412480" cy="146304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sklearn.datasets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fetch_california_housing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fetch_california_housing()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X, y = data.data, data.target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Feature importance: model.coef_ ile katsayilari gor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importance = pd.Series(model.coef_, index=data.feature_names)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importance.abs().sort_values(ascending=False).plot.barh()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Kaydetme — joblib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0233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40233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Model Kaydederiz?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46304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1463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 saatler sürebilir — tekrar eğitmek istemezsiniz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173736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1737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17373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Eğitilmiş modeli farklı ortamlara taşımak (deployment)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201168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versiyonlama ve karşılaştırma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28600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0120" y="228600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veya web uygulamasına entegrasyon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17720" y="914400"/>
            <a:ext cx="41605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17720" y="914400"/>
            <a:ext cx="416052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5" name="Text 23"/>
          <p:cNvSpPr/>
          <p:nvPr/>
        </p:nvSpPr>
        <p:spPr>
          <a:xfrm>
            <a:off x="4800600" y="105156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joblib vs pickle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00600" y="1463040"/>
            <a:ext cx="3794760" cy="27432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146304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62472" y="146304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joblib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24344" y="146304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00600" y="1737360"/>
            <a:ext cx="3794760" cy="25603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1" name="Text 29"/>
          <p:cNvSpPr/>
          <p:nvPr/>
        </p:nvSpPr>
        <p:spPr>
          <a:xfrm>
            <a:off x="4800600" y="1737360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dizileri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062472" y="1737360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324344" y="1737360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Yavaş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800600" y="1993392"/>
            <a:ext cx="379476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4800600" y="1993392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 modeller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62472" y="1993392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Verimli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324344" y="1993392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Yavaş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00600" y="2249424"/>
            <a:ext cx="3794760" cy="25603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9" name="Text 37"/>
          <p:cNvSpPr/>
          <p:nvPr/>
        </p:nvSpPr>
        <p:spPr>
          <a:xfrm>
            <a:off x="4800600" y="2249424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Kullanım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062472" y="2249424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Kolay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7324344" y="2249424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65760" y="2788920"/>
            <a:ext cx="8412480" cy="192024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43" name="Text 41"/>
          <p:cNvSpPr/>
          <p:nvPr/>
        </p:nvSpPr>
        <p:spPr>
          <a:xfrm>
            <a:off x="457200" y="283464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joblib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Modeli kaydet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joblib.dump(model,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"arac_fiyat_model.joblib"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print("Model kaydedildi!")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Modeli yukle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loaded_model = joblib.load(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"arac_fiyat_model.joblib"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Yuklenen model ile tahmin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prediction = loaded_model.predict([[2020, 15000, 1.6]])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f"Tahmin: {prediction[0]:,.0f} TL"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Gradio ile Model Arayüzü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73152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8755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Gradio Nedir?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91840" y="987552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modelleriniz için birkaç satır kod ile web arayüzü oluşturun. Paylaşım linki otomatik oluşturulur. Hugging Face Spaces ile deploy edilebilir.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828800"/>
            <a:ext cx="5120640" cy="283464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87452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gradio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joblib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joblib.load("arac_fiyat_model.joblib")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predict_price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(yil, km, motor):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pred = model.predict([[yil, km, motor]])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f"{pred[0]:,.0f} TL"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= gr.Interface(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fn=predict_price,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inputs=[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gr.Slider(2005, 2024, label="Yil"),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gr.Number(label="Kilometre"),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gr.Slider(1.0, 3.0, label="Motor"),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outputs="text",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title="Arac Fiyat Tahmini"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demo.launch()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69280" y="1828800"/>
            <a:ext cx="3108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69280" y="1828800"/>
            <a:ext cx="310896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6" name="Text 14"/>
          <p:cNvSpPr/>
          <p:nvPr/>
        </p:nvSpPr>
        <p:spPr>
          <a:xfrm>
            <a:off x="5852160" y="19659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Gradio Bileşenleri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2395728"/>
            <a:ext cx="109728" cy="256032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8" name="Text 16"/>
          <p:cNvSpPr/>
          <p:nvPr/>
        </p:nvSpPr>
        <p:spPr>
          <a:xfrm>
            <a:off x="6035040" y="23774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9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gr.Slider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223760" y="23774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Kaydırıcı (min-max aralık)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852160" y="2761488"/>
            <a:ext cx="109728" cy="25603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1" name="Text 19"/>
          <p:cNvSpPr/>
          <p:nvPr/>
        </p:nvSpPr>
        <p:spPr>
          <a:xfrm>
            <a:off x="6035040" y="2743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gr.Number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223760" y="27432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Sayısal giriş kutusu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852160" y="3127248"/>
            <a:ext cx="109728" cy="256032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4" name="Text 22"/>
          <p:cNvSpPr/>
          <p:nvPr/>
        </p:nvSpPr>
        <p:spPr>
          <a:xfrm>
            <a:off x="6035040" y="31089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7F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gr.Textbox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223760" y="31089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Metin girişi/çıkışı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852160" y="3493008"/>
            <a:ext cx="109728" cy="256032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7" name="Text 25"/>
          <p:cNvSpPr/>
          <p:nvPr/>
        </p:nvSpPr>
        <p:spPr>
          <a:xfrm>
            <a:off x="6035040" y="34747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C5B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gr.Dropdown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223760" y="34747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Seçim listesi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852160" y="3858768"/>
            <a:ext cx="109728" cy="256032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0" name="Text 28"/>
          <p:cNvSpPr/>
          <p:nvPr/>
        </p:nvSpPr>
        <p:spPr>
          <a:xfrm>
            <a:off x="6035040" y="38404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91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gr.Image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223760" y="38404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giriş/çıkış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852160" y="4224528"/>
            <a:ext cx="109728" cy="256032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3" name="Text 31"/>
          <p:cNvSpPr/>
          <p:nvPr/>
        </p:nvSpPr>
        <p:spPr>
          <a:xfrm>
            <a:off x="6035040" y="4206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A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gr.Plot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223760" y="42062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Matplotlib/Plotly grafik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Hugging Face Spaces ile Deploy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09728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097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" y="1463040"/>
            <a:ext cx="36576" cy="502920"/>
          </a:xfrm>
          <a:prstGeom prst="rect">
            <a:avLst/>
          </a:prstGeom>
          <a:solidFill>
            <a:srgbClr val="E8DDD3"/>
          </a:solidFill>
          <a:ln/>
        </p:spPr>
      </p:sp>
      <p:sp>
        <p:nvSpPr>
          <p:cNvPr id="11" name="Shape 9"/>
          <p:cNvSpPr/>
          <p:nvPr/>
        </p:nvSpPr>
        <p:spPr>
          <a:xfrm>
            <a:off x="1097280" y="91440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97280" y="914400"/>
            <a:ext cx="54864" cy="82296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3" name="Text 11"/>
          <p:cNvSpPr/>
          <p:nvPr/>
        </p:nvSpPr>
        <p:spPr>
          <a:xfrm>
            <a:off x="1280160" y="987552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Hesap Oluştur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13258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huggingface.co adresinde ücretsiz hesap aç. GitHub hesabınla da giriş yapabilirsin.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210312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103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" y="2468880"/>
            <a:ext cx="36576" cy="502920"/>
          </a:xfrm>
          <a:prstGeom prst="rect">
            <a:avLst/>
          </a:prstGeom>
          <a:solidFill>
            <a:srgbClr val="E8DDD3"/>
          </a:solidFill>
          <a:ln/>
        </p:spPr>
      </p:sp>
      <p:sp>
        <p:nvSpPr>
          <p:cNvPr id="18" name="Shape 16"/>
          <p:cNvSpPr/>
          <p:nvPr/>
        </p:nvSpPr>
        <p:spPr>
          <a:xfrm>
            <a:off x="1097280" y="192024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97280" y="1920240"/>
            <a:ext cx="54864" cy="82296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0" name="Text 18"/>
          <p:cNvSpPr/>
          <p:nvPr/>
        </p:nvSpPr>
        <p:spPr>
          <a:xfrm>
            <a:off x="1280160" y="1993392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Space Oluştur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3317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Space -&gt; SDK: Gradio seç -&gt; Public/Private ayarla -&gt; Create Space butonuna bas.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10896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94944" y="3474720"/>
            <a:ext cx="36576" cy="502920"/>
          </a:xfrm>
          <a:prstGeom prst="rect">
            <a:avLst/>
          </a:prstGeom>
          <a:solidFill>
            <a:srgbClr val="E8DDD3"/>
          </a:solidFill>
          <a:ln/>
        </p:spPr>
      </p:sp>
      <p:sp>
        <p:nvSpPr>
          <p:cNvPr id="25" name="Shape 23"/>
          <p:cNvSpPr/>
          <p:nvPr/>
        </p:nvSpPr>
        <p:spPr>
          <a:xfrm>
            <a:off x="1097280" y="292608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97280" y="2926080"/>
            <a:ext cx="54864" cy="82296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7" name="Text 25"/>
          <p:cNvSpPr/>
          <p:nvPr/>
        </p:nvSpPr>
        <p:spPr>
          <a:xfrm>
            <a:off x="1280160" y="2999232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Dosyaları Yükle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280160" y="33375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 (Gradio kodu) + requirements.txt + model dosyalarını yükle veya git push.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114800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4114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97280" y="393192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97280" y="3931920"/>
            <a:ext cx="54864" cy="82296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3" name="Text 31"/>
          <p:cNvSpPr/>
          <p:nvPr/>
        </p:nvSpPr>
        <p:spPr>
          <a:xfrm>
            <a:off x="1280160" y="4005072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Canlı Demo!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280160" y="43434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otomatik build eder ve çalıştırır. Linki paylaşarak herkesin modeli denemesini sağla.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65760" y="4572000"/>
            <a:ext cx="8412480" cy="365760"/>
          </a:xfrm>
          <a:prstGeom prst="rect">
            <a:avLst/>
          </a:prstGeom>
          <a:solidFill>
            <a:srgbClr val="FEF5EE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Ücretsiz plan: CPU 2 core, 16 GB RAM. Küçük modeller için yeterli. GPU gerektiren modeller için Pro plan gerekir.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Haftalık Notebook'lar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4069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914400"/>
            <a:ext cx="40690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109728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lineer_regresyon.ipynb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150876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Basit ve çoklu lineer regresyon. Scikit-learn ile model eğitimi, fit/predict döngüsü, katsayı yorumlama.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286000"/>
            <a:ext cx="3794760" cy="27432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2860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LinearRegression - train_test_split - R2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0" y="914400"/>
            <a:ext cx="4069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0" y="914400"/>
            <a:ext cx="40690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09728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arac_fiyat_tahmini.ipynb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09160" y="150876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araç verisi ile fiyat tahmini. EDA, encoding, scaling ve model eğitimi end-to-end proje.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09160" y="2286000"/>
            <a:ext cx="3794760" cy="27432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2860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cars.xls - EDA - Pipeline - MAE/RMSE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" y="2880360"/>
            <a:ext cx="4069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2880360"/>
            <a:ext cx="406908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06324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ev_fiyat_tahmini.ipynb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347472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 Housing veri seti. Feature importance, polinom regresyon denemeleri, görselleştirme.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11480" y="4251960"/>
            <a:ext cx="3794760" cy="27432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42519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fetch_california_housing - Feature Importance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0" y="2880360"/>
            <a:ext cx="4069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0" y="2880360"/>
            <a:ext cx="406908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306324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gradio_deployment.ipynb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09160" y="347472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Eğitilmiş modeli Gradio ile web arayüzüne dönüştürme. joblib kaydetme ve Hugging Face deploy.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4251960"/>
            <a:ext cx="3794760" cy="274320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1" name="Text 29"/>
          <p:cNvSpPr/>
          <p:nvPr/>
        </p:nvSpPr>
        <p:spPr>
          <a:xfrm>
            <a:off x="4800600" y="42519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- joblib - Hugging Face Spaces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Ödev ve Kaynaklar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0233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40233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Haftalık Ödev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46304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14356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Araç Fiyat Modeli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60120" y="16916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cars.xls verisini kullanarak en iyi regresyon modelini oluşturun. R2 &gt; 0.85 hedefleyin.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19456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216712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Gradio Arayüzü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242316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Eğittiğiniz modeli Gradio ile web arayüzüne dönüştürün.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292608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" y="289864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Hugging Face Deploy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60120" y="31546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uygulamanızı Hugging Face Spaces'e deploy edin ve linkini paylaşın.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365760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657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36301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0120" y="38862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bulguları, model karşılaştırması, metrik sonuçları ve çıkarımları bir notebook'ta belgeleyin.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17720" y="91440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17720" y="914400"/>
            <a:ext cx="416052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9" name="Text 27"/>
          <p:cNvSpPr/>
          <p:nvPr/>
        </p:nvSpPr>
        <p:spPr>
          <a:xfrm>
            <a:off x="4800600" y="105156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Faydalı Kaynaklar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800600" y="146304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31" name="Text 29"/>
          <p:cNvSpPr/>
          <p:nvPr/>
        </p:nvSpPr>
        <p:spPr>
          <a:xfrm>
            <a:off x="480060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212080" y="143560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Scikit-learn Docs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212080" y="164592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scikit-learn.org/stable/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5212080" y="181051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Resmi dokümantasyon — tüm modeller ve API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800600" y="2039112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36" name="Text 34"/>
          <p:cNvSpPr/>
          <p:nvPr/>
        </p:nvSpPr>
        <p:spPr>
          <a:xfrm>
            <a:off x="4800600" y="20391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212080" y="20116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Kaggle Learn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212080" y="222199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kaggle.com/learn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212080" y="238658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Ücretsiz ML dersleri + pratik notebook'lar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800600" y="2615184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41" name="Text 39"/>
          <p:cNvSpPr/>
          <p:nvPr/>
        </p:nvSpPr>
        <p:spPr>
          <a:xfrm>
            <a:off x="4800600" y="2615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212080" y="25877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Gradio Docs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212080" y="279806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gradio.app/docs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5212080" y="296265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bileşenleri ve kullanım örnekleri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800600" y="3191256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46" name="Text 44"/>
          <p:cNvSpPr/>
          <p:nvPr/>
        </p:nvSpPr>
        <p:spPr>
          <a:xfrm>
            <a:off x="4800600" y="3191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12080" y="316382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HF Spaces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212080" y="337413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huggingface.co/spaces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5212080" y="353872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Binlerce demo — ilham kaynağı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800600" y="3767328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51" name="Text 49"/>
          <p:cNvSpPr/>
          <p:nvPr/>
        </p:nvSpPr>
        <p:spPr>
          <a:xfrm>
            <a:off x="4800600" y="3767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212080" y="3739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StatQuest (YouTube)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212080" y="395020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youtube.com/@statquest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5212080" y="411480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Regresyon ve ML konularını görsel anlatan kanal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 5 — Önemli Çıkarımlar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2286000" cy="36576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69848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069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960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Makine öğrenmesi = veriden öğrenen algoritmalar. Regresyon, sürekli değerleri tahmin eder.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18488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728216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728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24128" y="161848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Lineer regresyon basit ama güçlü bir temeldir. Çoklu ve polinom ile genişletilir.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76856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86584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2386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227685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 ve metrikler (R2, RMSE) ile modelin gerçek performansını ölçün.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35224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3044952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24128" y="29352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model başarısını dramatik şekilde artırabilir — veriyi iyi tanıyın.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593592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3703320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3703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24128" y="359359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+ Hugging Face ile modelinizi dünyayla paylaşın — deployment artık kolay!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2E171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3159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“Teori olmadan pratik kördür, pratik olmadan teori işe yaramaz.”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Murat Altun  ·  Veri Bilimi ve Yapay Zekâ Eğitimi  · 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Hafta 5: Makine Öğrenmesi I — Regresyon</dc:title>
  <dc:subject>PptxGenJS Presentation</dc:subject>
  <dc:creator>Dr. Murat Altun</dc:creator>
  <cp:lastModifiedBy>Dr. Murat Altun</cp:lastModifiedBy>
  <cp:revision>1</cp:revision>
  <dcterms:created xsi:type="dcterms:W3CDTF">2026-04-09T11:39:42Z</dcterms:created>
  <dcterms:modified xsi:type="dcterms:W3CDTF">2026-04-09T11:39:42Z</dcterms:modified>
</cp:coreProperties>
</file>