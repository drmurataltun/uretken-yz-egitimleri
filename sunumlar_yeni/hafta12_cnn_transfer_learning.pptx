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ve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12 · Modül 12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Bilgisayarlı Görü, Evrişimli Ağlar ve Önceden Eğitilmiş Modeller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90%+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Doğruluk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Mimarisi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Evrişim · Katmanlar · Filtre/Kernel · Conv2D · MaxPooling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Ünlü Modeller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CIFAR-10 · VGG16 · ResNet50 · MobileNet · Karşılaştırma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8–12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· Feature Extraction · Data Augmentation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10–16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Uygulamalar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Kedi/Köpek · Maske Tespiti · Notebook'lar · Ödev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14–20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Nedir? — Evrişimli Sinir Ağları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Convolutional Neural Network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41732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görüntü verisi üzerinde uzmanlaşmış derin öğrenme mimarisidir. Piksel komşuluk ilişkilerini öğrenir, her katmanda daha soyut özellikler çıkarır. İnsan görme sisteminden ilham alır: kenarlar → şekiller → nesneler.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06908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68680"/>
            <a:ext cx="40690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 vs CNN — Temel Farklar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417320"/>
            <a:ext cx="1188720" cy="256032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080760" y="1417320"/>
            <a:ext cx="1371600" cy="256032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 (Dense)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452360" y="1417320"/>
            <a:ext cx="1325880" cy="256032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92040" y="1673352"/>
            <a:ext cx="11887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80760" y="1673352"/>
            <a:ext cx="13716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 vektör (1D)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52360" y="1673352"/>
            <a:ext cx="13258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2D/3D tensör (görüntü)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1929384"/>
            <a:ext cx="118872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Bağlantı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080760" y="1929384"/>
            <a:ext cx="137160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bağlantılı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452360" y="1929384"/>
            <a:ext cx="132588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Yerel bağlantılı (kernel)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892040" y="2185416"/>
            <a:ext cx="11887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80760" y="2185416"/>
            <a:ext cx="13716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fazla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52360" y="2185416"/>
            <a:ext cx="13258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Paylaşımlı ağırlıklar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92040" y="2441448"/>
            <a:ext cx="118872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Kullanım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2441448"/>
            <a:ext cx="137160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Tablo verisi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452360" y="2441448"/>
            <a:ext cx="1325880" cy="25603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Görüntü, video, ses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2971800"/>
            <a:ext cx="84124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5760" y="2971800"/>
            <a:ext cx="54864" cy="173736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30632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Görüntü için İdeal?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34747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4" name="Text 32"/>
          <p:cNvSpPr/>
          <p:nvPr/>
        </p:nvSpPr>
        <p:spPr>
          <a:xfrm>
            <a:off x="548640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96012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Uzamsal Hiyerarşi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0120" y="37673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katmanlar kenar, sonrakiler şekil, en derin katmanlar nesne tanır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337560" y="34747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8" name="Text 36"/>
          <p:cNvSpPr/>
          <p:nvPr/>
        </p:nvSpPr>
        <p:spPr>
          <a:xfrm>
            <a:off x="3337560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74904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Parametre Paylaşımı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749040" y="37673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filtre tüm görüntü üzerinde kayarak çok az parametre ile öğrenir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26480" y="34747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42" name="Text 40"/>
          <p:cNvSpPr/>
          <p:nvPr/>
        </p:nvSpPr>
        <p:spPr>
          <a:xfrm>
            <a:off x="6126480" y="3474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53796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Öteleme Değişmezliği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6537960" y="376732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Nesnenin konumu değişse de aynı filtreyle tespit edilir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Katmanları — 4 Adımlı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914400"/>
            <a:ext cx="8412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914400"/>
            <a:ext cx="54864" cy="8686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51560"/>
            <a:ext cx="594360" cy="59436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515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80160" y="98755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Conv2D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126187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Evrişim katmanı: filtreler görüntüyü tarar,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 haritaları (feature maps) üretir.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Girdi: (H×W×C) → Çıktı: (H'×W'×F)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114800" y="1719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920240"/>
            <a:ext cx="8412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1920240"/>
            <a:ext cx="54864" cy="86868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2057400"/>
            <a:ext cx="594360" cy="5943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05740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280160" y="19933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MaxPool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226771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Boyut küçültme: özellik haritalarını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özetler, hesaplama maliyetini düşürür.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Girdi: (H×W) → Çıktı: (H/2×W/2)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272491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65760" y="2926080"/>
            <a:ext cx="8412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2926080"/>
            <a:ext cx="54864" cy="86868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4" name="Shape 22"/>
          <p:cNvSpPr/>
          <p:nvPr/>
        </p:nvSpPr>
        <p:spPr>
          <a:xfrm>
            <a:off x="502920" y="3063240"/>
            <a:ext cx="594360" cy="5943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063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280160" y="299923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Flatten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327355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özellik haritalarını 1D vektöre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dönüştürür. Sınıflandırma katmanlarına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köprü görevi görür.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114800" y="37307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3931920"/>
            <a:ext cx="8412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5760" y="3931920"/>
            <a:ext cx="54864" cy="86868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1" name="Shape 29"/>
          <p:cNvSpPr/>
          <p:nvPr/>
        </p:nvSpPr>
        <p:spPr>
          <a:xfrm>
            <a:off x="502920" y="4069080"/>
            <a:ext cx="594360" cy="59436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" y="40690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280160" y="40050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Dense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280160" y="42793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bağlantılı katman: sınıflandırma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yapar. Son katmanda softmax ile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olasılık dağılımı üretir.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Filtre/Kernel — CNN Görüntüyü Nasıl Görür?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412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Hiyerarşik Özellik Çıkarımı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5331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CNN'in her katmanı, bir önceki katmanın çıktısından daha soyut özellikler çıkarır. İlk katmanlar düşük seviyeli özellikleri (kenarlar, gradyanlar), orta katmanlar dokuları ve şekilleri, derin katmanlar nesneleri tanır.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28600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286000"/>
            <a:ext cx="26517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▤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0292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Katman 1–2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1821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Kenarlar &amp; Köşeler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2920" y="345643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Yatay, dikey ve çapraz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kenarları tespit eder.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3×3 kernel ile basit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gradyan filtreleri.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0" y="228600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2286000"/>
            <a:ext cx="26517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33756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Katman 3–4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31821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Dokular &amp; Şekiller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345643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Kenarları birleştirerek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daireler, dikdörtgenler,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dokular oluşturur.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büyük alıcı alan.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35040" y="2286000"/>
            <a:ext cx="26517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2286000"/>
            <a:ext cx="26517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6" name="Text 24"/>
          <p:cNvSpPr/>
          <p:nvPr/>
        </p:nvSpPr>
        <p:spPr>
          <a:xfrm>
            <a:off x="603504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6172200" y="29260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Katman 5+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172200" y="318211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Nesneler &amp; Yüzler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172200" y="345643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Yüz, araba, hayvan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gibi yüksek seviyeli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kavramları tanır.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Semantik anlam.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Conv2D Katmanı — Parametreler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1945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601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Parametreler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13258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737360" y="132588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Kaç farklı özellik haritası üretilecek (ör: 32, 64, 128)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16733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kernel_size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37360" y="1673352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boyutu — genellikle (3,3) veya (5,5)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202082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strides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737360" y="2020824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Filtrenin kaydırma adımı — (1,1) standart, (2,2) hızlı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236829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737360" y="236829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'valid' (küçültür) veya 'same' (boyutu korur)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271576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737360" y="27157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'relu' en yaygın — negatif değerleri sıfırlar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868680"/>
            <a:ext cx="4069080" cy="2194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914400"/>
            <a:ext cx="38862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tensorflow.keras.layers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Conv2D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İlk evrişim katmanı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Conv2D(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filters=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kernel_size=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(3, 3),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strides=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(1, 1),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padding=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'same',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activation=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'relu'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3246120"/>
            <a:ext cx="841248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65760" y="3246120"/>
            <a:ext cx="84124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338328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Padding ve Stride — Görsel Karşılaştırma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3703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padding='valid'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395935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sadece tam sığdığı yerlere uygulanır.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boyutu küçülür: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(H−K+1) × (W−K+1)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337560" y="3703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padding='same'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37560" y="395935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 sıfırlarla çevrelenir.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boyutu girdiye eşit kalır: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× W (stride=1 ise)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0" y="37033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stride=2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395935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2 piksel atlayarak kayar.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boyutu yarıya düşer: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Pooling'e alternatif.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MaxPooling — Boyut Küçültme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MaxPooling2D Nedir?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pencere (pool_size) içindeki en büyük değeri seçer. Böylece: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Özellik haritası boyutu küçülür (hesaplama azalır)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 belirgin özellikler korunur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Küçük öteleme farklılıkları tolere edilir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Overfitting riski azalır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68680"/>
            <a:ext cx="40690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2×2 MaxPool Örneği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Girdi (4×4)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92040" y="1572768"/>
            <a:ext cx="411480" cy="274320"/>
          </a:xfrm>
          <a:prstGeom prst="rect">
            <a:avLst/>
          </a:prstGeom>
          <a:solidFill>
            <a:srgbClr val="E0F2F1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303520" y="1572768"/>
            <a:ext cx="411480" cy="274320"/>
          </a:xfrm>
          <a:prstGeom prst="rect">
            <a:avLst/>
          </a:prstGeom>
          <a:solidFill>
            <a:srgbClr val="E0F2F1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715000" y="157276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26480" y="157276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1847088"/>
            <a:ext cx="411480" cy="274320"/>
          </a:xfrm>
          <a:prstGeom prst="rect">
            <a:avLst/>
          </a:prstGeom>
          <a:solidFill>
            <a:srgbClr val="E0F2F1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03520" y="1847088"/>
            <a:ext cx="411480" cy="274320"/>
          </a:xfrm>
          <a:prstGeom prst="rect">
            <a:avLst/>
          </a:prstGeom>
          <a:solidFill>
            <a:srgbClr val="E0F2F1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15000" y="184708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126480" y="184708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92040" y="212140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303520" y="212140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15000" y="212140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126480" y="212140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39572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303520" y="239572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715000" y="239572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126480" y="2395728"/>
            <a:ext cx="41148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675120" y="1965960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7086600" y="13258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Çıktı (2×2)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086600" y="1709928"/>
            <a:ext cx="502920" cy="365760"/>
          </a:xfrm>
          <a:prstGeom prst="rect">
            <a:avLst/>
          </a:prstGeom>
          <a:solidFill>
            <a:srgbClr val="2B7A78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589520" y="1709928"/>
            <a:ext cx="502920" cy="365760"/>
          </a:xfrm>
          <a:prstGeom prst="rect">
            <a:avLst/>
          </a:prstGeom>
          <a:solidFill>
            <a:srgbClr val="2B7A78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086600" y="2075688"/>
            <a:ext cx="502920" cy="365760"/>
          </a:xfrm>
          <a:prstGeom prst="rect">
            <a:avLst/>
          </a:prstGeom>
          <a:solidFill>
            <a:srgbClr val="2B7A78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589520" y="2075688"/>
            <a:ext cx="502920" cy="365760"/>
          </a:xfrm>
          <a:prstGeom prst="rect">
            <a:avLst/>
          </a:prstGeom>
          <a:solidFill>
            <a:srgbClr val="2B7A78"/>
          </a:solidFill>
          <a:ln w="6350">
            <a:solidFill>
              <a:srgbClr val="E8DDD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65760" y="2926080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65760" y="2926080"/>
            <a:ext cx="20116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30632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÷4</a:t>
            </a:r>
            <a:endParaRPr lang="en-US" sz="3400" dirty="0"/>
          </a:p>
        </p:txBody>
      </p:sp>
      <p:sp>
        <p:nvSpPr>
          <p:cNvPr id="41" name="Text 39"/>
          <p:cNvSpPr/>
          <p:nvPr/>
        </p:nvSpPr>
        <p:spPr>
          <a:xfrm>
            <a:off x="457200" y="36758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Boyut Küçültme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(2×2 pool → ¼)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606040" y="2926080"/>
            <a:ext cx="2011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2606040" y="2926080"/>
            <a:ext cx="20116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44" name="Text 42"/>
          <p:cNvSpPr/>
          <p:nvPr/>
        </p:nvSpPr>
        <p:spPr>
          <a:xfrm>
            <a:off x="2606040" y="306324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45" name="Text 43"/>
          <p:cNvSpPr/>
          <p:nvPr/>
        </p:nvSpPr>
        <p:spPr>
          <a:xfrm>
            <a:off x="2697480" y="367588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Öğrenilebilir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46320" y="2926080"/>
            <a:ext cx="1965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846320" y="2926080"/>
            <a:ext cx="1965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8" name="Text 46"/>
          <p:cNvSpPr/>
          <p:nvPr/>
        </p:nvSpPr>
        <p:spPr>
          <a:xfrm>
            <a:off x="4846320" y="306324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Max</a:t>
            </a:r>
            <a:endParaRPr lang="en-US" sz="3400" dirty="0"/>
          </a:p>
        </p:txBody>
      </p:sp>
      <p:sp>
        <p:nvSpPr>
          <p:cNvPr id="49" name="Text 47"/>
          <p:cNvSpPr/>
          <p:nvPr/>
        </p:nvSpPr>
        <p:spPr>
          <a:xfrm>
            <a:off x="4937760" y="367588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Havuzlama Tipi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(Average da var)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040880" y="2926080"/>
            <a:ext cx="17373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7040880" y="2926080"/>
            <a:ext cx="17373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52" name="Text 50"/>
          <p:cNvSpPr/>
          <p:nvPr/>
        </p:nvSpPr>
        <p:spPr>
          <a:xfrm>
            <a:off x="7040880" y="306324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2×2</a:t>
            </a:r>
            <a:endParaRPr lang="en-US" sz="3400" dirty="0"/>
          </a:p>
        </p:txBody>
      </p:sp>
      <p:sp>
        <p:nvSpPr>
          <p:cNvPr id="53" name="Text 51"/>
          <p:cNvSpPr/>
          <p:nvPr/>
        </p:nvSpPr>
        <p:spPr>
          <a:xfrm>
            <a:off x="7132320" y="367588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Boyutu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97680"/>
            <a:ext cx="54864" cy="50292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56" name="Text 54"/>
          <p:cNvSpPr/>
          <p:nvPr/>
        </p:nvSpPr>
        <p:spPr>
          <a:xfrm>
            <a:off x="594360" y="437083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İpucu: Stride=2 ile Conv2D, MaxPooling'in yerine kullanılabilir. Modern mimarilerde (ResNet) bu tercih edilir.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CIFAR-10 ile CNN — Veri Seti Tanıtımı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645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16459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005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57200" y="16184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94560" y="868680"/>
            <a:ext cx="1645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194560" y="868680"/>
            <a:ext cx="16459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2194560" y="1005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60K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286000" y="16184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23360" y="868680"/>
            <a:ext cx="1645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023360" y="868680"/>
            <a:ext cx="164592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8" name="Text 16"/>
          <p:cNvSpPr/>
          <p:nvPr/>
        </p:nvSpPr>
        <p:spPr>
          <a:xfrm>
            <a:off x="4023360" y="100584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32×32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114800" y="161848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52160" y="86868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852160" y="868680"/>
            <a:ext cx="13716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5852160" y="10058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RGB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5943600" y="1618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Kanal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406640" y="868680"/>
            <a:ext cx="13716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06640" y="868680"/>
            <a:ext cx="1371600" cy="54864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6" name="Text 24"/>
          <p:cNvSpPr/>
          <p:nvPr/>
        </p:nvSpPr>
        <p:spPr>
          <a:xfrm>
            <a:off x="7406640" y="10058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7FC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50K/10K</a:t>
            </a:r>
            <a:endParaRPr lang="en-US" sz="3400" dirty="0"/>
          </a:p>
        </p:txBody>
      </p:sp>
      <p:sp>
        <p:nvSpPr>
          <p:cNvPr id="27" name="Text 25"/>
          <p:cNvSpPr/>
          <p:nvPr/>
        </p:nvSpPr>
        <p:spPr>
          <a:xfrm>
            <a:off x="7498080" y="161848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Train/Test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65760" y="21488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214884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228600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Sınıf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2633472"/>
            <a:ext cx="1920240" cy="34747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Uçak (airplane)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468880" y="2633472"/>
            <a:ext cx="1920240" cy="34747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Otomobil (automobile)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3017520"/>
            <a:ext cx="192024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Kuş (bird)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468880" y="3017520"/>
            <a:ext cx="192024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Kedi (cat)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3401568"/>
            <a:ext cx="1920240" cy="34747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Geyik (deer)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468880" y="3401568"/>
            <a:ext cx="1920240" cy="34747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Köpek (dog)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8640" y="3785616"/>
            <a:ext cx="192024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Kurbağa (frog)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468880" y="3785616"/>
            <a:ext cx="192024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(horse)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48640" y="4169664"/>
            <a:ext cx="1920240" cy="34747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 (ship)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468880" y="4169664"/>
            <a:ext cx="1920240" cy="347472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76200" rIns="762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Kamyon (truck)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709160" y="2148840"/>
            <a:ext cx="40690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2148840"/>
            <a:ext cx="40690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3" name="Text 41"/>
          <p:cNvSpPr/>
          <p:nvPr/>
        </p:nvSpPr>
        <p:spPr>
          <a:xfrm>
            <a:off x="4892040" y="22860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Önerilen CNN Mimarisi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892040" y="2633472"/>
            <a:ext cx="109728" cy="2286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45" name="Text 43"/>
          <p:cNvSpPr/>
          <p:nvPr/>
        </p:nvSpPr>
        <p:spPr>
          <a:xfrm>
            <a:off x="507492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Conv2D(32, 3×3) + ReLU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7452360" y="2633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(32, 32, 32)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892040" y="2889504"/>
            <a:ext cx="109728" cy="2286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8" name="Text 46"/>
          <p:cNvSpPr/>
          <p:nvPr/>
        </p:nvSpPr>
        <p:spPr>
          <a:xfrm>
            <a:off x="5074920" y="288950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MaxPooling2D(2×2)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7452360" y="288950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(16, 16, 32)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892040" y="3145536"/>
            <a:ext cx="109728" cy="2286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1" name="Text 49"/>
          <p:cNvSpPr/>
          <p:nvPr/>
        </p:nvSpPr>
        <p:spPr>
          <a:xfrm>
            <a:off x="5074920" y="314553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Conv2D(64, 3×3) + ReLU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452360" y="31455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(16, 16, 64)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892040" y="3401568"/>
            <a:ext cx="109728" cy="2286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54" name="Text 52"/>
          <p:cNvSpPr/>
          <p:nvPr/>
        </p:nvSpPr>
        <p:spPr>
          <a:xfrm>
            <a:off x="5074920" y="340156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MaxPooling2D(2×2)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7452360" y="340156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(8, 8, 64)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892040" y="3657600"/>
            <a:ext cx="109728" cy="2286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7" name="Text 55"/>
          <p:cNvSpPr/>
          <p:nvPr/>
        </p:nvSpPr>
        <p:spPr>
          <a:xfrm>
            <a:off x="5074920" y="36576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Conv2D(64, 3×3) + ReLU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7452360" y="365760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(8, 8, 64)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892040" y="3913632"/>
            <a:ext cx="109728" cy="2286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60" name="Text 58"/>
          <p:cNvSpPr/>
          <p:nvPr/>
        </p:nvSpPr>
        <p:spPr>
          <a:xfrm>
            <a:off x="5074920" y="39136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Flatten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7452360" y="39136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(4096,)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4892040" y="4169664"/>
            <a:ext cx="109728" cy="22860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63" name="Text 61"/>
          <p:cNvSpPr/>
          <p:nvPr/>
        </p:nvSpPr>
        <p:spPr>
          <a:xfrm>
            <a:off x="5074920" y="41696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Dense(64) + ReLU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7452360" y="4169664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(64,)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892040" y="4425696"/>
            <a:ext cx="109728" cy="22860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66" name="Text 64"/>
          <p:cNvSpPr/>
          <p:nvPr/>
        </p:nvSpPr>
        <p:spPr>
          <a:xfrm>
            <a:off x="5074920" y="442569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Dense(10) + Softmax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7452360" y="442569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(10,)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CIFAR-10 — Tam Model Kodu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029200" cy="37947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4846320" cy="3703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tf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tensorflow.keras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layers, models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Veri yükleme ve normalizasyon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(x_train, y_train), (x_test, y_test) = \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tf.keras.datasets.cifar10.load_data()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x_train, x_test = x_train/255.0, x_test/255.0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Model oluşturma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models.Sequential([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layers.Conv2D(32,(3,3),activation=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'relu'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
    input_shape=(32,32,3)),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layers.MaxPooling2D((2,2)),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layers.Conv2D(64,(3,3),activation=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'relu'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layers.MaxPooling2D((2,2)),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layers.Conv2D(64,(3,3),activation=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'relu'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layers.Flatten(),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layers.Dense(64,activation=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'relu'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layers.Dense(10,activation=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'softmax'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])
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23560" y="868680"/>
            <a:ext cx="3154680" cy="18288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1" name="Text 9"/>
          <p:cNvSpPr/>
          <p:nvPr/>
        </p:nvSpPr>
        <p:spPr>
          <a:xfrm>
            <a:off x="5715000" y="914400"/>
            <a:ext cx="2971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Derleme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model.compile(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optimizer=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'adam',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loss=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'sparse_categorical_
    crossentropy',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metrics=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['accuracy']
)
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623560" y="2880360"/>
            <a:ext cx="3154680" cy="9144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5715000" y="292608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Eğitim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= model.fit(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x_train, y_train,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epochs=10, batch_size=64,
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validation_split=0.2)
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23560" y="3977640"/>
            <a:ext cx="3154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23560" y="3977640"/>
            <a:ext cx="54864" cy="73152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6" name="Text 14"/>
          <p:cNvSpPr/>
          <p:nvPr/>
        </p:nvSpPr>
        <p:spPr>
          <a:xfrm>
            <a:off x="580644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Beklenen Sonuç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42519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~70% doğruluk (10 epoch)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~75% (data augmentation ile)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412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Analoji: Bisiklet Süren Çocuk → Motosiklet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Bisiklet sürmeyi öğrenen bir çocuk, motosiklete geçtiğinde sıfırdan başlamaz. Denge, yön kontrolü, fren refleksi gibi temel becerileri transfer eder. Transfer Learning de aynı mantıkla çalışır: Büyük bir veri setinde (ImageNet — 14M görüntü) eğitilmiş bir model, yeni ve küçük bir veri setine uyarlanır. Önceki bilgi, yeni göreve aktarılır.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743200"/>
            <a:ext cx="1965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743200"/>
            <a:ext cx="19659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880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Önceden Eğitilmiş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(ImageNet)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474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1.2M görüntü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sınıf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Milyonlarca parametre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331720" y="3383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14600" y="2743200"/>
            <a:ext cx="1965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14600" y="2743200"/>
            <a:ext cx="1965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9" name="Text 17"/>
          <p:cNvSpPr/>
          <p:nvPr/>
        </p:nvSpPr>
        <p:spPr>
          <a:xfrm>
            <a:off x="2606040" y="2880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Üst Katmanları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Kaldır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06040" y="3474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Dense katmanları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çıkarılır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(sınıflandırma kafası)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480560" y="3383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4663440" y="2743200"/>
            <a:ext cx="1965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743200"/>
            <a:ext cx="19659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0" y="2880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Yeni Katmanlar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3474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veri setinize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uygun Dense/Softmax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katmanları eklenir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29400" y="3383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812280" y="2743200"/>
            <a:ext cx="196596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12280" y="2743200"/>
            <a:ext cx="19659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9" name="Text 27"/>
          <p:cNvSpPr/>
          <p:nvPr/>
        </p:nvSpPr>
        <p:spPr>
          <a:xfrm>
            <a:off x="6903720" y="28803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Fine-tune veya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Freeze + Train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03720" y="3474720"/>
            <a:ext cx="1783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 katmanları dondur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veya düşük lr ile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tümünü eğit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Transfer Learning?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2560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25603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005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100×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57200" y="161848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Az Veri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Gereksinimi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0" y="868680"/>
            <a:ext cx="25603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868680"/>
            <a:ext cx="25603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3200400" y="100584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10×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3291840" y="1618488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Daha Hızlı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Süresi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868680"/>
            <a:ext cx="274320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868680"/>
            <a:ext cx="27432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8" name="Text 16"/>
          <p:cNvSpPr/>
          <p:nvPr/>
        </p:nvSpPr>
        <p:spPr>
          <a:xfrm>
            <a:off x="6035040" y="100584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95%+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126480" y="1618488"/>
            <a:ext cx="25603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2743200"/>
            <a:ext cx="84124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2743200"/>
            <a:ext cx="84124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88036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Sıfırdan Eğitim vs Transfer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3218688"/>
            <a:ext cx="1645920" cy="246888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94560" y="3218688"/>
            <a:ext cx="3200400" cy="246888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Sıfırdan CNN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394960" y="3218688"/>
            <a:ext cx="3200400" cy="246888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" y="3465576"/>
            <a:ext cx="164592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194560" y="3465576"/>
            <a:ext cx="3200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10.000+ görüntü gerekli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94960" y="3465576"/>
            <a:ext cx="3200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100–1000 yeterli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48640" y="3712464"/>
            <a:ext cx="1645920" cy="246888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Süresi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194560" y="3712464"/>
            <a:ext cx="3200400" cy="246888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Saatler / Günler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394960" y="3712464"/>
            <a:ext cx="3200400" cy="246888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Dakikalar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48640" y="3959352"/>
            <a:ext cx="164592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İhtiyacı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194560" y="3959352"/>
            <a:ext cx="3200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GPU şart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394960" y="3959352"/>
            <a:ext cx="3200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bile yeterli olabilir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8640" y="4206240"/>
            <a:ext cx="1645920" cy="246888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2194560" y="4206240"/>
            <a:ext cx="3200400" cy="246888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Veriye bağlı, değişken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394960" y="4206240"/>
            <a:ext cx="3200400" cy="246888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Genellikle yüksek (%90+)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8640" y="4453128"/>
            <a:ext cx="164592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Zorluk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2194560" y="4453128"/>
            <a:ext cx="3200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Mimari tasarım gerekli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394960" y="4453128"/>
            <a:ext cx="3200400" cy="24688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 model seç, uyarla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Önceden Eğitilmiş Modeller — Karşılaştırma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412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Popüler ImageNet Modelleri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53312"/>
            <a:ext cx="1097280" cy="274320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45920" y="1353312"/>
            <a:ext cx="548640" cy="274320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Yıl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194560" y="1353312"/>
            <a:ext cx="1005840" cy="274320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00400" y="1353312"/>
            <a:ext cx="822960" cy="274320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Acc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023360" y="1353312"/>
            <a:ext cx="822960" cy="274320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Boyut (MB)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1353312"/>
            <a:ext cx="731520" cy="274320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577840" y="1353312"/>
            <a:ext cx="3017520" cy="274320"/>
          </a:xfrm>
          <a:prstGeom prst="rect">
            <a:avLst/>
          </a:prstGeom>
          <a:solidFill>
            <a:srgbClr val="5B2C1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Avantaj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1627632"/>
            <a:ext cx="109728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VGG16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645920" y="1627632"/>
            <a:ext cx="54864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194560" y="1627632"/>
            <a:ext cx="100584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0" y="1627632"/>
            <a:ext cx="82296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71.3%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023360" y="1627632"/>
            <a:ext cx="82296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528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846320" y="1627632"/>
            <a:ext cx="73152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Yavaş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577840" y="1627632"/>
            <a:ext cx="301752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 mimari, öğretici — eğitim amaçlı ideal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48640" y="1947672"/>
            <a:ext cx="109728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ResNet50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45920" y="1947672"/>
            <a:ext cx="54864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194560" y="1947672"/>
            <a:ext cx="100584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25.6M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00400" y="1947672"/>
            <a:ext cx="8229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76.0%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023360" y="1947672"/>
            <a:ext cx="8229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46320" y="1947672"/>
            <a:ext cx="73152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77840" y="1947672"/>
            <a:ext cx="301752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connection: derin ağlarda gradyan kaybını çözer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2267712"/>
            <a:ext cx="109728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InceptionV3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645920" y="2267712"/>
            <a:ext cx="54864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2194560" y="2267712"/>
            <a:ext cx="100584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23.8M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00400" y="2267712"/>
            <a:ext cx="82296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77.9%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023360" y="2267712"/>
            <a:ext cx="82296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846320" y="2267712"/>
            <a:ext cx="73152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577840" y="2267712"/>
            <a:ext cx="301752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 filtreler: farklı ölçekleri aynı anda yakalar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48640" y="2587752"/>
            <a:ext cx="109728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MobileNetV2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645920" y="2587752"/>
            <a:ext cx="54864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194560" y="2587752"/>
            <a:ext cx="100584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3.4M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3200400" y="2587752"/>
            <a:ext cx="8229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71.3%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023360" y="2587752"/>
            <a:ext cx="82296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846320" y="2587752"/>
            <a:ext cx="73152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577840" y="2587752"/>
            <a:ext cx="3017520" cy="32004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Depthwise separable conv: mobil cihazlar için hafif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48640" y="2907792"/>
            <a:ext cx="109728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EfficientB0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645920" y="2907792"/>
            <a:ext cx="54864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194560" y="2907792"/>
            <a:ext cx="100584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5.3M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00400" y="2907792"/>
            <a:ext cx="82296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77.1%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4023360" y="2907792"/>
            <a:ext cx="82296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846320" y="2907792"/>
            <a:ext cx="73152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Hızlı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577840" y="2907792"/>
            <a:ext cx="3017520" cy="320040"/>
          </a:xfrm>
          <a:prstGeom prst="rect">
            <a:avLst/>
          </a:prstGeom>
          <a:solidFill>
            <a:srgbClr val="FEF5EE"/>
          </a:solidFill>
          <a:ln/>
        </p:spPr>
        <p:txBody>
          <a:bodyPr wrap="square" lIns="0" tIns="38100" rIns="3810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scaling: genişlik × derinlik × çözünürlük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65760" y="384048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65760" y="3840480"/>
            <a:ext cx="26517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 İçin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645920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VGG16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57200" y="42245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Basit yapı, anlaşılması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kolay, pedagojik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00400" y="384048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3200400" y="3840480"/>
            <a:ext cx="26517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0" name="Text 58"/>
          <p:cNvSpPr/>
          <p:nvPr/>
        </p:nvSpPr>
        <p:spPr>
          <a:xfrm>
            <a:off x="3291840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Kullanım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480560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ResNet50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3291840" y="42245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Dengeli performans,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popüler seçim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035040" y="3840480"/>
            <a:ext cx="2651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6035040" y="3840480"/>
            <a:ext cx="265176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65" name="Text 63"/>
          <p:cNvSpPr/>
          <p:nvPr/>
        </p:nvSpPr>
        <p:spPr>
          <a:xfrm>
            <a:off x="6126480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A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Mobil/Edge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315200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MobileNetV2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6126480" y="422452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Hafif, hızlı, düşük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tüketimi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vs Feature Extraction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02336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0233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Extraction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Strateji: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Önceden eğitilmiş modelin TÜM katmanlarını dondur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Sadece en üstteki sınıflandırma katmanlarını eğit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Model, sabit bir özellik çıkarıcı olarak kullanılır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25603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Zaman?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889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Çok az veri olduğunda (100–500 görüntü)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Hedef veri seti, kaynak veriye benzediğinde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Hızlı sonuç istendiğinde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GPU kaynağı sınırlı olduğunda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17720" y="868680"/>
            <a:ext cx="416052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868680"/>
            <a:ext cx="41605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1051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13716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Strateji: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160020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Önce Feature Extraction ile başla (birkaç epoch)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Sonra bazı üst katmanları aç (unfreeze)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Düşük learning rate ile tüm modeli eğit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Temel özellikleri koruyarak yeni özellikleri öğret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25603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Zaman?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00600" y="278892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Daha fazla veri olduğunda (1000+)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Hedef veri seti, kaynaktan farklı olduğunda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Maksimum doğruluk hedeflendiğinde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Eğitim süresi sorun olmadığında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3977640"/>
            <a:ext cx="84124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977640"/>
            <a:ext cx="54864" cy="7772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" y="4041648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Karar Ağacı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94360" y="431596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veri + benzer domain → Feature Extraction  |  Çok veri + farklı domain → Fine-tuning  |  Emin değilsen → Feature Extraction ile başla, sonuç yetersizse Fine-tune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MobileNet ile Kedi/Köpek Sınıflandırma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347472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64008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9326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veri (2000 görüntü) ile %95+ doğruluk!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+ Feature Extraction stratejisi.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69080" y="868680"/>
            <a:ext cx="1371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069080" y="868680"/>
            <a:ext cx="13716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3" name="Text 11"/>
          <p:cNvSpPr/>
          <p:nvPr/>
        </p:nvSpPr>
        <p:spPr>
          <a:xfrm>
            <a:off x="4069080" y="10058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2K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160520" y="1618488"/>
            <a:ext cx="1188720" cy="-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23560" y="868680"/>
            <a:ext cx="1371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623560" y="868680"/>
            <a:ext cx="13716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7" name="Text 15"/>
          <p:cNvSpPr/>
          <p:nvPr/>
        </p:nvSpPr>
        <p:spPr>
          <a:xfrm>
            <a:off x="5623560" y="10058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95%+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5715000" y="1618488"/>
            <a:ext cx="1188720" cy="-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Doğruluk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178040" y="868680"/>
            <a:ext cx="16002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178040" y="868680"/>
            <a:ext cx="16002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7178040" y="10058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~2dk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7269480" y="1618488"/>
            <a:ext cx="1417320" cy="-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5760" y="1691640"/>
            <a:ext cx="8412480" cy="30632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1737360"/>
            <a:ext cx="822960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tensorflow.keras.applications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MobileNetV2
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tensorflow.keras </a:t>
            </a:r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layers, models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1. Önceden eğitilmiş modeli yükle (ImageNet ağırlıkları)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base_model = MobileNetV2(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weights=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'imagenet'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include_top=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Sınıflandırma kafası YOK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input_shape=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(160, 160, 3)
)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2. Tüm katmanları dondur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base_model.trainable =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
</a:t>
            </a:r>
            <a:pPr indent="0" marL="0">
              <a:buNone/>
            </a:pPr>
            <a:r>
              <a:rPr lang="en-US" sz="9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3. Yeni sınıflandırma kafası ekle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= models.Sequential([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base_model,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layers.GlobalAveragePooling2D(),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layers.Dense(1, activation=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'sigmoid'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])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model.compile(optimizer=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'adam'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loss=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'binary_crossentropy'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metrics=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['accuracy'])
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Augmentation — Veri Çoğaltma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Neden Veri Çoğaltma?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5331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veri ile eğitim yaparken overfitting kaçınılmazdır. Data Augmentation, mevcut görüntülere rastgele dönüşümler uygulayarak sanal olarak veri setini büyütür. Model farklı açılardan aynı nesneyi görmeyi öğrenir.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069080" cy="14630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914400"/>
            <a:ext cx="3886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tensorflow.keras.preprocessing\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.image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9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ImageDataGenerator
</a:t>
            </a:r>
            <a:pPr indent="0" marL="0">
              <a:buNone/>
            </a:pPr>
            <a:r>
              <a:rPr lang="en-US" sz="9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datagen = ImageDataGenerator(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rotation_range=20,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horizontal_flip=True,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zoom_range=0.2,
</a:t>
            </a:r>
            <a:pPr indent="0" marL="0">
              <a:buNone/>
            </a:pPr>
            <a:r>
              <a:rPr lang="en-US" sz="9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width_shift_range=0.1)
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1965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560320"/>
            <a:ext cx="19659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97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0175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±20° rastgele döndürme.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Nesne açısı değişse 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tanınmalı.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20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rotation_range=20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14600" y="2560320"/>
            <a:ext cx="1965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514600" y="2560320"/>
            <a:ext cx="19659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2606040" y="2697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Horizontal Flip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606040" y="30175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 aynalama.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Sol-sağ simetrisi olan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nesneler için ideal.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60604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horizontal_flip=True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2560320"/>
            <a:ext cx="1965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2560320"/>
            <a:ext cx="1965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2697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Zoom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30175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±%20 yakınlaştırma.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Nesne boyutu değişse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tanınmalı.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75488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zoom_range=0.2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812280" y="2560320"/>
            <a:ext cx="196596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12280" y="2560320"/>
            <a:ext cx="19659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1" name="Text 29"/>
          <p:cNvSpPr/>
          <p:nvPr/>
        </p:nvSpPr>
        <p:spPr>
          <a:xfrm>
            <a:off x="6903720" y="26974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Shift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03720" y="3017520"/>
            <a:ext cx="1783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Yatay/dikey kaydırma.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Nesne konumu değişse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tanınmalı.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903720" y="39319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C5B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width_shift_range=0.1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Değerlendirme — Accuracy/Loss Grafikleri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(Doğruluk) Grafiği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53312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 accuracy sürekli artar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accuracy bir noktada düzleşir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İkisi arasındaki fark KÜÇÜK → İyi model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İkisi arasındaki fark BÜYÜK → Overfitting!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 accuracy düşmeye başlarsa eğitimi durdur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868680"/>
            <a:ext cx="40690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868680"/>
            <a:ext cx="406908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10058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Loss (Kayıp) Grafiği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1353312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 loss sürekli düşer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Validation loss bir noktada düzleşir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Val loss artmaya başlarsa → Overfitting!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Train loss = Val loss → İdeal durum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EarlyStopping callback ile otomatik durdur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2926080"/>
            <a:ext cx="841248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926080"/>
            <a:ext cx="84124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0632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Overfitting Tespiti ve Çözümleri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1248" y="3429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Augmentation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37673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çeşitliliğini artırarak modelin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ezberleme yerine genellemesini sağlar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14600" y="342900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4" name="Text 22"/>
          <p:cNvSpPr/>
          <p:nvPr/>
        </p:nvSpPr>
        <p:spPr>
          <a:xfrm>
            <a:off x="251460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898648" y="3429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Dropout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514600" y="37673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Eğitimde rastgele nöronları kapatarak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bağımlılıkları kırar (0.2–0.5)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342900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56048" y="3429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EarlyStopping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0" y="37673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 loss artmaya başlayınca eğitimi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otomatik durdurur (patience=5)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629400" y="342900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2" name="Text 30"/>
          <p:cNvSpPr/>
          <p:nvPr/>
        </p:nvSpPr>
        <p:spPr>
          <a:xfrm>
            <a:off x="6629400" y="3429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13448" y="3429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Regularization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29400" y="376732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regularization ile büyük ağırlıkları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cezalandırır, modeli basitleştirir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Gerçek Dünya: Maske Tespiti Uygulaması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8412480" cy="54864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COVID-19 Maske Tespiti — Transfer Learning ile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5331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bir pandemi döneminde ortaya çıkan ihtiyaç: Maskeli ve maskesiz yüzleri ayırt eden bir model. MobileNetV2 + Transfer Learning ile sadece 1000 görüntü kullanarak %98+ doğruluk elde edilebilir.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286000"/>
            <a:ext cx="1600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286000"/>
            <a:ext cx="16002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Shape 12"/>
          <p:cNvSpPr/>
          <p:nvPr/>
        </p:nvSpPr>
        <p:spPr>
          <a:xfrm>
            <a:off x="868680" y="24231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2834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 Toplama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3127248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Kaggle'dan maskeli/maskesiz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 görüntüleri indirme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(~1000 görüntü yeterli)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011680" y="2286000"/>
            <a:ext cx="1600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011680" y="2286000"/>
            <a:ext cx="16002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Shape 18"/>
          <p:cNvSpPr/>
          <p:nvPr/>
        </p:nvSpPr>
        <p:spPr>
          <a:xfrm>
            <a:off x="2606040" y="24231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2606040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103120" y="2834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Ön İşleme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03120" y="3127248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Yeniden boyutlandırma (224×224)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Normalizasyon (0-1)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749040" y="2286000"/>
            <a:ext cx="1600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749040" y="2286000"/>
            <a:ext cx="16002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Shape 24"/>
          <p:cNvSpPr/>
          <p:nvPr/>
        </p:nvSpPr>
        <p:spPr>
          <a:xfrm>
            <a:off x="4343400" y="2423160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4343400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40480" y="2834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Kurulumu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840480" y="3127248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(frozen)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GlobalAveragePooling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Dense(1, sigmoid)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0" y="2286000"/>
            <a:ext cx="1600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486400" y="2286000"/>
            <a:ext cx="16002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2" name="Shape 30"/>
          <p:cNvSpPr/>
          <p:nvPr/>
        </p:nvSpPr>
        <p:spPr>
          <a:xfrm>
            <a:off x="6080760" y="242316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3" name="Text 31"/>
          <p:cNvSpPr/>
          <p:nvPr/>
        </p:nvSpPr>
        <p:spPr>
          <a:xfrm>
            <a:off x="6080760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577840" y="2834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Eğitim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3127248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crossentropy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optimizer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epoch yeterli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223760" y="2286000"/>
            <a:ext cx="160020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223760" y="2286000"/>
            <a:ext cx="1600200" cy="54864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8" name="Shape 36"/>
          <p:cNvSpPr/>
          <p:nvPr/>
        </p:nvSpPr>
        <p:spPr>
          <a:xfrm>
            <a:off x="7818120" y="242316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39" name="Text 37"/>
          <p:cNvSpPr/>
          <p:nvPr/>
        </p:nvSpPr>
        <p:spPr>
          <a:xfrm>
            <a:off x="7818120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315200" y="28346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Değerlendirme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315200" y="3127248"/>
            <a:ext cx="1417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Accuracy: %98+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 bazlı F1-score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Notebook'lar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28016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97280"/>
            <a:ext cx="640080" cy="7772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972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" y="15087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94183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CNN Temel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97840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hafta12_cnn_temel.ipynb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12344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CIFAR-10 ile sıfırdan CNN modeli oluşturma. Conv2D, MaxPooling, Flatten ve Dense katmanlarını adım adım ekleme, model.summary() ile parametreleri inceleme, ~70% doğruluk elde etme.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325880" y="178308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97B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Conv2D · MaxPooling · Flatten · Dense · model.summary() · history plot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65760" y="2286000"/>
            <a:ext cx="8412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5760" y="2286000"/>
            <a:ext cx="54864" cy="128016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9" name="Shape 17"/>
          <p:cNvSpPr/>
          <p:nvPr/>
        </p:nvSpPr>
        <p:spPr>
          <a:xfrm>
            <a:off x="502920" y="2514600"/>
            <a:ext cx="640080" cy="7772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02920" y="29260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325880" y="2359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0" y="239572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hafta12_transfer_learning.ipynb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25880" y="265176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ile kedi/köpek sınıflandırma. Feature Extraction stratejisi, katman dondurma, yeni sınıflandırma kafası ekleme, Data Augmentation ile doğruluğu artırma.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325880" y="320040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MobileNetV2 · Feature Extraction · Fine-tuning · ImageDataGenerator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703320"/>
            <a:ext cx="84124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3703320"/>
            <a:ext cx="54864" cy="128016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8" name="Shape 26"/>
          <p:cNvSpPr/>
          <p:nvPr/>
        </p:nvSpPr>
        <p:spPr>
          <a:xfrm>
            <a:off x="502920" y="3931920"/>
            <a:ext cx="640080" cy="7772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9" name="Text 27"/>
          <p:cNvSpPr/>
          <p:nvPr/>
        </p:nvSpPr>
        <p:spPr>
          <a:xfrm>
            <a:off x="502920" y="39319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02920" y="43434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325880" y="37764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Maske Tespiti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114800" y="38130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hafta12_maske_tespiti.ipynb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325880" y="406908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dünya uygulaması: COVID-19 maske tespiti. Kaggle veri seti, ön işleme pipeline, MobileNetV2 ile Transfer Learning, confusion matrix ve sınıf bazlı metrikler.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1325880" y="4617720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Kaggle veri · Pipeline · Confusion Matrix · Classification Report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8463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8463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05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Ödev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353312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35331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Kendi veri setinizi hazırlayın: En az 2 sınıf, sınıf başına 200+ görüntü (Kaggle veya Google Images)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185623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18562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0120" y="18562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 ile sınıflandırma modeli kurun: MobileNetV2 veya ResNet50 kullanarak Feature Extraction uygulayın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2359152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59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3591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ekleyin: rotation, flip, zoom, shift dönüşümleri ile veri çeşitliliğini artırın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862072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8620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2862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%90+ doğruluk hedefleyin: Accuracy/Loss grafiklerini çizin, overfitting varsa önlem alın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336499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336499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ve Classification Report oluşturun: Sınıf bazlı precision, recall, F1-score raporlayın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440680" y="868680"/>
            <a:ext cx="33375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440680" y="868680"/>
            <a:ext cx="33375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8" name="Text 26"/>
          <p:cNvSpPr/>
          <p:nvPr/>
        </p:nvSpPr>
        <p:spPr>
          <a:xfrm>
            <a:off x="5623560" y="100584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Faydalı Kaynaklar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23560" y="1353312"/>
            <a:ext cx="73152" cy="4114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30" name="Text 28"/>
          <p:cNvSpPr/>
          <p:nvPr/>
        </p:nvSpPr>
        <p:spPr>
          <a:xfrm>
            <a:off x="5806440" y="1353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TensorFlow CNN Eğitimi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806440" y="15544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tensorflow.org/tutorials/images/cnn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23560" y="1856232"/>
            <a:ext cx="73152" cy="41148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3" name="Text 31"/>
          <p:cNvSpPr/>
          <p:nvPr/>
        </p:nvSpPr>
        <p:spPr>
          <a:xfrm>
            <a:off x="5806440" y="185623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Transfer Learning Guide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806440" y="20574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tensorflow.org/tutorials/images/transfer_learning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623560" y="2359152"/>
            <a:ext cx="73152" cy="41148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6" name="Text 34"/>
          <p:cNvSpPr/>
          <p:nvPr/>
        </p:nvSpPr>
        <p:spPr>
          <a:xfrm>
            <a:off x="5806440" y="23591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Keras Applications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06440" y="25603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keras.io/api/applications/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(tüm önceden eğitilmiş modeller)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623560" y="2862072"/>
            <a:ext cx="73152" cy="41148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9" name="Text 37"/>
          <p:cNvSpPr/>
          <p:nvPr/>
        </p:nvSpPr>
        <p:spPr>
          <a:xfrm>
            <a:off x="5806440" y="286207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Kaggle Datasets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5806440" y="3063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kaggle.com/datasets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(cats-vs-dogs, face-mask)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623560" y="3364992"/>
            <a:ext cx="73152" cy="41148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42" name="Text 40"/>
          <p:cNvSpPr/>
          <p:nvPr/>
        </p:nvSpPr>
        <p:spPr>
          <a:xfrm>
            <a:off x="5806440" y="336499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CS231n (Stanford)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06440" y="3566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cs231n.stanford.edu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(CNN teorisi derinlemesine)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65760" y="4251960"/>
            <a:ext cx="841248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365760" y="4251960"/>
            <a:ext cx="54864" cy="50292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46" name="Text 44"/>
          <p:cNvSpPr/>
          <p:nvPr/>
        </p:nvSpPr>
        <p:spPr>
          <a:xfrm>
            <a:off x="594360" y="431596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Teslim: Hafta 13 dersi öncesi · Jupyter Notebook (.ipynb) + PDF rapor · Google Colab linki de kabul edilir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12 — Özet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CNN, görüntü verisinde uzamsal ilişkileri öğrenen özel bir derin öğrenme mimarisidir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Conv2D → MaxPool → Flatten → Dense pipeline'ı ile özellik çıkarımı ve sınıflandırma yapılır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Learning, büyük modellerin bilgisini küçük veri setlerine aktarmanın en etkili yoludur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MobileNetV2 gibi hafif modeller, az veri ile bile %95+ doğruluk sağlar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Augmentation + EarlyStopping + Dropout: overfitting'e karşı üçlü kalkan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“Görmek, inanmaktır. Bilgisayarların görmesini sağlamak ise mühendisliktir.”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12: Bilgisayarlı Görü ve Transfer Learning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