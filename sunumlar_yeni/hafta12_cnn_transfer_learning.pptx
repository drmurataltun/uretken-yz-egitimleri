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3154680"/>
            <a:ext cx="256032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31012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Konvolüsyonel Ağlar, VGG16, ResNet, MobileNet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Fine-Tuning Teknikleri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Hafta 12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7C2D8C"/>
          </a:solidFill>
          <a:ln w="12700">
            <a:solidFill>
              <a:srgbClr val="7C2D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594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0" y="12527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tabanlı öznitelik çıkarma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874520"/>
            <a:ext cx="2011680" cy="27432"/>
          </a:xfrm>
          <a:prstGeom prst="rect">
            <a:avLst/>
          </a:prstGeom>
          <a:solidFill>
            <a:srgbClr val="563170"/>
          </a:solidFill>
          <a:ln w="12700">
            <a:solidFill>
              <a:srgbClr val="5631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2670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görüntü, 1000 sınıf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291840"/>
            <a:ext cx="2011680" cy="27432"/>
          </a:xfrm>
          <a:prstGeom prst="rect">
            <a:avLst/>
          </a:prstGeom>
          <a:solidFill>
            <a:srgbClr val="563170"/>
          </a:solidFill>
          <a:ln w="12700">
            <a:solidFill>
              <a:srgbClr val="5631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087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veriyle yüksek performans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/ MaxPool / Flatten Bileşenleri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16152"/>
            <a:ext cx="146304" cy="146304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— görüntü verisi için tasarlanmış derin ağ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" y="1691640"/>
            <a:ext cx="146304" cy="146304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459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Conv2D: Görüntü üzerinde filtre kaydırarak öznitelik çıkarma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167128"/>
            <a:ext cx="146304" cy="146304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2140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MaxPooling2D: Boyut küçültme → hesaplama azaltma + önemli bilgiyi koruma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642616"/>
            <a:ext cx="146304" cy="146304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Flatten: 2D öznitelik haritasını 1D vektöre dönüştürme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3118104"/>
            <a:ext cx="146304" cy="146304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723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Sınıflandırma katmanları (fully connected)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3593592"/>
            <a:ext cx="146304" cy="146304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478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Tipik akış: Conv → ReLU → Pool → Conv → ReLU → Pool → Flatten → Dense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" y="4069080"/>
            <a:ext cx="146304" cy="146304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2336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Görüntülerde mekansal ilişkileri öğrenebilir (kenar, doku, nesne)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(Kernel) Kavramı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Konvolüsyon İşlemi ve Parametreler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Nedir?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18488"/>
            <a:ext cx="137160" cy="13716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544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matris (3x3, 5x5, 7x7)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137160" cy="13716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848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üzerinde kayarak çarpım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679192"/>
            <a:ext cx="137160" cy="13716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1518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filtre bir öznitelik öğrenir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209544"/>
            <a:ext cx="137160" cy="13716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455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katman: kenar, çizgi, köşe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3739896"/>
            <a:ext cx="137160" cy="13716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7588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katmanlar: doku, nesne parçası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51560"/>
            <a:ext cx="64008" cy="36576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Konvolüsyon İşlemi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618488"/>
            <a:ext cx="137160" cy="13716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554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Filtrenin kayma adımı (1, 2)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28032" y="2148840"/>
            <a:ext cx="137160" cy="13716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084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'same' (boyut korunur) / 'valid'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2679192"/>
            <a:ext cx="137160" cy="13716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6151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boyutu = (G - F + 2P) / S + 1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28032" y="3209544"/>
            <a:ext cx="137160" cy="13716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1455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sayısı: F×F×C_in×C_out + bias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28032" y="3739896"/>
            <a:ext cx="137160" cy="13716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 paylaşımı → verimli öğrenme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Nasıl "Görür"?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Öznitelik Öğrenmesi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170432"/>
            <a:ext cx="1097280" cy="411480"/>
          </a:xfrm>
          <a:prstGeom prst="rect">
            <a:avLst/>
          </a:prstGeom>
          <a:solidFill>
            <a:srgbClr val="7C2D8C"/>
          </a:solidFill>
          <a:ln w="12700">
            <a:solidFill>
              <a:srgbClr val="7C2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704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19072" y="1170432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Kenarlar, basit çizgiler ve gradyanlar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1700784"/>
            <a:ext cx="1097280" cy="411480"/>
          </a:xfrm>
          <a:prstGeom prst="rect">
            <a:avLst/>
          </a:prstGeom>
          <a:solidFill>
            <a:srgbClr val="7C2D8C"/>
          </a:solidFill>
          <a:ln w="12700">
            <a:solidFill>
              <a:srgbClr val="7C2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70078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2-3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19072" y="1700784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Dokular, basit şekiller (daire, üçgen)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231136"/>
            <a:ext cx="1097280" cy="411480"/>
          </a:xfrm>
          <a:prstGeom prst="rect">
            <a:avLst/>
          </a:prstGeom>
          <a:solidFill>
            <a:srgbClr val="7C2D8C"/>
          </a:solidFill>
          <a:ln w="12700">
            <a:solidFill>
              <a:srgbClr val="7C2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3113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4-5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19072" y="2231136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parçaları (göz, tekerlek, pencere)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2761488"/>
            <a:ext cx="1097280" cy="411480"/>
          </a:xfrm>
          <a:prstGeom prst="rect">
            <a:avLst/>
          </a:prstGeom>
          <a:solidFill>
            <a:srgbClr val="7C2D8C"/>
          </a:solidFill>
          <a:ln w="12700">
            <a:solidFill>
              <a:srgbClr val="7C2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7614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Katmanlar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19072" y="2761488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nesneler (yüz, araba, bina)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" y="3291840"/>
            <a:ext cx="1097280" cy="4114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291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19072" y="3291840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 bir öncekinin üzerine inşa eder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822192"/>
            <a:ext cx="1097280" cy="4114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8221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19072" y="3822192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öznitelikler yeni görevlere aktarılabilir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Öğrenilmiş Bilginin Aktarımı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Büyük veri setinde eğitilmiş modelin bilgisini yeni göreve aktarma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ImageNet: 1.2 milyon görüntü, 1000 sınıf üzerinde eğitilmiş modeller kullanarak az veriyle bile yüksek performans elde edilir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80360"/>
            <a:ext cx="64008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44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3383280"/>
            <a:ext cx="137160" cy="1371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37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 veri gereksinimi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767328"/>
            <a:ext cx="137160" cy="1371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216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hızlı eğitim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4151376"/>
            <a:ext cx="137160" cy="1371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056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iyi başlangıç ağırlıkları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80360"/>
            <a:ext cx="64008" cy="18288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8032" y="3337560"/>
            <a:ext cx="182880" cy="18288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337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3375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Önceden eğitilmiş model yükle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3721608"/>
            <a:ext cx="182880" cy="18288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721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72160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katmanları değiştir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28032" y="4105656"/>
            <a:ext cx="182880" cy="18288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1056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41056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veri ile eğit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Popüler Modeller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VGG16, ResNet, MobileNet Özellikleri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834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83464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Parametre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2834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65960"/>
            <a:ext cx="64008" cy="25603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29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/ VGG19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2468880"/>
            <a:ext cx="109728" cy="109728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42316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16/19 katman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2834640"/>
            <a:ext cx="109728" cy="109728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78892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 filtreler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200400"/>
            <a:ext cx="109728" cy="109728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1546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Ardışık Conv blokları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3566160"/>
            <a:ext cx="109728" cy="109728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2044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model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" y="3931920"/>
            <a:ext cx="109728" cy="109728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8862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başarılı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1115568"/>
            <a:ext cx="2834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1115568"/>
            <a:ext cx="283464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280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50-152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410712" y="192024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Katman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1965960"/>
            <a:ext cx="2834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37560" y="1965960"/>
            <a:ext cx="64008" cy="2560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029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/ ResNet152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02152" y="246888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42316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50-152 katman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02152" y="283464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85032" y="278892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02152" y="320040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85032" y="31546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bloklar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02152" y="356616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85032" y="352044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derin ağlar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02152" y="393192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85032" y="38862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çözüm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1115568"/>
            <a:ext cx="2834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1115568"/>
            <a:ext cx="2834640" cy="640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1280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6382512" y="192024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Parametre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09360" y="1965960"/>
            <a:ext cx="2834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09360" y="1965960"/>
            <a:ext cx="64008" cy="25603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2029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/ V3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73952" y="2468880"/>
            <a:ext cx="109728" cy="10972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56832" y="242316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73952" y="2834640"/>
            <a:ext cx="109728" cy="10972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56832" y="278892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parametre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73952" y="3200400"/>
            <a:ext cx="109728" cy="10972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56832" y="31546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cihazlar için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73952" y="3566160"/>
            <a:ext cx="109728" cy="10972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56832" y="352044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Hız-doğruluk denges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73952" y="3931920"/>
            <a:ext cx="109728" cy="10972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56832" y="38862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Lite deploy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vs Feature Extraction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 Seçimi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18488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5448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Önceden eğitilmiş model dondurulur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057400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9339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base_model.trainable = False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49631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3230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yeni eklenen katmanlar eğitilir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2935224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87121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veri varsa ideal seçim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374136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1012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eğitim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3813048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490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riski düşük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51560"/>
            <a:ext cx="64008" cy="36576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28032" y="1618488"/>
            <a:ext cx="128016" cy="1280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5544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katmanlar açılarak yeniden eğitilir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057400"/>
            <a:ext cx="128016" cy="1280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993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N katman trainable = True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2496312"/>
            <a:ext cx="128016" cy="1280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4323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learning rate kullanılır (1e-5)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2935224"/>
            <a:ext cx="128016" cy="1280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8712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 veri gerektirir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3374136"/>
            <a:ext cx="128016" cy="1280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3101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yüksek performans potansiyeli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28032" y="3813048"/>
            <a:ext cx="128016" cy="1280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37490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aşamalı: Önce extract, sonra tune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Verisini Yapay Olarak Artırma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6459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verisini yapay olarak artırma — az veri sorununa çözüm sağlar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Orijinal veri değişmez — eğitim sırasında anlık dönüşüm yapılır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80360"/>
            <a:ext cx="64008" cy="10515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53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Döndürme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rotation_range=20 → 20 derece rastgele döndürme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88036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880360"/>
            <a:ext cx="64008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953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Kaydırma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291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width_shift_range=0.2, height_shift_range=0.2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069080"/>
            <a:ext cx="64008" cy="10515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42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Yatay Çevirme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horizontal_flip=True → sol-sağ çevirme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40690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4069080"/>
            <a:ext cx="6400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142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480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zoom_range=0.2 → yakınlaştırma/uzaklaştırma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25780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5257800"/>
            <a:ext cx="64008" cy="1051560"/>
          </a:xfrm>
          <a:prstGeom prst="rect">
            <a:avLst/>
          </a:prstGeom>
          <a:solidFill>
            <a:srgbClr val="7C2D8C"/>
          </a:solidFill>
          <a:ln w="12700">
            <a:solidFill>
              <a:srgbClr val="7C2D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330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Parlaklık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669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brightness_range=[0.8, 1.2] → ışık değişimi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525780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5257800"/>
            <a:ext cx="64008" cy="1051560"/>
          </a:xfrm>
          <a:prstGeom prst="rect">
            <a:avLst/>
          </a:prstGeom>
          <a:solidFill>
            <a:srgbClr val="6B5B93"/>
          </a:solidFill>
          <a:ln w="12700">
            <a:solidFill>
              <a:srgbClr val="6B5B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5330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5669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shear_range=0.2 → geometrik dönüşüm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Uygulamalar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Transfer Learning Örnekleri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" cy="11430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Kedi vs Köpek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270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bilgisayarla görme problemi — ResNet50 ile yüksek doğruluk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64008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 Tespiti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270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döneminde gerçek dünya uygulaması — MobileNet ile hızlı deploy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64008" cy="11430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 Hastalığı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Tarım alanında yaprak görüntü analizi — çiftçilere yardım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77440"/>
            <a:ext cx="64008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İşareti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 sürüş teknolojisi — GTSRB veri setinde başarılı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63931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39312"/>
            <a:ext cx="64008" cy="1143000"/>
          </a:xfrm>
          <a:prstGeom prst="rect">
            <a:avLst/>
          </a:prstGeom>
          <a:solidFill>
            <a:srgbClr val="7C2D8C"/>
          </a:solidFill>
          <a:ln w="12700">
            <a:solidFill>
              <a:srgbClr val="7C2D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12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 Tanıma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0507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sistemleri, authentication — VGGFace modelleri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63931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639312"/>
            <a:ext cx="64008" cy="1143000"/>
          </a:xfrm>
          <a:prstGeom prst="rect">
            <a:avLst/>
          </a:prstGeom>
          <a:solidFill>
            <a:srgbClr val="6B5B93"/>
          </a:solidFill>
          <a:ln w="12700">
            <a:solidFill>
              <a:srgbClr val="6B5B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712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Görüntü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0507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X-ray, MRI sınıflandırma — doktor yardımcısı sistemi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Uygulama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188720"/>
            <a:ext cx="237744" cy="23774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88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170432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hazırlama: ImageDataGenerator ile yükleme ve augmentation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1664208"/>
            <a:ext cx="237744" cy="2377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64592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model: MobileNetV2(weights='imagenet', include_top=False)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139696"/>
            <a:ext cx="237744" cy="23774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139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121408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Dondurma: base_model.trainable = False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2615184"/>
            <a:ext cx="237744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15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596896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katmanlar: GlobalAveragePooling2D → Dense(128) → Dense(num_classes)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" y="3090672"/>
            <a:ext cx="237744" cy="237744"/>
          </a:xfrm>
          <a:prstGeom prst="rect">
            <a:avLst/>
          </a:prstGeom>
          <a:solidFill>
            <a:srgbClr val="7C2D8C"/>
          </a:solidFill>
          <a:ln w="12700">
            <a:solidFill>
              <a:srgbClr val="7C2D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072384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Compile: Adam(lr=0.001), categorical_crossentropy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566160"/>
            <a:ext cx="237744" cy="237744"/>
          </a:xfrm>
          <a:prstGeom prst="rect">
            <a:avLst/>
          </a:prstGeom>
          <a:solidFill>
            <a:srgbClr val="6B5B93"/>
          </a:solidFill>
          <a:ln w="12700">
            <a:solidFill>
              <a:srgbClr val="6B5B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547872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Eğitim: fit() ile EarlyStopping callback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0352" y="4041648"/>
            <a:ext cx="237744" cy="23774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Son 20 katmanı aç, lr=1e-5 ile yeniden eğit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657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Sonuç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201168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70432"/>
            <a:ext cx="164592" cy="16459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görüntü verisi için optimize edilmiş derin ağ mimarisi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64592" cy="16459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6420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Filtreler hiyerarşik öznitelikler öğrenir (kenar → doku → nesne)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164592" cy="16459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3113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az veri ile yüksek performans sağlar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164592" cy="16459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98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VGG16, ResNet, MobileNet — görev ve kaynağa göre model seçimi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438144"/>
            <a:ext cx="164592" cy="16459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649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vs Feature Extraction — veri miktarına göre strateji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005072"/>
            <a:ext cx="164592" cy="16459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319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ile eğitim verisini yapay olarak çoğaltma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C2D8C"/>
          </a:solidFill>
          <a:ln w="12700">
            <a:solidFill>
              <a:srgbClr val="7C2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tamamlandı — öğrenmeye devam edin!  Dr. Murat Altun  ·  Hafta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ve Transfer Learning</dc:title>
  <dc:subject>PptxGenJS Presentation</dc:subject>
  <dc:creator>Dr. Murat Altun</dc:creator>
  <cp:lastModifiedBy>Dr. Murat Altun</cp:lastModifiedBy>
  <cp:revision>1</cp:revision>
  <dcterms:created xsi:type="dcterms:W3CDTF">2026-04-07T16:27:38Z</dcterms:created>
  <dcterms:modified xsi:type="dcterms:W3CDTF">2026-04-07T16:27:38Z</dcterms:modified>
</cp:coreProperties>
</file>