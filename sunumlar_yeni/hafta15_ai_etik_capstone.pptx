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B2C1E"/>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B7A78"/>
          </a:solidFill>
          <a:ln/>
        </p:spPr>
      </p:sp>
      <p:sp>
        <p:nvSpPr>
          <p:cNvPr id="3" name="Shape 1"/>
          <p:cNvSpPr/>
          <p:nvPr/>
        </p:nvSpPr>
        <p:spPr>
          <a:xfrm>
            <a:off x="5943600" y="0"/>
            <a:ext cx="3200400" cy="5143500"/>
          </a:xfrm>
          <a:prstGeom prst="rect">
            <a:avLst/>
          </a:prstGeom>
          <a:solidFill>
            <a:srgbClr val="4A2518"/>
          </a:solidFill>
          <a:ln/>
        </p:spPr>
      </p:sp>
      <p:sp>
        <p:nvSpPr>
          <p:cNvPr id="4" name="Shape 2"/>
          <p:cNvSpPr/>
          <p:nvPr/>
        </p:nvSpPr>
        <p:spPr>
          <a:xfrm>
            <a:off x="5943600" y="0"/>
            <a:ext cx="45720" cy="5143500"/>
          </a:xfrm>
          <a:prstGeom prst="rect">
            <a:avLst/>
          </a:prstGeom>
          <a:solidFill>
            <a:srgbClr val="C97B5A"/>
          </a:solidFill>
          <a:ln/>
        </p:spPr>
      </p:sp>
      <p:sp>
        <p:nvSpPr>
          <p:cNvPr id="5" name="Shape 3"/>
          <p:cNvSpPr/>
          <p:nvPr/>
        </p:nvSpPr>
        <p:spPr>
          <a:xfrm>
            <a:off x="457200" y="548640"/>
            <a:ext cx="2194560" cy="310896"/>
          </a:xfrm>
          <a:prstGeom prst="rect">
            <a:avLst/>
          </a:prstGeom>
          <a:solidFill>
            <a:srgbClr val="2B7A78"/>
          </a:solidFill>
          <a:ln/>
        </p:spPr>
      </p:sp>
      <p:sp>
        <p:nvSpPr>
          <p:cNvPr id="6" name="Text 4"/>
          <p:cNvSpPr/>
          <p:nvPr/>
        </p:nvSpPr>
        <p:spPr>
          <a:xfrm>
            <a:off x="457200" y="548640"/>
            <a:ext cx="2194560" cy="310896"/>
          </a:xfrm>
          <a:prstGeom prst="rect">
            <a:avLst/>
          </a:prstGeom>
          <a:noFill/>
          <a:ln/>
        </p:spPr>
        <p:txBody>
          <a:bodyPr wrap="square" lIns="0" tIns="0" rIns="0" bIns="0" rtlCol="0" anchor="ctr"/>
          <a:lstStyle/>
          <a:p>
            <a:pPr algn="ctr" indent="0" marL="0">
              <a:buNone/>
            </a:pPr>
            <a:r>
              <a:rPr lang="en-US" sz="1000" b="1" spc="300" kern="0" dirty="0">
                <a:solidFill>
                  <a:srgbClr val="FFFFFF"/>
                </a:solidFill>
                <a:latin typeface="Calibri" pitchFamily="34" charset="0"/>
                <a:ea typeface="Calibri" pitchFamily="34" charset="-122"/>
                <a:cs typeface="Calibri" pitchFamily="34" charset="-120"/>
              </a:rPr>
              <a:t>VERİ BİLİMİ DERSİ</a:t>
            </a:r>
            <a:endParaRPr lang="en-US" sz="1000" dirty="0"/>
          </a:p>
        </p:txBody>
      </p:sp>
      <p:sp>
        <p:nvSpPr>
          <p:cNvPr id="7" name="Text 5"/>
          <p:cNvSpPr/>
          <p:nvPr/>
        </p:nvSpPr>
        <p:spPr>
          <a:xfrm>
            <a:off x="457200" y="1097280"/>
            <a:ext cx="5120640" cy="1828800"/>
          </a:xfrm>
          <a:prstGeom prst="rect">
            <a:avLst/>
          </a:prstGeom>
          <a:noFill/>
          <a:ln/>
        </p:spPr>
        <p:txBody>
          <a:bodyPr wrap="square" lIns="0" tIns="0" rIns="0" bIns="0" rtlCol="0" anchor="ctr"/>
          <a:lstStyle/>
          <a:p>
            <a:pPr indent="0" marL="0">
              <a:buNone/>
            </a:pPr>
            <a:r>
              <a:rPr lang="en-US" sz="4800" b="1" dirty="0">
                <a:solidFill>
                  <a:srgbClr val="FFFFFF"/>
                </a:solidFill>
                <a:latin typeface="Georgia" pitchFamily="34" charset="0"/>
                <a:ea typeface="Georgia" pitchFamily="34" charset="-122"/>
                <a:cs typeface="Georgia" pitchFamily="34" charset="-120"/>
              </a:rPr>
              <a:t>AI Etik ve</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Capstone Projesi</a:t>
            </a:r>
            <a:endParaRPr lang="en-US" sz="4800" dirty="0"/>
          </a:p>
        </p:txBody>
      </p:sp>
      <p:sp>
        <p:nvSpPr>
          <p:cNvPr id="8" name="Shape 6"/>
          <p:cNvSpPr/>
          <p:nvPr/>
        </p:nvSpPr>
        <p:spPr>
          <a:xfrm>
            <a:off x="457200" y="2971800"/>
            <a:ext cx="2743200" cy="45720"/>
          </a:xfrm>
          <a:prstGeom prst="rect">
            <a:avLst/>
          </a:prstGeom>
          <a:solidFill>
            <a:srgbClr val="C97B5A"/>
          </a:solidFill>
          <a:ln/>
        </p:spPr>
      </p:sp>
      <p:sp>
        <p:nvSpPr>
          <p:cNvPr id="9" name="Text 7"/>
          <p:cNvSpPr/>
          <p:nvPr/>
        </p:nvSpPr>
        <p:spPr>
          <a:xfrm>
            <a:off x="457200" y="3154680"/>
            <a:ext cx="5120640" cy="731520"/>
          </a:xfrm>
          <a:prstGeom prst="rect">
            <a:avLst/>
          </a:prstGeom>
          <a:noFill/>
          <a:ln/>
        </p:spPr>
        <p:txBody>
          <a:bodyPr wrap="square" lIns="0" tIns="0" rIns="0" bIns="0" rtlCol="0" anchor="ctr"/>
          <a:lstStyle/>
          <a:p>
            <a:pPr indent="0" marL="0">
              <a:buNone/>
            </a:pPr>
            <a:r>
              <a:rPr lang="en-US" sz="1500" i="1" dirty="0">
                <a:solidFill>
                  <a:srgbClr val="E8C4A8"/>
                </a:solidFill>
                <a:latin typeface="Calibri" pitchFamily="34" charset="0"/>
                <a:ea typeface="Calibri" pitchFamily="34" charset="-122"/>
                <a:cs typeface="Calibri" pitchFamily="34" charset="-120"/>
              </a:rPr>
              <a:t>Hafta 15 · Modül 15 (Final)</a:t>
            </a:r>
            <a:endParaRPr lang="en-US" sz="1500" dirty="0"/>
          </a:p>
          <a:p>
            <a:pPr indent="0" marL="0">
              <a:buNone/>
            </a:pPr>
            <a:r>
              <a:rPr lang="en-US" sz="1500" i="1" dirty="0">
                <a:solidFill>
                  <a:srgbClr val="E8C4A8"/>
                </a:solidFill>
                <a:latin typeface="Calibri" pitchFamily="34" charset="0"/>
                <a:ea typeface="Calibri" pitchFamily="34" charset="-122"/>
                <a:cs typeface="Calibri" pitchFamily="34" charset="-120"/>
              </a:rPr>
              <a:t>Sorumlu AI, Gelecek Vizyonu ve Büyük Final Projesi</a:t>
            </a:r>
            <a:endParaRPr lang="en-US" sz="1500" dirty="0"/>
          </a:p>
        </p:txBody>
      </p:sp>
      <p:sp>
        <p:nvSpPr>
          <p:cNvPr id="10" name="Text 8"/>
          <p:cNvSpPr/>
          <p:nvPr/>
        </p:nvSpPr>
        <p:spPr>
          <a:xfrm>
            <a:off x="457200" y="4251960"/>
            <a:ext cx="2743200" cy="292608"/>
          </a:xfrm>
          <a:prstGeom prst="rect">
            <a:avLst/>
          </a:prstGeom>
          <a:noFill/>
          <a:ln/>
        </p:spPr>
        <p:txBody>
          <a:bodyPr wrap="square" lIns="0" tIns="0" rIns="0" bIns="0" rtlCol="0" anchor="ctr"/>
          <a:lstStyle/>
          <a:p>
            <a:pPr indent="0" marL="0">
              <a:buNone/>
            </a:pPr>
            <a:r>
              <a:rPr lang="en-US" sz="1300" b="1" dirty="0">
                <a:solidFill>
                  <a:srgbClr val="C97B5A"/>
                </a:solidFill>
                <a:latin typeface="Georgia" pitchFamily="34" charset="0"/>
                <a:ea typeface="Georgia" pitchFamily="34" charset="-122"/>
                <a:cs typeface="Georgia" pitchFamily="34" charset="-120"/>
              </a:rPr>
              <a:t>Dr. Murat Altun</a:t>
            </a:r>
            <a:endParaRPr lang="en-US" sz="1300" dirty="0"/>
          </a:p>
        </p:txBody>
      </p:sp>
      <p:sp>
        <p:nvSpPr>
          <p:cNvPr id="11" name="Text 9"/>
          <p:cNvSpPr/>
          <p:nvPr/>
        </p:nvSpPr>
        <p:spPr>
          <a:xfrm>
            <a:off x="457200" y="4535424"/>
            <a:ext cx="4572000" cy="274320"/>
          </a:xfrm>
          <a:prstGeom prst="rect">
            <a:avLst/>
          </a:prstGeom>
          <a:noFill/>
          <a:ln/>
        </p:spPr>
        <p:txBody>
          <a:bodyPr wrap="square" lIns="0" tIns="0" rIns="0" bIns="0" rtlCol="0" anchor="ctr"/>
          <a:lstStyle/>
          <a:p>
            <a:pPr indent="0" marL="0">
              <a:buNone/>
            </a:pPr>
            <a:r>
              <a:rPr lang="en-US" sz="1000" dirty="0">
                <a:solidFill>
                  <a:srgbClr val="A39585"/>
                </a:solidFill>
                <a:latin typeface="Calibri" pitchFamily="34" charset="0"/>
                <a:ea typeface="Calibri" pitchFamily="34" charset="-122"/>
                <a:cs typeface="Calibri" pitchFamily="34" charset="-120"/>
              </a:rPr>
              <a:t>Veri Bilimi ve Yapay Zekâ Eğitimi  ·  2026</a:t>
            </a:r>
            <a:endParaRPr lang="en-US" sz="1000" dirty="0"/>
          </a:p>
        </p:txBody>
      </p:sp>
      <p:sp>
        <p:nvSpPr>
          <p:cNvPr id="12" name="Text 10"/>
          <p:cNvSpPr/>
          <p:nvPr/>
        </p:nvSpPr>
        <p:spPr>
          <a:xfrm>
            <a:off x="6126480" y="320040"/>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6</a:t>
            </a:r>
            <a:endParaRPr lang="en-US" sz="3200" dirty="0"/>
          </a:p>
        </p:txBody>
      </p:sp>
      <p:sp>
        <p:nvSpPr>
          <p:cNvPr id="13" name="Text 11"/>
          <p:cNvSpPr/>
          <p:nvPr/>
        </p:nvSpPr>
        <p:spPr>
          <a:xfrm>
            <a:off x="6126480" y="822960"/>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Saat</a:t>
            </a:r>
            <a:endParaRPr lang="en-US" sz="1000" dirty="0"/>
          </a:p>
        </p:txBody>
      </p:sp>
      <p:sp>
        <p:nvSpPr>
          <p:cNvPr id="14" name="Shape 12"/>
          <p:cNvSpPr/>
          <p:nvPr/>
        </p:nvSpPr>
        <p:spPr>
          <a:xfrm>
            <a:off x="6583680" y="1371600"/>
            <a:ext cx="1920240" cy="18288"/>
          </a:xfrm>
          <a:prstGeom prst="rect">
            <a:avLst/>
          </a:prstGeom>
          <a:solidFill>
            <a:srgbClr val="6B3A28"/>
          </a:solidFill>
          <a:ln/>
        </p:spPr>
      </p:sp>
      <p:sp>
        <p:nvSpPr>
          <p:cNvPr id="15" name="Text 13"/>
          <p:cNvSpPr/>
          <p:nvPr/>
        </p:nvSpPr>
        <p:spPr>
          <a:xfrm>
            <a:off x="6126480" y="1527048"/>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2</a:t>
            </a:r>
            <a:endParaRPr lang="en-US" sz="3200" dirty="0"/>
          </a:p>
        </p:txBody>
      </p:sp>
      <p:sp>
        <p:nvSpPr>
          <p:cNvPr id="16" name="Text 14"/>
          <p:cNvSpPr/>
          <p:nvPr/>
        </p:nvSpPr>
        <p:spPr>
          <a:xfrm>
            <a:off x="6126480" y="2029968"/>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Notebook</a:t>
            </a:r>
            <a:endParaRPr lang="en-US" sz="1000" dirty="0"/>
          </a:p>
        </p:txBody>
      </p:sp>
      <p:sp>
        <p:nvSpPr>
          <p:cNvPr id="17" name="Shape 15"/>
          <p:cNvSpPr/>
          <p:nvPr/>
        </p:nvSpPr>
        <p:spPr>
          <a:xfrm>
            <a:off x="6583680" y="2578608"/>
            <a:ext cx="1920240" cy="18288"/>
          </a:xfrm>
          <a:prstGeom prst="rect">
            <a:avLst/>
          </a:prstGeom>
          <a:solidFill>
            <a:srgbClr val="6B3A28"/>
          </a:solidFill>
          <a:ln/>
        </p:spPr>
      </p:sp>
      <p:sp>
        <p:nvSpPr>
          <p:cNvPr id="18" name="Text 16"/>
          <p:cNvSpPr/>
          <p:nvPr/>
        </p:nvSpPr>
        <p:spPr>
          <a:xfrm>
            <a:off x="6126480" y="2734056"/>
            <a:ext cx="2834640" cy="502920"/>
          </a:xfrm>
          <a:prstGeom prst="rect">
            <a:avLst/>
          </a:prstGeom>
          <a:noFill/>
          <a:ln/>
        </p:spPr>
        <p:txBody>
          <a:bodyPr wrap="square" lIns="0" tIns="0" rIns="0" bIns="0" rtlCol="0" anchor="ctr"/>
          <a:lstStyle/>
          <a:p>
            <a:pPr algn="ctr" indent="0" marL="0">
              <a:buNone/>
            </a:pPr>
            <a:r>
              <a:rPr lang="en-US" sz="3200" b="1" dirty="0">
                <a:solidFill>
                  <a:srgbClr val="C97B5A"/>
                </a:solidFill>
                <a:latin typeface="Georgia" pitchFamily="34" charset="0"/>
                <a:ea typeface="Georgia" pitchFamily="34" charset="-122"/>
                <a:cs typeface="Georgia" pitchFamily="34" charset="-120"/>
              </a:rPr>
              <a:t>5</a:t>
            </a:r>
            <a:endParaRPr lang="en-US" sz="3200" dirty="0"/>
          </a:p>
        </p:txBody>
      </p:sp>
      <p:sp>
        <p:nvSpPr>
          <p:cNvPr id="19" name="Text 17"/>
          <p:cNvSpPr/>
          <p:nvPr/>
        </p:nvSpPr>
        <p:spPr>
          <a:xfrm>
            <a:off x="6126480" y="3236976"/>
            <a:ext cx="2834640" cy="475488"/>
          </a:xfrm>
          <a:prstGeom prst="rect">
            <a:avLst/>
          </a:prstGeom>
          <a:noFill/>
          <a:ln/>
        </p:spPr>
        <p:txBody>
          <a:bodyPr wrap="square" lIns="0" tIns="0" rIns="0" bIns="0" rtlCol="0" anchor="ctr"/>
          <a:lstStyle/>
          <a:p>
            <a:pPr algn="ctr" indent="0" marL="0">
              <a:buNone/>
            </a:pPr>
            <a:r>
              <a:rPr lang="en-US" sz="1000" dirty="0">
                <a:solidFill>
                  <a:srgbClr val="E8C4A8"/>
                </a:solidFill>
                <a:latin typeface="Calibri" pitchFamily="34" charset="0"/>
                <a:ea typeface="Calibri" pitchFamily="34" charset="-122"/>
                <a:cs typeface="Calibri" pitchFamily="34" charset="-120"/>
              </a:rPr>
              <a:t>Proje Seçeneği</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İçindekiler</a:t>
            </a:r>
            <a:endParaRPr lang="en-US" sz="2000" dirty="0"/>
          </a:p>
        </p:txBody>
      </p:sp>
      <p:sp>
        <p:nvSpPr>
          <p:cNvPr id="5" name="Text 3"/>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6" name="Shape 4"/>
          <p:cNvSpPr/>
          <p:nvPr/>
        </p:nvSpPr>
        <p:spPr>
          <a:xfrm>
            <a:off x="457200" y="1051560"/>
            <a:ext cx="8229600" cy="1051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7" name="Shape 5"/>
          <p:cNvSpPr/>
          <p:nvPr/>
        </p:nvSpPr>
        <p:spPr>
          <a:xfrm>
            <a:off x="457200" y="1051560"/>
            <a:ext cx="54864" cy="1051560"/>
          </a:xfrm>
          <a:prstGeom prst="rect">
            <a:avLst/>
          </a:prstGeom>
          <a:solidFill>
            <a:srgbClr val="C97B5A"/>
          </a:solidFill>
          <a:ln/>
        </p:spPr>
      </p:sp>
      <p:sp>
        <p:nvSpPr>
          <p:cNvPr id="8" name="Shape 6"/>
          <p:cNvSpPr/>
          <p:nvPr/>
        </p:nvSpPr>
        <p:spPr>
          <a:xfrm>
            <a:off x="512064" y="1234440"/>
            <a:ext cx="640080" cy="640080"/>
          </a:xfrm>
          <a:prstGeom prst="rect">
            <a:avLst/>
          </a:prstGeom>
          <a:solidFill>
            <a:srgbClr val="C97B5A"/>
          </a:solidFill>
          <a:ln/>
        </p:spPr>
      </p:sp>
      <p:sp>
        <p:nvSpPr>
          <p:cNvPr id="9" name="Text 7"/>
          <p:cNvSpPr/>
          <p:nvPr/>
        </p:nvSpPr>
        <p:spPr>
          <a:xfrm>
            <a:off x="512064" y="12344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01</a:t>
            </a:r>
            <a:endParaRPr lang="en-US" sz="2200" dirty="0"/>
          </a:p>
        </p:txBody>
      </p:sp>
      <p:sp>
        <p:nvSpPr>
          <p:cNvPr id="10" name="Text 8"/>
          <p:cNvSpPr/>
          <p:nvPr/>
        </p:nvSpPr>
        <p:spPr>
          <a:xfrm>
            <a:off x="1280160" y="1188720"/>
            <a:ext cx="4572000" cy="411480"/>
          </a:xfrm>
          <a:prstGeom prst="rect">
            <a:avLst/>
          </a:prstGeom>
          <a:noFill/>
          <a:ln/>
        </p:spPr>
        <p:txBody>
          <a:bodyPr wrap="square" lIns="0" tIns="0" rIns="0" bIns="0" rtlCol="0" anchor="ctr"/>
          <a:lstStyle/>
          <a:p>
            <a:pPr indent="0" marL="0">
              <a:buNone/>
            </a:pPr>
            <a:r>
              <a:rPr lang="en-US" sz="1600" b="1" dirty="0">
                <a:solidFill>
                  <a:srgbClr val="2E1F1A"/>
                </a:solidFill>
                <a:latin typeface="Georgia" pitchFamily="34" charset="0"/>
                <a:ea typeface="Georgia" pitchFamily="34" charset="-122"/>
                <a:cs typeface="Georgia" pitchFamily="34" charset="-120"/>
              </a:rPr>
              <a:t>AI Etik</a:t>
            </a:r>
            <a:endParaRPr lang="en-US" sz="1600" dirty="0"/>
          </a:p>
        </p:txBody>
      </p:sp>
      <p:sp>
        <p:nvSpPr>
          <p:cNvPr id="11" name="Text 9"/>
          <p:cNvSpPr/>
          <p:nvPr/>
        </p:nvSpPr>
        <p:spPr>
          <a:xfrm>
            <a:off x="1280160" y="1600200"/>
            <a:ext cx="4572000" cy="365760"/>
          </a:xfrm>
          <a:prstGeom prst="rect">
            <a:avLst/>
          </a:prstGeom>
          <a:noFill/>
          <a:ln/>
        </p:spPr>
        <p:txBody>
          <a:bodyPr wrap="square" lIns="0" tIns="0" rIns="0" bIns="0" rtlCol="0" anchor="ctr"/>
          <a:lstStyle/>
          <a:p>
            <a:pPr indent="0" marL="0">
              <a:buNone/>
            </a:pPr>
            <a:r>
              <a:rPr lang="en-US" sz="1100" dirty="0">
                <a:solidFill>
                  <a:srgbClr val="6B5B52"/>
                </a:solidFill>
                <a:latin typeface="Calibri" pitchFamily="34" charset="0"/>
                <a:ea typeface="Calibri" pitchFamily="34" charset="-122"/>
                <a:cs typeface="Calibri" pitchFamily="34" charset="-120"/>
              </a:rPr>
              <a:t>Bias · Fairness · Transparency · EU AI Act · Sorumlu AI İlkeleri</a:t>
            </a:r>
            <a:endParaRPr lang="en-US" sz="1100" dirty="0"/>
          </a:p>
        </p:txBody>
      </p:sp>
      <p:sp>
        <p:nvSpPr>
          <p:cNvPr id="12" name="Text 10"/>
          <p:cNvSpPr/>
          <p:nvPr/>
        </p:nvSpPr>
        <p:spPr>
          <a:xfrm>
            <a:off x="7132320" y="1371600"/>
            <a:ext cx="1371600" cy="365760"/>
          </a:xfrm>
          <a:prstGeom prst="rect">
            <a:avLst/>
          </a:prstGeom>
          <a:noFill/>
          <a:ln/>
        </p:spPr>
        <p:txBody>
          <a:bodyPr wrap="square" lIns="0" tIns="0" rIns="0" bIns="0" rtlCol="0" anchor="ctr"/>
          <a:lstStyle/>
          <a:p>
            <a:pPr algn="r" indent="0" marL="0">
              <a:buNone/>
            </a:pPr>
            <a:r>
              <a:rPr lang="en-US" sz="1000" b="1" dirty="0">
                <a:solidFill>
                  <a:srgbClr val="C97B5A"/>
                </a:solidFill>
                <a:latin typeface="Calibri" pitchFamily="34" charset="0"/>
                <a:ea typeface="Calibri" pitchFamily="34" charset="-122"/>
                <a:cs typeface="Calibri" pitchFamily="34" charset="-120"/>
              </a:rPr>
              <a:t>Slayt 3–9</a:t>
            </a:r>
            <a:endParaRPr lang="en-US" sz="1000" dirty="0"/>
          </a:p>
        </p:txBody>
      </p:sp>
      <p:sp>
        <p:nvSpPr>
          <p:cNvPr id="13" name="Shape 11"/>
          <p:cNvSpPr/>
          <p:nvPr/>
        </p:nvSpPr>
        <p:spPr>
          <a:xfrm>
            <a:off x="457200" y="2286000"/>
            <a:ext cx="8229600" cy="1051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4" name="Shape 12"/>
          <p:cNvSpPr/>
          <p:nvPr/>
        </p:nvSpPr>
        <p:spPr>
          <a:xfrm>
            <a:off x="457200" y="2286000"/>
            <a:ext cx="54864" cy="1051560"/>
          </a:xfrm>
          <a:prstGeom prst="rect">
            <a:avLst/>
          </a:prstGeom>
          <a:solidFill>
            <a:srgbClr val="2B7A78"/>
          </a:solidFill>
          <a:ln/>
        </p:spPr>
      </p:sp>
      <p:sp>
        <p:nvSpPr>
          <p:cNvPr id="15" name="Shape 13"/>
          <p:cNvSpPr/>
          <p:nvPr/>
        </p:nvSpPr>
        <p:spPr>
          <a:xfrm>
            <a:off x="512064" y="2468880"/>
            <a:ext cx="640080" cy="640080"/>
          </a:xfrm>
          <a:prstGeom prst="rect">
            <a:avLst/>
          </a:prstGeom>
          <a:solidFill>
            <a:srgbClr val="2B7A78"/>
          </a:solidFill>
          <a:ln/>
        </p:spPr>
      </p:sp>
      <p:sp>
        <p:nvSpPr>
          <p:cNvPr id="16" name="Text 14"/>
          <p:cNvSpPr/>
          <p:nvPr/>
        </p:nvSpPr>
        <p:spPr>
          <a:xfrm>
            <a:off x="512064" y="24688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02</a:t>
            </a:r>
            <a:endParaRPr lang="en-US" sz="2200" dirty="0"/>
          </a:p>
        </p:txBody>
      </p:sp>
      <p:sp>
        <p:nvSpPr>
          <p:cNvPr id="17" name="Text 15"/>
          <p:cNvSpPr/>
          <p:nvPr/>
        </p:nvSpPr>
        <p:spPr>
          <a:xfrm>
            <a:off x="1280160" y="2423160"/>
            <a:ext cx="4572000" cy="411480"/>
          </a:xfrm>
          <a:prstGeom prst="rect">
            <a:avLst/>
          </a:prstGeom>
          <a:noFill/>
          <a:ln/>
        </p:spPr>
        <p:txBody>
          <a:bodyPr wrap="square" lIns="0" tIns="0" rIns="0" bIns="0" rtlCol="0" anchor="ctr"/>
          <a:lstStyle/>
          <a:p>
            <a:pPr indent="0" marL="0">
              <a:buNone/>
            </a:pPr>
            <a:r>
              <a:rPr lang="en-US" sz="1600" b="1" dirty="0">
                <a:solidFill>
                  <a:srgbClr val="2E1F1A"/>
                </a:solidFill>
                <a:latin typeface="Georgia" pitchFamily="34" charset="0"/>
                <a:ea typeface="Georgia" pitchFamily="34" charset="-122"/>
                <a:cs typeface="Georgia" pitchFamily="34" charset="-120"/>
              </a:rPr>
              <a:t>AI’ın Geleceği</a:t>
            </a:r>
            <a:endParaRPr lang="en-US" sz="1600" dirty="0"/>
          </a:p>
        </p:txBody>
      </p:sp>
      <p:sp>
        <p:nvSpPr>
          <p:cNvPr id="18" name="Text 16"/>
          <p:cNvSpPr/>
          <p:nvPr/>
        </p:nvSpPr>
        <p:spPr>
          <a:xfrm>
            <a:off x="1280160" y="2834640"/>
            <a:ext cx="4572000" cy="365760"/>
          </a:xfrm>
          <a:prstGeom prst="rect">
            <a:avLst/>
          </a:prstGeom>
          <a:noFill/>
          <a:ln/>
        </p:spPr>
        <p:txBody>
          <a:bodyPr wrap="square" lIns="0" tIns="0" rIns="0" bIns="0" rtlCol="0" anchor="ctr"/>
          <a:lstStyle/>
          <a:p>
            <a:pPr indent="0" marL="0">
              <a:buNone/>
            </a:pPr>
            <a:r>
              <a:rPr lang="en-US" sz="1100" dirty="0">
                <a:solidFill>
                  <a:srgbClr val="6B5B52"/>
                </a:solidFill>
                <a:latin typeface="Calibri" pitchFamily="34" charset="0"/>
                <a:ea typeface="Calibri" pitchFamily="34" charset="-122"/>
                <a:cs typeface="Calibri" pitchFamily="34" charset="-120"/>
              </a:rPr>
              <a:t>AGI · Multimodal · Otonom Ajanlar · Kariyer Yolları · 15 Hafta Özeti</a:t>
            </a:r>
            <a:endParaRPr lang="en-US" sz="1100" dirty="0"/>
          </a:p>
        </p:txBody>
      </p:sp>
      <p:sp>
        <p:nvSpPr>
          <p:cNvPr id="19" name="Text 17"/>
          <p:cNvSpPr/>
          <p:nvPr/>
        </p:nvSpPr>
        <p:spPr>
          <a:xfrm>
            <a:off x="7132320" y="2606040"/>
            <a:ext cx="1371600" cy="365760"/>
          </a:xfrm>
          <a:prstGeom prst="rect">
            <a:avLst/>
          </a:prstGeom>
          <a:noFill/>
          <a:ln/>
        </p:spPr>
        <p:txBody>
          <a:bodyPr wrap="square" lIns="0" tIns="0" rIns="0" bIns="0" rtlCol="0" anchor="ctr"/>
          <a:lstStyle/>
          <a:p>
            <a:pPr algn="r" indent="0" marL="0">
              <a:buNone/>
            </a:pPr>
            <a:r>
              <a:rPr lang="en-US" sz="1000" b="1" dirty="0">
                <a:solidFill>
                  <a:srgbClr val="2B7A78"/>
                </a:solidFill>
                <a:latin typeface="Calibri" pitchFamily="34" charset="0"/>
                <a:ea typeface="Calibri" pitchFamily="34" charset="-122"/>
                <a:cs typeface="Calibri" pitchFamily="34" charset="-120"/>
              </a:rPr>
              <a:t>Slayt 10–12</a:t>
            </a:r>
            <a:endParaRPr lang="en-US" sz="1000" dirty="0"/>
          </a:p>
        </p:txBody>
      </p:sp>
      <p:sp>
        <p:nvSpPr>
          <p:cNvPr id="20" name="Shape 18"/>
          <p:cNvSpPr/>
          <p:nvPr/>
        </p:nvSpPr>
        <p:spPr>
          <a:xfrm>
            <a:off x="457200" y="3520440"/>
            <a:ext cx="8229600" cy="10515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457200" y="3520440"/>
            <a:ext cx="54864" cy="1051560"/>
          </a:xfrm>
          <a:prstGeom prst="rect">
            <a:avLst/>
          </a:prstGeom>
          <a:solidFill>
            <a:srgbClr val="E8913A"/>
          </a:solidFill>
          <a:ln/>
        </p:spPr>
      </p:sp>
      <p:sp>
        <p:nvSpPr>
          <p:cNvPr id="22" name="Shape 20"/>
          <p:cNvSpPr/>
          <p:nvPr/>
        </p:nvSpPr>
        <p:spPr>
          <a:xfrm>
            <a:off x="512064" y="3703320"/>
            <a:ext cx="640080" cy="640080"/>
          </a:xfrm>
          <a:prstGeom prst="rect">
            <a:avLst/>
          </a:prstGeom>
          <a:solidFill>
            <a:srgbClr val="E8913A"/>
          </a:solidFill>
          <a:ln/>
        </p:spPr>
      </p:sp>
      <p:sp>
        <p:nvSpPr>
          <p:cNvPr id="23" name="Text 21"/>
          <p:cNvSpPr/>
          <p:nvPr/>
        </p:nvSpPr>
        <p:spPr>
          <a:xfrm>
            <a:off x="512064" y="37033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03</a:t>
            </a:r>
            <a:endParaRPr lang="en-US" sz="2200" dirty="0"/>
          </a:p>
        </p:txBody>
      </p:sp>
      <p:sp>
        <p:nvSpPr>
          <p:cNvPr id="24" name="Text 22"/>
          <p:cNvSpPr/>
          <p:nvPr/>
        </p:nvSpPr>
        <p:spPr>
          <a:xfrm>
            <a:off x="1280160" y="3657600"/>
            <a:ext cx="4572000" cy="411480"/>
          </a:xfrm>
          <a:prstGeom prst="rect">
            <a:avLst/>
          </a:prstGeom>
          <a:noFill/>
          <a:ln/>
        </p:spPr>
        <p:txBody>
          <a:bodyPr wrap="square" lIns="0" tIns="0" rIns="0" bIns="0" rtlCol="0" anchor="ctr"/>
          <a:lstStyle/>
          <a:p>
            <a:pPr indent="0" marL="0">
              <a:buNone/>
            </a:pPr>
            <a:r>
              <a:rPr lang="en-US" sz="1600" b="1" dirty="0">
                <a:solidFill>
                  <a:srgbClr val="2E1F1A"/>
                </a:solidFill>
                <a:latin typeface="Georgia" pitchFamily="34" charset="0"/>
                <a:ea typeface="Georgia" pitchFamily="34" charset="-122"/>
                <a:cs typeface="Georgia" pitchFamily="34" charset="-120"/>
              </a:rPr>
              <a:t>Capstone Projesi</a:t>
            </a:r>
            <a:endParaRPr lang="en-US" sz="1600" dirty="0"/>
          </a:p>
        </p:txBody>
      </p:sp>
      <p:sp>
        <p:nvSpPr>
          <p:cNvPr id="25" name="Text 23"/>
          <p:cNvSpPr/>
          <p:nvPr/>
        </p:nvSpPr>
        <p:spPr>
          <a:xfrm>
            <a:off x="1280160" y="4069080"/>
            <a:ext cx="4572000" cy="365760"/>
          </a:xfrm>
          <a:prstGeom prst="rect">
            <a:avLst/>
          </a:prstGeom>
          <a:noFill/>
          <a:ln/>
        </p:spPr>
        <p:txBody>
          <a:bodyPr wrap="square" lIns="0" tIns="0" rIns="0" bIns="0" rtlCol="0" anchor="ctr"/>
          <a:lstStyle/>
          <a:p>
            <a:pPr indent="0" marL="0">
              <a:buNone/>
            </a:pPr>
            <a:r>
              <a:rPr lang="en-US" sz="1100" dirty="0">
                <a:solidFill>
                  <a:srgbClr val="6B5B52"/>
                </a:solidFill>
                <a:latin typeface="Calibri" pitchFamily="34" charset="0"/>
                <a:ea typeface="Calibri" pitchFamily="34" charset="-122"/>
                <a:cs typeface="Calibri" pitchFamily="34" charset="-120"/>
              </a:rPr>
              <a:t>5 Proje Seçeneği · Değerlendirme · Notebook’lar · Ödev</a:t>
            </a:r>
            <a:endParaRPr lang="en-US" sz="1100" dirty="0"/>
          </a:p>
        </p:txBody>
      </p:sp>
      <p:sp>
        <p:nvSpPr>
          <p:cNvPr id="26" name="Text 24"/>
          <p:cNvSpPr/>
          <p:nvPr/>
        </p:nvSpPr>
        <p:spPr>
          <a:xfrm>
            <a:off x="7132320" y="3840480"/>
            <a:ext cx="1371600" cy="365760"/>
          </a:xfrm>
          <a:prstGeom prst="rect">
            <a:avLst/>
          </a:prstGeom>
          <a:noFill/>
          <a:ln/>
        </p:spPr>
        <p:txBody>
          <a:bodyPr wrap="square" lIns="0" tIns="0" rIns="0" bIns="0" rtlCol="0" anchor="ctr"/>
          <a:lstStyle/>
          <a:p>
            <a:pPr algn="r" indent="0" marL="0">
              <a:buNone/>
            </a:pPr>
            <a:r>
              <a:rPr lang="en-US" sz="1000" b="1" dirty="0">
                <a:solidFill>
                  <a:srgbClr val="E8913A"/>
                </a:solidFill>
                <a:latin typeface="Calibri" pitchFamily="34" charset="0"/>
                <a:ea typeface="Calibri" pitchFamily="34" charset="-122"/>
                <a:cs typeface="Calibri" pitchFamily="34" charset="-120"/>
              </a:rPr>
              <a:t>Slayt 13–19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AI Etiği Nedir?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14400"/>
            <a:ext cx="8229600" cy="10058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14400"/>
            <a:ext cx="8229600" cy="54864"/>
          </a:xfrm>
          <a:prstGeom prst="rect">
            <a:avLst/>
          </a:prstGeom>
          <a:solidFill>
            <a:srgbClr val="5B2C1E"/>
          </a:solidFill>
          <a:ln/>
        </p:spPr>
      </p:sp>
      <p:sp>
        <p:nvSpPr>
          <p:cNvPr id="10" name="Text 8"/>
          <p:cNvSpPr/>
          <p:nvPr/>
        </p:nvSpPr>
        <p:spPr>
          <a:xfrm>
            <a:off x="640080" y="1024128"/>
            <a:ext cx="7772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Tanım</a:t>
            </a:r>
            <a:endParaRPr lang="en-US" sz="1200" dirty="0"/>
          </a:p>
        </p:txBody>
      </p:sp>
      <p:sp>
        <p:nvSpPr>
          <p:cNvPr id="11" name="Text 9"/>
          <p:cNvSpPr/>
          <p:nvPr/>
        </p:nvSpPr>
        <p:spPr>
          <a:xfrm>
            <a:off x="640080" y="1325880"/>
            <a:ext cx="7772400" cy="5029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AI etiği, yapay zekâ sistemlerinin tasarlanması, geliştirilmesi ve kullanılması sırasında ortaya çıkan ahlaki soruları, toplumsal etkileri ve sorumlulukları inceleyen disiplinler arası bir alandır.</a:t>
            </a:r>
            <a:endParaRPr lang="en-US" sz="1100" dirty="0"/>
          </a:p>
        </p:txBody>
      </p:sp>
      <p:sp>
        <p:nvSpPr>
          <p:cNvPr id="12" name="Shape 10"/>
          <p:cNvSpPr/>
          <p:nvPr/>
        </p:nvSpPr>
        <p:spPr>
          <a:xfrm>
            <a:off x="457200" y="2103120"/>
            <a:ext cx="393192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57200" y="2103120"/>
            <a:ext cx="54864" cy="1188720"/>
          </a:xfrm>
          <a:prstGeom prst="rect">
            <a:avLst/>
          </a:prstGeom>
          <a:solidFill>
            <a:srgbClr val="2B7A78"/>
          </a:solidFill>
          <a:ln/>
        </p:spPr>
      </p:sp>
      <p:sp>
        <p:nvSpPr>
          <p:cNvPr id="14" name="Text 12"/>
          <p:cNvSpPr/>
          <p:nvPr/>
        </p:nvSpPr>
        <p:spPr>
          <a:xfrm>
            <a:off x="640080" y="2194560"/>
            <a:ext cx="347472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Neden Önemli?</a:t>
            </a:r>
            <a:endParaRPr lang="en-US" sz="1200" dirty="0"/>
          </a:p>
        </p:txBody>
      </p:sp>
      <p:sp>
        <p:nvSpPr>
          <p:cNvPr id="15" name="Text 13"/>
          <p:cNvSpPr/>
          <p:nvPr/>
        </p:nvSpPr>
        <p:spPr>
          <a:xfrm>
            <a:off x="640080" y="2514600"/>
            <a:ext cx="3474720" cy="6858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AI kararları milyarlarca insanı etkiliyor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Önyargılı modeller eşitsizliği derinleştirebilir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Şeffaflık olmadan güven inşa edilemez</a:t>
            </a:r>
            <a:endParaRPr lang="en-US" sz="1100" dirty="0"/>
          </a:p>
        </p:txBody>
      </p:sp>
      <p:sp>
        <p:nvSpPr>
          <p:cNvPr id="16" name="Shape 14"/>
          <p:cNvSpPr/>
          <p:nvPr/>
        </p:nvSpPr>
        <p:spPr>
          <a:xfrm>
            <a:off x="4572000" y="2103120"/>
            <a:ext cx="41148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4572000" y="2103120"/>
            <a:ext cx="54864" cy="1188720"/>
          </a:xfrm>
          <a:prstGeom prst="rect">
            <a:avLst/>
          </a:prstGeom>
          <a:solidFill>
            <a:srgbClr val="D94F4F"/>
          </a:solidFill>
          <a:ln/>
        </p:spPr>
      </p:sp>
      <p:sp>
        <p:nvSpPr>
          <p:cNvPr id="18" name="Text 16"/>
          <p:cNvSpPr/>
          <p:nvPr/>
        </p:nvSpPr>
        <p:spPr>
          <a:xfrm>
            <a:off x="4754880" y="2194560"/>
            <a:ext cx="365760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Gerçek Dünya Etkileri</a:t>
            </a:r>
            <a:endParaRPr lang="en-US" sz="1200" dirty="0"/>
          </a:p>
        </p:txBody>
      </p:sp>
      <p:sp>
        <p:nvSpPr>
          <p:cNvPr id="19" name="Text 17"/>
          <p:cNvSpPr/>
          <p:nvPr/>
        </p:nvSpPr>
        <p:spPr>
          <a:xfrm>
            <a:off x="4754880" y="2514600"/>
            <a:ext cx="3657600" cy="6858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Ceza adalet sistemlerinde ırkçı tahminler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Kredi skorlamasında cinsiyet ayrımcılığı</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Deepfake ile dezenformasyon yayılımı</a:t>
            </a:r>
            <a:endParaRPr lang="en-US" sz="1100" dirty="0"/>
          </a:p>
        </p:txBody>
      </p:sp>
      <p:sp>
        <p:nvSpPr>
          <p:cNvPr id="20" name="Shape 18"/>
          <p:cNvSpPr/>
          <p:nvPr/>
        </p:nvSpPr>
        <p:spPr>
          <a:xfrm>
            <a:off x="457200" y="3520440"/>
            <a:ext cx="2560320" cy="1234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457200" y="3520440"/>
            <a:ext cx="2560320" cy="54864"/>
          </a:xfrm>
          <a:prstGeom prst="rect">
            <a:avLst/>
          </a:prstGeom>
          <a:solidFill>
            <a:srgbClr val="C97B5A"/>
          </a:solidFill>
          <a:ln/>
        </p:spPr>
      </p:sp>
      <p:sp>
        <p:nvSpPr>
          <p:cNvPr id="22" name="Text 20"/>
          <p:cNvSpPr/>
          <p:nvPr/>
        </p:nvSpPr>
        <p:spPr>
          <a:xfrm>
            <a:off x="457200" y="3657600"/>
            <a:ext cx="2560320" cy="594360"/>
          </a:xfrm>
          <a:prstGeom prst="rect">
            <a:avLst/>
          </a:prstGeom>
          <a:noFill/>
          <a:ln/>
        </p:spPr>
        <p:txBody>
          <a:bodyPr wrap="square" lIns="0" tIns="0" rIns="0" bIns="0" rtlCol="0" anchor="ctr"/>
          <a:lstStyle/>
          <a:p>
            <a:pPr algn="ctr" indent="0" marL="0">
              <a:buNone/>
            </a:pPr>
            <a:r>
              <a:rPr lang="en-US" sz="3400" b="1" dirty="0">
                <a:solidFill>
                  <a:srgbClr val="C97B5A"/>
                </a:solidFill>
                <a:latin typeface="Georgia" pitchFamily="34" charset="0"/>
                <a:ea typeface="Georgia" pitchFamily="34" charset="-122"/>
                <a:cs typeface="Georgia" pitchFamily="34" charset="-120"/>
              </a:rPr>
              <a:t>78%</a:t>
            </a:r>
            <a:endParaRPr lang="en-US" sz="3400" dirty="0"/>
          </a:p>
        </p:txBody>
      </p:sp>
      <p:sp>
        <p:nvSpPr>
          <p:cNvPr id="23" name="Text 21"/>
          <p:cNvSpPr/>
          <p:nvPr/>
        </p:nvSpPr>
        <p:spPr>
          <a:xfrm>
            <a:off x="548640" y="4270248"/>
            <a:ext cx="2377440" cy="39319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AI Liderlerinin</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Etik Endişeleri</a:t>
            </a:r>
            <a:endParaRPr lang="en-US" sz="1050" dirty="0"/>
          </a:p>
        </p:txBody>
      </p:sp>
      <p:sp>
        <p:nvSpPr>
          <p:cNvPr id="24" name="Shape 22"/>
          <p:cNvSpPr/>
          <p:nvPr/>
        </p:nvSpPr>
        <p:spPr>
          <a:xfrm>
            <a:off x="3291840" y="3520440"/>
            <a:ext cx="2560320" cy="1234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3291840" y="3520440"/>
            <a:ext cx="2560320" cy="54864"/>
          </a:xfrm>
          <a:prstGeom prst="rect">
            <a:avLst/>
          </a:prstGeom>
          <a:solidFill>
            <a:srgbClr val="2B7A78"/>
          </a:solidFill>
          <a:ln/>
        </p:spPr>
      </p:sp>
      <p:sp>
        <p:nvSpPr>
          <p:cNvPr id="26" name="Text 24"/>
          <p:cNvSpPr/>
          <p:nvPr/>
        </p:nvSpPr>
        <p:spPr>
          <a:xfrm>
            <a:off x="3291840" y="3657600"/>
            <a:ext cx="256032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40+</a:t>
            </a:r>
            <a:endParaRPr lang="en-US" sz="3400" dirty="0"/>
          </a:p>
        </p:txBody>
      </p:sp>
      <p:sp>
        <p:nvSpPr>
          <p:cNvPr id="27" name="Text 25"/>
          <p:cNvSpPr/>
          <p:nvPr/>
        </p:nvSpPr>
        <p:spPr>
          <a:xfrm>
            <a:off x="3383280" y="4270248"/>
            <a:ext cx="2377440" cy="39319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Ülkede AI</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Düzenleme Çalışması</a:t>
            </a:r>
            <a:endParaRPr lang="en-US" sz="1050" dirty="0"/>
          </a:p>
        </p:txBody>
      </p:sp>
      <p:sp>
        <p:nvSpPr>
          <p:cNvPr id="28" name="Shape 26"/>
          <p:cNvSpPr/>
          <p:nvPr/>
        </p:nvSpPr>
        <p:spPr>
          <a:xfrm>
            <a:off x="6126480" y="3520440"/>
            <a:ext cx="2560320" cy="1234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9" name="Shape 27"/>
          <p:cNvSpPr/>
          <p:nvPr/>
        </p:nvSpPr>
        <p:spPr>
          <a:xfrm>
            <a:off x="6126480" y="3520440"/>
            <a:ext cx="2560320" cy="54864"/>
          </a:xfrm>
          <a:prstGeom prst="rect">
            <a:avLst/>
          </a:prstGeom>
          <a:solidFill>
            <a:srgbClr val="E8913A"/>
          </a:solidFill>
          <a:ln/>
        </p:spPr>
      </p:sp>
      <p:sp>
        <p:nvSpPr>
          <p:cNvPr id="30" name="Text 28"/>
          <p:cNvSpPr/>
          <p:nvPr/>
        </p:nvSpPr>
        <p:spPr>
          <a:xfrm>
            <a:off x="6126480" y="3657600"/>
            <a:ext cx="2560320" cy="594360"/>
          </a:xfrm>
          <a:prstGeom prst="rect">
            <a:avLst/>
          </a:prstGeom>
          <a:noFill/>
          <a:ln/>
        </p:spPr>
        <p:txBody>
          <a:bodyPr wrap="square" lIns="0" tIns="0" rIns="0" bIns="0" rtlCol="0" anchor="ctr"/>
          <a:lstStyle/>
          <a:p>
            <a:pPr algn="ctr" indent="0" marL="0">
              <a:buNone/>
            </a:pPr>
            <a:r>
              <a:rPr lang="en-US" sz="3400" b="1" dirty="0">
                <a:solidFill>
                  <a:srgbClr val="E8913A"/>
                </a:solidFill>
                <a:latin typeface="Georgia" pitchFamily="34" charset="0"/>
                <a:ea typeface="Georgia" pitchFamily="34" charset="-122"/>
                <a:cs typeface="Georgia" pitchFamily="34" charset="-120"/>
              </a:rPr>
              <a:t>$4.7T</a:t>
            </a:r>
            <a:endParaRPr lang="en-US" sz="3400" dirty="0"/>
          </a:p>
        </p:txBody>
      </p:sp>
      <p:sp>
        <p:nvSpPr>
          <p:cNvPr id="31" name="Text 29"/>
          <p:cNvSpPr/>
          <p:nvPr/>
        </p:nvSpPr>
        <p:spPr>
          <a:xfrm>
            <a:off x="6217920" y="4270248"/>
            <a:ext cx="2377440" cy="39319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2030 AI Pazar</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Büyüklüğü</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Bias (Yanlılık)</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14400"/>
            <a:ext cx="393192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14400"/>
            <a:ext cx="3931920" cy="54864"/>
          </a:xfrm>
          <a:prstGeom prst="rect">
            <a:avLst/>
          </a:prstGeom>
          <a:solidFill>
            <a:srgbClr val="D94F4F"/>
          </a:solidFill>
          <a:ln/>
        </p:spPr>
      </p:sp>
      <p:sp>
        <p:nvSpPr>
          <p:cNvPr id="10" name="Shape 8"/>
          <p:cNvSpPr/>
          <p:nvPr/>
        </p:nvSpPr>
        <p:spPr>
          <a:xfrm>
            <a:off x="594360" y="1024128"/>
            <a:ext cx="329184" cy="329184"/>
          </a:xfrm>
          <a:prstGeom prst="ellipse">
            <a:avLst/>
          </a:prstGeom>
          <a:solidFill>
            <a:srgbClr val="D94F4F"/>
          </a:solidFill>
          <a:ln/>
        </p:spPr>
      </p:sp>
      <p:sp>
        <p:nvSpPr>
          <p:cNvPr id="11" name="Text 9"/>
          <p:cNvSpPr/>
          <p:nvPr/>
        </p:nvSpPr>
        <p:spPr>
          <a:xfrm>
            <a:off x="594360" y="1024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1005840" y="1024128"/>
            <a:ext cx="3200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Veri Yanlılığı (Data Bias)</a:t>
            </a:r>
            <a:endParaRPr lang="en-US" sz="1200" dirty="0"/>
          </a:p>
        </p:txBody>
      </p:sp>
      <p:sp>
        <p:nvSpPr>
          <p:cNvPr id="13" name="Text 11"/>
          <p:cNvSpPr/>
          <p:nvPr/>
        </p:nvSpPr>
        <p:spPr>
          <a:xfrm>
            <a:off x="640080" y="1371600"/>
            <a:ext cx="3566160" cy="868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Eğitim verisi toplumu temsil etmiyorsa</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Tarihi önyargılar veriye yansır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Örneğin: Yüz tanımada koyu ten rengi için düşük başarı oranı</a:t>
            </a:r>
            <a:endParaRPr lang="en-US" sz="1100" dirty="0"/>
          </a:p>
        </p:txBody>
      </p:sp>
      <p:sp>
        <p:nvSpPr>
          <p:cNvPr id="14" name="Shape 12"/>
          <p:cNvSpPr/>
          <p:nvPr/>
        </p:nvSpPr>
        <p:spPr>
          <a:xfrm>
            <a:off x="4754880" y="914400"/>
            <a:ext cx="3931920" cy="14630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4754880" y="914400"/>
            <a:ext cx="3931920" cy="54864"/>
          </a:xfrm>
          <a:prstGeom prst="rect">
            <a:avLst/>
          </a:prstGeom>
          <a:solidFill>
            <a:srgbClr val="7C5BBF"/>
          </a:solidFill>
          <a:ln/>
        </p:spPr>
      </p:sp>
      <p:sp>
        <p:nvSpPr>
          <p:cNvPr id="16" name="Shape 14"/>
          <p:cNvSpPr/>
          <p:nvPr/>
        </p:nvSpPr>
        <p:spPr>
          <a:xfrm>
            <a:off x="4892040" y="1024128"/>
            <a:ext cx="329184" cy="329184"/>
          </a:xfrm>
          <a:prstGeom prst="ellipse">
            <a:avLst/>
          </a:prstGeom>
          <a:solidFill>
            <a:srgbClr val="7C5BBF"/>
          </a:solidFill>
          <a:ln/>
        </p:spPr>
      </p:sp>
      <p:sp>
        <p:nvSpPr>
          <p:cNvPr id="17" name="Text 15"/>
          <p:cNvSpPr/>
          <p:nvPr/>
        </p:nvSpPr>
        <p:spPr>
          <a:xfrm>
            <a:off x="4892040" y="1024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p:nvPr/>
        </p:nvSpPr>
        <p:spPr>
          <a:xfrm>
            <a:off x="5303520" y="1024128"/>
            <a:ext cx="3200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Algoritma Yanlılığı</a:t>
            </a:r>
            <a:endParaRPr lang="en-US" sz="1200" dirty="0"/>
          </a:p>
        </p:txBody>
      </p:sp>
      <p:sp>
        <p:nvSpPr>
          <p:cNvPr id="19" name="Text 17"/>
          <p:cNvSpPr/>
          <p:nvPr/>
        </p:nvSpPr>
        <p:spPr>
          <a:xfrm>
            <a:off x="4937760" y="1371600"/>
            <a:ext cx="3566160" cy="868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Model mimarisinin kendisi yanlı olabilir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Optimizasyon hedefi etik değil</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Proxy değişkenler üzerinden dolaylı ayrımcılık</a:t>
            </a:r>
            <a:endParaRPr lang="en-US" sz="1100" dirty="0"/>
          </a:p>
        </p:txBody>
      </p:sp>
      <p:sp>
        <p:nvSpPr>
          <p:cNvPr id="20" name="Shape 18"/>
          <p:cNvSpPr/>
          <p:nvPr/>
        </p:nvSpPr>
        <p:spPr>
          <a:xfrm>
            <a:off x="457200" y="2606040"/>
            <a:ext cx="8229600" cy="21488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457200" y="2606040"/>
            <a:ext cx="8229600" cy="54864"/>
          </a:xfrm>
          <a:prstGeom prst="rect">
            <a:avLst/>
          </a:prstGeom>
          <a:solidFill>
            <a:srgbClr val="E8913A"/>
          </a:solidFill>
          <a:ln/>
        </p:spPr>
      </p:sp>
      <p:sp>
        <p:nvSpPr>
          <p:cNvPr id="22" name="Shape 20"/>
          <p:cNvSpPr/>
          <p:nvPr/>
        </p:nvSpPr>
        <p:spPr>
          <a:xfrm>
            <a:off x="457200" y="2606040"/>
            <a:ext cx="8229600" cy="411480"/>
          </a:xfrm>
          <a:prstGeom prst="rect">
            <a:avLst/>
          </a:prstGeom>
          <a:solidFill>
            <a:srgbClr val="E8913A"/>
          </a:solidFill>
          <a:ln/>
        </p:spPr>
      </p:sp>
      <p:sp>
        <p:nvSpPr>
          <p:cNvPr id="23" name="Text 21"/>
          <p:cNvSpPr/>
          <p:nvPr/>
        </p:nvSpPr>
        <p:spPr>
          <a:xfrm>
            <a:off x="640080" y="2606040"/>
            <a:ext cx="7772400" cy="411480"/>
          </a:xfrm>
          <a:prstGeom prst="rect">
            <a:avLst/>
          </a:prstGeom>
          <a:noFill/>
          <a:ln/>
        </p:spPr>
        <p:txBody>
          <a:bodyPr wrap="square" lIns="0" tIns="0" rIns="0" bIns="0" rtlCol="0" anchor="ctr"/>
          <a:lstStyle/>
          <a:p>
            <a:pPr indent="0" marL="0">
              <a:buNone/>
            </a:pPr>
            <a:r>
              <a:rPr lang="en-US" sz="1300" b="1" dirty="0">
                <a:solidFill>
                  <a:srgbClr val="FFFFFF"/>
                </a:solidFill>
                <a:latin typeface="Georgia" pitchFamily="34" charset="0"/>
                <a:ea typeface="Georgia" pitchFamily="34" charset="-122"/>
                <a:cs typeface="Georgia" pitchFamily="34" charset="-120"/>
              </a:rPr>
              <a:t>⚠️  VAKA ÇALIŞMASI: Amazon İşe Alım AI’ı</a:t>
            </a:r>
            <a:endParaRPr lang="en-US" sz="1300" dirty="0"/>
          </a:p>
        </p:txBody>
      </p:sp>
      <p:sp>
        <p:nvSpPr>
          <p:cNvPr id="24" name="Shape 22"/>
          <p:cNvSpPr/>
          <p:nvPr/>
        </p:nvSpPr>
        <p:spPr>
          <a:xfrm>
            <a:off x="640080" y="3154680"/>
            <a:ext cx="73152" cy="365760"/>
          </a:xfrm>
          <a:prstGeom prst="rect">
            <a:avLst/>
          </a:prstGeom>
          <a:solidFill>
            <a:srgbClr val="D94F4F"/>
          </a:solidFill>
          <a:ln/>
        </p:spPr>
      </p:sp>
      <p:sp>
        <p:nvSpPr>
          <p:cNvPr id="25" name="Text 23"/>
          <p:cNvSpPr/>
          <p:nvPr/>
        </p:nvSpPr>
        <p:spPr>
          <a:xfrm>
            <a:off x="868680" y="3154680"/>
            <a:ext cx="1005840" cy="365760"/>
          </a:xfrm>
          <a:prstGeom prst="rect">
            <a:avLst/>
          </a:prstGeom>
          <a:noFill/>
          <a:ln/>
        </p:spPr>
        <p:txBody>
          <a:bodyPr wrap="square" lIns="0" tIns="0" rIns="0" bIns="0" rtlCol="0" anchor="ctr"/>
          <a:lstStyle/>
          <a:p>
            <a:pPr indent="0" marL="0">
              <a:buNone/>
            </a:pPr>
            <a:r>
              <a:rPr lang="en-US" sz="1000" b="1" dirty="0">
                <a:solidFill>
                  <a:srgbClr val="D94F4F"/>
                </a:solidFill>
                <a:latin typeface="Georgia" pitchFamily="34" charset="0"/>
                <a:ea typeface="Georgia" pitchFamily="34" charset="-122"/>
                <a:cs typeface="Georgia" pitchFamily="34" charset="-120"/>
              </a:rPr>
              <a:t>Problem</a:t>
            </a:r>
            <a:endParaRPr lang="en-US" sz="1000" dirty="0"/>
          </a:p>
        </p:txBody>
      </p:sp>
      <p:sp>
        <p:nvSpPr>
          <p:cNvPr id="26" name="Text 24"/>
          <p:cNvSpPr/>
          <p:nvPr/>
        </p:nvSpPr>
        <p:spPr>
          <a:xfrm>
            <a:off x="1920240" y="3154680"/>
            <a:ext cx="6583680" cy="36576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Amazon’ın işe alım AI’ı kadın adayları sistematik olarak düşük puanladı</a:t>
            </a:r>
            <a:endParaRPr lang="en-US" sz="1050" dirty="0"/>
          </a:p>
        </p:txBody>
      </p:sp>
      <p:sp>
        <p:nvSpPr>
          <p:cNvPr id="27" name="Shape 25"/>
          <p:cNvSpPr/>
          <p:nvPr/>
        </p:nvSpPr>
        <p:spPr>
          <a:xfrm>
            <a:off x="640080" y="3657600"/>
            <a:ext cx="73152" cy="365760"/>
          </a:xfrm>
          <a:prstGeom prst="rect">
            <a:avLst/>
          </a:prstGeom>
          <a:solidFill>
            <a:srgbClr val="E8913A"/>
          </a:solidFill>
          <a:ln/>
        </p:spPr>
      </p:sp>
      <p:sp>
        <p:nvSpPr>
          <p:cNvPr id="28" name="Text 26"/>
          <p:cNvSpPr/>
          <p:nvPr/>
        </p:nvSpPr>
        <p:spPr>
          <a:xfrm>
            <a:off x="868680" y="3657600"/>
            <a:ext cx="1005840" cy="365760"/>
          </a:xfrm>
          <a:prstGeom prst="rect">
            <a:avLst/>
          </a:prstGeom>
          <a:noFill/>
          <a:ln/>
        </p:spPr>
        <p:txBody>
          <a:bodyPr wrap="square" lIns="0" tIns="0" rIns="0" bIns="0" rtlCol="0" anchor="ctr"/>
          <a:lstStyle/>
          <a:p>
            <a:pPr indent="0" marL="0">
              <a:buNone/>
            </a:pPr>
            <a:r>
              <a:rPr lang="en-US" sz="1000" b="1" dirty="0">
                <a:solidFill>
                  <a:srgbClr val="E8913A"/>
                </a:solidFill>
                <a:latin typeface="Georgia" pitchFamily="34" charset="0"/>
                <a:ea typeface="Georgia" pitchFamily="34" charset="-122"/>
                <a:cs typeface="Georgia" pitchFamily="34" charset="-120"/>
              </a:rPr>
              <a:t>Neden</a:t>
            </a:r>
            <a:endParaRPr lang="en-US" sz="1000" dirty="0"/>
          </a:p>
        </p:txBody>
      </p:sp>
      <p:sp>
        <p:nvSpPr>
          <p:cNvPr id="29" name="Text 27"/>
          <p:cNvSpPr/>
          <p:nvPr/>
        </p:nvSpPr>
        <p:spPr>
          <a:xfrm>
            <a:off x="1920240" y="3657600"/>
            <a:ext cx="6583680" cy="36576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10 yıllık çoğunlukla erkek çalışan verisiyle eğitildi — model ‘erkek = başarılı’ öğrendi</a:t>
            </a:r>
            <a:endParaRPr lang="en-US" sz="1050" dirty="0"/>
          </a:p>
        </p:txBody>
      </p:sp>
      <p:sp>
        <p:nvSpPr>
          <p:cNvPr id="30" name="Shape 28"/>
          <p:cNvSpPr/>
          <p:nvPr/>
        </p:nvSpPr>
        <p:spPr>
          <a:xfrm>
            <a:off x="640080" y="4160520"/>
            <a:ext cx="73152" cy="365760"/>
          </a:xfrm>
          <a:prstGeom prst="rect">
            <a:avLst/>
          </a:prstGeom>
          <a:solidFill>
            <a:srgbClr val="3A9E6B"/>
          </a:solidFill>
          <a:ln/>
        </p:spPr>
      </p:sp>
      <p:sp>
        <p:nvSpPr>
          <p:cNvPr id="31" name="Text 29"/>
          <p:cNvSpPr/>
          <p:nvPr/>
        </p:nvSpPr>
        <p:spPr>
          <a:xfrm>
            <a:off x="868680" y="4160520"/>
            <a:ext cx="1005840" cy="365760"/>
          </a:xfrm>
          <a:prstGeom prst="rect">
            <a:avLst/>
          </a:prstGeom>
          <a:noFill/>
          <a:ln/>
        </p:spPr>
        <p:txBody>
          <a:bodyPr wrap="square" lIns="0" tIns="0" rIns="0" bIns="0" rtlCol="0" anchor="ctr"/>
          <a:lstStyle/>
          <a:p>
            <a:pPr indent="0" marL="0">
              <a:buNone/>
            </a:pPr>
            <a:r>
              <a:rPr lang="en-US" sz="1000" b="1" dirty="0">
                <a:solidFill>
                  <a:srgbClr val="3A9E6B"/>
                </a:solidFill>
                <a:latin typeface="Georgia" pitchFamily="34" charset="0"/>
                <a:ea typeface="Georgia" pitchFamily="34" charset="-122"/>
                <a:cs typeface="Georgia" pitchFamily="34" charset="-120"/>
              </a:rPr>
              <a:t>Sonuç</a:t>
            </a:r>
            <a:endParaRPr lang="en-US" sz="1000" dirty="0"/>
          </a:p>
        </p:txBody>
      </p:sp>
      <p:sp>
        <p:nvSpPr>
          <p:cNvPr id="32" name="Text 30"/>
          <p:cNvSpPr/>
          <p:nvPr/>
        </p:nvSpPr>
        <p:spPr>
          <a:xfrm>
            <a:off x="1920240" y="4160520"/>
            <a:ext cx="6583680" cy="36576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Sistem 2018’de kapatıldı. AI bias’ın en bilinen örneklerinden biri oldu</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Fairness (Adalet)</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828800"/>
                <a:gridCol w="3200400"/>
                <a:gridCol w="3200400"/>
              </a:tblGrid>
              <a:tr h="36576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Adalet Türü</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Tanım</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Örnek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50292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Demografik Eşitlik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Her gruba eşit oranda olumlu karar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Kredi onayı her etnik grup için %50</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50292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Fırsat Eşitliği</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Gerçek pozitifler için eşit doğru pozitif oranı</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Hastalığı olan herkes eşit tanı şansı</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50292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Bireysel Adalet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Benzer kişilere benzer kararlar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Aynı niteliklere sahip kişiler aynı sonuç</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50292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Kalibre Edilmiş</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Tahmin olasılıkları gerçek oranlarla örtüşsün</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%80 güven = gerçekte %80 doğru</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bl>
          </a:graphicData>
        </a:graphic>
      </p:graphicFrame>
      <p:sp>
        <p:nvSpPr>
          <p:cNvPr id="9" name="Shape 6"/>
          <p:cNvSpPr/>
          <p:nvPr/>
        </p:nvSpPr>
        <p:spPr>
          <a:xfrm>
            <a:off x="457200" y="3566160"/>
            <a:ext cx="82296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0" name="Shape 7"/>
          <p:cNvSpPr/>
          <p:nvPr/>
        </p:nvSpPr>
        <p:spPr>
          <a:xfrm>
            <a:off x="457200" y="3566160"/>
            <a:ext cx="54864" cy="1188720"/>
          </a:xfrm>
          <a:prstGeom prst="rect">
            <a:avLst/>
          </a:prstGeom>
          <a:solidFill>
            <a:srgbClr val="7C5BBF"/>
          </a:solidFill>
          <a:ln/>
        </p:spPr>
      </p:sp>
      <p:sp>
        <p:nvSpPr>
          <p:cNvPr id="11" name="Text 8"/>
          <p:cNvSpPr/>
          <p:nvPr/>
        </p:nvSpPr>
        <p:spPr>
          <a:xfrm>
            <a:off x="640080" y="3657600"/>
            <a:ext cx="7772400" cy="347472"/>
          </a:xfrm>
          <a:prstGeom prst="rect">
            <a:avLst/>
          </a:prstGeom>
          <a:noFill/>
          <a:ln/>
        </p:spPr>
        <p:txBody>
          <a:bodyPr wrap="square" lIns="0" tIns="0" rIns="0" bIns="0" rtlCol="0" anchor="ctr"/>
          <a:lstStyle/>
          <a:p>
            <a:pPr indent="0" marL="0">
              <a:buNone/>
            </a:pPr>
            <a:r>
              <a:rPr lang="en-US" sz="1200" b="1" dirty="0">
                <a:solidFill>
                  <a:srgbClr val="7C5BBF"/>
                </a:solidFill>
                <a:latin typeface="Georgia" pitchFamily="34" charset="0"/>
                <a:ea typeface="Georgia" pitchFamily="34" charset="-122"/>
                <a:cs typeface="Georgia" pitchFamily="34" charset="-120"/>
              </a:rPr>
              <a:t>Adalet Paradoksu</a:t>
            </a:r>
            <a:endParaRPr lang="en-US" sz="1200" dirty="0"/>
          </a:p>
        </p:txBody>
      </p:sp>
      <p:sp>
        <p:nvSpPr>
          <p:cNvPr id="12" name="Text 9"/>
          <p:cNvSpPr/>
          <p:nvPr/>
        </p:nvSpPr>
        <p:spPr>
          <a:xfrm>
            <a:off x="640080" y="3977640"/>
            <a:ext cx="7772400" cy="68580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Tüm adalet tanımlarını aynı anda sağlamak matematiksel olarak imkânsızdır (Chouldechova, 2017). Bu nedenle hangi adalet tanımının uygulanacağı bağlama (domain) göre karar verilmelidir. Sağlık alanında fırsat eşitliği, kredi skorlamasında kalibre edilmiş adalet tercih edilir.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Transparency (Şeffaflık)</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2606040" cy="2377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2606040" cy="54864"/>
          </a:xfrm>
          <a:prstGeom prst="rect">
            <a:avLst/>
          </a:prstGeom>
          <a:solidFill>
            <a:srgbClr val="2B7A78"/>
          </a:solidFill>
          <a:ln/>
        </p:spPr>
      </p:sp>
      <p:sp>
        <p:nvSpPr>
          <p:cNvPr id="10" name="Shape 8"/>
          <p:cNvSpPr/>
          <p:nvPr/>
        </p:nvSpPr>
        <p:spPr>
          <a:xfrm>
            <a:off x="1481328" y="1097280"/>
            <a:ext cx="548640" cy="548640"/>
          </a:xfrm>
          <a:prstGeom prst="ellipse">
            <a:avLst/>
          </a:prstGeom>
          <a:solidFill>
            <a:srgbClr val="2B7A78"/>
          </a:solidFill>
          <a:ln/>
        </p:spPr>
      </p:sp>
      <p:sp>
        <p:nvSpPr>
          <p:cNvPr id="11" name="Text 9"/>
          <p:cNvSpPr/>
          <p:nvPr/>
        </p:nvSpPr>
        <p:spPr>
          <a:xfrm>
            <a:off x="1481328" y="10972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12" name="Text 10"/>
          <p:cNvSpPr/>
          <p:nvPr/>
        </p:nvSpPr>
        <p:spPr>
          <a:xfrm>
            <a:off x="594360" y="1737360"/>
            <a:ext cx="233172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Explainable AI (XAI)</a:t>
            </a:r>
            <a:endParaRPr lang="en-US" sz="1200" dirty="0"/>
          </a:p>
        </p:txBody>
      </p:sp>
      <p:sp>
        <p:nvSpPr>
          <p:cNvPr id="13" name="Text 11"/>
          <p:cNvSpPr/>
          <p:nvPr/>
        </p:nvSpPr>
        <p:spPr>
          <a:xfrm>
            <a:off x="594360" y="2084832"/>
            <a:ext cx="2331720" cy="10972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Model kararlarının neden verildiğini açıklayabilme yeteneği. Kullanıcı güveni ve regülasyon uyumu için kritik.</a:t>
            </a:r>
            <a:endParaRPr lang="en-US" sz="1100" dirty="0"/>
          </a:p>
        </p:txBody>
      </p:sp>
      <p:sp>
        <p:nvSpPr>
          <p:cNvPr id="14" name="Shape 12"/>
          <p:cNvSpPr/>
          <p:nvPr/>
        </p:nvSpPr>
        <p:spPr>
          <a:xfrm>
            <a:off x="3291840" y="960120"/>
            <a:ext cx="2606040" cy="2377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3291840" y="960120"/>
            <a:ext cx="2606040" cy="54864"/>
          </a:xfrm>
          <a:prstGeom prst="rect">
            <a:avLst/>
          </a:prstGeom>
          <a:solidFill>
            <a:srgbClr val="D94F4F"/>
          </a:solidFill>
          <a:ln/>
        </p:spPr>
      </p:sp>
      <p:sp>
        <p:nvSpPr>
          <p:cNvPr id="16" name="Shape 14"/>
          <p:cNvSpPr/>
          <p:nvPr/>
        </p:nvSpPr>
        <p:spPr>
          <a:xfrm>
            <a:off x="4315968" y="1097280"/>
            <a:ext cx="548640" cy="548640"/>
          </a:xfrm>
          <a:prstGeom prst="ellipse">
            <a:avLst/>
          </a:prstGeom>
          <a:solidFill>
            <a:srgbClr val="D94F4F"/>
          </a:solidFill>
          <a:ln/>
        </p:spPr>
      </p:sp>
      <p:sp>
        <p:nvSpPr>
          <p:cNvPr id="17" name="Text 15"/>
          <p:cNvSpPr/>
          <p:nvPr/>
        </p:nvSpPr>
        <p:spPr>
          <a:xfrm>
            <a:off x="4315968" y="10972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18" name="Text 16"/>
          <p:cNvSpPr/>
          <p:nvPr/>
        </p:nvSpPr>
        <p:spPr>
          <a:xfrm>
            <a:off x="3429000" y="1737360"/>
            <a:ext cx="233172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Black Box Problemi</a:t>
            </a:r>
            <a:endParaRPr lang="en-US" sz="1200" dirty="0"/>
          </a:p>
        </p:txBody>
      </p:sp>
      <p:sp>
        <p:nvSpPr>
          <p:cNvPr id="19" name="Text 17"/>
          <p:cNvSpPr/>
          <p:nvPr/>
        </p:nvSpPr>
        <p:spPr>
          <a:xfrm>
            <a:off x="3429000" y="2084832"/>
            <a:ext cx="2331720" cy="10972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Derin öğrenme modelleri milyarlarca parametreyle karar verir. İç mantık insan için anlaşılmaz. Hayati kararlarda kabul edilemez.</a:t>
            </a:r>
            <a:endParaRPr lang="en-US" sz="1100" dirty="0"/>
          </a:p>
        </p:txBody>
      </p:sp>
      <p:sp>
        <p:nvSpPr>
          <p:cNvPr id="20" name="Shape 18"/>
          <p:cNvSpPr/>
          <p:nvPr/>
        </p:nvSpPr>
        <p:spPr>
          <a:xfrm>
            <a:off x="6126480" y="960120"/>
            <a:ext cx="2606040" cy="23774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6126480" y="960120"/>
            <a:ext cx="2606040" cy="54864"/>
          </a:xfrm>
          <a:prstGeom prst="rect">
            <a:avLst/>
          </a:prstGeom>
          <a:solidFill>
            <a:srgbClr val="3A9E6B"/>
          </a:solidFill>
          <a:ln/>
        </p:spPr>
      </p:sp>
      <p:sp>
        <p:nvSpPr>
          <p:cNvPr id="22" name="Shape 20"/>
          <p:cNvSpPr/>
          <p:nvPr/>
        </p:nvSpPr>
        <p:spPr>
          <a:xfrm>
            <a:off x="7150608" y="1097280"/>
            <a:ext cx="548640" cy="548640"/>
          </a:xfrm>
          <a:prstGeom prst="ellipse">
            <a:avLst/>
          </a:prstGeom>
          <a:solidFill>
            <a:srgbClr val="3A9E6B"/>
          </a:solidFill>
          <a:ln/>
        </p:spPr>
      </p:sp>
      <p:sp>
        <p:nvSpPr>
          <p:cNvPr id="23" name="Text 21"/>
          <p:cNvSpPr/>
          <p:nvPr/>
        </p:nvSpPr>
        <p:spPr>
          <a:xfrm>
            <a:off x="7150608" y="10972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24" name="Text 22"/>
          <p:cNvSpPr/>
          <p:nvPr/>
        </p:nvSpPr>
        <p:spPr>
          <a:xfrm>
            <a:off x="6263640" y="1737360"/>
            <a:ext cx="2331720" cy="347472"/>
          </a:xfrm>
          <a:prstGeom prst="rect">
            <a:avLst/>
          </a:prstGeom>
          <a:noFill/>
          <a:ln/>
        </p:spPr>
        <p:txBody>
          <a:bodyPr wrap="square" lIns="0" tIns="0" rIns="0" bIns="0" rtlCol="0" anchor="ctr"/>
          <a:lstStyle/>
          <a:p>
            <a:pPr indent="0" marL="0">
              <a:buNone/>
            </a:pPr>
            <a:r>
              <a:rPr lang="en-US" sz="1200" b="1" dirty="0">
                <a:solidFill>
                  <a:srgbClr val="3A9E6B"/>
                </a:solidFill>
                <a:latin typeface="Georgia" pitchFamily="34" charset="0"/>
                <a:ea typeface="Georgia" pitchFamily="34" charset="-122"/>
                <a:cs typeface="Georgia" pitchFamily="34" charset="-120"/>
              </a:rPr>
              <a:t>LIME &amp; SHAP</a:t>
            </a:r>
            <a:endParaRPr lang="en-US" sz="1200" dirty="0"/>
          </a:p>
        </p:txBody>
      </p:sp>
      <p:sp>
        <p:nvSpPr>
          <p:cNvPr id="25" name="Text 23"/>
          <p:cNvSpPr/>
          <p:nvPr/>
        </p:nvSpPr>
        <p:spPr>
          <a:xfrm>
            <a:off x="6263640" y="2084832"/>
            <a:ext cx="2331720" cy="10972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LIME: Yerel açıklamalar üretir (her tahmin için).</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SHAP: Shapley değerleriyle global özellik önemi hesaplar.</a:t>
            </a:r>
            <a:endParaRPr lang="en-US" sz="1100" dirty="0"/>
          </a:p>
        </p:txBody>
      </p:sp>
      <p:sp>
        <p:nvSpPr>
          <p:cNvPr id="26" name="Shape 24"/>
          <p:cNvSpPr/>
          <p:nvPr/>
        </p:nvSpPr>
        <p:spPr>
          <a:xfrm>
            <a:off x="457200" y="3566160"/>
            <a:ext cx="82296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57200" y="3566160"/>
            <a:ext cx="8229600" cy="54864"/>
          </a:xfrm>
          <a:prstGeom prst="rect">
            <a:avLst/>
          </a:prstGeom>
          <a:solidFill>
            <a:srgbClr val="5B2C1E"/>
          </a:solidFill>
          <a:ln/>
        </p:spPr>
      </p:sp>
      <p:sp>
        <p:nvSpPr>
          <p:cNvPr id="28" name="Shape 26"/>
          <p:cNvSpPr/>
          <p:nvPr/>
        </p:nvSpPr>
        <p:spPr>
          <a:xfrm>
            <a:off x="731520" y="3840480"/>
            <a:ext cx="1554480" cy="502920"/>
          </a:xfrm>
          <a:prstGeom prst="rect">
            <a:avLst/>
          </a:prstGeom>
          <a:solidFill>
            <a:srgbClr val="FEF5EE"/>
          </a:solidFill>
          <a:ln w="12700">
            <a:solidFill>
              <a:srgbClr val="E8DDD3"/>
            </a:solidFill>
            <a:prstDash val="solid"/>
          </a:ln>
        </p:spPr>
      </p:sp>
      <p:sp>
        <p:nvSpPr>
          <p:cNvPr id="29" name="Text 27"/>
          <p:cNvSpPr/>
          <p:nvPr/>
        </p:nvSpPr>
        <p:spPr>
          <a:xfrm>
            <a:off x="731520" y="3840480"/>
            <a:ext cx="1554480" cy="502920"/>
          </a:xfrm>
          <a:prstGeom prst="rect">
            <a:avLst/>
          </a:prstGeom>
          <a:noFill/>
          <a:ln/>
        </p:spPr>
        <p:txBody>
          <a:bodyPr wrap="square" lIns="0" tIns="0" rIns="0" bIns="0" rtlCol="0" anchor="ctr"/>
          <a:lstStyle/>
          <a:p>
            <a:pPr algn="ctr" indent="0" marL="0">
              <a:buNone/>
            </a:pPr>
            <a:r>
              <a:rPr lang="en-US" sz="1000" b="1" dirty="0">
                <a:solidFill>
                  <a:srgbClr val="2E1F1A"/>
                </a:solidFill>
                <a:latin typeface="Calibri" pitchFamily="34" charset="0"/>
                <a:ea typeface="Calibri" pitchFamily="34" charset="-122"/>
                <a:cs typeface="Calibri" pitchFamily="34" charset="-120"/>
              </a:rPr>
              <a:t>Veri Girişi</a:t>
            </a:r>
            <a:endParaRPr lang="en-US" sz="1000" dirty="0"/>
          </a:p>
        </p:txBody>
      </p:sp>
      <p:sp>
        <p:nvSpPr>
          <p:cNvPr id="30" name="Text 28"/>
          <p:cNvSpPr/>
          <p:nvPr/>
        </p:nvSpPr>
        <p:spPr>
          <a:xfrm>
            <a:off x="2286000" y="3840480"/>
            <a:ext cx="457200" cy="502920"/>
          </a:xfrm>
          <a:prstGeom prst="rect">
            <a:avLst/>
          </a:prstGeom>
          <a:noFill/>
          <a:ln/>
        </p:spPr>
        <p:txBody>
          <a:bodyPr wrap="square" lIns="0" tIns="0" rIns="0" bIns="0" rtlCol="0" anchor="ctr"/>
          <a:lstStyle/>
          <a:p>
            <a:pPr algn="ctr" indent="0" marL="0">
              <a:buNone/>
            </a:pPr>
            <a:r>
              <a:rPr lang="en-US" sz="1800" dirty="0">
                <a:solidFill>
                  <a:srgbClr val="C97B5A"/>
                </a:solidFill>
                <a:latin typeface="Calibri" pitchFamily="34" charset="0"/>
                <a:ea typeface="Calibri" pitchFamily="34" charset="-122"/>
                <a:cs typeface="Calibri" pitchFamily="34" charset="-120"/>
              </a:rPr>
              <a:t>→</a:t>
            </a:r>
            <a:endParaRPr lang="en-US" sz="1800" dirty="0"/>
          </a:p>
        </p:txBody>
      </p:sp>
      <p:sp>
        <p:nvSpPr>
          <p:cNvPr id="31" name="Shape 29"/>
          <p:cNvSpPr/>
          <p:nvPr/>
        </p:nvSpPr>
        <p:spPr>
          <a:xfrm>
            <a:off x="2743200" y="3840480"/>
            <a:ext cx="1554480" cy="502920"/>
          </a:xfrm>
          <a:prstGeom prst="rect">
            <a:avLst/>
          </a:prstGeom>
          <a:solidFill>
            <a:srgbClr val="FEF5EE"/>
          </a:solidFill>
          <a:ln w="12700">
            <a:solidFill>
              <a:srgbClr val="E8DDD3"/>
            </a:solidFill>
            <a:prstDash val="solid"/>
          </a:ln>
        </p:spPr>
      </p:sp>
      <p:sp>
        <p:nvSpPr>
          <p:cNvPr id="32" name="Text 30"/>
          <p:cNvSpPr/>
          <p:nvPr/>
        </p:nvSpPr>
        <p:spPr>
          <a:xfrm>
            <a:off x="2743200" y="3840480"/>
            <a:ext cx="1554480" cy="502920"/>
          </a:xfrm>
          <a:prstGeom prst="rect">
            <a:avLst/>
          </a:prstGeom>
          <a:noFill/>
          <a:ln/>
        </p:spPr>
        <p:txBody>
          <a:bodyPr wrap="square" lIns="0" tIns="0" rIns="0" bIns="0" rtlCol="0" anchor="ctr"/>
          <a:lstStyle/>
          <a:p>
            <a:pPr algn="ctr" indent="0" marL="0">
              <a:buNone/>
            </a:pPr>
            <a:r>
              <a:rPr lang="en-US" sz="1000" b="1" dirty="0">
                <a:solidFill>
                  <a:srgbClr val="2E1F1A"/>
                </a:solidFill>
                <a:latin typeface="Calibri" pitchFamily="34" charset="0"/>
                <a:ea typeface="Calibri" pitchFamily="34" charset="-122"/>
                <a:cs typeface="Calibri" pitchFamily="34" charset="-120"/>
              </a:rPr>
              <a:t>Model Kararı</a:t>
            </a:r>
            <a:endParaRPr lang="en-US" sz="1000" dirty="0"/>
          </a:p>
        </p:txBody>
      </p:sp>
      <p:sp>
        <p:nvSpPr>
          <p:cNvPr id="33" name="Text 31"/>
          <p:cNvSpPr/>
          <p:nvPr/>
        </p:nvSpPr>
        <p:spPr>
          <a:xfrm>
            <a:off x="4297680" y="3840480"/>
            <a:ext cx="457200" cy="502920"/>
          </a:xfrm>
          <a:prstGeom prst="rect">
            <a:avLst/>
          </a:prstGeom>
          <a:noFill/>
          <a:ln/>
        </p:spPr>
        <p:txBody>
          <a:bodyPr wrap="square" lIns="0" tIns="0" rIns="0" bIns="0" rtlCol="0" anchor="ctr"/>
          <a:lstStyle/>
          <a:p>
            <a:pPr algn="ctr" indent="0" marL="0">
              <a:buNone/>
            </a:pPr>
            <a:r>
              <a:rPr lang="en-US" sz="1800" dirty="0">
                <a:solidFill>
                  <a:srgbClr val="C97B5A"/>
                </a:solidFill>
                <a:latin typeface="Calibri" pitchFamily="34" charset="0"/>
                <a:ea typeface="Calibri" pitchFamily="34" charset="-122"/>
                <a:cs typeface="Calibri" pitchFamily="34" charset="-120"/>
              </a:rPr>
              <a:t>→</a:t>
            </a:r>
            <a:endParaRPr lang="en-US" sz="1800" dirty="0"/>
          </a:p>
        </p:txBody>
      </p:sp>
      <p:sp>
        <p:nvSpPr>
          <p:cNvPr id="34" name="Shape 32"/>
          <p:cNvSpPr/>
          <p:nvPr/>
        </p:nvSpPr>
        <p:spPr>
          <a:xfrm>
            <a:off x="4754880" y="3840480"/>
            <a:ext cx="1554480" cy="502920"/>
          </a:xfrm>
          <a:prstGeom prst="rect">
            <a:avLst/>
          </a:prstGeom>
          <a:solidFill>
            <a:srgbClr val="2B7A78"/>
          </a:solidFill>
          <a:ln w="12700">
            <a:solidFill>
              <a:srgbClr val="E8DDD3"/>
            </a:solidFill>
            <a:prstDash val="solid"/>
          </a:ln>
        </p:spPr>
      </p:sp>
      <p:sp>
        <p:nvSpPr>
          <p:cNvPr id="35" name="Text 33"/>
          <p:cNvSpPr/>
          <p:nvPr/>
        </p:nvSpPr>
        <p:spPr>
          <a:xfrm>
            <a:off x="4754880" y="3840480"/>
            <a:ext cx="15544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XAI Açıklaması</a:t>
            </a:r>
            <a:endParaRPr lang="en-US" sz="1000" dirty="0"/>
          </a:p>
        </p:txBody>
      </p:sp>
      <p:sp>
        <p:nvSpPr>
          <p:cNvPr id="36" name="Text 34"/>
          <p:cNvSpPr/>
          <p:nvPr/>
        </p:nvSpPr>
        <p:spPr>
          <a:xfrm>
            <a:off x="6309360" y="3840480"/>
            <a:ext cx="457200" cy="502920"/>
          </a:xfrm>
          <a:prstGeom prst="rect">
            <a:avLst/>
          </a:prstGeom>
          <a:noFill/>
          <a:ln/>
        </p:spPr>
        <p:txBody>
          <a:bodyPr wrap="square" lIns="0" tIns="0" rIns="0" bIns="0" rtlCol="0" anchor="ctr"/>
          <a:lstStyle/>
          <a:p>
            <a:pPr algn="ctr" indent="0" marL="0">
              <a:buNone/>
            </a:pPr>
            <a:r>
              <a:rPr lang="en-US" sz="1800" dirty="0">
                <a:solidFill>
                  <a:srgbClr val="C97B5A"/>
                </a:solidFill>
                <a:latin typeface="Calibri" pitchFamily="34" charset="0"/>
                <a:ea typeface="Calibri" pitchFamily="34" charset="-122"/>
                <a:cs typeface="Calibri" pitchFamily="34" charset="-120"/>
              </a:rPr>
              <a:t>→</a:t>
            </a:r>
            <a:endParaRPr lang="en-US" sz="1800" dirty="0"/>
          </a:p>
        </p:txBody>
      </p:sp>
      <p:sp>
        <p:nvSpPr>
          <p:cNvPr id="37" name="Shape 35"/>
          <p:cNvSpPr/>
          <p:nvPr/>
        </p:nvSpPr>
        <p:spPr>
          <a:xfrm>
            <a:off x="6766560" y="3840480"/>
            <a:ext cx="1554480" cy="502920"/>
          </a:xfrm>
          <a:prstGeom prst="rect">
            <a:avLst/>
          </a:prstGeom>
          <a:solidFill>
            <a:srgbClr val="FEF5EE"/>
          </a:solidFill>
          <a:ln w="12700">
            <a:solidFill>
              <a:srgbClr val="E8DDD3"/>
            </a:solidFill>
            <a:prstDash val="solid"/>
          </a:ln>
        </p:spPr>
      </p:sp>
      <p:sp>
        <p:nvSpPr>
          <p:cNvPr id="38" name="Text 36"/>
          <p:cNvSpPr/>
          <p:nvPr/>
        </p:nvSpPr>
        <p:spPr>
          <a:xfrm>
            <a:off x="6766560" y="3840480"/>
            <a:ext cx="1554480" cy="502920"/>
          </a:xfrm>
          <a:prstGeom prst="rect">
            <a:avLst/>
          </a:prstGeom>
          <a:noFill/>
          <a:ln/>
        </p:spPr>
        <p:txBody>
          <a:bodyPr wrap="square" lIns="0" tIns="0" rIns="0" bIns="0" rtlCol="0" anchor="ctr"/>
          <a:lstStyle/>
          <a:p>
            <a:pPr algn="ctr" indent="0" marL="0">
              <a:buNone/>
            </a:pPr>
            <a:r>
              <a:rPr lang="en-US" sz="1000" b="1" dirty="0">
                <a:solidFill>
                  <a:srgbClr val="2E1F1A"/>
                </a:solidFill>
                <a:latin typeface="Calibri" pitchFamily="34" charset="0"/>
                <a:ea typeface="Calibri" pitchFamily="34" charset="-122"/>
                <a:cs typeface="Calibri" pitchFamily="34" charset="-120"/>
              </a:rPr>
              <a:t>Kullanıcı Güveni</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EU AI Act — Avrupa AI Düzenleme</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822960"/>
          </a:xfrm>
          <a:prstGeom prst="rect">
            <a:avLst/>
          </a:prstGeom>
          <a:solidFill>
            <a:srgbClr val="FDECEC"/>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54864" cy="822960"/>
          </a:xfrm>
          <a:prstGeom prst="rect">
            <a:avLst/>
          </a:prstGeom>
          <a:solidFill>
            <a:srgbClr val="D94F4F"/>
          </a:solidFill>
          <a:ln/>
        </p:spPr>
      </p:sp>
      <p:sp>
        <p:nvSpPr>
          <p:cNvPr id="10" name="Shape 8"/>
          <p:cNvSpPr/>
          <p:nvPr/>
        </p:nvSpPr>
        <p:spPr>
          <a:xfrm>
            <a:off x="512064" y="1097280"/>
            <a:ext cx="1097280" cy="548640"/>
          </a:xfrm>
          <a:prstGeom prst="rect">
            <a:avLst/>
          </a:prstGeom>
          <a:solidFill>
            <a:srgbClr val="D94F4F"/>
          </a:solidFill>
          <a:ln/>
        </p:spPr>
      </p:sp>
      <p:sp>
        <p:nvSpPr>
          <p:cNvPr id="11" name="Text 9"/>
          <p:cNvSpPr/>
          <p:nvPr/>
        </p:nvSpPr>
        <p:spPr>
          <a:xfrm>
            <a:off x="512064" y="1097280"/>
            <a:ext cx="109728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YASAK</a:t>
            </a:r>
            <a:endParaRPr lang="en-US" sz="1100" dirty="0"/>
          </a:p>
        </p:txBody>
      </p:sp>
      <p:sp>
        <p:nvSpPr>
          <p:cNvPr id="12" name="Text 10"/>
          <p:cNvSpPr/>
          <p:nvPr/>
        </p:nvSpPr>
        <p:spPr>
          <a:xfrm>
            <a:off x="1737360" y="1051560"/>
            <a:ext cx="2743200" cy="365760"/>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Kabul Edilemez Risk</a:t>
            </a:r>
            <a:endParaRPr lang="en-US" sz="1200" dirty="0"/>
          </a:p>
        </p:txBody>
      </p:sp>
      <p:sp>
        <p:nvSpPr>
          <p:cNvPr id="13" name="Text 11"/>
          <p:cNvSpPr/>
          <p:nvPr/>
        </p:nvSpPr>
        <p:spPr>
          <a:xfrm>
            <a:off x="1737360" y="1399032"/>
            <a:ext cx="6766560" cy="320040"/>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Sosyal skorlama, biometrik kütle gözetimi, manipulatif AI</a:t>
            </a:r>
            <a:endParaRPr lang="en-US" sz="1050" dirty="0"/>
          </a:p>
        </p:txBody>
      </p:sp>
      <p:sp>
        <p:nvSpPr>
          <p:cNvPr id="14" name="Shape 12"/>
          <p:cNvSpPr/>
          <p:nvPr/>
        </p:nvSpPr>
        <p:spPr>
          <a:xfrm>
            <a:off x="457200" y="1920240"/>
            <a:ext cx="8229600" cy="822960"/>
          </a:xfrm>
          <a:prstGeom prst="rect">
            <a:avLst/>
          </a:prstGeom>
          <a:solidFill>
            <a:srgbClr val="FFF3E0"/>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457200" y="1920240"/>
            <a:ext cx="54864" cy="822960"/>
          </a:xfrm>
          <a:prstGeom prst="rect">
            <a:avLst/>
          </a:prstGeom>
          <a:solidFill>
            <a:srgbClr val="E8913A"/>
          </a:solidFill>
          <a:ln/>
        </p:spPr>
      </p:sp>
      <p:sp>
        <p:nvSpPr>
          <p:cNvPr id="16" name="Shape 14"/>
          <p:cNvSpPr/>
          <p:nvPr/>
        </p:nvSpPr>
        <p:spPr>
          <a:xfrm>
            <a:off x="512064" y="2057400"/>
            <a:ext cx="1097280" cy="548640"/>
          </a:xfrm>
          <a:prstGeom prst="rect">
            <a:avLst/>
          </a:prstGeom>
          <a:solidFill>
            <a:srgbClr val="E8913A"/>
          </a:solidFill>
          <a:ln/>
        </p:spPr>
      </p:sp>
      <p:sp>
        <p:nvSpPr>
          <p:cNvPr id="17" name="Text 15"/>
          <p:cNvSpPr/>
          <p:nvPr/>
        </p:nvSpPr>
        <p:spPr>
          <a:xfrm>
            <a:off x="512064" y="2057400"/>
            <a:ext cx="109728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YÜKSEK</a:t>
            </a:r>
            <a:endParaRPr lang="en-US" sz="1100" dirty="0"/>
          </a:p>
        </p:txBody>
      </p:sp>
      <p:sp>
        <p:nvSpPr>
          <p:cNvPr id="18" name="Text 16"/>
          <p:cNvSpPr/>
          <p:nvPr/>
        </p:nvSpPr>
        <p:spPr>
          <a:xfrm>
            <a:off x="1737360" y="2011680"/>
            <a:ext cx="2743200" cy="365760"/>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Yüksek Risk</a:t>
            </a:r>
            <a:endParaRPr lang="en-US" sz="1200" dirty="0"/>
          </a:p>
        </p:txBody>
      </p:sp>
      <p:sp>
        <p:nvSpPr>
          <p:cNvPr id="19" name="Text 17"/>
          <p:cNvSpPr/>
          <p:nvPr/>
        </p:nvSpPr>
        <p:spPr>
          <a:xfrm>
            <a:off x="1737360" y="2359152"/>
            <a:ext cx="6766560" cy="320040"/>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Sağlık AI, işe alım, eğitim, kredi skorlama, adalet sistemi</a:t>
            </a:r>
            <a:endParaRPr lang="en-US" sz="1050" dirty="0"/>
          </a:p>
        </p:txBody>
      </p:sp>
      <p:sp>
        <p:nvSpPr>
          <p:cNvPr id="20" name="Shape 18"/>
          <p:cNvSpPr/>
          <p:nvPr/>
        </p:nvSpPr>
        <p:spPr>
          <a:xfrm>
            <a:off x="457200" y="2880360"/>
            <a:ext cx="8229600" cy="822960"/>
          </a:xfrm>
          <a:prstGeom prst="rect">
            <a:avLst/>
          </a:prstGeom>
          <a:solidFill>
            <a:srgbClr val="E8F4FD"/>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457200" y="2880360"/>
            <a:ext cx="54864" cy="822960"/>
          </a:xfrm>
          <a:prstGeom prst="rect">
            <a:avLst/>
          </a:prstGeom>
          <a:solidFill>
            <a:srgbClr val="4A7FC7"/>
          </a:solidFill>
          <a:ln/>
        </p:spPr>
      </p:sp>
      <p:sp>
        <p:nvSpPr>
          <p:cNvPr id="22" name="Shape 20"/>
          <p:cNvSpPr/>
          <p:nvPr/>
        </p:nvSpPr>
        <p:spPr>
          <a:xfrm>
            <a:off x="512064" y="3017520"/>
            <a:ext cx="1097280" cy="548640"/>
          </a:xfrm>
          <a:prstGeom prst="rect">
            <a:avLst/>
          </a:prstGeom>
          <a:solidFill>
            <a:srgbClr val="4A7FC7"/>
          </a:solidFill>
          <a:ln/>
        </p:spPr>
      </p:sp>
      <p:sp>
        <p:nvSpPr>
          <p:cNvPr id="23" name="Text 21"/>
          <p:cNvSpPr/>
          <p:nvPr/>
        </p:nvSpPr>
        <p:spPr>
          <a:xfrm>
            <a:off x="512064" y="3017520"/>
            <a:ext cx="109728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SINIRLI</a:t>
            </a:r>
            <a:endParaRPr lang="en-US" sz="1100" dirty="0"/>
          </a:p>
        </p:txBody>
      </p:sp>
      <p:sp>
        <p:nvSpPr>
          <p:cNvPr id="24" name="Text 22"/>
          <p:cNvSpPr/>
          <p:nvPr/>
        </p:nvSpPr>
        <p:spPr>
          <a:xfrm>
            <a:off x="1737360" y="2971800"/>
            <a:ext cx="2743200" cy="365760"/>
          </a:xfrm>
          <a:prstGeom prst="rect">
            <a:avLst/>
          </a:prstGeom>
          <a:noFill/>
          <a:ln/>
        </p:spPr>
        <p:txBody>
          <a:bodyPr wrap="square" lIns="0" tIns="0" rIns="0" bIns="0" rtlCol="0" anchor="ctr"/>
          <a:lstStyle/>
          <a:p>
            <a:pPr indent="0" marL="0">
              <a:buNone/>
            </a:pPr>
            <a:r>
              <a:rPr lang="en-US" sz="1200" b="1" dirty="0">
                <a:solidFill>
                  <a:srgbClr val="4A7FC7"/>
                </a:solidFill>
                <a:latin typeface="Georgia" pitchFamily="34" charset="0"/>
                <a:ea typeface="Georgia" pitchFamily="34" charset="-122"/>
                <a:cs typeface="Georgia" pitchFamily="34" charset="-120"/>
              </a:rPr>
              <a:t>Sınırlı Risk</a:t>
            </a:r>
            <a:endParaRPr lang="en-US" sz="1200" dirty="0"/>
          </a:p>
        </p:txBody>
      </p:sp>
      <p:sp>
        <p:nvSpPr>
          <p:cNvPr id="25" name="Text 23"/>
          <p:cNvSpPr/>
          <p:nvPr/>
        </p:nvSpPr>
        <p:spPr>
          <a:xfrm>
            <a:off x="1737360" y="3319272"/>
            <a:ext cx="6766560" cy="320040"/>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Chatbotlar, deepfake içerik — şeffaflık yüksümlülüğü</a:t>
            </a:r>
            <a:endParaRPr lang="en-US" sz="1050" dirty="0"/>
          </a:p>
        </p:txBody>
      </p:sp>
      <p:sp>
        <p:nvSpPr>
          <p:cNvPr id="26" name="Shape 24"/>
          <p:cNvSpPr/>
          <p:nvPr/>
        </p:nvSpPr>
        <p:spPr>
          <a:xfrm>
            <a:off x="457200" y="3840480"/>
            <a:ext cx="8229600" cy="822960"/>
          </a:xfrm>
          <a:prstGeom prst="rect">
            <a:avLst/>
          </a:prstGeom>
          <a:solidFill>
            <a:srgbClr val="E8F5E9"/>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57200" y="3840480"/>
            <a:ext cx="54864" cy="822960"/>
          </a:xfrm>
          <a:prstGeom prst="rect">
            <a:avLst/>
          </a:prstGeom>
          <a:solidFill>
            <a:srgbClr val="3A9E6B"/>
          </a:solidFill>
          <a:ln/>
        </p:spPr>
      </p:sp>
      <p:sp>
        <p:nvSpPr>
          <p:cNvPr id="28" name="Shape 26"/>
          <p:cNvSpPr/>
          <p:nvPr/>
        </p:nvSpPr>
        <p:spPr>
          <a:xfrm>
            <a:off x="512064" y="3977640"/>
            <a:ext cx="1097280" cy="548640"/>
          </a:xfrm>
          <a:prstGeom prst="rect">
            <a:avLst/>
          </a:prstGeom>
          <a:solidFill>
            <a:srgbClr val="3A9E6B"/>
          </a:solidFill>
          <a:ln/>
        </p:spPr>
      </p:sp>
      <p:sp>
        <p:nvSpPr>
          <p:cNvPr id="29" name="Text 27"/>
          <p:cNvSpPr/>
          <p:nvPr/>
        </p:nvSpPr>
        <p:spPr>
          <a:xfrm>
            <a:off x="512064" y="3977640"/>
            <a:ext cx="109728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MİNİMAL</a:t>
            </a:r>
            <a:endParaRPr lang="en-US" sz="1100" dirty="0"/>
          </a:p>
        </p:txBody>
      </p:sp>
      <p:sp>
        <p:nvSpPr>
          <p:cNvPr id="30" name="Text 28"/>
          <p:cNvSpPr/>
          <p:nvPr/>
        </p:nvSpPr>
        <p:spPr>
          <a:xfrm>
            <a:off x="1737360" y="3931920"/>
            <a:ext cx="2743200" cy="365760"/>
          </a:xfrm>
          <a:prstGeom prst="rect">
            <a:avLst/>
          </a:prstGeom>
          <a:noFill/>
          <a:ln/>
        </p:spPr>
        <p:txBody>
          <a:bodyPr wrap="square" lIns="0" tIns="0" rIns="0" bIns="0" rtlCol="0" anchor="ctr"/>
          <a:lstStyle/>
          <a:p>
            <a:pPr indent="0" marL="0">
              <a:buNone/>
            </a:pPr>
            <a:r>
              <a:rPr lang="en-US" sz="1200" b="1" dirty="0">
                <a:solidFill>
                  <a:srgbClr val="3A9E6B"/>
                </a:solidFill>
                <a:latin typeface="Georgia" pitchFamily="34" charset="0"/>
                <a:ea typeface="Georgia" pitchFamily="34" charset="-122"/>
                <a:cs typeface="Georgia" pitchFamily="34" charset="-120"/>
              </a:rPr>
              <a:t>Minimal Risk</a:t>
            </a:r>
            <a:endParaRPr lang="en-US" sz="1200" dirty="0"/>
          </a:p>
        </p:txBody>
      </p:sp>
      <p:sp>
        <p:nvSpPr>
          <p:cNvPr id="31" name="Text 29"/>
          <p:cNvSpPr/>
          <p:nvPr/>
        </p:nvSpPr>
        <p:spPr>
          <a:xfrm>
            <a:off x="1737360" y="4279392"/>
            <a:ext cx="6766560" cy="320040"/>
          </a:xfrm>
          <a:prstGeom prst="rect">
            <a:avLst/>
          </a:prstGeom>
          <a:noFill/>
          <a:ln/>
        </p:spPr>
        <p:txBody>
          <a:bodyPr wrap="square" lIns="0" tIns="0" rIns="0" bIns="0" rtlCol="0" anchor="ctr"/>
          <a:lstStyle/>
          <a:p>
            <a:pPr indent="0" marL="0">
              <a:buNone/>
            </a:pPr>
            <a:r>
              <a:rPr lang="en-US" sz="1050" dirty="0">
                <a:solidFill>
                  <a:srgbClr val="6B5B52"/>
                </a:solidFill>
                <a:latin typeface="Calibri" pitchFamily="34" charset="0"/>
                <a:ea typeface="Calibri" pitchFamily="34" charset="-122"/>
                <a:cs typeface="Calibri" pitchFamily="34" charset="-120"/>
              </a:rPr>
              <a:t>Spam filtre, oyun AI, öneri sistemleri — düzenleme yok</a:t>
            </a:r>
            <a:endParaRPr lang="en-US" sz="1050" dirty="0"/>
          </a:p>
        </p:txBody>
      </p:sp>
      <p:sp>
        <p:nvSpPr>
          <p:cNvPr id="32" name="Shape 30"/>
          <p:cNvSpPr/>
          <p:nvPr/>
        </p:nvSpPr>
        <p:spPr>
          <a:xfrm>
            <a:off x="457200" y="4572000"/>
            <a:ext cx="8229600" cy="45720"/>
          </a:xfrm>
          <a:prstGeom prst="rect">
            <a:avLst/>
          </a:prstGeom>
          <a:solidFill>
            <a:srgbClr val="2B7A78"/>
          </a:solidFill>
          <a:ln/>
        </p:spPr>
      </p:sp>
      <p:sp>
        <p:nvSpPr>
          <p:cNvPr id="33" name="Text 31"/>
          <p:cNvSpPr/>
          <p:nvPr/>
        </p:nvSpPr>
        <p:spPr>
          <a:xfrm>
            <a:off x="457200" y="4663440"/>
            <a:ext cx="8229600" cy="365760"/>
          </a:xfrm>
          <a:prstGeom prst="rect">
            <a:avLst/>
          </a:prstGeom>
          <a:noFill/>
          <a:ln/>
        </p:spPr>
        <p:txBody>
          <a:bodyPr wrap="square" lIns="0" tIns="0" rIns="0" bIns="0" rtlCol="0" anchor="ctr"/>
          <a:lstStyle/>
          <a:p>
            <a:pPr algn="ctr" indent="0" marL="0">
              <a:buNone/>
            </a:pPr>
            <a:r>
              <a:rPr lang="en-US" sz="1000" i="1" dirty="0">
                <a:solidFill>
                  <a:srgbClr val="2B7A78"/>
                </a:solidFill>
                <a:latin typeface="Calibri" pitchFamily="34" charset="0"/>
                <a:ea typeface="Calibri" pitchFamily="34" charset="-122"/>
                <a:cs typeface="Calibri" pitchFamily="34" charset="-120"/>
              </a:rPr>
              <a:t>Yürürlük: 2024 onay → 2025 yasak uygulamaları → 2026 yüksek risk yüksümlülükleri → 2027 tam uygulama</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Sorumlu AI İlkeleri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260604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2606040" cy="54864"/>
          </a:xfrm>
          <a:prstGeom prst="rect">
            <a:avLst/>
          </a:prstGeom>
          <a:solidFill>
            <a:srgbClr val="D94F4F"/>
          </a:solidFill>
          <a:ln/>
        </p:spPr>
      </p:sp>
      <p:sp>
        <p:nvSpPr>
          <p:cNvPr id="10" name="Shape 8"/>
          <p:cNvSpPr/>
          <p:nvPr/>
        </p:nvSpPr>
        <p:spPr>
          <a:xfrm>
            <a:off x="1554480" y="1097280"/>
            <a:ext cx="329184" cy="329184"/>
          </a:xfrm>
          <a:prstGeom prst="ellipse">
            <a:avLst/>
          </a:prstGeom>
          <a:solidFill>
            <a:srgbClr val="D94F4F"/>
          </a:solidFill>
          <a:ln/>
        </p:spPr>
      </p:sp>
      <p:sp>
        <p:nvSpPr>
          <p:cNvPr id="11" name="Text 9"/>
          <p:cNvSpPr/>
          <p:nvPr/>
        </p:nvSpPr>
        <p:spPr>
          <a:xfrm>
            <a:off x="1554480" y="1097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594360" y="1508760"/>
            <a:ext cx="233172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Güvenlik</a:t>
            </a:r>
            <a:endParaRPr lang="en-US" sz="1200" dirty="0"/>
          </a:p>
        </p:txBody>
      </p:sp>
      <p:sp>
        <p:nvSpPr>
          <p:cNvPr id="13" name="Text 11"/>
          <p:cNvSpPr/>
          <p:nvPr/>
        </p:nvSpPr>
        <p:spPr>
          <a:xfrm>
            <a:off x="594360" y="1828800"/>
            <a:ext cx="233172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AI sistemleri güvenli ve sağlam olmalı. Adversarial saldırılara dayanıklı, hata durumlarında güvenli mod.</a:t>
            </a:r>
            <a:endParaRPr lang="en-US" sz="1100" dirty="0"/>
          </a:p>
        </p:txBody>
      </p:sp>
      <p:sp>
        <p:nvSpPr>
          <p:cNvPr id="14" name="Shape 12"/>
          <p:cNvSpPr/>
          <p:nvPr/>
        </p:nvSpPr>
        <p:spPr>
          <a:xfrm>
            <a:off x="3291840" y="960120"/>
            <a:ext cx="260604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3291840" y="960120"/>
            <a:ext cx="2606040" cy="54864"/>
          </a:xfrm>
          <a:prstGeom prst="rect">
            <a:avLst/>
          </a:prstGeom>
          <a:solidFill>
            <a:srgbClr val="E8913A"/>
          </a:solidFill>
          <a:ln/>
        </p:spPr>
      </p:sp>
      <p:sp>
        <p:nvSpPr>
          <p:cNvPr id="16" name="Shape 14"/>
          <p:cNvSpPr/>
          <p:nvPr/>
        </p:nvSpPr>
        <p:spPr>
          <a:xfrm>
            <a:off x="4389120" y="1097280"/>
            <a:ext cx="329184" cy="329184"/>
          </a:xfrm>
          <a:prstGeom prst="ellipse">
            <a:avLst/>
          </a:prstGeom>
          <a:solidFill>
            <a:srgbClr val="E8913A"/>
          </a:solidFill>
          <a:ln/>
        </p:spPr>
      </p:sp>
      <p:sp>
        <p:nvSpPr>
          <p:cNvPr id="17" name="Text 15"/>
          <p:cNvSpPr/>
          <p:nvPr/>
        </p:nvSpPr>
        <p:spPr>
          <a:xfrm>
            <a:off x="4389120" y="1097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8" name="Text 16"/>
          <p:cNvSpPr/>
          <p:nvPr/>
        </p:nvSpPr>
        <p:spPr>
          <a:xfrm>
            <a:off x="3429000" y="1508760"/>
            <a:ext cx="2331720" cy="347472"/>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Adalet</a:t>
            </a:r>
            <a:endParaRPr lang="en-US" sz="1200" dirty="0"/>
          </a:p>
        </p:txBody>
      </p:sp>
      <p:sp>
        <p:nvSpPr>
          <p:cNvPr id="19" name="Text 17"/>
          <p:cNvSpPr/>
          <p:nvPr/>
        </p:nvSpPr>
        <p:spPr>
          <a:xfrm>
            <a:off x="3429000" y="1828800"/>
            <a:ext cx="233172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Tüm gruplar için adil sonuçlar. Bias tespiti ve azaltma süreçleri zorunlu.</a:t>
            </a:r>
            <a:endParaRPr lang="en-US" sz="1100" dirty="0"/>
          </a:p>
        </p:txBody>
      </p:sp>
      <p:sp>
        <p:nvSpPr>
          <p:cNvPr id="20" name="Shape 18"/>
          <p:cNvSpPr/>
          <p:nvPr/>
        </p:nvSpPr>
        <p:spPr>
          <a:xfrm>
            <a:off x="6126480" y="960120"/>
            <a:ext cx="260604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6126480" y="960120"/>
            <a:ext cx="2606040" cy="54864"/>
          </a:xfrm>
          <a:prstGeom prst="rect">
            <a:avLst/>
          </a:prstGeom>
          <a:solidFill>
            <a:srgbClr val="7C5BBF"/>
          </a:solidFill>
          <a:ln/>
        </p:spPr>
      </p:sp>
      <p:sp>
        <p:nvSpPr>
          <p:cNvPr id="22" name="Shape 20"/>
          <p:cNvSpPr/>
          <p:nvPr/>
        </p:nvSpPr>
        <p:spPr>
          <a:xfrm>
            <a:off x="7223760" y="1097280"/>
            <a:ext cx="329184" cy="329184"/>
          </a:xfrm>
          <a:prstGeom prst="ellipse">
            <a:avLst/>
          </a:prstGeom>
          <a:solidFill>
            <a:srgbClr val="7C5BBF"/>
          </a:solidFill>
          <a:ln/>
        </p:spPr>
      </p:sp>
      <p:sp>
        <p:nvSpPr>
          <p:cNvPr id="23" name="Text 21"/>
          <p:cNvSpPr/>
          <p:nvPr/>
        </p:nvSpPr>
        <p:spPr>
          <a:xfrm>
            <a:off x="7223760" y="1097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2"/>
          <p:cNvSpPr/>
          <p:nvPr/>
        </p:nvSpPr>
        <p:spPr>
          <a:xfrm>
            <a:off x="6263640" y="1508760"/>
            <a:ext cx="2331720" cy="347472"/>
          </a:xfrm>
          <a:prstGeom prst="rect">
            <a:avLst/>
          </a:prstGeom>
          <a:noFill/>
          <a:ln/>
        </p:spPr>
        <p:txBody>
          <a:bodyPr wrap="square" lIns="0" tIns="0" rIns="0" bIns="0" rtlCol="0" anchor="ctr"/>
          <a:lstStyle/>
          <a:p>
            <a:pPr indent="0" marL="0">
              <a:buNone/>
            </a:pPr>
            <a:r>
              <a:rPr lang="en-US" sz="1200" b="1" dirty="0">
                <a:solidFill>
                  <a:srgbClr val="7C5BBF"/>
                </a:solidFill>
                <a:latin typeface="Georgia" pitchFamily="34" charset="0"/>
                <a:ea typeface="Georgia" pitchFamily="34" charset="-122"/>
                <a:cs typeface="Georgia" pitchFamily="34" charset="-120"/>
              </a:rPr>
              <a:t>Gizlilik</a:t>
            </a:r>
            <a:endParaRPr lang="en-US" sz="1200" dirty="0"/>
          </a:p>
        </p:txBody>
      </p:sp>
      <p:sp>
        <p:nvSpPr>
          <p:cNvPr id="25" name="Text 23"/>
          <p:cNvSpPr/>
          <p:nvPr/>
        </p:nvSpPr>
        <p:spPr>
          <a:xfrm>
            <a:off x="6263640" y="1828800"/>
            <a:ext cx="233172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Kişisel verilerin korunması. Differential privacy, federe öğrenme, veri minimizasyonu.</a:t>
            </a:r>
            <a:endParaRPr lang="en-US" sz="1100" dirty="0"/>
          </a:p>
        </p:txBody>
      </p:sp>
      <p:sp>
        <p:nvSpPr>
          <p:cNvPr id="26" name="Shape 24"/>
          <p:cNvSpPr/>
          <p:nvPr/>
        </p:nvSpPr>
        <p:spPr>
          <a:xfrm>
            <a:off x="457200" y="2834640"/>
            <a:ext cx="260604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57200" y="2834640"/>
            <a:ext cx="2606040" cy="54864"/>
          </a:xfrm>
          <a:prstGeom prst="rect">
            <a:avLst/>
          </a:prstGeom>
          <a:solidFill>
            <a:srgbClr val="2B7A78"/>
          </a:solidFill>
          <a:ln/>
        </p:spPr>
      </p:sp>
      <p:sp>
        <p:nvSpPr>
          <p:cNvPr id="28" name="Shape 26"/>
          <p:cNvSpPr/>
          <p:nvPr/>
        </p:nvSpPr>
        <p:spPr>
          <a:xfrm>
            <a:off x="1554480" y="2971800"/>
            <a:ext cx="329184" cy="329184"/>
          </a:xfrm>
          <a:prstGeom prst="ellipse">
            <a:avLst/>
          </a:prstGeom>
          <a:solidFill>
            <a:srgbClr val="2B7A78"/>
          </a:solidFill>
          <a:ln/>
        </p:spPr>
      </p:sp>
      <p:sp>
        <p:nvSpPr>
          <p:cNvPr id="29" name="Text 27"/>
          <p:cNvSpPr/>
          <p:nvPr/>
        </p:nvSpPr>
        <p:spPr>
          <a:xfrm>
            <a:off x="155448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0" name="Text 28"/>
          <p:cNvSpPr/>
          <p:nvPr/>
        </p:nvSpPr>
        <p:spPr>
          <a:xfrm>
            <a:off x="594360" y="3383280"/>
            <a:ext cx="233172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Şeffaflık</a:t>
            </a:r>
            <a:endParaRPr lang="en-US" sz="1200" dirty="0"/>
          </a:p>
        </p:txBody>
      </p:sp>
      <p:sp>
        <p:nvSpPr>
          <p:cNvPr id="31" name="Text 29"/>
          <p:cNvSpPr/>
          <p:nvPr/>
        </p:nvSpPr>
        <p:spPr>
          <a:xfrm>
            <a:off x="594360" y="3703320"/>
            <a:ext cx="233172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Model kararları açıklanabilir olmalı. Dokümantasyon, model kartları, veri sayfaları.</a:t>
            </a:r>
            <a:endParaRPr lang="en-US" sz="1100" dirty="0"/>
          </a:p>
        </p:txBody>
      </p:sp>
      <p:sp>
        <p:nvSpPr>
          <p:cNvPr id="32" name="Shape 30"/>
          <p:cNvSpPr/>
          <p:nvPr/>
        </p:nvSpPr>
        <p:spPr>
          <a:xfrm>
            <a:off x="3291840" y="2834640"/>
            <a:ext cx="260604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3" name="Shape 31"/>
          <p:cNvSpPr/>
          <p:nvPr/>
        </p:nvSpPr>
        <p:spPr>
          <a:xfrm>
            <a:off x="3291840" y="2834640"/>
            <a:ext cx="2606040" cy="54864"/>
          </a:xfrm>
          <a:prstGeom prst="rect">
            <a:avLst/>
          </a:prstGeom>
          <a:solidFill>
            <a:srgbClr val="4A7FC7"/>
          </a:solidFill>
          <a:ln/>
        </p:spPr>
      </p:sp>
      <p:sp>
        <p:nvSpPr>
          <p:cNvPr id="34" name="Shape 32"/>
          <p:cNvSpPr/>
          <p:nvPr/>
        </p:nvSpPr>
        <p:spPr>
          <a:xfrm>
            <a:off x="4389120" y="2971800"/>
            <a:ext cx="329184" cy="329184"/>
          </a:xfrm>
          <a:prstGeom prst="ellipse">
            <a:avLst/>
          </a:prstGeom>
          <a:solidFill>
            <a:srgbClr val="4A7FC7"/>
          </a:solidFill>
          <a:ln/>
        </p:spPr>
      </p:sp>
      <p:sp>
        <p:nvSpPr>
          <p:cNvPr id="35" name="Text 33"/>
          <p:cNvSpPr/>
          <p:nvPr/>
        </p:nvSpPr>
        <p:spPr>
          <a:xfrm>
            <a:off x="438912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6" name="Text 34"/>
          <p:cNvSpPr/>
          <p:nvPr/>
        </p:nvSpPr>
        <p:spPr>
          <a:xfrm>
            <a:off x="3429000" y="3383280"/>
            <a:ext cx="2331720" cy="347472"/>
          </a:xfrm>
          <a:prstGeom prst="rect">
            <a:avLst/>
          </a:prstGeom>
          <a:noFill/>
          <a:ln/>
        </p:spPr>
        <p:txBody>
          <a:bodyPr wrap="square" lIns="0" tIns="0" rIns="0" bIns="0" rtlCol="0" anchor="ctr"/>
          <a:lstStyle/>
          <a:p>
            <a:pPr indent="0" marL="0">
              <a:buNone/>
            </a:pPr>
            <a:r>
              <a:rPr lang="en-US" sz="1200" b="1" dirty="0">
                <a:solidFill>
                  <a:srgbClr val="4A7FC7"/>
                </a:solidFill>
                <a:latin typeface="Georgia" pitchFamily="34" charset="0"/>
                <a:ea typeface="Georgia" pitchFamily="34" charset="-122"/>
                <a:cs typeface="Georgia" pitchFamily="34" charset="-120"/>
              </a:rPr>
              <a:t>Hesap Verebilirlik</a:t>
            </a:r>
            <a:endParaRPr lang="en-US" sz="1200" dirty="0"/>
          </a:p>
        </p:txBody>
      </p:sp>
      <p:sp>
        <p:nvSpPr>
          <p:cNvPr id="37" name="Text 35"/>
          <p:cNvSpPr/>
          <p:nvPr/>
        </p:nvSpPr>
        <p:spPr>
          <a:xfrm>
            <a:off x="3429000" y="3703320"/>
            <a:ext cx="233172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AI kararlarından sorumlu kişi/kurum belirlenmeli. Denetim ve log mekanizmaları.</a:t>
            </a:r>
            <a:endParaRPr lang="en-US" sz="1100" dirty="0"/>
          </a:p>
        </p:txBody>
      </p:sp>
      <p:sp>
        <p:nvSpPr>
          <p:cNvPr id="38" name="Shape 36"/>
          <p:cNvSpPr/>
          <p:nvPr/>
        </p:nvSpPr>
        <p:spPr>
          <a:xfrm>
            <a:off x="6126480" y="2834640"/>
            <a:ext cx="260604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9" name="Shape 37"/>
          <p:cNvSpPr/>
          <p:nvPr/>
        </p:nvSpPr>
        <p:spPr>
          <a:xfrm>
            <a:off x="6126480" y="2834640"/>
            <a:ext cx="2606040" cy="54864"/>
          </a:xfrm>
          <a:prstGeom prst="rect">
            <a:avLst/>
          </a:prstGeom>
          <a:solidFill>
            <a:srgbClr val="3A9E6B"/>
          </a:solidFill>
          <a:ln/>
        </p:spPr>
      </p:sp>
      <p:sp>
        <p:nvSpPr>
          <p:cNvPr id="40" name="Shape 38"/>
          <p:cNvSpPr/>
          <p:nvPr/>
        </p:nvSpPr>
        <p:spPr>
          <a:xfrm>
            <a:off x="7223760" y="2971800"/>
            <a:ext cx="329184" cy="329184"/>
          </a:xfrm>
          <a:prstGeom prst="ellipse">
            <a:avLst/>
          </a:prstGeom>
          <a:solidFill>
            <a:srgbClr val="3A9E6B"/>
          </a:solidFill>
          <a:ln/>
        </p:spPr>
      </p:sp>
      <p:sp>
        <p:nvSpPr>
          <p:cNvPr id="41" name="Text 39"/>
          <p:cNvSpPr/>
          <p:nvPr/>
        </p:nvSpPr>
        <p:spPr>
          <a:xfrm>
            <a:off x="7223760" y="29718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42" name="Text 40"/>
          <p:cNvSpPr/>
          <p:nvPr/>
        </p:nvSpPr>
        <p:spPr>
          <a:xfrm>
            <a:off x="6263640" y="3383280"/>
            <a:ext cx="2331720" cy="347472"/>
          </a:xfrm>
          <a:prstGeom prst="rect">
            <a:avLst/>
          </a:prstGeom>
          <a:noFill/>
          <a:ln/>
        </p:spPr>
        <p:txBody>
          <a:bodyPr wrap="square" lIns="0" tIns="0" rIns="0" bIns="0" rtlCol="0" anchor="ctr"/>
          <a:lstStyle/>
          <a:p>
            <a:pPr indent="0" marL="0">
              <a:buNone/>
            </a:pPr>
            <a:r>
              <a:rPr lang="en-US" sz="1200" b="1" dirty="0">
                <a:solidFill>
                  <a:srgbClr val="3A9E6B"/>
                </a:solidFill>
                <a:latin typeface="Georgia" pitchFamily="34" charset="0"/>
                <a:ea typeface="Georgia" pitchFamily="34" charset="-122"/>
                <a:cs typeface="Georgia" pitchFamily="34" charset="-120"/>
              </a:rPr>
              <a:t>Kapsayıcılık</a:t>
            </a:r>
            <a:endParaRPr lang="en-US" sz="1200" dirty="0"/>
          </a:p>
        </p:txBody>
      </p:sp>
      <p:sp>
        <p:nvSpPr>
          <p:cNvPr id="43" name="Text 41"/>
          <p:cNvSpPr/>
          <p:nvPr/>
        </p:nvSpPr>
        <p:spPr>
          <a:xfrm>
            <a:off x="6263640" y="3703320"/>
            <a:ext cx="233172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Engelli bireyler dahil herkes için erişilebilir. Çok dilli, kültürel farkındalık.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AI Bias Analizi Kodu</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1</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3840480"/>
          </a:xfrm>
          <a:prstGeom prst="rect">
            <a:avLst/>
          </a:prstGeom>
          <a:solidFill>
            <a:srgbClr val="1E1E2E"/>
          </a:solidFill>
          <a:ln/>
        </p:spPr>
      </p:sp>
      <p:sp>
        <p:nvSpPr>
          <p:cNvPr id="9" name="Text 7"/>
          <p:cNvSpPr/>
          <p:nvPr/>
        </p:nvSpPr>
        <p:spPr>
          <a:xfrm>
            <a:off x="548640" y="1005840"/>
            <a:ext cx="8046720" cy="3749040"/>
          </a:xfrm>
          <a:prstGeom prst="rect">
            <a:avLst/>
          </a:prstGeom>
          <a:noFill/>
          <a:ln/>
        </p:spPr>
        <p:txBody>
          <a:bodyPr wrap="square" rtlCol="0" anchor="ctr"/>
          <a:lstStyle/>
          <a:p>
            <a:pPr indent="0" marL="0">
              <a:buNone/>
            </a:pPr>
            <a:r>
              <a:rPr lang="en-US" sz="900" dirty="0">
                <a:solidFill>
                  <a:srgbClr val="A6E3A1"/>
                </a:solidFill>
                <a:latin typeface="Consolas" pitchFamily="34" charset="0"/>
                <a:ea typeface="Consolas" pitchFamily="34" charset="-122"/>
                <a:cs typeface="Consolas" pitchFamily="34" charset="-120"/>
              </a:rPr>
              <a:t># Fairness metrikleri hesaplama</a:t>
            </a:r>
            <a:pPr indent="0" marL="0">
              <a:buNone/>
            </a:pPr>
            <a:r>
              <a:rPr lang="en-US" sz="900" dirty="0">
                <a:solidFill>
                  <a:srgbClr val="89B4FA"/>
                </a:solidFill>
                <a:latin typeface="Consolas" pitchFamily="34" charset="0"/>
                <a:ea typeface="Consolas" pitchFamily="34" charset="-122"/>
                <a:cs typeface="Consolas" pitchFamily="34" charset="-120"/>
              </a:rPr>
              <a:t>import pandas as pd</a:t>
            </a:r>
            <a:pPr indent="0" marL="0">
              <a:buNone/>
            </a:pPr>
            <a:r>
              <a:rPr lang="en-US" sz="900" dirty="0">
                <a:solidFill>
                  <a:srgbClr val="89B4FA"/>
                </a:solidFill>
                <a:latin typeface="Consolas" pitchFamily="34" charset="0"/>
                <a:ea typeface="Consolas" pitchFamily="34" charset="-122"/>
                <a:cs typeface="Consolas" pitchFamily="34" charset="-120"/>
              </a:rPr>
              <a:t>from sklearn.metrics import confusion_matrix</a:t>
            </a:r>
            <a:pPr indent="0" marL="0">
              <a:buNone/>
            </a:pPr>
            <a:pPr indent="0" marL="0">
              <a:buNone/>
            </a:pPr>
            <a:r>
              <a:rPr lang="en-US" sz="900" dirty="0">
                <a:solidFill>
                  <a:srgbClr val="F9E2AF"/>
                </a:solidFill>
                <a:latin typeface="Consolas" pitchFamily="34" charset="0"/>
                <a:ea typeface="Consolas" pitchFamily="34" charset="-122"/>
                <a:cs typeface="Consolas" pitchFamily="34" charset="-120"/>
              </a:rPr>
              <a:t>def demographic_parity(y_pred, group):</a:t>
            </a:r>
            <a:pPr indent="0" marL="0">
              <a:buNone/>
            </a:pPr>
            <a:r>
              <a:rPr lang="en-US" sz="900" dirty="0">
                <a:solidFill>
                  <a:srgbClr val="A6E3A1"/>
                </a:solidFill>
                <a:latin typeface="Consolas" pitchFamily="34" charset="0"/>
                <a:ea typeface="Consolas" pitchFamily="34" charset="-122"/>
                <a:cs typeface="Consolas" pitchFamily="34" charset="-120"/>
              </a:rPr>
              <a:t>    """Demografik eşitlik: P(Y=1|G=a) = P(Y=1|G=b)"""</a:t>
            </a:r>
            <a:pPr indent="0" marL="0">
              <a:buNone/>
            </a:pPr>
            <a:r>
              <a:rPr lang="en-US" sz="900" dirty="0">
                <a:solidFill>
                  <a:srgbClr val="CDD6F4"/>
                </a:solidFill>
                <a:latin typeface="Consolas" pitchFamily="34" charset="0"/>
                <a:ea typeface="Consolas" pitchFamily="34" charset="-122"/>
                <a:cs typeface="Consolas" pitchFamily="34" charset="-120"/>
              </a:rPr>
              <a:t>    rates = {}</a:t>
            </a:r>
            <a:pPr indent="0" marL="0">
              <a:buNone/>
            </a:pPr>
            <a:r>
              <a:rPr lang="en-US" sz="900" dirty="0">
                <a:solidFill>
                  <a:srgbClr val="CDD6F4"/>
                </a:solidFill>
                <a:latin typeface="Consolas" pitchFamily="34" charset="0"/>
                <a:ea typeface="Consolas" pitchFamily="34" charset="-122"/>
                <a:cs typeface="Consolas" pitchFamily="34" charset="-120"/>
              </a:rPr>
              <a:t>    for g in group.unique():</a:t>
            </a:r>
            <a:pPr indent="0" marL="0">
              <a:buNone/>
            </a:pPr>
            <a:r>
              <a:rPr lang="en-US" sz="900" dirty="0">
                <a:solidFill>
                  <a:srgbClr val="CDD6F4"/>
                </a:solidFill>
                <a:latin typeface="Consolas" pitchFamily="34" charset="0"/>
                <a:ea typeface="Consolas" pitchFamily="34" charset="-122"/>
                <a:cs typeface="Consolas" pitchFamily="34" charset="-120"/>
              </a:rPr>
              <a:t>        mask = (group == g)</a:t>
            </a:r>
            <a:pPr indent="0" marL="0">
              <a:buNone/>
            </a:pPr>
            <a:r>
              <a:rPr lang="en-US" sz="900" dirty="0">
                <a:solidFill>
                  <a:srgbClr val="CDD6F4"/>
                </a:solidFill>
                <a:latin typeface="Consolas" pitchFamily="34" charset="0"/>
                <a:ea typeface="Consolas" pitchFamily="34" charset="-122"/>
                <a:cs typeface="Consolas" pitchFamily="34" charset="-120"/>
              </a:rPr>
              <a:t>        rates[g] = y_pred[mask].mean()</a:t>
            </a:r>
            <a:pPr indent="0" marL="0">
              <a:buNone/>
            </a:pPr>
            <a:r>
              <a:rPr lang="en-US" sz="900" dirty="0">
                <a:solidFill>
                  <a:srgbClr val="CDD6F4"/>
                </a:solidFill>
                <a:latin typeface="Consolas" pitchFamily="34" charset="0"/>
                <a:ea typeface="Consolas" pitchFamily="34" charset="-122"/>
                <a:cs typeface="Consolas" pitchFamily="34" charset="-120"/>
              </a:rPr>
              <a:t>    return rates</a:t>
            </a:r>
            <a:pPr indent="0" marL="0">
              <a:buNone/>
            </a:pPr>
            <a:pPr indent="0" marL="0">
              <a:buNone/>
            </a:pPr>
            <a:r>
              <a:rPr lang="en-US" sz="900" dirty="0">
                <a:solidFill>
                  <a:srgbClr val="F9E2AF"/>
                </a:solidFill>
                <a:latin typeface="Consolas" pitchFamily="34" charset="0"/>
                <a:ea typeface="Consolas" pitchFamily="34" charset="-122"/>
                <a:cs typeface="Consolas" pitchFamily="34" charset="-120"/>
              </a:rPr>
              <a:t>def equalized_odds(y_true, y_pred, group):</a:t>
            </a:r>
            <a:pPr indent="0" marL="0">
              <a:buNone/>
            </a:pPr>
            <a:r>
              <a:rPr lang="en-US" sz="900" dirty="0">
                <a:solidFill>
                  <a:srgbClr val="A6E3A1"/>
                </a:solidFill>
                <a:latin typeface="Consolas" pitchFamily="34" charset="0"/>
                <a:ea typeface="Consolas" pitchFamily="34" charset="-122"/>
                <a:cs typeface="Consolas" pitchFamily="34" charset="-120"/>
              </a:rPr>
              <a:t>    """Fırsat eşitliği: TPR ve FPR gruplar arası eşit"""</a:t>
            </a:r>
            <a:pPr indent="0" marL="0">
              <a:buNone/>
            </a:pPr>
            <a:r>
              <a:rPr lang="en-US" sz="900" dirty="0">
                <a:solidFill>
                  <a:srgbClr val="CDD6F4"/>
                </a:solidFill>
                <a:latin typeface="Consolas" pitchFamily="34" charset="0"/>
                <a:ea typeface="Consolas" pitchFamily="34" charset="-122"/>
                <a:cs typeface="Consolas" pitchFamily="34" charset="-120"/>
              </a:rPr>
              <a:t>    results = {}</a:t>
            </a:r>
            <a:pPr indent="0" marL="0">
              <a:buNone/>
            </a:pPr>
            <a:r>
              <a:rPr lang="en-US" sz="900" dirty="0">
                <a:solidFill>
                  <a:srgbClr val="CDD6F4"/>
                </a:solidFill>
                <a:latin typeface="Consolas" pitchFamily="34" charset="0"/>
                <a:ea typeface="Consolas" pitchFamily="34" charset="-122"/>
                <a:cs typeface="Consolas" pitchFamily="34" charset="-120"/>
              </a:rPr>
              <a:t>    for g in group.unique():</a:t>
            </a:r>
            <a:pPr indent="0" marL="0">
              <a:buNone/>
            </a:pPr>
            <a:r>
              <a:rPr lang="en-US" sz="900" dirty="0">
                <a:solidFill>
                  <a:srgbClr val="CDD6F4"/>
                </a:solidFill>
                <a:latin typeface="Consolas" pitchFamily="34" charset="0"/>
                <a:ea typeface="Consolas" pitchFamily="34" charset="-122"/>
                <a:cs typeface="Consolas" pitchFamily="34" charset="-120"/>
              </a:rPr>
              <a:t>        mask = (group == g)</a:t>
            </a:r>
            <a:pPr indent="0" marL="0">
              <a:buNone/>
            </a:pPr>
            <a:r>
              <a:rPr lang="en-US" sz="900" dirty="0">
                <a:solidFill>
                  <a:srgbClr val="CDD6F4"/>
                </a:solidFill>
                <a:latin typeface="Consolas" pitchFamily="34" charset="0"/>
                <a:ea typeface="Consolas" pitchFamily="34" charset="-122"/>
                <a:cs typeface="Consolas" pitchFamily="34" charset="-120"/>
              </a:rPr>
              <a:t>        tn, fp, fn, tp = confusion_matrix(</a:t>
            </a:r>
            <a:pPr indent="0" marL="0">
              <a:buNone/>
            </a:pPr>
            <a:r>
              <a:rPr lang="en-US" sz="900" dirty="0">
                <a:solidFill>
                  <a:srgbClr val="CDD6F4"/>
                </a:solidFill>
                <a:latin typeface="Consolas" pitchFamily="34" charset="0"/>
                <a:ea typeface="Consolas" pitchFamily="34" charset="-122"/>
                <a:cs typeface="Consolas" pitchFamily="34" charset="-120"/>
              </a:rPr>
              <a:t>            y_true[mask], y_pred[mask]).ravel()</a:t>
            </a:r>
            <a:pPr indent="0" marL="0">
              <a:buNone/>
            </a:pPr>
            <a:r>
              <a:rPr lang="en-US" sz="900" dirty="0">
                <a:solidFill>
                  <a:srgbClr val="CDD6F4"/>
                </a:solidFill>
                <a:latin typeface="Consolas" pitchFamily="34" charset="0"/>
                <a:ea typeface="Consolas" pitchFamily="34" charset="-122"/>
                <a:cs typeface="Consolas" pitchFamily="34" charset="-120"/>
              </a:rPr>
              <a:t>        tpr = tp / (tp + fn) if (tp + fn) &gt; 0 else 0</a:t>
            </a:r>
            <a:pPr indent="0" marL="0">
              <a:buNone/>
            </a:pPr>
            <a:r>
              <a:rPr lang="en-US" sz="900" dirty="0">
                <a:solidFill>
                  <a:srgbClr val="CDD6F4"/>
                </a:solidFill>
                <a:latin typeface="Consolas" pitchFamily="34" charset="0"/>
                <a:ea typeface="Consolas" pitchFamily="34" charset="-122"/>
                <a:cs typeface="Consolas" pitchFamily="34" charset="-120"/>
              </a:rPr>
              <a:t>        fpr = fp / (fp + tn) if (fp + tn) &gt; 0 else 0</a:t>
            </a:r>
            <a:pPr indent="0" marL="0">
              <a:buNone/>
            </a:pPr>
            <a:r>
              <a:rPr lang="en-US" sz="900" dirty="0">
                <a:solidFill>
                  <a:srgbClr val="CDD6F4"/>
                </a:solidFill>
                <a:latin typeface="Consolas" pitchFamily="34" charset="0"/>
                <a:ea typeface="Consolas" pitchFamily="34" charset="-122"/>
                <a:cs typeface="Consolas" pitchFamily="34" charset="-120"/>
              </a:rPr>
              <a:t>        results[g] = {"TPR": tpr, "FPR": fpr}</a:t>
            </a:r>
            <a:pPr indent="0" marL="0">
              <a:buNone/>
            </a:pPr>
            <a:r>
              <a:rPr lang="en-US" sz="900" dirty="0">
                <a:solidFill>
                  <a:srgbClr val="CDD6F4"/>
                </a:solidFill>
                <a:latin typeface="Consolas" pitchFamily="34" charset="0"/>
                <a:ea typeface="Consolas" pitchFamily="34" charset="-122"/>
                <a:cs typeface="Consolas" pitchFamily="34" charset="-120"/>
              </a:rPr>
              <a:t>    return results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AI’nın Geleceği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931920" cy="54864"/>
          </a:xfrm>
          <a:prstGeom prst="rect">
            <a:avLst/>
          </a:prstGeom>
          <a:solidFill>
            <a:srgbClr val="D94F4F"/>
          </a:solidFill>
          <a:ln/>
        </p:spPr>
      </p:sp>
      <p:sp>
        <p:nvSpPr>
          <p:cNvPr id="10" name="Shape 8"/>
          <p:cNvSpPr/>
          <p:nvPr/>
        </p:nvSpPr>
        <p:spPr>
          <a:xfrm>
            <a:off x="640080" y="1143000"/>
            <a:ext cx="502920" cy="502920"/>
          </a:xfrm>
          <a:prstGeom prst="ellipse">
            <a:avLst/>
          </a:prstGeom>
          <a:solidFill>
            <a:srgbClr val="D94F4F"/>
          </a:solidFill>
          <a:ln/>
        </p:spPr>
      </p:sp>
      <p:sp>
        <p:nvSpPr>
          <p:cNvPr id="11" name="Text 9"/>
          <p:cNvSpPr/>
          <p:nvPr/>
        </p:nvSpPr>
        <p:spPr>
          <a:xfrm>
            <a:off x="640080" y="11430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12" name="Text 10"/>
          <p:cNvSpPr/>
          <p:nvPr/>
        </p:nvSpPr>
        <p:spPr>
          <a:xfrm>
            <a:off x="1280160" y="1188720"/>
            <a:ext cx="292608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AGI (Genel Yapay Zekâ)</a:t>
            </a:r>
            <a:endParaRPr lang="en-US" sz="1200" dirty="0"/>
          </a:p>
        </p:txBody>
      </p:sp>
      <p:sp>
        <p:nvSpPr>
          <p:cNvPr id="13" name="Text 11"/>
          <p:cNvSpPr/>
          <p:nvPr/>
        </p:nvSpPr>
        <p:spPr>
          <a:xfrm>
            <a:off x="640080" y="1645920"/>
            <a:ext cx="3566160" cy="868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İnsan seviyesinde genel zekâ. Henüz teorik aşamada ama ilerlemeler hızlanıyor. Tahmin: 2030–2050 aralığı.</a:t>
            </a:r>
            <a:endParaRPr lang="en-US" sz="1100" dirty="0"/>
          </a:p>
        </p:txBody>
      </p:sp>
      <p:sp>
        <p:nvSpPr>
          <p:cNvPr id="14" name="Shape 12"/>
          <p:cNvSpPr/>
          <p:nvPr/>
        </p:nvSpPr>
        <p:spPr>
          <a:xfrm>
            <a:off x="4663440" y="96012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5" name="Shape 13"/>
          <p:cNvSpPr/>
          <p:nvPr/>
        </p:nvSpPr>
        <p:spPr>
          <a:xfrm>
            <a:off x="4663440" y="960120"/>
            <a:ext cx="3931920" cy="54864"/>
          </a:xfrm>
          <a:prstGeom prst="rect">
            <a:avLst/>
          </a:prstGeom>
          <a:solidFill>
            <a:srgbClr val="2B7A78"/>
          </a:solidFill>
          <a:ln/>
        </p:spPr>
      </p:sp>
      <p:sp>
        <p:nvSpPr>
          <p:cNvPr id="16" name="Shape 14"/>
          <p:cNvSpPr/>
          <p:nvPr/>
        </p:nvSpPr>
        <p:spPr>
          <a:xfrm>
            <a:off x="4846320" y="1143000"/>
            <a:ext cx="502920" cy="502920"/>
          </a:xfrm>
          <a:prstGeom prst="ellipse">
            <a:avLst/>
          </a:prstGeom>
          <a:solidFill>
            <a:srgbClr val="2B7A78"/>
          </a:solidFill>
          <a:ln/>
        </p:spPr>
      </p:sp>
      <p:sp>
        <p:nvSpPr>
          <p:cNvPr id="17" name="Text 15"/>
          <p:cNvSpPr/>
          <p:nvPr/>
        </p:nvSpPr>
        <p:spPr>
          <a:xfrm>
            <a:off x="4846320" y="11430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18" name="Text 16"/>
          <p:cNvSpPr/>
          <p:nvPr/>
        </p:nvSpPr>
        <p:spPr>
          <a:xfrm>
            <a:off x="5486400" y="1188720"/>
            <a:ext cx="292608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Multimodal Modeller</a:t>
            </a:r>
            <a:endParaRPr lang="en-US" sz="1200" dirty="0"/>
          </a:p>
        </p:txBody>
      </p:sp>
      <p:sp>
        <p:nvSpPr>
          <p:cNvPr id="19" name="Text 17"/>
          <p:cNvSpPr/>
          <p:nvPr/>
        </p:nvSpPr>
        <p:spPr>
          <a:xfrm>
            <a:off x="4846320" y="1645920"/>
            <a:ext cx="3566160" cy="868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Metin + görüntü + ses + video birleşik işleme. GPT-4V, Gemini, Claude örnekleri. Gerçek dünya algısı.</a:t>
            </a:r>
            <a:endParaRPr lang="en-US" sz="1100" dirty="0"/>
          </a:p>
        </p:txBody>
      </p:sp>
      <p:sp>
        <p:nvSpPr>
          <p:cNvPr id="20" name="Shape 18"/>
          <p:cNvSpPr/>
          <p:nvPr/>
        </p:nvSpPr>
        <p:spPr>
          <a:xfrm>
            <a:off x="457200" y="288036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457200" y="2880360"/>
            <a:ext cx="3931920" cy="54864"/>
          </a:xfrm>
          <a:prstGeom prst="rect">
            <a:avLst/>
          </a:prstGeom>
          <a:solidFill>
            <a:srgbClr val="E8913A"/>
          </a:solidFill>
          <a:ln/>
        </p:spPr>
      </p:sp>
      <p:sp>
        <p:nvSpPr>
          <p:cNvPr id="22" name="Shape 20"/>
          <p:cNvSpPr/>
          <p:nvPr/>
        </p:nvSpPr>
        <p:spPr>
          <a:xfrm>
            <a:off x="640080" y="3063240"/>
            <a:ext cx="502920" cy="502920"/>
          </a:xfrm>
          <a:prstGeom prst="ellipse">
            <a:avLst/>
          </a:prstGeom>
          <a:solidFill>
            <a:srgbClr val="E8913A"/>
          </a:solidFill>
          <a:ln/>
        </p:spPr>
      </p:sp>
      <p:sp>
        <p:nvSpPr>
          <p:cNvPr id="23" name="Text 21"/>
          <p:cNvSpPr/>
          <p:nvPr/>
        </p:nvSpPr>
        <p:spPr>
          <a:xfrm>
            <a:off x="640080" y="30632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24" name="Text 22"/>
          <p:cNvSpPr/>
          <p:nvPr/>
        </p:nvSpPr>
        <p:spPr>
          <a:xfrm>
            <a:off x="1280160" y="3108960"/>
            <a:ext cx="2926080" cy="347472"/>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Otonom Ajanlar</a:t>
            </a:r>
            <a:endParaRPr lang="en-US" sz="1200" dirty="0"/>
          </a:p>
        </p:txBody>
      </p:sp>
      <p:sp>
        <p:nvSpPr>
          <p:cNvPr id="25" name="Text 23"/>
          <p:cNvSpPr/>
          <p:nvPr/>
        </p:nvSpPr>
        <p:spPr>
          <a:xfrm>
            <a:off x="640080" y="3566160"/>
            <a:ext cx="3566160" cy="868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AI’ın kendi başına karar verip eylem yapması. Tool-use, planlama, multi-agent işbirliği.</a:t>
            </a:r>
            <a:endParaRPr lang="en-US" sz="1100" dirty="0"/>
          </a:p>
        </p:txBody>
      </p:sp>
      <p:sp>
        <p:nvSpPr>
          <p:cNvPr id="26" name="Shape 24"/>
          <p:cNvSpPr/>
          <p:nvPr/>
        </p:nvSpPr>
        <p:spPr>
          <a:xfrm>
            <a:off x="4663440" y="2880360"/>
            <a:ext cx="3931920" cy="16916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7" name="Shape 25"/>
          <p:cNvSpPr/>
          <p:nvPr/>
        </p:nvSpPr>
        <p:spPr>
          <a:xfrm>
            <a:off x="4663440" y="2880360"/>
            <a:ext cx="3931920" cy="54864"/>
          </a:xfrm>
          <a:prstGeom prst="rect">
            <a:avLst/>
          </a:prstGeom>
          <a:solidFill>
            <a:srgbClr val="7C5BBF"/>
          </a:solidFill>
          <a:ln/>
        </p:spPr>
      </p:sp>
      <p:sp>
        <p:nvSpPr>
          <p:cNvPr id="28" name="Shape 26"/>
          <p:cNvSpPr/>
          <p:nvPr/>
        </p:nvSpPr>
        <p:spPr>
          <a:xfrm>
            <a:off x="4846320" y="3063240"/>
            <a:ext cx="502920" cy="502920"/>
          </a:xfrm>
          <a:prstGeom prst="ellipse">
            <a:avLst/>
          </a:prstGeom>
          <a:solidFill>
            <a:srgbClr val="7C5BBF"/>
          </a:solidFill>
          <a:ln/>
        </p:spPr>
      </p:sp>
      <p:sp>
        <p:nvSpPr>
          <p:cNvPr id="29" name="Text 27"/>
          <p:cNvSpPr/>
          <p:nvPr/>
        </p:nvSpPr>
        <p:spPr>
          <a:xfrm>
            <a:off x="4846320" y="30632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30" name="Text 28"/>
          <p:cNvSpPr/>
          <p:nvPr/>
        </p:nvSpPr>
        <p:spPr>
          <a:xfrm>
            <a:off x="5486400" y="3108960"/>
            <a:ext cx="2926080" cy="347472"/>
          </a:xfrm>
          <a:prstGeom prst="rect">
            <a:avLst/>
          </a:prstGeom>
          <a:noFill/>
          <a:ln/>
        </p:spPr>
        <p:txBody>
          <a:bodyPr wrap="square" lIns="0" tIns="0" rIns="0" bIns="0" rtlCol="0" anchor="ctr"/>
          <a:lstStyle/>
          <a:p>
            <a:pPr indent="0" marL="0">
              <a:buNone/>
            </a:pPr>
            <a:r>
              <a:rPr lang="en-US" sz="1200" b="1" dirty="0">
                <a:solidFill>
                  <a:srgbClr val="7C5BBF"/>
                </a:solidFill>
                <a:latin typeface="Georgia" pitchFamily="34" charset="0"/>
                <a:ea typeface="Georgia" pitchFamily="34" charset="-122"/>
                <a:cs typeface="Georgia" pitchFamily="34" charset="-120"/>
              </a:rPr>
              <a:t>AI-Human Collaboration</a:t>
            </a:r>
            <a:endParaRPr lang="en-US" sz="1200" dirty="0"/>
          </a:p>
        </p:txBody>
      </p:sp>
      <p:sp>
        <p:nvSpPr>
          <p:cNvPr id="31" name="Text 29"/>
          <p:cNvSpPr/>
          <p:nvPr/>
        </p:nvSpPr>
        <p:spPr>
          <a:xfrm>
            <a:off x="4846320" y="3566160"/>
            <a:ext cx="3566160" cy="86868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İnsan + AI birlikte çalışma. Augmented intelligence yaklaşımı. Yaratıcılık ve karar desteği.</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AI Kariyer Yolları</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2011680"/>
                <a:gridCol w="2560320"/>
                <a:gridCol w="1645920"/>
                <a:gridCol w="2011680"/>
              </a:tblGrid>
              <a:tr h="36576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Rol</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Temel Beceriler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Ortalama Maş (ABD)</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Talep</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Data Scientist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Python, ML, İstatistik, SQL</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$130K+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ML Engineer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MLOps, Docker, Cloud, CI/CD</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$145K+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AI Researcher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Matematik, Paper yazma, PyTorch</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$160K+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Prompt Engineer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LLM’ler, Prompt Design, RAG</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$120K+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AI Ethics Officer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Hukuk, Sosyoloji, AI bilgisi</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$110K+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Computer Vision Eng.</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OpenCV, YOLO, CNN, 3D Vision</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$140K+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41148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NLP Engineer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Transformers, Tokenization, LLM</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$135K+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15 Haftalık Yolculuk Özeti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2</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1920240" y="1005840"/>
            <a:ext cx="36576" cy="3840480"/>
          </a:xfrm>
          <a:prstGeom prst="rect">
            <a:avLst/>
          </a:prstGeom>
          <a:solidFill>
            <a:srgbClr val="E8DDD3"/>
          </a:solidFill>
          <a:ln/>
        </p:spPr>
      </p:sp>
      <p:sp>
        <p:nvSpPr>
          <p:cNvPr id="9" name="Shape 7"/>
          <p:cNvSpPr/>
          <p:nvPr/>
        </p:nvSpPr>
        <p:spPr>
          <a:xfrm>
            <a:off x="1783080" y="1078992"/>
            <a:ext cx="310896" cy="310896"/>
          </a:xfrm>
          <a:prstGeom prst="ellipse">
            <a:avLst/>
          </a:prstGeom>
          <a:solidFill>
            <a:srgbClr val="C97B5A"/>
          </a:solidFill>
          <a:ln/>
        </p:spPr>
      </p:sp>
      <p:sp>
        <p:nvSpPr>
          <p:cNvPr id="10" name="Text 8"/>
          <p:cNvSpPr/>
          <p:nvPr/>
        </p:nvSpPr>
        <p:spPr>
          <a:xfrm>
            <a:off x="457200" y="1024128"/>
            <a:ext cx="1234440" cy="365760"/>
          </a:xfrm>
          <a:prstGeom prst="rect">
            <a:avLst/>
          </a:prstGeom>
          <a:noFill/>
          <a:ln/>
        </p:spPr>
        <p:txBody>
          <a:bodyPr wrap="square" lIns="0" tIns="0" rIns="0" bIns="0" rtlCol="0" anchor="ctr"/>
          <a:lstStyle/>
          <a:p>
            <a:pPr algn="r" indent="0" marL="0">
              <a:buNone/>
            </a:pPr>
            <a:r>
              <a:rPr lang="en-US" sz="1000" b="1" dirty="0">
                <a:solidFill>
                  <a:srgbClr val="C97B5A"/>
                </a:solidFill>
                <a:latin typeface="Georgia" pitchFamily="34" charset="0"/>
                <a:ea typeface="Georgia" pitchFamily="34" charset="-122"/>
                <a:cs typeface="Georgia" pitchFamily="34" charset="-120"/>
              </a:rPr>
              <a:t>H1-3</a:t>
            </a:r>
            <a:endParaRPr lang="en-US" sz="1000" dirty="0"/>
          </a:p>
        </p:txBody>
      </p:sp>
      <p:sp>
        <p:nvSpPr>
          <p:cNvPr id="11" name="Shape 9"/>
          <p:cNvSpPr/>
          <p:nvPr/>
        </p:nvSpPr>
        <p:spPr>
          <a:xfrm>
            <a:off x="2148840" y="1207008"/>
            <a:ext cx="320040" cy="27432"/>
          </a:xfrm>
          <a:prstGeom prst="rect">
            <a:avLst/>
          </a:prstGeom>
          <a:solidFill>
            <a:srgbClr val="C97B5A"/>
          </a:solidFill>
          <a:ln/>
        </p:spPr>
      </p:sp>
      <p:sp>
        <p:nvSpPr>
          <p:cNvPr id="12" name="Shape 10"/>
          <p:cNvSpPr/>
          <p:nvPr/>
        </p:nvSpPr>
        <p:spPr>
          <a:xfrm>
            <a:off x="2560320" y="1005840"/>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2560320" y="1005840"/>
            <a:ext cx="54864" cy="411480"/>
          </a:xfrm>
          <a:prstGeom prst="rect">
            <a:avLst/>
          </a:prstGeom>
          <a:solidFill>
            <a:srgbClr val="C97B5A"/>
          </a:solidFill>
          <a:ln/>
        </p:spPr>
      </p:sp>
      <p:sp>
        <p:nvSpPr>
          <p:cNvPr id="14" name="Text 12"/>
          <p:cNvSpPr/>
          <p:nvPr/>
        </p:nvSpPr>
        <p:spPr>
          <a:xfrm>
            <a:off x="2743200" y="1005840"/>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Python, NumPy, Pandas, Görselleştirme</a:t>
            </a:r>
            <a:endParaRPr lang="en-US" sz="1050" dirty="0"/>
          </a:p>
        </p:txBody>
      </p:sp>
      <p:sp>
        <p:nvSpPr>
          <p:cNvPr id="15" name="Shape 13"/>
          <p:cNvSpPr/>
          <p:nvPr/>
        </p:nvSpPr>
        <p:spPr>
          <a:xfrm>
            <a:off x="1783080" y="1554480"/>
            <a:ext cx="310896" cy="310896"/>
          </a:xfrm>
          <a:prstGeom prst="ellipse">
            <a:avLst/>
          </a:prstGeom>
          <a:solidFill>
            <a:srgbClr val="2B7A78"/>
          </a:solidFill>
          <a:ln/>
        </p:spPr>
      </p:sp>
      <p:sp>
        <p:nvSpPr>
          <p:cNvPr id="16" name="Text 14"/>
          <p:cNvSpPr/>
          <p:nvPr/>
        </p:nvSpPr>
        <p:spPr>
          <a:xfrm>
            <a:off x="457200" y="1499616"/>
            <a:ext cx="1234440" cy="365760"/>
          </a:xfrm>
          <a:prstGeom prst="rect">
            <a:avLst/>
          </a:prstGeom>
          <a:noFill/>
          <a:ln/>
        </p:spPr>
        <p:txBody>
          <a:bodyPr wrap="square" lIns="0" tIns="0" rIns="0" bIns="0" rtlCol="0" anchor="ctr"/>
          <a:lstStyle/>
          <a:p>
            <a:pPr algn="r" indent="0" marL="0">
              <a:buNone/>
            </a:pPr>
            <a:r>
              <a:rPr lang="en-US" sz="1000" b="1" dirty="0">
                <a:solidFill>
                  <a:srgbClr val="2B7A78"/>
                </a:solidFill>
                <a:latin typeface="Georgia" pitchFamily="34" charset="0"/>
                <a:ea typeface="Georgia" pitchFamily="34" charset="-122"/>
                <a:cs typeface="Georgia" pitchFamily="34" charset="-120"/>
              </a:rPr>
              <a:t>H4-5</a:t>
            </a:r>
            <a:endParaRPr lang="en-US" sz="1000" dirty="0"/>
          </a:p>
        </p:txBody>
      </p:sp>
      <p:sp>
        <p:nvSpPr>
          <p:cNvPr id="17" name="Shape 15"/>
          <p:cNvSpPr/>
          <p:nvPr/>
        </p:nvSpPr>
        <p:spPr>
          <a:xfrm>
            <a:off x="2148840" y="1682496"/>
            <a:ext cx="320040" cy="27432"/>
          </a:xfrm>
          <a:prstGeom prst="rect">
            <a:avLst/>
          </a:prstGeom>
          <a:solidFill>
            <a:srgbClr val="2B7A78"/>
          </a:solidFill>
          <a:ln/>
        </p:spPr>
      </p:sp>
      <p:sp>
        <p:nvSpPr>
          <p:cNvPr id="18" name="Shape 16"/>
          <p:cNvSpPr/>
          <p:nvPr/>
        </p:nvSpPr>
        <p:spPr>
          <a:xfrm>
            <a:off x="2560320" y="1481328"/>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9" name="Shape 17"/>
          <p:cNvSpPr/>
          <p:nvPr/>
        </p:nvSpPr>
        <p:spPr>
          <a:xfrm>
            <a:off x="2560320" y="1481328"/>
            <a:ext cx="54864" cy="411480"/>
          </a:xfrm>
          <a:prstGeom prst="rect">
            <a:avLst/>
          </a:prstGeom>
          <a:solidFill>
            <a:srgbClr val="2B7A78"/>
          </a:solidFill>
          <a:ln/>
        </p:spPr>
      </p:sp>
      <p:sp>
        <p:nvSpPr>
          <p:cNvPr id="20" name="Text 18"/>
          <p:cNvSpPr/>
          <p:nvPr/>
        </p:nvSpPr>
        <p:spPr>
          <a:xfrm>
            <a:off x="2743200" y="1481328"/>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İstatistik, A/B Testi, Olasılık</a:t>
            </a:r>
            <a:endParaRPr lang="en-US" sz="1050" dirty="0"/>
          </a:p>
        </p:txBody>
      </p:sp>
      <p:sp>
        <p:nvSpPr>
          <p:cNvPr id="21" name="Shape 19"/>
          <p:cNvSpPr/>
          <p:nvPr/>
        </p:nvSpPr>
        <p:spPr>
          <a:xfrm>
            <a:off x="1783080" y="2029968"/>
            <a:ext cx="310896" cy="310896"/>
          </a:xfrm>
          <a:prstGeom prst="ellipse">
            <a:avLst/>
          </a:prstGeom>
          <a:solidFill>
            <a:srgbClr val="E8913A"/>
          </a:solidFill>
          <a:ln/>
        </p:spPr>
      </p:sp>
      <p:sp>
        <p:nvSpPr>
          <p:cNvPr id="22" name="Text 20"/>
          <p:cNvSpPr/>
          <p:nvPr/>
        </p:nvSpPr>
        <p:spPr>
          <a:xfrm>
            <a:off x="457200" y="1975104"/>
            <a:ext cx="1234440" cy="365760"/>
          </a:xfrm>
          <a:prstGeom prst="rect">
            <a:avLst/>
          </a:prstGeom>
          <a:noFill/>
          <a:ln/>
        </p:spPr>
        <p:txBody>
          <a:bodyPr wrap="square" lIns="0" tIns="0" rIns="0" bIns="0" rtlCol="0" anchor="ctr"/>
          <a:lstStyle/>
          <a:p>
            <a:pPr algn="r" indent="0" marL="0">
              <a:buNone/>
            </a:pPr>
            <a:r>
              <a:rPr lang="en-US" sz="1000" b="1" dirty="0">
                <a:solidFill>
                  <a:srgbClr val="E8913A"/>
                </a:solidFill>
                <a:latin typeface="Georgia" pitchFamily="34" charset="0"/>
                <a:ea typeface="Georgia" pitchFamily="34" charset="-122"/>
                <a:cs typeface="Georgia" pitchFamily="34" charset="-120"/>
              </a:rPr>
              <a:t>H6-7</a:t>
            </a:r>
            <a:endParaRPr lang="en-US" sz="1000" dirty="0"/>
          </a:p>
        </p:txBody>
      </p:sp>
      <p:sp>
        <p:nvSpPr>
          <p:cNvPr id="23" name="Shape 21"/>
          <p:cNvSpPr/>
          <p:nvPr/>
        </p:nvSpPr>
        <p:spPr>
          <a:xfrm>
            <a:off x="2148840" y="2157984"/>
            <a:ext cx="320040" cy="27432"/>
          </a:xfrm>
          <a:prstGeom prst="rect">
            <a:avLst/>
          </a:prstGeom>
          <a:solidFill>
            <a:srgbClr val="E8913A"/>
          </a:solidFill>
          <a:ln/>
        </p:spPr>
      </p:sp>
      <p:sp>
        <p:nvSpPr>
          <p:cNvPr id="24" name="Shape 22"/>
          <p:cNvSpPr/>
          <p:nvPr/>
        </p:nvSpPr>
        <p:spPr>
          <a:xfrm>
            <a:off x="2560320" y="1956816"/>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2560320" y="1956816"/>
            <a:ext cx="54864" cy="411480"/>
          </a:xfrm>
          <a:prstGeom prst="rect">
            <a:avLst/>
          </a:prstGeom>
          <a:solidFill>
            <a:srgbClr val="E8913A"/>
          </a:solidFill>
          <a:ln/>
        </p:spPr>
      </p:sp>
      <p:sp>
        <p:nvSpPr>
          <p:cNvPr id="26" name="Text 24"/>
          <p:cNvSpPr/>
          <p:nvPr/>
        </p:nvSpPr>
        <p:spPr>
          <a:xfrm>
            <a:off x="2743200" y="1956816"/>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ML Temelleri, Regresyon, Sınıflandırma</a:t>
            </a:r>
            <a:endParaRPr lang="en-US" sz="1050" dirty="0"/>
          </a:p>
        </p:txBody>
      </p:sp>
      <p:sp>
        <p:nvSpPr>
          <p:cNvPr id="27" name="Shape 25"/>
          <p:cNvSpPr/>
          <p:nvPr/>
        </p:nvSpPr>
        <p:spPr>
          <a:xfrm>
            <a:off x="1783080" y="2505456"/>
            <a:ext cx="310896" cy="310896"/>
          </a:xfrm>
          <a:prstGeom prst="ellipse">
            <a:avLst/>
          </a:prstGeom>
          <a:solidFill>
            <a:srgbClr val="7C5BBF"/>
          </a:solidFill>
          <a:ln/>
        </p:spPr>
      </p:sp>
      <p:sp>
        <p:nvSpPr>
          <p:cNvPr id="28" name="Text 26"/>
          <p:cNvSpPr/>
          <p:nvPr/>
        </p:nvSpPr>
        <p:spPr>
          <a:xfrm>
            <a:off x="457200" y="2450592"/>
            <a:ext cx="1234440" cy="365760"/>
          </a:xfrm>
          <a:prstGeom prst="rect">
            <a:avLst/>
          </a:prstGeom>
          <a:noFill/>
          <a:ln/>
        </p:spPr>
        <p:txBody>
          <a:bodyPr wrap="square" lIns="0" tIns="0" rIns="0" bIns="0" rtlCol="0" anchor="ctr"/>
          <a:lstStyle/>
          <a:p>
            <a:pPr algn="r" indent="0" marL="0">
              <a:buNone/>
            </a:pPr>
            <a:r>
              <a:rPr lang="en-US" sz="1000" b="1" dirty="0">
                <a:solidFill>
                  <a:srgbClr val="7C5BBF"/>
                </a:solidFill>
                <a:latin typeface="Georgia" pitchFamily="34" charset="0"/>
                <a:ea typeface="Georgia" pitchFamily="34" charset="-122"/>
                <a:cs typeface="Georgia" pitchFamily="34" charset="-120"/>
              </a:rPr>
              <a:t>H8-9</a:t>
            </a:r>
            <a:endParaRPr lang="en-US" sz="1000" dirty="0"/>
          </a:p>
        </p:txBody>
      </p:sp>
      <p:sp>
        <p:nvSpPr>
          <p:cNvPr id="29" name="Shape 27"/>
          <p:cNvSpPr/>
          <p:nvPr/>
        </p:nvSpPr>
        <p:spPr>
          <a:xfrm>
            <a:off x="2148840" y="2633472"/>
            <a:ext cx="320040" cy="27432"/>
          </a:xfrm>
          <a:prstGeom prst="rect">
            <a:avLst/>
          </a:prstGeom>
          <a:solidFill>
            <a:srgbClr val="7C5BBF"/>
          </a:solidFill>
          <a:ln/>
        </p:spPr>
      </p:sp>
      <p:sp>
        <p:nvSpPr>
          <p:cNvPr id="30" name="Shape 28"/>
          <p:cNvSpPr/>
          <p:nvPr/>
        </p:nvSpPr>
        <p:spPr>
          <a:xfrm>
            <a:off x="2560320" y="2432304"/>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1" name="Shape 29"/>
          <p:cNvSpPr/>
          <p:nvPr/>
        </p:nvSpPr>
        <p:spPr>
          <a:xfrm>
            <a:off x="2560320" y="2432304"/>
            <a:ext cx="54864" cy="411480"/>
          </a:xfrm>
          <a:prstGeom prst="rect">
            <a:avLst/>
          </a:prstGeom>
          <a:solidFill>
            <a:srgbClr val="7C5BBF"/>
          </a:solidFill>
          <a:ln/>
        </p:spPr>
      </p:sp>
      <p:sp>
        <p:nvSpPr>
          <p:cNvPr id="32" name="Text 30"/>
          <p:cNvSpPr/>
          <p:nvPr/>
        </p:nvSpPr>
        <p:spPr>
          <a:xfrm>
            <a:off x="2743200" y="2432304"/>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Ensemble, XGBoost, Hiperparametre</a:t>
            </a:r>
            <a:endParaRPr lang="en-US" sz="1050" dirty="0"/>
          </a:p>
        </p:txBody>
      </p:sp>
      <p:sp>
        <p:nvSpPr>
          <p:cNvPr id="33" name="Shape 31"/>
          <p:cNvSpPr/>
          <p:nvPr/>
        </p:nvSpPr>
        <p:spPr>
          <a:xfrm>
            <a:off x="1783080" y="2980944"/>
            <a:ext cx="310896" cy="310896"/>
          </a:xfrm>
          <a:prstGeom prst="ellipse">
            <a:avLst/>
          </a:prstGeom>
          <a:solidFill>
            <a:srgbClr val="4A7FC7"/>
          </a:solidFill>
          <a:ln/>
        </p:spPr>
      </p:sp>
      <p:sp>
        <p:nvSpPr>
          <p:cNvPr id="34" name="Text 32"/>
          <p:cNvSpPr/>
          <p:nvPr/>
        </p:nvSpPr>
        <p:spPr>
          <a:xfrm>
            <a:off x="457200" y="2926080"/>
            <a:ext cx="1234440" cy="365760"/>
          </a:xfrm>
          <a:prstGeom prst="rect">
            <a:avLst/>
          </a:prstGeom>
          <a:noFill/>
          <a:ln/>
        </p:spPr>
        <p:txBody>
          <a:bodyPr wrap="square" lIns="0" tIns="0" rIns="0" bIns="0" rtlCol="0" anchor="ctr"/>
          <a:lstStyle/>
          <a:p>
            <a:pPr algn="r" indent="0" marL="0">
              <a:buNone/>
            </a:pPr>
            <a:r>
              <a:rPr lang="en-US" sz="1000" b="1" dirty="0">
                <a:solidFill>
                  <a:srgbClr val="4A7FC7"/>
                </a:solidFill>
                <a:latin typeface="Georgia" pitchFamily="34" charset="0"/>
                <a:ea typeface="Georgia" pitchFamily="34" charset="-122"/>
                <a:cs typeface="Georgia" pitchFamily="34" charset="-120"/>
              </a:rPr>
              <a:t>H10-11</a:t>
            </a:r>
            <a:endParaRPr lang="en-US" sz="1000" dirty="0"/>
          </a:p>
        </p:txBody>
      </p:sp>
      <p:sp>
        <p:nvSpPr>
          <p:cNvPr id="35" name="Shape 33"/>
          <p:cNvSpPr/>
          <p:nvPr/>
        </p:nvSpPr>
        <p:spPr>
          <a:xfrm>
            <a:off x="2148840" y="3108960"/>
            <a:ext cx="320040" cy="27432"/>
          </a:xfrm>
          <a:prstGeom prst="rect">
            <a:avLst/>
          </a:prstGeom>
          <a:solidFill>
            <a:srgbClr val="4A7FC7"/>
          </a:solidFill>
          <a:ln/>
        </p:spPr>
      </p:sp>
      <p:sp>
        <p:nvSpPr>
          <p:cNvPr id="36" name="Shape 34"/>
          <p:cNvSpPr/>
          <p:nvPr/>
        </p:nvSpPr>
        <p:spPr>
          <a:xfrm>
            <a:off x="2560320" y="2907792"/>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7" name="Shape 35"/>
          <p:cNvSpPr/>
          <p:nvPr/>
        </p:nvSpPr>
        <p:spPr>
          <a:xfrm>
            <a:off x="2560320" y="2907792"/>
            <a:ext cx="54864" cy="411480"/>
          </a:xfrm>
          <a:prstGeom prst="rect">
            <a:avLst/>
          </a:prstGeom>
          <a:solidFill>
            <a:srgbClr val="4A7FC7"/>
          </a:solidFill>
          <a:ln/>
        </p:spPr>
      </p:sp>
      <p:sp>
        <p:nvSpPr>
          <p:cNvPr id="38" name="Text 36"/>
          <p:cNvSpPr/>
          <p:nvPr/>
        </p:nvSpPr>
        <p:spPr>
          <a:xfrm>
            <a:off x="2743200" y="2907792"/>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NLP, Transformers, Sentiment Analizi</a:t>
            </a:r>
            <a:endParaRPr lang="en-US" sz="1050" dirty="0"/>
          </a:p>
        </p:txBody>
      </p:sp>
      <p:sp>
        <p:nvSpPr>
          <p:cNvPr id="39" name="Shape 37"/>
          <p:cNvSpPr/>
          <p:nvPr/>
        </p:nvSpPr>
        <p:spPr>
          <a:xfrm>
            <a:off x="1783080" y="3456432"/>
            <a:ext cx="310896" cy="310896"/>
          </a:xfrm>
          <a:prstGeom prst="ellipse">
            <a:avLst/>
          </a:prstGeom>
          <a:solidFill>
            <a:srgbClr val="3A9E6B"/>
          </a:solidFill>
          <a:ln/>
        </p:spPr>
      </p:sp>
      <p:sp>
        <p:nvSpPr>
          <p:cNvPr id="40" name="Text 38"/>
          <p:cNvSpPr/>
          <p:nvPr/>
        </p:nvSpPr>
        <p:spPr>
          <a:xfrm>
            <a:off x="457200" y="3401568"/>
            <a:ext cx="1234440" cy="365760"/>
          </a:xfrm>
          <a:prstGeom prst="rect">
            <a:avLst/>
          </a:prstGeom>
          <a:noFill/>
          <a:ln/>
        </p:spPr>
        <p:txBody>
          <a:bodyPr wrap="square" lIns="0" tIns="0" rIns="0" bIns="0" rtlCol="0" anchor="ctr"/>
          <a:lstStyle/>
          <a:p>
            <a:pPr algn="r" indent="0" marL="0">
              <a:buNone/>
            </a:pPr>
            <a:r>
              <a:rPr lang="en-US" sz="1000" b="1" dirty="0">
                <a:solidFill>
                  <a:srgbClr val="3A9E6B"/>
                </a:solidFill>
                <a:latin typeface="Georgia" pitchFamily="34" charset="0"/>
                <a:ea typeface="Georgia" pitchFamily="34" charset="-122"/>
                <a:cs typeface="Georgia" pitchFamily="34" charset="-120"/>
              </a:rPr>
              <a:t>H12-13</a:t>
            </a:r>
            <a:endParaRPr lang="en-US" sz="1000" dirty="0"/>
          </a:p>
        </p:txBody>
      </p:sp>
      <p:sp>
        <p:nvSpPr>
          <p:cNvPr id="41" name="Shape 39"/>
          <p:cNvSpPr/>
          <p:nvPr/>
        </p:nvSpPr>
        <p:spPr>
          <a:xfrm>
            <a:off x="2148840" y="3584448"/>
            <a:ext cx="320040" cy="27432"/>
          </a:xfrm>
          <a:prstGeom prst="rect">
            <a:avLst/>
          </a:prstGeom>
          <a:solidFill>
            <a:srgbClr val="3A9E6B"/>
          </a:solidFill>
          <a:ln/>
        </p:spPr>
      </p:sp>
      <p:sp>
        <p:nvSpPr>
          <p:cNvPr id="42" name="Shape 40"/>
          <p:cNvSpPr/>
          <p:nvPr/>
        </p:nvSpPr>
        <p:spPr>
          <a:xfrm>
            <a:off x="2560320" y="3383280"/>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3" name="Shape 41"/>
          <p:cNvSpPr/>
          <p:nvPr/>
        </p:nvSpPr>
        <p:spPr>
          <a:xfrm>
            <a:off x="2560320" y="3383280"/>
            <a:ext cx="54864" cy="411480"/>
          </a:xfrm>
          <a:prstGeom prst="rect">
            <a:avLst/>
          </a:prstGeom>
          <a:solidFill>
            <a:srgbClr val="3A9E6B"/>
          </a:solidFill>
          <a:ln/>
        </p:spPr>
      </p:sp>
      <p:sp>
        <p:nvSpPr>
          <p:cNvPr id="44" name="Text 42"/>
          <p:cNvSpPr/>
          <p:nvPr/>
        </p:nvSpPr>
        <p:spPr>
          <a:xfrm>
            <a:off x="2743200" y="3383280"/>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Deep Learning, CNN, Transfer Learning</a:t>
            </a:r>
            <a:endParaRPr lang="en-US" sz="1050" dirty="0"/>
          </a:p>
        </p:txBody>
      </p:sp>
      <p:sp>
        <p:nvSpPr>
          <p:cNvPr id="45" name="Shape 43"/>
          <p:cNvSpPr/>
          <p:nvPr/>
        </p:nvSpPr>
        <p:spPr>
          <a:xfrm>
            <a:off x="1783080" y="3931920"/>
            <a:ext cx="310896" cy="310896"/>
          </a:xfrm>
          <a:prstGeom prst="ellipse">
            <a:avLst/>
          </a:prstGeom>
          <a:solidFill>
            <a:srgbClr val="D94F4F"/>
          </a:solidFill>
          <a:ln/>
        </p:spPr>
      </p:sp>
      <p:sp>
        <p:nvSpPr>
          <p:cNvPr id="46" name="Text 44"/>
          <p:cNvSpPr/>
          <p:nvPr/>
        </p:nvSpPr>
        <p:spPr>
          <a:xfrm>
            <a:off x="457200" y="3877056"/>
            <a:ext cx="1234440" cy="365760"/>
          </a:xfrm>
          <a:prstGeom prst="rect">
            <a:avLst/>
          </a:prstGeom>
          <a:noFill/>
          <a:ln/>
        </p:spPr>
        <p:txBody>
          <a:bodyPr wrap="square" lIns="0" tIns="0" rIns="0" bIns="0" rtlCol="0" anchor="ctr"/>
          <a:lstStyle/>
          <a:p>
            <a:pPr algn="r" indent="0" marL="0">
              <a:buNone/>
            </a:pPr>
            <a:r>
              <a:rPr lang="en-US" sz="1000" b="1" dirty="0">
                <a:solidFill>
                  <a:srgbClr val="D94F4F"/>
                </a:solidFill>
                <a:latin typeface="Georgia" pitchFamily="34" charset="0"/>
                <a:ea typeface="Georgia" pitchFamily="34" charset="-122"/>
                <a:cs typeface="Georgia" pitchFamily="34" charset="-120"/>
              </a:rPr>
              <a:t>H14</a:t>
            </a:r>
            <a:endParaRPr lang="en-US" sz="1000" dirty="0"/>
          </a:p>
        </p:txBody>
      </p:sp>
      <p:sp>
        <p:nvSpPr>
          <p:cNvPr id="47" name="Shape 45"/>
          <p:cNvSpPr/>
          <p:nvPr/>
        </p:nvSpPr>
        <p:spPr>
          <a:xfrm>
            <a:off x="2148840" y="4059936"/>
            <a:ext cx="320040" cy="27432"/>
          </a:xfrm>
          <a:prstGeom prst="rect">
            <a:avLst/>
          </a:prstGeom>
          <a:solidFill>
            <a:srgbClr val="D94F4F"/>
          </a:solidFill>
          <a:ln/>
        </p:spPr>
      </p:sp>
      <p:sp>
        <p:nvSpPr>
          <p:cNvPr id="48" name="Shape 46"/>
          <p:cNvSpPr/>
          <p:nvPr/>
        </p:nvSpPr>
        <p:spPr>
          <a:xfrm>
            <a:off x="2560320" y="3858768"/>
            <a:ext cx="6126480" cy="4114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9" name="Shape 47"/>
          <p:cNvSpPr/>
          <p:nvPr/>
        </p:nvSpPr>
        <p:spPr>
          <a:xfrm>
            <a:off x="2560320" y="3858768"/>
            <a:ext cx="54864" cy="411480"/>
          </a:xfrm>
          <a:prstGeom prst="rect">
            <a:avLst/>
          </a:prstGeom>
          <a:solidFill>
            <a:srgbClr val="D94F4F"/>
          </a:solidFill>
          <a:ln/>
        </p:spPr>
      </p:sp>
      <p:sp>
        <p:nvSpPr>
          <p:cNvPr id="50" name="Text 48"/>
          <p:cNvSpPr/>
          <p:nvPr/>
        </p:nvSpPr>
        <p:spPr>
          <a:xfrm>
            <a:off x="2743200" y="3858768"/>
            <a:ext cx="5760720" cy="411480"/>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GenAI, RAG, Prompt Engineering</a:t>
            </a:r>
            <a:endParaRPr lang="en-US" sz="1050" dirty="0"/>
          </a:p>
        </p:txBody>
      </p:sp>
      <p:sp>
        <p:nvSpPr>
          <p:cNvPr id="51" name="Shape 49"/>
          <p:cNvSpPr/>
          <p:nvPr/>
        </p:nvSpPr>
        <p:spPr>
          <a:xfrm>
            <a:off x="1783080" y="4407408"/>
            <a:ext cx="310896" cy="310896"/>
          </a:xfrm>
          <a:prstGeom prst="ellipse">
            <a:avLst/>
          </a:prstGeom>
          <a:solidFill>
            <a:srgbClr val="5B2C1E"/>
          </a:solidFill>
          <a:ln/>
        </p:spPr>
      </p:sp>
      <p:sp>
        <p:nvSpPr>
          <p:cNvPr id="52" name="Text 50"/>
          <p:cNvSpPr/>
          <p:nvPr/>
        </p:nvSpPr>
        <p:spPr>
          <a:xfrm>
            <a:off x="457200" y="4352544"/>
            <a:ext cx="1234440" cy="365760"/>
          </a:xfrm>
          <a:prstGeom prst="rect">
            <a:avLst/>
          </a:prstGeom>
          <a:noFill/>
          <a:ln/>
        </p:spPr>
        <p:txBody>
          <a:bodyPr wrap="square" lIns="0" tIns="0" rIns="0" bIns="0" rtlCol="0" anchor="ctr"/>
          <a:lstStyle/>
          <a:p>
            <a:pPr algn="r" indent="0" marL="0">
              <a:buNone/>
            </a:pPr>
            <a:r>
              <a:rPr lang="en-US" sz="1000" b="1" dirty="0">
                <a:solidFill>
                  <a:srgbClr val="5B2C1E"/>
                </a:solidFill>
                <a:latin typeface="Georgia" pitchFamily="34" charset="0"/>
                <a:ea typeface="Georgia" pitchFamily="34" charset="-122"/>
                <a:cs typeface="Georgia" pitchFamily="34" charset="-120"/>
              </a:rPr>
              <a:t>H15</a:t>
            </a:r>
            <a:endParaRPr lang="en-US" sz="1000" dirty="0"/>
          </a:p>
        </p:txBody>
      </p:sp>
      <p:sp>
        <p:nvSpPr>
          <p:cNvPr id="53" name="Shape 51"/>
          <p:cNvSpPr/>
          <p:nvPr/>
        </p:nvSpPr>
        <p:spPr>
          <a:xfrm>
            <a:off x="2148840" y="4535424"/>
            <a:ext cx="320040" cy="27432"/>
          </a:xfrm>
          <a:prstGeom prst="rect">
            <a:avLst/>
          </a:prstGeom>
          <a:solidFill>
            <a:srgbClr val="5B2C1E"/>
          </a:solidFill>
          <a:ln/>
        </p:spPr>
      </p:sp>
      <p:sp>
        <p:nvSpPr>
          <p:cNvPr id="54" name="Shape 52"/>
          <p:cNvSpPr/>
          <p:nvPr/>
        </p:nvSpPr>
        <p:spPr>
          <a:xfrm>
            <a:off x="2560320" y="4334256"/>
            <a:ext cx="6126480" cy="411480"/>
          </a:xfrm>
          <a:prstGeom prst="rect">
            <a:avLst/>
          </a:prstGeom>
          <a:solidFill>
            <a:srgbClr val="5B2C1E"/>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55" name="Shape 53"/>
          <p:cNvSpPr/>
          <p:nvPr/>
        </p:nvSpPr>
        <p:spPr>
          <a:xfrm>
            <a:off x="2560320" y="4334256"/>
            <a:ext cx="54864" cy="411480"/>
          </a:xfrm>
          <a:prstGeom prst="rect">
            <a:avLst/>
          </a:prstGeom>
          <a:solidFill>
            <a:srgbClr val="5B2C1E"/>
          </a:solidFill>
          <a:ln/>
        </p:spPr>
      </p:sp>
      <p:sp>
        <p:nvSpPr>
          <p:cNvPr id="56" name="Text 54"/>
          <p:cNvSpPr/>
          <p:nvPr/>
        </p:nvSpPr>
        <p:spPr>
          <a:xfrm>
            <a:off x="2743200" y="4334256"/>
            <a:ext cx="5760720" cy="41148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AI Etik, Gelecek, Capstone (BU HAFTA!)</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Capstone: Akıllı Fitness Asistanı</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10972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8229600" cy="54864"/>
          </a:xfrm>
          <a:prstGeom prst="rect">
            <a:avLst/>
          </a:prstGeom>
          <a:solidFill>
            <a:srgbClr val="D94F4F"/>
          </a:solidFill>
          <a:ln/>
        </p:spPr>
      </p:sp>
      <p:sp>
        <p:nvSpPr>
          <p:cNvPr id="10" name="Text 8"/>
          <p:cNvSpPr/>
          <p:nvPr/>
        </p:nvSpPr>
        <p:spPr>
          <a:xfrm>
            <a:off x="640080" y="1051560"/>
            <a:ext cx="777240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OpenCV + MediaPipe ile Hareket Sayma ve Form Analizi</a:t>
            </a:r>
            <a:endParaRPr lang="en-US" sz="1200" dirty="0"/>
          </a:p>
        </p:txBody>
      </p:sp>
      <p:sp>
        <p:nvSpPr>
          <p:cNvPr id="11" name="Text 9"/>
          <p:cNvSpPr/>
          <p:nvPr/>
        </p:nvSpPr>
        <p:spPr>
          <a:xfrm>
            <a:off x="640080" y="1417320"/>
            <a:ext cx="7772400" cy="5486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Kamera görüntüsünden vücut pozisyonlarını algılayarak egzersiz tekrarlarını otomatik sayan ve yanlış formu uyaran bir gerçek zamanlı AI asistanı.</a:t>
            </a:r>
            <a:endParaRPr lang="en-US" sz="1100" dirty="0"/>
          </a:p>
        </p:txBody>
      </p:sp>
      <p:sp>
        <p:nvSpPr>
          <p:cNvPr id="12" name="Shape 10"/>
          <p:cNvSpPr/>
          <p:nvPr/>
        </p:nvSpPr>
        <p:spPr>
          <a:xfrm>
            <a:off x="457200" y="2286000"/>
            <a:ext cx="192024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57200" y="2286000"/>
            <a:ext cx="1920240" cy="54864"/>
          </a:xfrm>
          <a:prstGeom prst="rect">
            <a:avLst/>
          </a:prstGeom>
          <a:solidFill>
            <a:srgbClr val="C97B5A"/>
          </a:solidFill>
          <a:ln/>
        </p:spPr>
      </p:sp>
      <p:sp>
        <p:nvSpPr>
          <p:cNvPr id="14" name="Shape 12"/>
          <p:cNvSpPr/>
          <p:nvPr/>
        </p:nvSpPr>
        <p:spPr>
          <a:xfrm>
            <a:off x="1234440" y="2377440"/>
            <a:ext cx="329184" cy="329184"/>
          </a:xfrm>
          <a:prstGeom prst="ellipse">
            <a:avLst/>
          </a:prstGeom>
          <a:solidFill>
            <a:srgbClr val="C97B5A"/>
          </a:solidFill>
          <a:ln/>
        </p:spPr>
      </p:sp>
      <p:sp>
        <p:nvSpPr>
          <p:cNvPr id="15" name="Text 13"/>
          <p:cNvSpPr/>
          <p:nvPr/>
        </p:nvSpPr>
        <p:spPr>
          <a:xfrm>
            <a:off x="123444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6" name="Text 14"/>
          <p:cNvSpPr/>
          <p:nvPr/>
        </p:nvSpPr>
        <p:spPr>
          <a:xfrm>
            <a:off x="548640" y="2788920"/>
            <a:ext cx="173736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Pose Estimation</a:t>
            </a:r>
            <a:endParaRPr lang="en-US" sz="1200" dirty="0"/>
          </a:p>
        </p:txBody>
      </p:sp>
      <p:sp>
        <p:nvSpPr>
          <p:cNvPr id="17" name="Text 15"/>
          <p:cNvSpPr/>
          <p:nvPr/>
        </p:nvSpPr>
        <p:spPr>
          <a:xfrm>
            <a:off x="548640" y="3108960"/>
            <a:ext cx="173736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MediaPipe Pose ile 33 landmark tespit</a:t>
            </a:r>
            <a:endParaRPr lang="en-US" sz="1100" dirty="0"/>
          </a:p>
        </p:txBody>
      </p:sp>
      <p:sp>
        <p:nvSpPr>
          <p:cNvPr id="18" name="Shape 16"/>
          <p:cNvSpPr/>
          <p:nvPr/>
        </p:nvSpPr>
        <p:spPr>
          <a:xfrm>
            <a:off x="2560320" y="2286000"/>
            <a:ext cx="192024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9" name="Shape 17"/>
          <p:cNvSpPr/>
          <p:nvPr/>
        </p:nvSpPr>
        <p:spPr>
          <a:xfrm>
            <a:off x="2560320" y="2286000"/>
            <a:ext cx="1920240" cy="54864"/>
          </a:xfrm>
          <a:prstGeom prst="rect">
            <a:avLst/>
          </a:prstGeom>
          <a:solidFill>
            <a:srgbClr val="2B7A78"/>
          </a:solidFill>
          <a:ln/>
        </p:spPr>
      </p:sp>
      <p:sp>
        <p:nvSpPr>
          <p:cNvPr id="20" name="Shape 18"/>
          <p:cNvSpPr/>
          <p:nvPr/>
        </p:nvSpPr>
        <p:spPr>
          <a:xfrm>
            <a:off x="3337560" y="2377440"/>
            <a:ext cx="329184" cy="329184"/>
          </a:xfrm>
          <a:prstGeom prst="ellipse">
            <a:avLst/>
          </a:prstGeom>
          <a:solidFill>
            <a:srgbClr val="2B7A78"/>
          </a:solidFill>
          <a:ln/>
        </p:spPr>
      </p:sp>
      <p:sp>
        <p:nvSpPr>
          <p:cNvPr id="21" name="Text 19"/>
          <p:cNvSpPr/>
          <p:nvPr/>
        </p:nvSpPr>
        <p:spPr>
          <a:xfrm>
            <a:off x="333756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2" name="Text 20"/>
          <p:cNvSpPr/>
          <p:nvPr/>
        </p:nvSpPr>
        <p:spPr>
          <a:xfrm>
            <a:off x="2651760" y="2788920"/>
            <a:ext cx="173736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Açı Hesaplama</a:t>
            </a:r>
            <a:endParaRPr lang="en-US" sz="1200" dirty="0"/>
          </a:p>
        </p:txBody>
      </p:sp>
      <p:sp>
        <p:nvSpPr>
          <p:cNvPr id="23" name="Text 21"/>
          <p:cNvSpPr/>
          <p:nvPr/>
        </p:nvSpPr>
        <p:spPr>
          <a:xfrm>
            <a:off x="2651760" y="3108960"/>
            <a:ext cx="173736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Diz/dirsek açıları ile hareket fazları</a:t>
            </a:r>
            <a:endParaRPr lang="en-US" sz="1100" dirty="0"/>
          </a:p>
        </p:txBody>
      </p:sp>
      <p:sp>
        <p:nvSpPr>
          <p:cNvPr id="24" name="Shape 22"/>
          <p:cNvSpPr/>
          <p:nvPr/>
        </p:nvSpPr>
        <p:spPr>
          <a:xfrm>
            <a:off x="4663440" y="2286000"/>
            <a:ext cx="192024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4663440" y="2286000"/>
            <a:ext cx="1920240" cy="54864"/>
          </a:xfrm>
          <a:prstGeom prst="rect">
            <a:avLst/>
          </a:prstGeom>
          <a:solidFill>
            <a:srgbClr val="E8913A"/>
          </a:solidFill>
          <a:ln/>
        </p:spPr>
      </p:sp>
      <p:sp>
        <p:nvSpPr>
          <p:cNvPr id="26" name="Shape 24"/>
          <p:cNvSpPr/>
          <p:nvPr/>
        </p:nvSpPr>
        <p:spPr>
          <a:xfrm>
            <a:off x="5440680" y="2377440"/>
            <a:ext cx="329184" cy="329184"/>
          </a:xfrm>
          <a:prstGeom prst="ellipse">
            <a:avLst/>
          </a:prstGeom>
          <a:solidFill>
            <a:srgbClr val="E8913A"/>
          </a:solidFill>
          <a:ln/>
        </p:spPr>
      </p:sp>
      <p:sp>
        <p:nvSpPr>
          <p:cNvPr id="27" name="Text 25"/>
          <p:cNvSpPr/>
          <p:nvPr/>
        </p:nvSpPr>
        <p:spPr>
          <a:xfrm>
            <a:off x="544068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Text 26"/>
          <p:cNvSpPr/>
          <p:nvPr/>
        </p:nvSpPr>
        <p:spPr>
          <a:xfrm>
            <a:off x="4754880" y="2788920"/>
            <a:ext cx="1737360" cy="347472"/>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Tekrar Sayacı</a:t>
            </a:r>
            <a:endParaRPr lang="en-US" sz="1200" dirty="0"/>
          </a:p>
        </p:txBody>
      </p:sp>
      <p:sp>
        <p:nvSpPr>
          <p:cNvPr id="29" name="Text 27"/>
          <p:cNvSpPr/>
          <p:nvPr/>
        </p:nvSpPr>
        <p:spPr>
          <a:xfrm>
            <a:off x="4754880" y="3108960"/>
            <a:ext cx="173736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Durum makinesi: yukarı → aşağı → tekrar++</a:t>
            </a:r>
            <a:endParaRPr lang="en-US" sz="1100" dirty="0"/>
          </a:p>
        </p:txBody>
      </p:sp>
      <p:sp>
        <p:nvSpPr>
          <p:cNvPr id="30" name="Shape 28"/>
          <p:cNvSpPr/>
          <p:nvPr/>
        </p:nvSpPr>
        <p:spPr>
          <a:xfrm>
            <a:off x="6766560" y="2286000"/>
            <a:ext cx="1920240" cy="16459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1" name="Shape 29"/>
          <p:cNvSpPr/>
          <p:nvPr/>
        </p:nvSpPr>
        <p:spPr>
          <a:xfrm>
            <a:off x="6766560" y="2286000"/>
            <a:ext cx="1920240" cy="54864"/>
          </a:xfrm>
          <a:prstGeom prst="rect">
            <a:avLst/>
          </a:prstGeom>
          <a:solidFill>
            <a:srgbClr val="7C5BBF"/>
          </a:solidFill>
          <a:ln/>
        </p:spPr>
      </p:sp>
      <p:sp>
        <p:nvSpPr>
          <p:cNvPr id="32" name="Shape 30"/>
          <p:cNvSpPr/>
          <p:nvPr/>
        </p:nvSpPr>
        <p:spPr>
          <a:xfrm>
            <a:off x="7543800" y="2377440"/>
            <a:ext cx="329184" cy="329184"/>
          </a:xfrm>
          <a:prstGeom prst="ellipse">
            <a:avLst/>
          </a:prstGeom>
          <a:solidFill>
            <a:srgbClr val="7C5BBF"/>
          </a:solidFill>
          <a:ln/>
        </p:spPr>
      </p:sp>
      <p:sp>
        <p:nvSpPr>
          <p:cNvPr id="33" name="Text 31"/>
          <p:cNvSpPr/>
          <p:nvPr/>
        </p:nvSpPr>
        <p:spPr>
          <a:xfrm>
            <a:off x="7543800" y="23774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34" name="Text 32"/>
          <p:cNvSpPr/>
          <p:nvPr/>
        </p:nvSpPr>
        <p:spPr>
          <a:xfrm>
            <a:off x="6858000" y="2788920"/>
            <a:ext cx="1737360" cy="347472"/>
          </a:xfrm>
          <a:prstGeom prst="rect">
            <a:avLst/>
          </a:prstGeom>
          <a:noFill/>
          <a:ln/>
        </p:spPr>
        <p:txBody>
          <a:bodyPr wrap="square" lIns="0" tIns="0" rIns="0" bIns="0" rtlCol="0" anchor="ctr"/>
          <a:lstStyle/>
          <a:p>
            <a:pPr indent="0" marL="0">
              <a:buNone/>
            </a:pPr>
            <a:r>
              <a:rPr lang="en-US" sz="1200" b="1" dirty="0">
                <a:solidFill>
                  <a:srgbClr val="7C5BBF"/>
                </a:solidFill>
                <a:latin typeface="Georgia" pitchFamily="34" charset="0"/>
                <a:ea typeface="Georgia" pitchFamily="34" charset="-122"/>
                <a:cs typeface="Georgia" pitchFamily="34" charset="-120"/>
              </a:rPr>
              <a:t>Form Kontrolü</a:t>
            </a:r>
            <a:endParaRPr lang="en-US" sz="1200" dirty="0"/>
          </a:p>
        </p:txBody>
      </p:sp>
      <p:sp>
        <p:nvSpPr>
          <p:cNvPr id="35" name="Text 33"/>
          <p:cNvSpPr/>
          <p:nvPr/>
        </p:nvSpPr>
        <p:spPr>
          <a:xfrm>
            <a:off x="6858000" y="3108960"/>
            <a:ext cx="1737360" cy="7315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Yanlış açılarda uyarı gösterimi</a:t>
            </a:r>
            <a:endParaRPr lang="en-US" sz="1100" dirty="0"/>
          </a:p>
        </p:txBody>
      </p:sp>
      <p:sp>
        <p:nvSpPr>
          <p:cNvPr id="36" name="Shape 34"/>
          <p:cNvSpPr/>
          <p:nvPr/>
        </p:nvSpPr>
        <p:spPr>
          <a:xfrm>
            <a:off x="457200" y="4160520"/>
            <a:ext cx="1920240" cy="347472"/>
          </a:xfrm>
          <a:prstGeom prst="rect">
            <a:avLst/>
          </a:prstGeom>
          <a:solidFill>
            <a:srgbClr val="1E1E2E"/>
          </a:solidFill>
          <a:ln/>
        </p:spPr>
      </p:sp>
      <p:sp>
        <p:nvSpPr>
          <p:cNvPr id="37" name="Text 35"/>
          <p:cNvSpPr/>
          <p:nvPr/>
        </p:nvSpPr>
        <p:spPr>
          <a:xfrm>
            <a:off x="457200" y="4160520"/>
            <a:ext cx="1920240" cy="347472"/>
          </a:xfrm>
          <a:prstGeom prst="rect">
            <a:avLst/>
          </a:prstGeom>
          <a:noFill/>
          <a:ln/>
        </p:spPr>
        <p:txBody>
          <a:bodyPr wrap="square" lIns="0" tIns="0" rIns="0" bIns="0" rtlCol="0" anchor="ctr"/>
          <a:lstStyle/>
          <a:p>
            <a:pPr algn="ctr" indent="0" marL="0">
              <a:buNone/>
            </a:pPr>
            <a:r>
              <a:rPr lang="en-US" sz="1000" dirty="0">
                <a:solidFill>
                  <a:srgbClr val="A6E3A1"/>
                </a:solidFill>
                <a:latin typeface="Consolas" pitchFamily="34" charset="0"/>
                <a:ea typeface="Consolas" pitchFamily="34" charset="-122"/>
                <a:cs typeface="Consolas" pitchFamily="34" charset="-120"/>
              </a:rPr>
              <a:t>Python</a:t>
            </a:r>
            <a:endParaRPr lang="en-US" sz="1000" dirty="0"/>
          </a:p>
        </p:txBody>
      </p:sp>
      <p:sp>
        <p:nvSpPr>
          <p:cNvPr id="38" name="Shape 36"/>
          <p:cNvSpPr/>
          <p:nvPr/>
        </p:nvSpPr>
        <p:spPr>
          <a:xfrm>
            <a:off x="2560320" y="4160520"/>
            <a:ext cx="1920240" cy="347472"/>
          </a:xfrm>
          <a:prstGeom prst="rect">
            <a:avLst/>
          </a:prstGeom>
          <a:solidFill>
            <a:srgbClr val="1E1E2E"/>
          </a:solidFill>
          <a:ln/>
        </p:spPr>
      </p:sp>
      <p:sp>
        <p:nvSpPr>
          <p:cNvPr id="39" name="Text 37"/>
          <p:cNvSpPr/>
          <p:nvPr/>
        </p:nvSpPr>
        <p:spPr>
          <a:xfrm>
            <a:off x="2560320" y="4160520"/>
            <a:ext cx="1920240" cy="347472"/>
          </a:xfrm>
          <a:prstGeom prst="rect">
            <a:avLst/>
          </a:prstGeom>
          <a:noFill/>
          <a:ln/>
        </p:spPr>
        <p:txBody>
          <a:bodyPr wrap="square" lIns="0" tIns="0" rIns="0" bIns="0" rtlCol="0" anchor="ctr"/>
          <a:lstStyle/>
          <a:p>
            <a:pPr algn="ctr" indent="0" marL="0">
              <a:buNone/>
            </a:pPr>
            <a:r>
              <a:rPr lang="en-US" sz="1000" dirty="0">
                <a:solidFill>
                  <a:srgbClr val="A6E3A1"/>
                </a:solidFill>
                <a:latin typeface="Consolas" pitchFamily="34" charset="0"/>
                <a:ea typeface="Consolas" pitchFamily="34" charset="-122"/>
                <a:cs typeface="Consolas" pitchFamily="34" charset="-120"/>
              </a:rPr>
              <a:t>OpenCV</a:t>
            </a:r>
            <a:endParaRPr lang="en-US" sz="1000" dirty="0"/>
          </a:p>
        </p:txBody>
      </p:sp>
      <p:sp>
        <p:nvSpPr>
          <p:cNvPr id="40" name="Shape 38"/>
          <p:cNvSpPr/>
          <p:nvPr/>
        </p:nvSpPr>
        <p:spPr>
          <a:xfrm>
            <a:off x="4663440" y="4160520"/>
            <a:ext cx="1920240" cy="347472"/>
          </a:xfrm>
          <a:prstGeom prst="rect">
            <a:avLst/>
          </a:prstGeom>
          <a:solidFill>
            <a:srgbClr val="1E1E2E"/>
          </a:solidFill>
          <a:ln/>
        </p:spPr>
      </p:sp>
      <p:sp>
        <p:nvSpPr>
          <p:cNvPr id="41" name="Text 39"/>
          <p:cNvSpPr/>
          <p:nvPr/>
        </p:nvSpPr>
        <p:spPr>
          <a:xfrm>
            <a:off x="4663440" y="4160520"/>
            <a:ext cx="1920240" cy="347472"/>
          </a:xfrm>
          <a:prstGeom prst="rect">
            <a:avLst/>
          </a:prstGeom>
          <a:noFill/>
          <a:ln/>
        </p:spPr>
        <p:txBody>
          <a:bodyPr wrap="square" lIns="0" tIns="0" rIns="0" bIns="0" rtlCol="0" anchor="ctr"/>
          <a:lstStyle/>
          <a:p>
            <a:pPr algn="ctr" indent="0" marL="0">
              <a:buNone/>
            </a:pPr>
            <a:r>
              <a:rPr lang="en-US" sz="1000" dirty="0">
                <a:solidFill>
                  <a:srgbClr val="A6E3A1"/>
                </a:solidFill>
                <a:latin typeface="Consolas" pitchFamily="34" charset="0"/>
                <a:ea typeface="Consolas" pitchFamily="34" charset="-122"/>
                <a:cs typeface="Consolas" pitchFamily="34" charset="-120"/>
              </a:rPr>
              <a:t>MediaPipe</a:t>
            </a:r>
            <a:endParaRPr lang="en-US" sz="1000" dirty="0"/>
          </a:p>
        </p:txBody>
      </p:sp>
      <p:sp>
        <p:nvSpPr>
          <p:cNvPr id="42" name="Shape 40"/>
          <p:cNvSpPr/>
          <p:nvPr/>
        </p:nvSpPr>
        <p:spPr>
          <a:xfrm>
            <a:off x="6766560" y="4160520"/>
            <a:ext cx="1920240" cy="347472"/>
          </a:xfrm>
          <a:prstGeom prst="rect">
            <a:avLst/>
          </a:prstGeom>
          <a:solidFill>
            <a:srgbClr val="1E1E2E"/>
          </a:solidFill>
          <a:ln/>
        </p:spPr>
      </p:sp>
      <p:sp>
        <p:nvSpPr>
          <p:cNvPr id="43" name="Text 41"/>
          <p:cNvSpPr/>
          <p:nvPr/>
        </p:nvSpPr>
        <p:spPr>
          <a:xfrm>
            <a:off x="6766560" y="4160520"/>
            <a:ext cx="1920240" cy="347472"/>
          </a:xfrm>
          <a:prstGeom prst="rect">
            <a:avLst/>
          </a:prstGeom>
          <a:noFill/>
          <a:ln/>
        </p:spPr>
        <p:txBody>
          <a:bodyPr wrap="square" lIns="0" tIns="0" rIns="0" bIns="0" rtlCol="0" anchor="ctr"/>
          <a:lstStyle/>
          <a:p>
            <a:pPr algn="ctr" indent="0" marL="0">
              <a:buNone/>
            </a:pPr>
            <a:r>
              <a:rPr lang="en-US" sz="1000" dirty="0">
                <a:solidFill>
                  <a:srgbClr val="A6E3A1"/>
                </a:solidFill>
                <a:latin typeface="Consolas" pitchFamily="34" charset="0"/>
                <a:ea typeface="Consolas" pitchFamily="34" charset="-122"/>
                <a:cs typeface="Consolas" pitchFamily="34" charset="-120"/>
              </a:rPr>
              <a:t>Streamlit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Capstone: Film Öneri Sistemi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10058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8229600" cy="54864"/>
          </a:xfrm>
          <a:prstGeom prst="rect">
            <a:avLst/>
          </a:prstGeom>
          <a:solidFill>
            <a:srgbClr val="E8913A"/>
          </a:solidFill>
          <a:ln/>
        </p:spPr>
      </p:sp>
      <p:sp>
        <p:nvSpPr>
          <p:cNvPr id="10" name="Text 8"/>
          <p:cNvSpPr/>
          <p:nvPr/>
        </p:nvSpPr>
        <p:spPr>
          <a:xfrm>
            <a:off x="640080" y="1051560"/>
            <a:ext cx="7772400" cy="347472"/>
          </a:xfrm>
          <a:prstGeom prst="rect">
            <a:avLst/>
          </a:prstGeom>
          <a:noFill/>
          <a:ln/>
        </p:spPr>
        <p:txBody>
          <a:bodyPr wrap="square" lIns="0" tIns="0" rIns="0" bIns="0" rtlCol="0" anchor="ctr"/>
          <a:lstStyle/>
          <a:p>
            <a:pPr indent="0" marL="0">
              <a:buNone/>
            </a:pPr>
            <a:r>
              <a:rPr lang="en-US" sz="1200" b="1" dirty="0">
                <a:solidFill>
                  <a:srgbClr val="E8913A"/>
                </a:solidFill>
                <a:latin typeface="Georgia" pitchFamily="34" charset="0"/>
                <a:ea typeface="Georgia" pitchFamily="34" charset="-122"/>
                <a:cs typeface="Georgia" pitchFamily="34" charset="-120"/>
              </a:rPr>
              <a:t>Collaborative Filtering + GenAI ile Ruh Haline Göre Öneri</a:t>
            </a:r>
            <a:endParaRPr lang="en-US" sz="1200" dirty="0"/>
          </a:p>
        </p:txBody>
      </p:sp>
      <p:sp>
        <p:nvSpPr>
          <p:cNvPr id="11" name="Text 9"/>
          <p:cNvSpPr/>
          <p:nvPr/>
        </p:nvSpPr>
        <p:spPr>
          <a:xfrm>
            <a:off x="640080" y="1371600"/>
            <a:ext cx="7772400" cy="5029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Kullanıcı tercihleri ve ruh haline dayalı kişisel film önerileri sunan, hem geleneksel ML hem de GenAI kullanan hibrit öneri motoru.</a:t>
            </a:r>
            <a:endParaRPr lang="en-US" sz="1100" dirty="0"/>
          </a:p>
        </p:txBody>
      </p:sp>
      <p:sp>
        <p:nvSpPr>
          <p:cNvPr id="12" name="Shape 10"/>
          <p:cNvSpPr/>
          <p:nvPr/>
        </p:nvSpPr>
        <p:spPr>
          <a:xfrm>
            <a:off x="457200" y="2194560"/>
            <a:ext cx="3931920" cy="24688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57200" y="2194560"/>
            <a:ext cx="54864" cy="2468880"/>
          </a:xfrm>
          <a:prstGeom prst="rect">
            <a:avLst/>
          </a:prstGeom>
          <a:solidFill>
            <a:srgbClr val="C97B5A"/>
          </a:solidFill>
          <a:ln/>
        </p:spPr>
      </p:sp>
      <p:sp>
        <p:nvSpPr>
          <p:cNvPr id="14" name="Text 12"/>
          <p:cNvSpPr/>
          <p:nvPr/>
        </p:nvSpPr>
        <p:spPr>
          <a:xfrm>
            <a:off x="640080" y="2286000"/>
            <a:ext cx="356616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Collaborative Filtering</a:t>
            </a:r>
            <a:endParaRPr lang="en-US" sz="1200" dirty="0"/>
          </a:p>
        </p:txBody>
      </p:sp>
      <p:sp>
        <p:nvSpPr>
          <p:cNvPr id="15" name="Text 13"/>
          <p:cNvSpPr/>
          <p:nvPr/>
        </p:nvSpPr>
        <p:spPr>
          <a:xfrm>
            <a:off x="640080" y="2606040"/>
            <a:ext cx="3566160" cy="19202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User-Item matris faktörizasyonu</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Surprise / Implicit kütüphaneleri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MovieLens 100K veri seti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Cosine similarity + KNN</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Cold-start problemi çözümleri</a:t>
            </a:r>
            <a:endParaRPr lang="en-US" sz="1100" dirty="0"/>
          </a:p>
        </p:txBody>
      </p:sp>
      <p:sp>
        <p:nvSpPr>
          <p:cNvPr id="16" name="Shape 14"/>
          <p:cNvSpPr/>
          <p:nvPr/>
        </p:nvSpPr>
        <p:spPr>
          <a:xfrm>
            <a:off x="4754880" y="2194560"/>
            <a:ext cx="3931920" cy="246888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4754880" y="2194560"/>
            <a:ext cx="54864" cy="2468880"/>
          </a:xfrm>
          <a:prstGeom prst="rect">
            <a:avLst/>
          </a:prstGeom>
          <a:solidFill>
            <a:srgbClr val="2B7A78"/>
          </a:solidFill>
          <a:ln/>
        </p:spPr>
      </p:sp>
      <p:sp>
        <p:nvSpPr>
          <p:cNvPr id="18" name="Text 16"/>
          <p:cNvSpPr/>
          <p:nvPr/>
        </p:nvSpPr>
        <p:spPr>
          <a:xfrm>
            <a:off x="4937760" y="2286000"/>
            <a:ext cx="356616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GenAI Öneri Katmanı</a:t>
            </a:r>
            <a:endParaRPr lang="en-US" sz="1200" dirty="0"/>
          </a:p>
        </p:txBody>
      </p:sp>
      <p:sp>
        <p:nvSpPr>
          <p:cNvPr id="19" name="Text 17"/>
          <p:cNvSpPr/>
          <p:nvPr/>
        </p:nvSpPr>
        <p:spPr>
          <a:xfrm>
            <a:off x="4937760" y="2606040"/>
            <a:ext cx="3566160" cy="192024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 Gemini API ile ruh hali analizi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“Bugün üzgünüm” → komedi/drama önerisi</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Film özetinden embedding çıkarma</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Prompt: “Bu filme benzer 5 öner”</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 Gradio ile etkileşimli arayüz</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Capstone: Kurumsal Bilgi Botu</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10058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8229600" cy="54864"/>
          </a:xfrm>
          <a:prstGeom prst="rect">
            <a:avLst/>
          </a:prstGeom>
          <a:solidFill>
            <a:srgbClr val="2B7A78"/>
          </a:solidFill>
          <a:ln/>
        </p:spPr>
      </p:sp>
      <p:sp>
        <p:nvSpPr>
          <p:cNvPr id="10" name="Text 8"/>
          <p:cNvSpPr/>
          <p:nvPr/>
        </p:nvSpPr>
        <p:spPr>
          <a:xfrm>
            <a:off x="640080" y="1051560"/>
            <a:ext cx="777240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RAG + Gemini API ile Doküman QA Sistemi</a:t>
            </a:r>
            <a:endParaRPr lang="en-US" sz="1200" dirty="0"/>
          </a:p>
        </p:txBody>
      </p:sp>
      <p:sp>
        <p:nvSpPr>
          <p:cNvPr id="11" name="Text 9"/>
          <p:cNvSpPr/>
          <p:nvPr/>
        </p:nvSpPr>
        <p:spPr>
          <a:xfrm>
            <a:off x="640080" y="1371600"/>
            <a:ext cx="7772400" cy="5029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PDF, Word, CSV dokümanlarını yükleyin, sorular sorun, kaynaklı cevaplar alın. Kurumsal bilgi yönetimi için RAG pipeline.</a:t>
            </a:r>
            <a:endParaRPr lang="en-US" sz="1100" dirty="0"/>
          </a:p>
        </p:txBody>
      </p:sp>
      <p:sp>
        <p:nvSpPr>
          <p:cNvPr id="12" name="Shape 10"/>
          <p:cNvSpPr/>
          <p:nvPr/>
        </p:nvSpPr>
        <p:spPr>
          <a:xfrm>
            <a:off x="457200" y="2286000"/>
            <a:ext cx="1188720" cy="914400"/>
          </a:xfrm>
          <a:prstGeom prst="rect">
            <a:avLst/>
          </a:prstGeom>
          <a:solidFill>
            <a:srgbClr val="C97B5A"/>
          </a:solidFill>
          <a:ln/>
          <a:effectLst>
            <a:outerShdw sx="100000" sy="100000" kx="0" ky="0" algn="bl" rotWithShape="0" blurRad="63500" dist="25400" dir="8100000">
              <a:srgbClr val="000000">
                <a:alpha val="8000"/>
              </a:srgbClr>
            </a:outerShdw>
          </a:effectLst>
        </p:spPr>
      </p:sp>
      <p:sp>
        <p:nvSpPr>
          <p:cNvPr id="13" name="Text 11"/>
          <p:cNvSpPr/>
          <p:nvPr/>
        </p:nvSpPr>
        <p:spPr>
          <a:xfrm>
            <a:off x="457200" y="2286000"/>
            <a:ext cx="1188720" cy="9144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Doküman</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Yükleme</a:t>
            </a:r>
            <a:endParaRPr lang="en-US" sz="1000" dirty="0"/>
          </a:p>
        </p:txBody>
      </p:sp>
      <p:sp>
        <p:nvSpPr>
          <p:cNvPr id="14" name="Text 12"/>
          <p:cNvSpPr/>
          <p:nvPr/>
        </p:nvSpPr>
        <p:spPr>
          <a:xfrm>
            <a:off x="1645920" y="2468880"/>
            <a:ext cx="228600" cy="457200"/>
          </a:xfrm>
          <a:prstGeom prst="rect">
            <a:avLst/>
          </a:prstGeom>
          <a:noFill/>
          <a:ln/>
        </p:spPr>
        <p:txBody>
          <a:bodyPr wrap="square" lIns="0" tIns="0" rIns="0" bIns="0" rtlCol="0" anchor="ctr"/>
          <a:lstStyle/>
          <a:p>
            <a:pPr algn="ctr" indent="0" marL="0">
              <a:buNone/>
            </a:pPr>
            <a:r>
              <a:rPr lang="en-US" sz="1400" dirty="0">
                <a:solidFill>
                  <a:srgbClr val="6B5B52"/>
                </a:solidFill>
                <a:latin typeface="Calibri" pitchFamily="34" charset="0"/>
                <a:ea typeface="Calibri" pitchFamily="34" charset="-122"/>
                <a:cs typeface="Calibri" pitchFamily="34" charset="-120"/>
              </a:rPr>
              <a:t>▶</a:t>
            </a:r>
            <a:endParaRPr lang="en-US" sz="1400" dirty="0"/>
          </a:p>
        </p:txBody>
      </p:sp>
      <p:sp>
        <p:nvSpPr>
          <p:cNvPr id="15" name="Shape 13"/>
          <p:cNvSpPr/>
          <p:nvPr/>
        </p:nvSpPr>
        <p:spPr>
          <a:xfrm>
            <a:off x="1874520" y="2286000"/>
            <a:ext cx="1188720" cy="914400"/>
          </a:xfrm>
          <a:prstGeom prst="rect">
            <a:avLst/>
          </a:prstGeom>
          <a:solidFill>
            <a:srgbClr val="E8913A"/>
          </a:solidFill>
          <a:ln/>
          <a:effectLst>
            <a:outerShdw sx="100000" sy="100000" kx="0" ky="0" algn="bl" rotWithShape="0" blurRad="63500" dist="25400" dir="8100000">
              <a:srgbClr val="000000">
                <a:alpha val="8000"/>
              </a:srgbClr>
            </a:outerShdw>
          </a:effectLst>
        </p:spPr>
      </p:sp>
      <p:sp>
        <p:nvSpPr>
          <p:cNvPr id="16" name="Text 14"/>
          <p:cNvSpPr/>
          <p:nvPr/>
        </p:nvSpPr>
        <p:spPr>
          <a:xfrm>
            <a:off x="1874520" y="2286000"/>
            <a:ext cx="1188720" cy="9144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Chunk</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Bölme</a:t>
            </a:r>
            <a:endParaRPr lang="en-US" sz="1000" dirty="0"/>
          </a:p>
        </p:txBody>
      </p:sp>
      <p:sp>
        <p:nvSpPr>
          <p:cNvPr id="17" name="Text 15"/>
          <p:cNvSpPr/>
          <p:nvPr/>
        </p:nvSpPr>
        <p:spPr>
          <a:xfrm>
            <a:off x="3063240" y="2468880"/>
            <a:ext cx="228600" cy="457200"/>
          </a:xfrm>
          <a:prstGeom prst="rect">
            <a:avLst/>
          </a:prstGeom>
          <a:noFill/>
          <a:ln/>
        </p:spPr>
        <p:txBody>
          <a:bodyPr wrap="square" lIns="0" tIns="0" rIns="0" bIns="0" rtlCol="0" anchor="ctr"/>
          <a:lstStyle/>
          <a:p>
            <a:pPr algn="ctr" indent="0" marL="0">
              <a:buNone/>
            </a:pPr>
            <a:r>
              <a:rPr lang="en-US" sz="1400" dirty="0">
                <a:solidFill>
                  <a:srgbClr val="6B5B52"/>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3291840" y="2286000"/>
            <a:ext cx="1188720" cy="914400"/>
          </a:xfrm>
          <a:prstGeom prst="rect">
            <a:avLst/>
          </a:prstGeom>
          <a:solidFill>
            <a:srgbClr val="2B7A78"/>
          </a:solidFill>
          <a:ln/>
          <a:effectLst>
            <a:outerShdw sx="100000" sy="100000" kx="0" ky="0" algn="bl" rotWithShape="0" blurRad="63500" dist="25400" dir="8100000">
              <a:srgbClr val="000000">
                <a:alpha val="8000"/>
              </a:srgbClr>
            </a:outerShdw>
          </a:effectLst>
        </p:spPr>
      </p:sp>
      <p:sp>
        <p:nvSpPr>
          <p:cNvPr id="19" name="Text 17"/>
          <p:cNvSpPr/>
          <p:nvPr/>
        </p:nvSpPr>
        <p:spPr>
          <a:xfrm>
            <a:off x="3291840" y="2286000"/>
            <a:ext cx="1188720" cy="9144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Embedding</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Üretme</a:t>
            </a:r>
            <a:endParaRPr lang="en-US" sz="1000" dirty="0"/>
          </a:p>
        </p:txBody>
      </p:sp>
      <p:sp>
        <p:nvSpPr>
          <p:cNvPr id="20" name="Text 18"/>
          <p:cNvSpPr/>
          <p:nvPr/>
        </p:nvSpPr>
        <p:spPr>
          <a:xfrm>
            <a:off x="4480560" y="2468880"/>
            <a:ext cx="228600" cy="457200"/>
          </a:xfrm>
          <a:prstGeom prst="rect">
            <a:avLst/>
          </a:prstGeom>
          <a:noFill/>
          <a:ln/>
        </p:spPr>
        <p:txBody>
          <a:bodyPr wrap="square" lIns="0" tIns="0" rIns="0" bIns="0" rtlCol="0" anchor="ctr"/>
          <a:lstStyle/>
          <a:p>
            <a:pPr algn="ctr" indent="0" marL="0">
              <a:buNone/>
            </a:pPr>
            <a:r>
              <a:rPr lang="en-US" sz="1400" dirty="0">
                <a:solidFill>
                  <a:srgbClr val="6B5B52"/>
                </a:solidFill>
                <a:latin typeface="Calibri" pitchFamily="34" charset="0"/>
                <a:ea typeface="Calibri" pitchFamily="34" charset="-122"/>
                <a:cs typeface="Calibri" pitchFamily="34" charset="-120"/>
              </a:rPr>
              <a:t>▶</a:t>
            </a:r>
            <a:endParaRPr lang="en-US" sz="1400" dirty="0"/>
          </a:p>
        </p:txBody>
      </p:sp>
      <p:sp>
        <p:nvSpPr>
          <p:cNvPr id="21" name="Shape 19"/>
          <p:cNvSpPr/>
          <p:nvPr/>
        </p:nvSpPr>
        <p:spPr>
          <a:xfrm>
            <a:off x="4709160" y="2286000"/>
            <a:ext cx="1188720" cy="914400"/>
          </a:xfrm>
          <a:prstGeom prst="rect">
            <a:avLst/>
          </a:prstGeom>
          <a:solidFill>
            <a:srgbClr val="7C5BBF"/>
          </a:solidFill>
          <a:ln/>
          <a:effectLst>
            <a:outerShdw sx="100000" sy="100000" kx="0" ky="0" algn="bl" rotWithShape="0" blurRad="63500" dist="25400" dir="8100000">
              <a:srgbClr val="000000">
                <a:alpha val="8000"/>
              </a:srgbClr>
            </a:outerShdw>
          </a:effectLst>
        </p:spPr>
      </p:sp>
      <p:sp>
        <p:nvSpPr>
          <p:cNvPr id="22" name="Text 20"/>
          <p:cNvSpPr/>
          <p:nvPr/>
        </p:nvSpPr>
        <p:spPr>
          <a:xfrm>
            <a:off x="4709160" y="2286000"/>
            <a:ext cx="1188720" cy="9144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Vector DB</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Kaydetme</a:t>
            </a:r>
            <a:endParaRPr lang="en-US" sz="1000" dirty="0"/>
          </a:p>
        </p:txBody>
      </p:sp>
      <p:sp>
        <p:nvSpPr>
          <p:cNvPr id="23" name="Text 21"/>
          <p:cNvSpPr/>
          <p:nvPr/>
        </p:nvSpPr>
        <p:spPr>
          <a:xfrm>
            <a:off x="5897880" y="2468880"/>
            <a:ext cx="228600" cy="457200"/>
          </a:xfrm>
          <a:prstGeom prst="rect">
            <a:avLst/>
          </a:prstGeom>
          <a:noFill/>
          <a:ln/>
        </p:spPr>
        <p:txBody>
          <a:bodyPr wrap="square" lIns="0" tIns="0" rIns="0" bIns="0" rtlCol="0" anchor="ctr"/>
          <a:lstStyle/>
          <a:p>
            <a:pPr algn="ctr" indent="0" marL="0">
              <a:buNone/>
            </a:pPr>
            <a:r>
              <a:rPr lang="en-US" sz="1400" dirty="0">
                <a:solidFill>
                  <a:srgbClr val="6B5B52"/>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6126480" y="2286000"/>
            <a:ext cx="1188720" cy="914400"/>
          </a:xfrm>
          <a:prstGeom prst="rect">
            <a:avLst/>
          </a:prstGeom>
          <a:solidFill>
            <a:srgbClr val="4A7FC7"/>
          </a:solidFill>
          <a:ln/>
          <a:effectLst>
            <a:outerShdw sx="100000" sy="100000" kx="0" ky="0" algn="bl" rotWithShape="0" blurRad="63500" dist="25400" dir="8100000">
              <a:srgbClr val="000000">
                <a:alpha val="8000"/>
              </a:srgbClr>
            </a:outerShdw>
          </a:effectLst>
        </p:spPr>
      </p:sp>
      <p:sp>
        <p:nvSpPr>
          <p:cNvPr id="25" name="Text 23"/>
          <p:cNvSpPr/>
          <p:nvPr/>
        </p:nvSpPr>
        <p:spPr>
          <a:xfrm>
            <a:off x="6126480" y="2286000"/>
            <a:ext cx="1188720" cy="9144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Sorgu +</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Retrieval</a:t>
            </a:r>
            <a:endParaRPr lang="en-US" sz="1000" dirty="0"/>
          </a:p>
        </p:txBody>
      </p:sp>
      <p:sp>
        <p:nvSpPr>
          <p:cNvPr id="26" name="Text 24"/>
          <p:cNvSpPr/>
          <p:nvPr/>
        </p:nvSpPr>
        <p:spPr>
          <a:xfrm>
            <a:off x="7315200" y="2468880"/>
            <a:ext cx="228600" cy="457200"/>
          </a:xfrm>
          <a:prstGeom prst="rect">
            <a:avLst/>
          </a:prstGeom>
          <a:noFill/>
          <a:ln/>
        </p:spPr>
        <p:txBody>
          <a:bodyPr wrap="square" lIns="0" tIns="0" rIns="0" bIns="0" rtlCol="0" anchor="ctr"/>
          <a:lstStyle/>
          <a:p>
            <a:pPr algn="ctr" indent="0" marL="0">
              <a:buNone/>
            </a:pPr>
            <a:r>
              <a:rPr lang="en-US" sz="1400" dirty="0">
                <a:solidFill>
                  <a:srgbClr val="6B5B52"/>
                </a:solidFill>
                <a:latin typeface="Calibri" pitchFamily="34" charset="0"/>
                <a:ea typeface="Calibri" pitchFamily="34" charset="-122"/>
                <a:cs typeface="Calibri" pitchFamily="34" charset="-120"/>
              </a:rPr>
              <a:t>▶</a:t>
            </a:r>
            <a:endParaRPr lang="en-US" sz="1400" dirty="0"/>
          </a:p>
        </p:txBody>
      </p:sp>
      <p:sp>
        <p:nvSpPr>
          <p:cNvPr id="27" name="Shape 25"/>
          <p:cNvSpPr/>
          <p:nvPr/>
        </p:nvSpPr>
        <p:spPr>
          <a:xfrm>
            <a:off x="7543800" y="2286000"/>
            <a:ext cx="1188720" cy="914400"/>
          </a:xfrm>
          <a:prstGeom prst="rect">
            <a:avLst/>
          </a:prstGeom>
          <a:solidFill>
            <a:srgbClr val="3A9E6B"/>
          </a:solidFill>
          <a:ln/>
          <a:effectLst>
            <a:outerShdw sx="100000" sy="100000" kx="0" ky="0" algn="bl" rotWithShape="0" blurRad="63500" dist="25400" dir="8100000">
              <a:srgbClr val="000000">
                <a:alpha val="8000"/>
              </a:srgbClr>
            </a:outerShdw>
          </a:effectLst>
        </p:spPr>
      </p:sp>
      <p:sp>
        <p:nvSpPr>
          <p:cNvPr id="28" name="Text 26"/>
          <p:cNvSpPr/>
          <p:nvPr/>
        </p:nvSpPr>
        <p:spPr>
          <a:xfrm>
            <a:off x="7543800" y="2286000"/>
            <a:ext cx="1188720" cy="9144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LLM</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Cevap</a:t>
            </a:r>
            <a:endParaRPr lang="en-US" sz="1000" dirty="0"/>
          </a:p>
        </p:txBody>
      </p:sp>
      <p:sp>
        <p:nvSpPr>
          <p:cNvPr id="29" name="Shape 27"/>
          <p:cNvSpPr/>
          <p:nvPr/>
        </p:nvSpPr>
        <p:spPr>
          <a:xfrm>
            <a:off x="457200" y="3474720"/>
            <a:ext cx="822960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30" name="Shape 28"/>
          <p:cNvSpPr/>
          <p:nvPr/>
        </p:nvSpPr>
        <p:spPr>
          <a:xfrm>
            <a:off x="457200" y="3474720"/>
            <a:ext cx="8229600" cy="54864"/>
          </a:xfrm>
          <a:prstGeom prst="rect">
            <a:avLst/>
          </a:prstGeom>
          <a:solidFill>
            <a:srgbClr val="5B2C1E"/>
          </a:solidFill>
          <a:ln/>
        </p:spPr>
      </p:sp>
      <p:sp>
        <p:nvSpPr>
          <p:cNvPr id="31" name="Text 29"/>
          <p:cNvSpPr/>
          <p:nvPr/>
        </p:nvSpPr>
        <p:spPr>
          <a:xfrm>
            <a:off x="640080" y="3566160"/>
            <a:ext cx="7772400" cy="347472"/>
          </a:xfrm>
          <a:prstGeom prst="rect">
            <a:avLst/>
          </a:prstGeom>
          <a:noFill/>
          <a:ln/>
        </p:spPr>
        <p:txBody>
          <a:bodyPr wrap="square" lIns="0" tIns="0" rIns="0" bIns="0" rtlCol="0" anchor="ctr"/>
          <a:lstStyle/>
          <a:p>
            <a:pPr indent="0" marL="0">
              <a:buNone/>
            </a:pPr>
            <a:r>
              <a:rPr lang="en-US" sz="1200" b="1" dirty="0">
                <a:solidFill>
                  <a:srgbClr val="5B2C1E"/>
                </a:solidFill>
                <a:latin typeface="Georgia" pitchFamily="34" charset="0"/>
                <a:ea typeface="Georgia" pitchFamily="34" charset="-122"/>
                <a:cs typeface="Georgia" pitchFamily="34" charset="-120"/>
              </a:rPr>
              <a:t>Kullanılan Teknolojiler</a:t>
            </a:r>
            <a:endParaRPr lang="en-US" sz="1200" dirty="0"/>
          </a:p>
        </p:txBody>
      </p:sp>
      <p:sp>
        <p:nvSpPr>
          <p:cNvPr id="32" name="Shape 30"/>
          <p:cNvSpPr/>
          <p:nvPr/>
        </p:nvSpPr>
        <p:spPr>
          <a:xfrm>
            <a:off x="640080" y="3977640"/>
            <a:ext cx="1737360" cy="320040"/>
          </a:xfrm>
          <a:prstGeom prst="rect">
            <a:avLst/>
          </a:prstGeom>
          <a:solidFill>
            <a:srgbClr val="C97B5A"/>
          </a:solidFill>
          <a:ln/>
        </p:spPr>
      </p:sp>
      <p:sp>
        <p:nvSpPr>
          <p:cNvPr id="33" name="Text 31"/>
          <p:cNvSpPr/>
          <p:nvPr/>
        </p:nvSpPr>
        <p:spPr>
          <a:xfrm>
            <a:off x="640080" y="3977640"/>
            <a:ext cx="173736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LangChain</a:t>
            </a:r>
            <a:endParaRPr lang="en-US" sz="1000" dirty="0"/>
          </a:p>
        </p:txBody>
      </p:sp>
      <p:sp>
        <p:nvSpPr>
          <p:cNvPr id="34" name="Text 32"/>
          <p:cNvSpPr/>
          <p:nvPr/>
        </p:nvSpPr>
        <p:spPr>
          <a:xfrm>
            <a:off x="640080" y="4315968"/>
            <a:ext cx="1737360" cy="274320"/>
          </a:xfrm>
          <a:prstGeom prst="rect">
            <a:avLst/>
          </a:prstGeom>
          <a:noFill/>
          <a:ln/>
        </p:spPr>
        <p:txBody>
          <a:bodyPr wrap="square" lIns="0" tIns="0" rIns="0" bIns="0" rtlCol="0" anchor="ctr"/>
          <a:lstStyle/>
          <a:p>
            <a:pPr algn="ctr" indent="0" marL="0">
              <a:buNone/>
            </a:pPr>
            <a:r>
              <a:rPr lang="en-US" sz="900" dirty="0">
                <a:solidFill>
                  <a:srgbClr val="6B5B52"/>
                </a:solidFill>
                <a:latin typeface="Calibri" pitchFamily="34" charset="0"/>
                <a:ea typeface="Calibri" pitchFamily="34" charset="-122"/>
                <a:cs typeface="Calibri" pitchFamily="34" charset="-120"/>
              </a:rPr>
              <a:t>RAG orkestrasyon</a:t>
            </a:r>
            <a:endParaRPr lang="en-US" sz="900" dirty="0"/>
          </a:p>
        </p:txBody>
      </p:sp>
      <p:sp>
        <p:nvSpPr>
          <p:cNvPr id="35" name="Shape 33"/>
          <p:cNvSpPr/>
          <p:nvPr/>
        </p:nvSpPr>
        <p:spPr>
          <a:xfrm>
            <a:off x="2651760" y="3977640"/>
            <a:ext cx="1737360" cy="320040"/>
          </a:xfrm>
          <a:prstGeom prst="rect">
            <a:avLst/>
          </a:prstGeom>
          <a:solidFill>
            <a:srgbClr val="2B7A78"/>
          </a:solidFill>
          <a:ln/>
        </p:spPr>
      </p:sp>
      <p:sp>
        <p:nvSpPr>
          <p:cNvPr id="36" name="Text 34"/>
          <p:cNvSpPr/>
          <p:nvPr/>
        </p:nvSpPr>
        <p:spPr>
          <a:xfrm>
            <a:off x="2651760" y="3977640"/>
            <a:ext cx="173736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ChromaDB</a:t>
            </a:r>
            <a:endParaRPr lang="en-US" sz="1000" dirty="0"/>
          </a:p>
        </p:txBody>
      </p:sp>
      <p:sp>
        <p:nvSpPr>
          <p:cNvPr id="37" name="Text 35"/>
          <p:cNvSpPr/>
          <p:nvPr/>
        </p:nvSpPr>
        <p:spPr>
          <a:xfrm>
            <a:off x="2651760" y="4315968"/>
            <a:ext cx="1737360" cy="274320"/>
          </a:xfrm>
          <a:prstGeom prst="rect">
            <a:avLst/>
          </a:prstGeom>
          <a:noFill/>
          <a:ln/>
        </p:spPr>
        <p:txBody>
          <a:bodyPr wrap="square" lIns="0" tIns="0" rIns="0" bIns="0" rtlCol="0" anchor="ctr"/>
          <a:lstStyle/>
          <a:p>
            <a:pPr algn="ctr" indent="0" marL="0">
              <a:buNone/>
            </a:pPr>
            <a:r>
              <a:rPr lang="en-US" sz="900" dirty="0">
                <a:solidFill>
                  <a:srgbClr val="6B5B52"/>
                </a:solidFill>
                <a:latin typeface="Calibri" pitchFamily="34" charset="0"/>
                <a:ea typeface="Calibri" pitchFamily="34" charset="-122"/>
                <a:cs typeface="Calibri" pitchFamily="34" charset="-120"/>
              </a:rPr>
              <a:t>Vektör veritabanı</a:t>
            </a:r>
            <a:endParaRPr lang="en-US" sz="900" dirty="0"/>
          </a:p>
        </p:txBody>
      </p:sp>
      <p:sp>
        <p:nvSpPr>
          <p:cNvPr id="38" name="Shape 36"/>
          <p:cNvSpPr/>
          <p:nvPr/>
        </p:nvSpPr>
        <p:spPr>
          <a:xfrm>
            <a:off x="4663440" y="3977640"/>
            <a:ext cx="1737360" cy="320040"/>
          </a:xfrm>
          <a:prstGeom prst="rect">
            <a:avLst/>
          </a:prstGeom>
          <a:solidFill>
            <a:srgbClr val="E8913A"/>
          </a:solidFill>
          <a:ln/>
        </p:spPr>
      </p:sp>
      <p:sp>
        <p:nvSpPr>
          <p:cNvPr id="39" name="Text 37"/>
          <p:cNvSpPr/>
          <p:nvPr/>
        </p:nvSpPr>
        <p:spPr>
          <a:xfrm>
            <a:off x="4663440" y="3977640"/>
            <a:ext cx="173736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Gemini API</a:t>
            </a:r>
            <a:endParaRPr lang="en-US" sz="1000" dirty="0"/>
          </a:p>
        </p:txBody>
      </p:sp>
      <p:sp>
        <p:nvSpPr>
          <p:cNvPr id="40" name="Text 38"/>
          <p:cNvSpPr/>
          <p:nvPr/>
        </p:nvSpPr>
        <p:spPr>
          <a:xfrm>
            <a:off x="4663440" y="4315968"/>
            <a:ext cx="1737360" cy="274320"/>
          </a:xfrm>
          <a:prstGeom prst="rect">
            <a:avLst/>
          </a:prstGeom>
          <a:noFill/>
          <a:ln/>
        </p:spPr>
        <p:txBody>
          <a:bodyPr wrap="square" lIns="0" tIns="0" rIns="0" bIns="0" rtlCol="0" anchor="ctr"/>
          <a:lstStyle/>
          <a:p>
            <a:pPr algn="ctr" indent="0" marL="0">
              <a:buNone/>
            </a:pPr>
            <a:r>
              <a:rPr lang="en-US" sz="900" dirty="0">
                <a:solidFill>
                  <a:srgbClr val="6B5B52"/>
                </a:solidFill>
                <a:latin typeface="Calibri" pitchFamily="34" charset="0"/>
                <a:ea typeface="Calibri" pitchFamily="34" charset="-122"/>
                <a:cs typeface="Calibri" pitchFamily="34" charset="-120"/>
              </a:rPr>
              <a:t>LLM cevaplayıcı</a:t>
            </a:r>
            <a:endParaRPr lang="en-US" sz="900" dirty="0"/>
          </a:p>
        </p:txBody>
      </p:sp>
      <p:sp>
        <p:nvSpPr>
          <p:cNvPr id="41" name="Shape 39"/>
          <p:cNvSpPr/>
          <p:nvPr/>
        </p:nvSpPr>
        <p:spPr>
          <a:xfrm>
            <a:off x="6675120" y="3977640"/>
            <a:ext cx="1737360" cy="320040"/>
          </a:xfrm>
          <a:prstGeom prst="rect">
            <a:avLst/>
          </a:prstGeom>
          <a:solidFill>
            <a:srgbClr val="7C5BBF"/>
          </a:solidFill>
          <a:ln/>
        </p:spPr>
      </p:sp>
      <p:sp>
        <p:nvSpPr>
          <p:cNvPr id="42" name="Text 40"/>
          <p:cNvSpPr/>
          <p:nvPr/>
        </p:nvSpPr>
        <p:spPr>
          <a:xfrm>
            <a:off x="6675120" y="3977640"/>
            <a:ext cx="1737360" cy="3200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Streamlit</a:t>
            </a:r>
            <a:endParaRPr lang="en-US" sz="1000" dirty="0"/>
          </a:p>
        </p:txBody>
      </p:sp>
      <p:sp>
        <p:nvSpPr>
          <p:cNvPr id="43" name="Text 41"/>
          <p:cNvSpPr/>
          <p:nvPr/>
        </p:nvSpPr>
        <p:spPr>
          <a:xfrm>
            <a:off x="6675120" y="4315968"/>
            <a:ext cx="1737360" cy="274320"/>
          </a:xfrm>
          <a:prstGeom prst="rect">
            <a:avLst/>
          </a:prstGeom>
          <a:noFill/>
          <a:ln/>
        </p:spPr>
        <p:txBody>
          <a:bodyPr wrap="square" lIns="0" tIns="0" rIns="0" bIns="0" rtlCol="0" anchor="ctr"/>
          <a:lstStyle/>
          <a:p>
            <a:pPr algn="ctr" indent="0" marL="0">
              <a:buNone/>
            </a:pPr>
            <a:r>
              <a:rPr lang="en-US" sz="900" dirty="0">
                <a:solidFill>
                  <a:srgbClr val="6B5B52"/>
                </a:solidFill>
                <a:latin typeface="Calibri" pitchFamily="34" charset="0"/>
                <a:ea typeface="Calibri" pitchFamily="34" charset="-122"/>
                <a:cs typeface="Calibri" pitchFamily="34" charset="-120"/>
              </a:rPr>
              <a:t>Web arayüz</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Capstone: Görüntü Sınıflandırıcı</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8229600" cy="100584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8229600" cy="54864"/>
          </a:xfrm>
          <a:prstGeom prst="rect">
            <a:avLst/>
          </a:prstGeom>
          <a:solidFill>
            <a:srgbClr val="4A7FC7"/>
          </a:solidFill>
          <a:ln/>
        </p:spPr>
      </p:sp>
      <p:sp>
        <p:nvSpPr>
          <p:cNvPr id="10" name="Text 8"/>
          <p:cNvSpPr/>
          <p:nvPr/>
        </p:nvSpPr>
        <p:spPr>
          <a:xfrm>
            <a:off x="640080" y="1051560"/>
            <a:ext cx="7772400" cy="347472"/>
          </a:xfrm>
          <a:prstGeom prst="rect">
            <a:avLst/>
          </a:prstGeom>
          <a:noFill/>
          <a:ln/>
        </p:spPr>
        <p:txBody>
          <a:bodyPr wrap="square" lIns="0" tIns="0" rIns="0" bIns="0" rtlCol="0" anchor="ctr"/>
          <a:lstStyle/>
          <a:p>
            <a:pPr indent="0" marL="0">
              <a:buNone/>
            </a:pPr>
            <a:r>
              <a:rPr lang="en-US" sz="1200" b="1" dirty="0">
                <a:solidFill>
                  <a:srgbClr val="4A7FC7"/>
                </a:solidFill>
                <a:latin typeface="Georgia" pitchFamily="34" charset="0"/>
                <a:ea typeface="Georgia" pitchFamily="34" charset="-122"/>
                <a:cs typeface="Georgia" pitchFamily="34" charset="-120"/>
              </a:rPr>
              <a:t>Transfer Learning + Gradio Arayüz ile Görüntü Tanıma</a:t>
            </a:r>
            <a:endParaRPr lang="en-US" sz="1200" dirty="0"/>
          </a:p>
        </p:txBody>
      </p:sp>
      <p:sp>
        <p:nvSpPr>
          <p:cNvPr id="11" name="Text 9"/>
          <p:cNvSpPr/>
          <p:nvPr/>
        </p:nvSpPr>
        <p:spPr>
          <a:xfrm>
            <a:off x="640080" y="1371600"/>
            <a:ext cx="7772400" cy="50292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Önceden eğitilmiş CNN modellerini (ResNet50, EfficientNet) fine-tune ederek özel görüntü sınıflandırma ve Gradio ile kullanıcı dostu arayüz.</a:t>
            </a:r>
            <a:endParaRPr lang="en-US" sz="1100" dirty="0"/>
          </a:p>
        </p:txBody>
      </p:sp>
      <p:sp>
        <p:nvSpPr>
          <p:cNvPr id="12" name="Shape 10"/>
          <p:cNvSpPr/>
          <p:nvPr/>
        </p:nvSpPr>
        <p:spPr>
          <a:xfrm>
            <a:off x="457200" y="2194560"/>
            <a:ext cx="3931920" cy="25603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457200" y="2194560"/>
            <a:ext cx="54864" cy="2560320"/>
          </a:xfrm>
          <a:prstGeom prst="rect">
            <a:avLst/>
          </a:prstGeom>
          <a:solidFill>
            <a:srgbClr val="4A7FC7"/>
          </a:solidFill>
          <a:ln/>
        </p:spPr>
      </p:sp>
      <p:sp>
        <p:nvSpPr>
          <p:cNvPr id="14" name="Text 12"/>
          <p:cNvSpPr/>
          <p:nvPr/>
        </p:nvSpPr>
        <p:spPr>
          <a:xfrm>
            <a:off x="640080" y="2286000"/>
            <a:ext cx="3566160" cy="347472"/>
          </a:xfrm>
          <a:prstGeom prst="rect">
            <a:avLst/>
          </a:prstGeom>
          <a:noFill/>
          <a:ln/>
        </p:spPr>
        <p:txBody>
          <a:bodyPr wrap="square" lIns="0" tIns="0" rIns="0" bIns="0" rtlCol="0" anchor="ctr"/>
          <a:lstStyle/>
          <a:p>
            <a:pPr indent="0" marL="0">
              <a:buNone/>
            </a:pPr>
            <a:r>
              <a:rPr lang="en-US" sz="1200" b="1" dirty="0">
                <a:solidFill>
                  <a:srgbClr val="4A7FC7"/>
                </a:solidFill>
                <a:latin typeface="Georgia" pitchFamily="34" charset="0"/>
                <a:ea typeface="Georgia" pitchFamily="34" charset="-122"/>
                <a:cs typeface="Georgia" pitchFamily="34" charset="-120"/>
              </a:rPr>
              <a:t>Model Mimarisi</a:t>
            </a:r>
            <a:endParaRPr lang="en-US" sz="1200" dirty="0"/>
          </a:p>
        </p:txBody>
      </p:sp>
      <p:sp>
        <p:nvSpPr>
          <p:cNvPr id="15" name="Text 13"/>
          <p:cNvSpPr/>
          <p:nvPr/>
        </p:nvSpPr>
        <p:spPr>
          <a:xfrm>
            <a:off x="640080" y="2651760"/>
            <a:ext cx="3566160" cy="292608"/>
          </a:xfrm>
          <a:prstGeom prst="rect">
            <a:avLst/>
          </a:prstGeom>
          <a:noFill/>
          <a:ln/>
        </p:spPr>
        <p:txBody>
          <a:bodyPr wrap="square" lIns="0" tIns="0" rIns="0" bIns="0" rtlCol="0" anchor="ctr"/>
          <a:lstStyle/>
          <a:p>
            <a:pPr indent="0" marL="0">
              <a:buNone/>
            </a:pPr>
            <a:r>
              <a:rPr lang="en-US" sz="900" dirty="0">
                <a:solidFill>
                  <a:srgbClr val="4A7FC7"/>
                </a:solidFill>
                <a:latin typeface="Consolas" pitchFamily="34" charset="0"/>
                <a:ea typeface="Consolas" pitchFamily="34" charset="-122"/>
                <a:cs typeface="Consolas" pitchFamily="34" charset="-120"/>
              </a:rPr>
              <a:t>ResNet50 (ImageNet ağırlıkları)</a:t>
            </a:r>
            <a:endParaRPr lang="en-US" sz="900" dirty="0"/>
          </a:p>
        </p:txBody>
      </p:sp>
      <p:sp>
        <p:nvSpPr>
          <p:cNvPr id="16" name="Text 14"/>
          <p:cNvSpPr/>
          <p:nvPr/>
        </p:nvSpPr>
        <p:spPr>
          <a:xfrm>
            <a:off x="640080" y="2971800"/>
            <a:ext cx="3566160" cy="292608"/>
          </a:xfrm>
          <a:prstGeom prst="rect">
            <a:avLst/>
          </a:prstGeom>
          <a:noFill/>
          <a:ln/>
        </p:spPr>
        <p:txBody>
          <a:bodyPr wrap="square" lIns="0" tIns="0" rIns="0" bIns="0" rtlCol="0" anchor="ctr"/>
          <a:lstStyle/>
          <a:p>
            <a:pPr indent="0" marL="0">
              <a:buNone/>
            </a:pPr>
            <a:r>
              <a:rPr lang="en-US" sz="900" dirty="0">
                <a:solidFill>
                  <a:srgbClr val="6B5B52"/>
                </a:solidFill>
                <a:latin typeface="Consolas" pitchFamily="34" charset="0"/>
                <a:ea typeface="Consolas" pitchFamily="34" charset="-122"/>
                <a:cs typeface="Consolas" pitchFamily="34" charset="-120"/>
              </a:rPr>
              <a:t>↓ Freeze: İlk 140 katman dondur</a:t>
            </a:r>
            <a:endParaRPr lang="en-US" sz="900" dirty="0"/>
          </a:p>
        </p:txBody>
      </p:sp>
      <p:sp>
        <p:nvSpPr>
          <p:cNvPr id="17" name="Text 15"/>
          <p:cNvSpPr/>
          <p:nvPr/>
        </p:nvSpPr>
        <p:spPr>
          <a:xfrm>
            <a:off x="640080" y="3291840"/>
            <a:ext cx="3566160" cy="292608"/>
          </a:xfrm>
          <a:prstGeom prst="rect">
            <a:avLst/>
          </a:prstGeom>
          <a:noFill/>
          <a:ln/>
        </p:spPr>
        <p:txBody>
          <a:bodyPr wrap="square" lIns="0" tIns="0" rIns="0" bIns="0" rtlCol="0" anchor="ctr"/>
          <a:lstStyle/>
          <a:p>
            <a:pPr indent="0" marL="0">
              <a:buNone/>
            </a:pPr>
            <a:r>
              <a:rPr lang="en-US" sz="900" dirty="0">
                <a:solidFill>
                  <a:srgbClr val="6B5B52"/>
                </a:solidFill>
                <a:latin typeface="Consolas" pitchFamily="34" charset="0"/>
                <a:ea typeface="Consolas" pitchFamily="34" charset="-122"/>
                <a:cs typeface="Consolas" pitchFamily="34" charset="-120"/>
              </a:rPr>
              <a:t>↓ Fine-tune: Son katmanları eğit</a:t>
            </a:r>
            <a:endParaRPr lang="en-US" sz="900" dirty="0"/>
          </a:p>
        </p:txBody>
      </p:sp>
      <p:sp>
        <p:nvSpPr>
          <p:cNvPr id="18" name="Text 16"/>
          <p:cNvSpPr/>
          <p:nvPr/>
        </p:nvSpPr>
        <p:spPr>
          <a:xfrm>
            <a:off x="640080" y="3611880"/>
            <a:ext cx="3566160" cy="292608"/>
          </a:xfrm>
          <a:prstGeom prst="rect">
            <a:avLst/>
          </a:prstGeom>
          <a:noFill/>
          <a:ln/>
        </p:spPr>
        <p:txBody>
          <a:bodyPr wrap="square" lIns="0" tIns="0" rIns="0" bIns="0" rtlCol="0" anchor="ctr"/>
          <a:lstStyle/>
          <a:p>
            <a:pPr indent="0" marL="0">
              <a:buNone/>
            </a:pPr>
            <a:r>
              <a:rPr lang="en-US" sz="900" dirty="0">
                <a:solidFill>
                  <a:srgbClr val="6B5B52"/>
                </a:solidFill>
                <a:latin typeface="Consolas" pitchFamily="34" charset="0"/>
                <a:ea typeface="Consolas" pitchFamily="34" charset="-122"/>
                <a:cs typeface="Consolas" pitchFamily="34" charset="-120"/>
              </a:rPr>
              <a:t>↓ Global Average Pooling</a:t>
            </a:r>
            <a:endParaRPr lang="en-US" sz="900" dirty="0"/>
          </a:p>
        </p:txBody>
      </p:sp>
      <p:sp>
        <p:nvSpPr>
          <p:cNvPr id="19" name="Text 17"/>
          <p:cNvSpPr/>
          <p:nvPr/>
        </p:nvSpPr>
        <p:spPr>
          <a:xfrm>
            <a:off x="640080" y="3931920"/>
            <a:ext cx="3566160" cy="292608"/>
          </a:xfrm>
          <a:prstGeom prst="rect">
            <a:avLst/>
          </a:prstGeom>
          <a:noFill/>
          <a:ln/>
        </p:spPr>
        <p:txBody>
          <a:bodyPr wrap="square" lIns="0" tIns="0" rIns="0" bIns="0" rtlCol="0" anchor="ctr"/>
          <a:lstStyle/>
          <a:p>
            <a:pPr indent="0" marL="0">
              <a:buNone/>
            </a:pPr>
            <a:r>
              <a:rPr lang="en-US" sz="900" dirty="0">
                <a:solidFill>
                  <a:srgbClr val="6B5B52"/>
                </a:solidFill>
                <a:latin typeface="Consolas" pitchFamily="34" charset="0"/>
                <a:ea typeface="Consolas" pitchFamily="34" charset="-122"/>
                <a:cs typeface="Consolas" pitchFamily="34" charset="-120"/>
              </a:rPr>
              <a:t>↓ Dense(256, ReLU) + Dropout(0.5)</a:t>
            </a:r>
            <a:endParaRPr lang="en-US" sz="900" dirty="0"/>
          </a:p>
        </p:txBody>
      </p:sp>
      <p:sp>
        <p:nvSpPr>
          <p:cNvPr id="20" name="Text 18"/>
          <p:cNvSpPr/>
          <p:nvPr/>
        </p:nvSpPr>
        <p:spPr>
          <a:xfrm>
            <a:off x="640080" y="4251960"/>
            <a:ext cx="3566160" cy="292608"/>
          </a:xfrm>
          <a:prstGeom prst="rect">
            <a:avLst/>
          </a:prstGeom>
          <a:noFill/>
          <a:ln/>
        </p:spPr>
        <p:txBody>
          <a:bodyPr wrap="square" lIns="0" tIns="0" rIns="0" bIns="0" rtlCol="0" anchor="ctr"/>
          <a:lstStyle/>
          <a:p>
            <a:pPr indent="0" marL="0">
              <a:buNone/>
            </a:pPr>
            <a:r>
              <a:rPr lang="en-US" sz="900" dirty="0">
                <a:solidFill>
                  <a:srgbClr val="3A9E6B"/>
                </a:solidFill>
                <a:latin typeface="Consolas" pitchFamily="34" charset="0"/>
                <a:ea typeface="Consolas" pitchFamily="34" charset="-122"/>
                <a:cs typeface="Consolas" pitchFamily="34" charset="-120"/>
              </a:rPr>
              <a:t>↓ Dense(num_classes, Softmax)</a:t>
            </a:r>
            <a:endParaRPr lang="en-US" sz="900" dirty="0"/>
          </a:p>
        </p:txBody>
      </p:sp>
      <p:sp>
        <p:nvSpPr>
          <p:cNvPr id="21" name="Shape 19"/>
          <p:cNvSpPr/>
          <p:nvPr/>
        </p:nvSpPr>
        <p:spPr>
          <a:xfrm>
            <a:off x="4754880" y="2194560"/>
            <a:ext cx="3931920" cy="25603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2" name="Shape 20"/>
          <p:cNvSpPr/>
          <p:nvPr/>
        </p:nvSpPr>
        <p:spPr>
          <a:xfrm>
            <a:off x="4754880" y="2194560"/>
            <a:ext cx="54864" cy="2560320"/>
          </a:xfrm>
          <a:prstGeom prst="rect">
            <a:avLst/>
          </a:prstGeom>
          <a:solidFill>
            <a:srgbClr val="3A9E6B"/>
          </a:solidFill>
          <a:ln/>
        </p:spPr>
      </p:sp>
      <p:sp>
        <p:nvSpPr>
          <p:cNvPr id="23" name="Text 21"/>
          <p:cNvSpPr/>
          <p:nvPr/>
        </p:nvSpPr>
        <p:spPr>
          <a:xfrm>
            <a:off x="4937760" y="2286000"/>
            <a:ext cx="3566160" cy="347472"/>
          </a:xfrm>
          <a:prstGeom prst="rect">
            <a:avLst/>
          </a:prstGeom>
          <a:noFill/>
          <a:ln/>
        </p:spPr>
        <p:txBody>
          <a:bodyPr wrap="square" lIns="0" tIns="0" rIns="0" bIns="0" rtlCol="0" anchor="ctr"/>
          <a:lstStyle/>
          <a:p>
            <a:pPr indent="0" marL="0">
              <a:buNone/>
            </a:pPr>
            <a:r>
              <a:rPr lang="en-US" sz="1200" b="1" dirty="0">
                <a:solidFill>
                  <a:srgbClr val="3A9E6B"/>
                </a:solidFill>
                <a:latin typeface="Georgia" pitchFamily="34" charset="0"/>
                <a:ea typeface="Georgia" pitchFamily="34" charset="-122"/>
                <a:cs typeface="Georgia" pitchFamily="34" charset="-120"/>
              </a:rPr>
              <a:t>Özellikler</a:t>
            </a:r>
            <a:endParaRPr lang="en-US" sz="1200" dirty="0"/>
          </a:p>
        </p:txBody>
      </p:sp>
      <p:sp>
        <p:nvSpPr>
          <p:cNvPr id="24" name="Text 22"/>
          <p:cNvSpPr/>
          <p:nvPr/>
        </p:nvSpPr>
        <p:spPr>
          <a:xfrm>
            <a:off x="4937760" y="2651760"/>
            <a:ext cx="3566160" cy="29260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Data Augmentation (döndürme, zoom, çevirme)</a:t>
            </a:r>
            <a:endParaRPr lang="en-US" sz="1000" dirty="0"/>
          </a:p>
        </p:txBody>
      </p:sp>
      <p:sp>
        <p:nvSpPr>
          <p:cNvPr id="25" name="Text 23"/>
          <p:cNvSpPr/>
          <p:nvPr/>
        </p:nvSpPr>
        <p:spPr>
          <a:xfrm>
            <a:off x="4937760" y="2971800"/>
            <a:ext cx="3566160" cy="29260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Learning Rate Scheduler (ReduceLROnPlateau)</a:t>
            </a:r>
            <a:endParaRPr lang="en-US" sz="1000" dirty="0"/>
          </a:p>
        </p:txBody>
      </p:sp>
      <p:sp>
        <p:nvSpPr>
          <p:cNvPr id="26" name="Text 24"/>
          <p:cNvSpPr/>
          <p:nvPr/>
        </p:nvSpPr>
        <p:spPr>
          <a:xfrm>
            <a:off x="4937760" y="3291840"/>
            <a:ext cx="3566160" cy="29260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Early Stopping ile overfitting önleme</a:t>
            </a:r>
            <a:endParaRPr lang="en-US" sz="1000" dirty="0"/>
          </a:p>
        </p:txBody>
      </p:sp>
      <p:sp>
        <p:nvSpPr>
          <p:cNvPr id="27" name="Text 25"/>
          <p:cNvSpPr/>
          <p:nvPr/>
        </p:nvSpPr>
        <p:spPr>
          <a:xfrm>
            <a:off x="4937760" y="3611880"/>
            <a:ext cx="3566160" cy="29260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Gradio arayüz: sürükle-bırak görüntü yükle</a:t>
            </a:r>
            <a:endParaRPr lang="en-US" sz="1000" dirty="0"/>
          </a:p>
        </p:txBody>
      </p:sp>
      <p:sp>
        <p:nvSpPr>
          <p:cNvPr id="28" name="Text 26"/>
          <p:cNvSpPr/>
          <p:nvPr/>
        </p:nvSpPr>
        <p:spPr>
          <a:xfrm>
            <a:off x="4937760" y="3931920"/>
            <a:ext cx="3566160" cy="29260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Gerçek zamanlı confidence gösterimi</a:t>
            </a:r>
            <a:endParaRPr lang="en-US" sz="1000" dirty="0"/>
          </a:p>
        </p:txBody>
      </p:sp>
      <p:sp>
        <p:nvSpPr>
          <p:cNvPr id="29" name="Text 27"/>
          <p:cNvSpPr/>
          <p:nvPr/>
        </p:nvSpPr>
        <p:spPr>
          <a:xfrm>
            <a:off x="4937760" y="4251960"/>
            <a:ext cx="3566160" cy="292608"/>
          </a:xfrm>
          <a:prstGeom prst="rect">
            <a:avLst/>
          </a:prstGeom>
          <a:noFill/>
          <a:ln/>
        </p:spPr>
        <p:txBody>
          <a:bodyPr wrap="square" lIns="0" tIns="0" rIns="0" bIns="0" rtlCol="0" anchor="ctr"/>
          <a:lstStyle/>
          <a:p>
            <a:pPr indent="0" marL="0">
              <a:buNone/>
            </a:pPr>
            <a:r>
              <a:rPr lang="en-US" sz="1000" dirty="0">
                <a:solidFill>
                  <a:srgbClr val="2E1F1A"/>
                </a:solidFill>
                <a:latin typeface="Calibri" pitchFamily="34" charset="0"/>
                <a:ea typeface="Calibri" pitchFamily="34" charset="-122"/>
                <a:cs typeface="Calibri" pitchFamily="34" charset="-120"/>
              </a:rPr>
              <a:t>• Hugging Face Spaces’e deploy</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Capstone Değerlendirme Kriterleri</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1005840"/>
            <a:ext cx="192024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1005840"/>
            <a:ext cx="1920240" cy="54864"/>
          </a:xfrm>
          <a:prstGeom prst="rect">
            <a:avLst/>
          </a:prstGeom>
          <a:solidFill>
            <a:srgbClr val="2B7A78"/>
          </a:solidFill>
          <a:ln/>
        </p:spPr>
      </p:sp>
      <p:sp>
        <p:nvSpPr>
          <p:cNvPr id="10" name="Text 8"/>
          <p:cNvSpPr/>
          <p:nvPr/>
        </p:nvSpPr>
        <p:spPr>
          <a:xfrm>
            <a:off x="457200" y="1143000"/>
            <a:ext cx="1920240" cy="594360"/>
          </a:xfrm>
          <a:prstGeom prst="rect">
            <a:avLst/>
          </a:prstGeom>
          <a:noFill/>
          <a:ln/>
        </p:spPr>
        <p:txBody>
          <a:bodyPr wrap="square" lIns="0" tIns="0" rIns="0" bIns="0" rtlCol="0" anchor="ctr"/>
          <a:lstStyle/>
          <a:p>
            <a:pPr algn="ctr" indent="0" marL="0">
              <a:buNone/>
            </a:pPr>
            <a:r>
              <a:rPr lang="en-US" sz="3400" b="1" dirty="0">
                <a:solidFill>
                  <a:srgbClr val="2B7A78"/>
                </a:solidFill>
                <a:latin typeface="Georgia" pitchFamily="34" charset="0"/>
                <a:ea typeface="Georgia" pitchFamily="34" charset="-122"/>
                <a:cs typeface="Georgia" pitchFamily="34" charset="-120"/>
              </a:rPr>
              <a:t>%40</a:t>
            </a:r>
            <a:endParaRPr lang="en-US" sz="3400" dirty="0"/>
          </a:p>
        </p:txBody>
      </p:sp>
      <p:sp>
        <p:nvSpPr>
          <p:cNvPr id="11" name="Text 9"/>
          <p:cNvSpPr/>
          <p:nvPr/>
        </p:nvSpPr>
        <p:spPr>
          <a:xfrm>
            <a:off x="548640" y="1755648"/>
            <a:ext cx="1737360" cy="43891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Teknik</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Uygulama</a:t>
            </a:r>
            <a:endParaRPr lang="en-US" sz="1050" dirty="0"/>
          </a:p>
        </p:txBody>
      </p:sp>
      <p:sp>
        <p:nvSpPr>
          <p:cNvPr id="12" name="Shape 10"/>
          <p:cNvSpPr/>
          <p:nvPr/>
        </p:nvSpPr>
        <p:spPr>
          <a:xfrm>
            <a:off x="2606040" y="1005840"/>
            <a:ext cx="192024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3" name="Shape 11"/>
          <p:cNvSpPr/>
          <p:nvPr/>
        </p:nvSpPr>
        <p:spPr>
          <a:xfrm>
            <a:off x="2606040" y="1005840"/>
            <a:ext cx="1920240" cy="54864"/>
          </a:xfrm>
          <a:prstGeom prst="rect">
            <a:avLst/>
          </a:prstGeom>
          <a:solidFill>
            <a:srgbClr val="C97B5A"/>
          </a:solidFill>
          <a:ln/>
        </p:spPr>
      </p:sp>
      <p:sp>
        <p:nvSpPr>
          <p:cNvPr id="14" name="Text 12"/>
          <p:cNvSpPr/>
          <p:nvPr/>
        </p:nvSpPr>
        <p:spPr>
          <a:xfrm>
            <a:off x="2606040" y="1143000"/>
            <a:ext cx="1920240" cy="594360"/>
          </a:xfrm>
          <a:prstGeom prst="rect">
            <a:avLst/>
          </a:prstGeom>
          <a:noFill/>
          <a:ln/>
        </p:spPr>
        <p:txBody>
          <a:bodyPr wrap="square" lIns="0" tIns="0" rIns="0" bIns="0" rtlCol="0" anchor="ctr"/>
          <a:lstStyle/>
          <a:p>
            <a:pPr algn="ctr" indent="0" marL="0">
              <a:buNone/>
            </a:pPr>
            <a:r>
              <a:rPr lang="en-US" sz="3400" b="1" dirty="0">
                <a:solidFill>
                  <a:srgbClr val="C97B5A"/>
                </a:solidFill>
                <a:latin typeface="Georgia" pitchFamily="34" charset="0"/>
                <a:ea typeface="Georgia" pitchFamily="34" charset="-122"/>
                <a:cs typeface="Georgia" pitchFamily="34" charset="-120"/>
              </a:rPr>
              <a:t>%20</a:t>
            </a:r>
            <a:endParaRPr lang="en-US" sz="3400" dirty="0"/>
          </a:p>
        </p:txBody>
      </p:sp>
      <p:sp>
        <p:nvSpPr>
          <p:cNvPr id="15" name="Text 13"/>
          <p:cNvSpPr/>
          <p:nvPr/>
        </p:nvSpPr>
        <p:spPr>
          <a:xfrm>
            <a:off x="2697480" y="1755648"/>
            <a:ext cx="1737360" cy="43891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Sunum ve</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Dokümantasyon</a:t>
            </a:r>
            <a:endParaRPr lang="en-US" sz="1050" dirty="0"/>
          </a:p>
        </p:txBody>
      </p:sp>
      <p:sp>
        <p:nvSpPr>
          <p:cNvPr id="16" name="Shape 14"/>
          <p:cNvSpPr/>
          <p:nvPr/>
        </p:nvSpPr>
        <p:spPr>
          <a:xfrm>
            <a:off x="4754880" y="1005840"/>
            <a:ext cx="192024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17" name="Shape 15"/>
          <p:cNvSpPr/>
          <p:nvPr/>
        </p:nvSpPr>
        <p:spPr>
          <a:xfrm>
            <a:off x="4754880" y="1005840"/>
            <a:ext cx="1920240" cy="54864"/>
          </a:xfrm>
          <a:prstGeom prst="rect">
            <a:avLst/>
          </a:prstGeom>
          <a:solidFill>
            <a:srgbClr val="E8913A"/>
          </a:solidFill>
          <a:ln/>
        </p:spPr>
      </p:sp>
      <p:sp>
        <p:nvSpPr>
          <p:cNvPr id="18" name="Text 16"/>
          <p:cNvSpPr/>
          <p:nvPr/>
        </p:nvSpPr>
        <p:spPr>
          <a:xfrm>
            <a:off x="4754880" y="1143000"/>
            <a:ext cx="1920240" cy="594360"/>
          </a:xfrm>
          <a:prstGeom prst="rect">
            <a:avLst/>
          </a:prstGeom>
          <a:noFill/>
          <a:ln/>
        </p:spPr>
        <p:txBody>
          <a:bodyPr wrap="square" lIns="0" tIns="0" rIns="0" bIns="0" rtlCol="0" anchor="ctr"/>
          <a:lstStyle/>
          <a:p>
            <a:pPr algn="ctr" indent="0" marL="0">
              <a:buNone/>
            </a:pPr>
            <a:r>
              <a:rPr lang="en-US" sz="3400" b="1" dirty="0">
                <a:solidFill>
                  <a:srgbClr val="E8913A"/>
                </a:solidFill>
                <a:latin typeface="Georgia" pitchFamily="34" charset="0"/>
                <a:ea typeface="Georgia" pitchFamily="34" charset="-122"/>
                <a:cs typeface="Georgia" pitchFamily="34" charset="-120"/>
              </a:rPr>
              <a:t>%20</a:t>
            </a:r>
            <a:endParaRPr lang="en-US" sz="3400" dirty="0"/>
          </a:p>
        </p:txBody>
      </p:sp>
      <p:sp>
        <p:nvSpPr>
          <p:cNvPr id="19" name="Text 17"/>
          <p:cNvSpPr/>
          <p:nvPr/>
        </p:nvSpPr>
        <p:spPr>
          <a:xfrm>
            <a:off x="4846320" y="1755648"/>
            <a:ext cx="1737360" cy="43891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Yenilikçilik</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ve Yaratıcılık</a:t>
            </a:r>
            <a:endParaRPr lang="en-US" sz="1050" dirty="0"/>
          </a:p>
        </p:txBody>
      </p:sp>
      <p:sp>
        <p:nvSpPr>
          <p:cNvPr id="20" name="Shape 18"/>
          <p:cNvSpPr/>
          <p:nvPr/>
        </p:nvSpPr>
        <p:spPr>
          <a:xfrm>
            <a:off x="6903720" y="1005840"/>
            <a:ext cx="1920240" cy="128016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1" name="Shape 19"/>
          <p:cNvSpPr/>
          <p:nvPr/>
        </p:nvSpPr>
        <p:spPr>
          <a:xfrm>
            <a:off x="6903720" y="1005840"/>
            <a:ext cx="1920240" cy="54864"/>
          </a:xfrm>
          <a:prstGeom prst="rect">
            <a:avLst/>
          </a:prstGeom>
          <a:solidFill>
            <a:srgbClr val="7C5BBF"/>
          </a:solidFill>
          <a:ln/>
        </p:spPr>
      </p:sp>
      <p:sp>
        <p:nvSpPr>
          <p:cNvPr id="22" name="Text 20"/>
          <p:cNvSpPr/>
          <p:nvPr/>
        </p:nvSpPr>
        <p:spPr>
          <a:xfrm>
            <a:off x="6903720" y="1143000"/>
            <a:ext cx="1920240" cy="594360"/>
          </a:xfrm>
          <a:prstGeom prst="rect">
            <a:avLst/>
          </a:prstGeom>
          <a:noFill/>
          <a:ln/>
        </p:spPr>
        <p:txBody>
          <a:bodyPr wrap="square" lIns="0" tIns="0" rIns="0" bIns="0" rtlCol="0" anchor="ctr"/>
          <a:lstStyle/>
          <a:p>
            <a:pPr algn="ctr" indent="0" marL="0">
              <a:buNone/>
            </a:pPr>
            <a:r>
              <a:rPr lang="en-US" sz="3400" b="1" dirty="0">
                <a:solidFill>
                  <a:srgbClr val="7C5BBF"/>
                </a:solidFill>
                <a:latin typeface="Georgia" pitchFamily="34" charset="0"/>
                <a:ea typeface="Georgia" pitchFamily="34" charset="-122"/>
                <a:cs typeface="Georgia" pitchFamily="34" charset="-120"/>
              </a:rPr>
              <a:t>%20</a:t>
            </a:r>
            <a:endParaRPr lang="en-US" sz="3400" dirty="0"/>
          </a:p>
        </p:txBody>
      </p:sp>
      <p:sp>
        <p:nvSpPr>
          <p:cNvPr id="23" name="Text 21"/>
          <p:cNvSpPr/>
          <p:nvPr/>
        </p:nvSpPr>
        <p:spPr>
          <a:xfrm>
            <a:off x="6995160" y="1755648"/>
            <a:ext cx="1737360" cy="438912"/>
          </a:xfrm>
          <a:prstGeom prst="rect">
            <a:avLst/>
          </a:prstGeom>
          <a:noFill/>
          <a:ln/>
        </p:spPr>
        <p:txBody>
          <a:bodyPr wrap="square" lIns="0" tIns="0" rIns="0" bIns="0" rtlCol="0" anchor="ctr"/>
          <a:lstStyle/>
          <a:p>
            <a:pPr algn="ctr" indent="0" marL="0">
              <a:buNone/>
            </a:pPr>
            <a:r>
              <a:rPr lang="en-US" sz="1050" dirty="0">
                <a:solidFill>
                  <a:srgbClr val="6B5B52"/>
                </a:solidFill>
                <a:latin typeface="Calibri" pitchFamily="34" charset="0"/>
                <a:ea typeface="Calibri" pitchFamily="34" charset="-122"/>
                <a:cs typeface="Calibri" pitchFamily="34" charset="-120"/>
              </a:rPr>
              <a:t>Deploy ve</a:t>
            </a:r>
            <a:endParaRPr lang="en-US" sz="1050" dirty="0"/>
          </a:p>
          <a:p>
            <a:pPr algn="ctr" indent="0" marL="0">
              <a:buNone/>
            </a:pPr>
            <a:r>
              <a:rPr lang="en-US" sz="1050" dirty="0">
                <a:solidFill>
                  <a:srgbClr val="6B5B52"/>
                </a:solidFill>
                <a:latin typeface="Calibri" pitchFamily="34" charset="0"/>
                <a:ea typeface="Calibri" pitchFamily="34" charset="-122"/>
                <a:cs typeface="Calibri" pitchFamily="34" charset="-120"/>
              </a:rPr>
              <a:t>Demo</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8229600" cy="914400"/>
        </p:xfrm>
        <a:graphic>
          <a:graphicData uri="http://schemas.openxmlformats.org/drawingml/2006/table">
            <a:tbl>
              <a:tblPr/>
              <a:tblGrid>
                <a:gridCol w="1828800"/>
                <a:gridCol w="5029200"/>
                <a:gridCol w="1371600"/>
              </a:tblGrid>
              <a:tr h="320040">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Kriter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Açıklama</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Puan</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Kod Kalitesi</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Temiz, yorumlu, modüler kod. PEP 8 uyumu.</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Model Başarısı</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Uygun metriklerle ölçülmüş performans.</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Veri İşleme</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EDA, temizleme, feature engineering kalitesi.</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Sunum</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Slayt kalitesi, akıcı anlatım, soru cevaplama.</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Dokümantasyon</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README, notebook açıklamaları, kullanım kılavuzu.</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Yenilikçilik</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Farklı yaklaşım, özgün fikir, ek özellikler.</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r h="292608">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Deploy</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Çalışan demo, Streamlit/Gradio/HF Spaces.</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c>
                  <a:txBody>
                    <a:bodyPr/>
                    <a:lstStyle/>
                    <a:p>
                      <a:pPr indent="0" marL="0">
                        <a:buNone/>
                      </a:pPr>
                      <a:r>
                        <a:rPr lang="en-US" sz="1000" dirty="0">
                          <a:solidFill>
                            <a:srgbClr val="2E1F1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91440" marR="91440" marT="45720" marB="45720">
                    <a:lnL w="6350" cap="flat" cmpd="sng" algn="ctr">
                      <a:solidFill>
                        <a:srgbClr val="E8DDD3"/>
                      </a:solidFill>
                      <a:prstDash val="solid"/>
                      <a:round/>
                      <a:headEnd type="none" w="med" len="med"/>
                      <a:tailEnd type="none" w="med" len="med"/>
                    </a:lnL>
                    <a:lnR w="6350" cap="flat" cmpd="sng" algn="ctr">
                      <a:solidFill>
                        <a:srgbClr val="E8DDD3"/>
                      </a:solidFill>
                      <a:prstDash val="solid"/>
                      <a:round/>
                      <a:headEnd type="none" w="med" len="med"/>
                      <a:tailEnd type="none" w="med" len="med"/>
                    </a:lnR>
                    <a:lnT w="6350" cap="flat" cmpd="sng" algn="ctr">
                      <a:solidFill>
                        <a:srgbClr val="E8DDD3"/>
                      </a:solidFill>
                      <a:prstDash val="solid"/>
                      <a:round/>
                      <a:headEnd type="none" w="med" len="med"/>
                      <a:tailEnd type="none" w="med" len="med"/>
                    </a:lnT>
                    <a:lnB w="6350" cap="flat" cmpd="sng" algn="ctr">
                      <a:solidFill>
                        <a:srgbClr val="E8DDD3"/>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Haftalık Notebook’lar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1005840"/>
            <a:ext cx="3931920" cy="3474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1005840"/>
            <a:ext cx="3931920" cy="54864"/>
          </a:xfrm>
          <a:prstGeom prst="rect">
            <a:avLst/>
          </a:prstGeom>
          <a:solidFill>
            <a:srgbClr val="2B7A78"/>
          </a:solidFill>
          <a:ln/>
        </p:spPr>
      </p:sp>
      <p:sp>
        <p:nvSpPr>
          <p:cNvPr id="10" name="Shape 8"/>
          <p:cNvSpPr/>
          <p:nvPr/>
        </p:nvSpPr>
        <p:spPr>
          <a:xfrm>
            <a:off x="594360" y="1115568"/>
            <a:ext cx="329184" cy="329184"/>
          </a:xfrm>
          <a:prstGeom prst="ellipse">
            <a:avLst/>
          </a:prstGeom>
          <a:solidFill>
            <a:srgbClr val="2B7A78"/>
          </a:solidFill>
          <a:ln/>
        </p:spPr>
      </p:sp>
      <p:sp>
        <p:nvSpPr>
          <p:cNvPr id="11" name="Text 9"/>
          <p:cNvSpPr/>
          <p:nvPr/>
        </p:nvSpPr>
        <p:spPr>
          <a:xfrm>
            <a:off x="594360" y="1115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p:nvPr/>
        </p:nvSpPr>
        <p:spPr>
          <a:xfrm>
            <a:off x="1005840" y="1115568"/>
            <a:ext cx="320040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capstone_sablon.ipynb</a:t>
            </a:r>
            <a:endParaRPr lang="en-US" sz="1200" dirty="0"/>
          </a:p>
        </p:txBody>
      </p:sp>
      <p:sp>
        <p:nvSpPr>
          <p:cNvPr id="13" name="Shape 11"/>
          <p:cNvSpPr/>
          <p:nvPr/>
        </p:nvSpPr>
        <p:spPr>
          <a:xfrm>
            <a:off x="640080" y="1508760"/>
            <a:ext cx="3566160" cy="36576"/>
          </a:xfrm>
          <a:prstGeom prst="rect">
            <a:avLst/>
          </a:prstGeom>
          <a:solidFill>
            <a:srgbClr val="E8DDD3"/>
          </a:solidFill>
          <a:ln/>
        </p:spPr>
      </p:sp>
      <p:sp>
        <p:nvSpPr>
          <p:cNvPr id="14" name="Text 12"/>
          <p:cNvSpPr/>
          <p:nvPr/>
        </p:nvSpPr>
        <p:spPr>
          <a:xfrm>
            <a:off x="640080" y="1645920"/>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Capstone proje şablonu</a:t>
            </a:r>
            <a:endParaRPr lang="en-US" sz="1050" dirty="0"/>
          </a:p>
        </p:txBody>
      </p:sp>
      <p:sp>
        <p:nvSpPr>
          <p:cNvPr id="15" name="Text 13"/>
          <p:cNvSpPr/>
          <p:nvPr/>
        </p:nvSpPr>
        <p:spPr>
          <a:xfrm>
            <a:off x="640080" y="1984248"/>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Proje yapısı: veri, model, değerlendirme</a:t>
            </a:r>
            <a:endParaRPr lang="en-US" sz="1050" dirty="0"/>
          </a:p>
        </p:txBody>
      </p:sp>
      <p:sp>
        <p:nvSpPr>
          <p:cNvPr id="16" name="Text 14"/>
          <p:cNvSpPr/>
          <p:nvPr/>
        </p:nvSpPr>
        <p:spPr>
          <a:xfrm>
            <a:off x="640080" y="2322576"/>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README şablonu ve dokümantasyon</a:t>
            </a:r>
            <a:endParaRPr lang="en-US" sz="1050" dirty="0"/>
          </a:p>
        </p:txBody>
      </p:sp>
      <p:sp>
        <p:nvSpPr>
          <p:cNvPr id="17" name="Text 15"/>
          <p:cNvSpPr/>
          <p:nvPr/>
        </p:nvSpPr>
        <p:spPr>
          <a:xfrm>
            <a:off x="640080" y="2660904"/>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requirements.txt örneği</a:t>
            </a:r>
            <a:endParaRPr lang="en-US" sz="1050" dirty="0"/>
          </a:p>
        </p:txBody>
      </p:sp>
      <p:sp>
        <p:nvSpPr>
          <p:cNvPr id="18" name="Text 16"/>
          <p:cNvSpPr/>
          <p:nvPr/>
        </p:nvSpPr>
        <p:spPr>
          <a:xfrm>
            <a:off x="640080" y="2999232"/>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Git repo yapılandırması</a:t>
            </a:r>
            <a:endParaRPr lang="en-US" sz="1050" dirty="0"/>
          </a:p>
        </p:txBody>
      </p:sp>
      <p:sp>
        <p:nvSpPr>
          <p:cNvPr id="19" name="Text 17"/>
          <p:cNvSpPr/>
          <p:nvPr/>
        </p:nvSpPr>
        <p:spPr>
          <a:xfrm>
            <a:off x="640080" y="3337560"/>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Streamlit/Gradio demo şablonu</a:t>
            </a:r>
            <a:endParaRPr lang="en-US" sz="1050" dirty="0"/>
          </a:p>
        </p:txBody>
      </p:sp>
      <p:sp>
        <p:nvSpPr>
          <p:cNvPr id="20" name="Text 18"/>
          <p:cNvSpPr/>
          <p:nvPr/>
        </p:nvSpPr>
        <p:spPr>
          <a:xfrm>
            <a:off x="640080" y="3675888"/>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Model kaydetme ve yükleme</a:t>
            </a:r>
            <a:endParaRPr lang="en-US" sz="1050" dirty="0"/>
          </a:p>
        </p:txBody>
      </p:sp>
      <p:sp>
        <p:nvSpPr>
          <p:cNvPr id="21" name="Text 19"/>
          <p:cNvSpPr/>
          <p:nvPr/>
        </p:nvSpPr>
        <p:spPr>
          <a:xfrm>
            <a:off x="640080" y="4014216"/>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Deployment kontrol listesi</a:t>
            </a:r>
            <a:endParaRPr lang="en-US" sz="1050" dirty="0"/>
          </a:p>
        </p:txBody>
      </p:sp>
      <p:sp>
        <p:nvSpPr>
          <p:cNvPr id="22" name="Shape 20"/>
          <p:cNvSpPr/>
          <p:nvPr/>
        </p:nvSpPr>
        <p:spPr>
          <a:xfrm>
            <a:off x="4754880" y="1005840"/>
            <a:ext cx="3931920" cy="3474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3" name="Shape 21"/>
          <p:cNvSpPr/>
          <p:nvPr/>
        </p:nvSpPr>
        <p:spPr>
          <a:xfrm>
            <a:off x="4754880" y="1005840"/>
            <a:ext cx="3931920" cy="54864"/>
          </a:xfrm>
          <a:prstGeom prst="rect">
            <a:avLst/>
          </a:prstGeom>
          <a:solidFill>
            <a:srgbClr val="D94F4F"/>
          </a:solidFill>
          <a:ln/>
        </p:spPr>
      </p:sp>
      <p:sp>
        <p:nvSpPr>
          <p:cNvPr id="24" name="Shape 22"/>
          <p:cNvSpPr/>
          <p:nvPr/>
        </p:nvSpPr>
        <p:spPr>
          <a:xfrm>
            <a:off x="4892040" y="1115568"/>
            <a:ext cx="329184" cy="329184"/>
          </a:xfrm>
          <a:prstGeom prst="ellipse">
            <a:avLst/>
          </a:prstGeom>
          <a:solidFill>
            <a:srgbClr val="D94F4F"/>
          </a:solidFill>
          <a:ln/>
        </p:spPr>
      </p:sp>
      <p:sp>
        <p:nvSpPr>
          <p:cNvPr id="25" name="Text 23"/>
          <p:cNvSpPr/>
          <p:nvPr/>
        </p:nvSpPr>
        <p:spPr>
          <a:xfrm>
            <a:off x="4892040" y="1115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Text 24"/>
          <p:cNvSpPr/>
          <p:nvPr/>
        </p:nvSpPr>
        <p:spPr>
          <a:xfrm>
            <a:off x="5303520" y="1115568"/>
            <a:ext cx="3200400" cy="347472"/>
          </a:xfrm>
          <a:prstGeom prst="rect">
            <a:avLst/>
          </a:prstGeom>
          <a:noFill/>
          <a:ln/>
        </p:spPr>
        <p:txBody>
          <a:bodyPr wrap="square" lIns="0" tIns="0" rIns="0" bIns="0" rtlCol="0" anchor="ctr"/>
          <a:lstStyle/>
          <a:p>
            <a:pPr indent="0" marL="0">
              <a:buNone/>
            </a:pPr>
            <a:r>
              <a:rPr lang="en-US" sz="1200" b="1" dirty="0">
                <a:solidFill>
                  <a:srgbClr val="D94F4F"/>
                </a:solidFill>
                <a:latin typeface="Georgia" pitchFamily="34" charset="0"/>
                <a:ea typeface="Georgia" pitchFamily="34" charset="-122"/>
                <a:cs typeface="Georgia" pitchFamily="34" charset="-120"/>
              </a:rPr>
              <a:t>ai_etik.ipynb</a:t>
            </a:r>
            <a:endParaRPr lang="en-US" sz="1200" dirty="0"/>
          </a:p>
        </p:txBody>
      </p:sp>
      <p:sp>
        <p:nvSpPr>
          <p:cNvPr id="27" name="Shape 25"/>
          <p:cNvSpPr/>
          <p:nvPr/>
        </p:nvSpPr>
        <p:spPr>
          <a:xfrm>
            <a:off x="4937760" y="1508760"/>
            <a:ext cx="3566160" cy="36576"/>
          </a:xfrm>
          <a:prstGeom prst="rect">
            <a:avLst/>
          </a:prstGeom>
          <a:solidFill>
            <a:srgbClr val="E8DDD3"/>
          </a:solidFill>
          <a:ln/>
        </p:spPr>
      </p:sp>
      <p:sp>
        <p:nvSpPr>
          <p:cNvPr id="28" name="Text 26"/>
          <p:cNvSpPr/>
          <p:nvPr/>
        </p:nvSpPr>
        <p:spPr>
          <a:xfrm>
            <a:off x="4937760" y="1645920"/>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Bias analizi: COMPAS veri seti</a:t>
            </a:r>
            <a:endParaRPr lang="en-US" sz="1050" dirty="0"/>
          </a:p>
        </p:txBody>
      </p:sp>
      <p:sp>
        <p:nvSpPr>
          <p:cNvPr id="29" name="Text 27"/>
          <p:cNvSpPr/>
          <p:nvPr/>
        </p:nvSpPr>
        <p:spPr>
          <a:xfrm>
            <a:off x="4937760" y="1984248"/>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Fairness metrikleri hesaplama</a:t>
            </a:r>
            <a:endParaRPr lang="en-US" sz="1050" dirty="0"/>
          </a:p>
        </p:txBody>
      </p:sp>
      <p:sp>
        <p:nvSpPr>
          <p:cNvPr id="30" name="Text 28"/>
          <p:cNvSpPr/>
          <p:nvPr/>
        </p:nvSpPr>
        <p:spPr>
          <a:xfrm>
            <a:off x="4937760" y="2322576"/>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Demographic parity implementasyonu</a:t>
            </a:r>
            <a:endParaRPr lang="en-US" sz="1050" dirty="0"/>
          </a:p>
        </p:txBody>
      </p:sp>
      <p:sp>
        <p:nvSpPr>
          <p:cNvPr id="31" name="Text 29"/>
          <p:cNvSpPr/>
          <p:nvPr/>
        </p:nvSpPr>
        <p:spPr>
          <a:xfrm>
            <a:off x="4937760" y="2660904"/>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Equalized odds kontrolü</a:t>
            </a:r>
            <a:endParaRPr lang="en-US" sz="1050" dirty="0"/>
          </a:p>
        </p:txBody>
      </p:sp>
      <p:sp>
        <p:nvSpPr>
          <p:cNvPr id="32" name="Text 30"/>
          <p:cNvSpPr/>
          <p:nvPr/>
        </p:nvSpPr>
        <p:spPr>
          <a:xfrm>
            <a:off x="4937760" y="2999232"/>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SHAP ile model açıklanabilirlik</a:t>
            </a:r>
            <a:endParaRPr lang="en-US" sz="1050" dirty="0"/>
          </a:p>
        </p:txBody>
      </p:sp>
      <p:sp>
        <p:nvSpPr>
          <p:cNvPr id="33" name="Text 31"/>
          <p:cNvSpPr/>
          <p:nvPr/>
        </p:nvSpPr>
        <p:spPr>
          <a:xfrm>
            <a:off x="4937760" y="3337560"/>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LIME yerel açıklama örnekleri</a:t>
            </a:r>
            <a:endParaRPr lang="en-US" sz="1050" dirty="0"/>
          </a:p>
        </p:txBody>
      </p:sp>
      <p:sp>
        <p:nvSpPr>
          <p:cNvPr id="34" name="Text 32"/>
          <p:cNvSpPr/>
          <p:nvPr/>
        </p:nvSpPr>
        <p:spPr>
          <a:xfrm>
            <a:off x="4937760" y="3675888"/>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Model Card şablonu oluşturma</a:t>
            </a:r>
            <a:endParaRPr lang="en-US" sz="1050" dirty="0"/>
          </a:p>
        </p:txBody>
      </p:sp>
      <p:sp>
        <p:nvSpPr>
          <p:cNvPr id="35" name="Text 33"/>
          <p:cNvSpPr/>
          <p:nvPr/>
        </p:nvSpPr>
        <p:spPr>
          <a:xfrm>
            <a:off x="4937760" y="4014216"/>
            <a:ext cx="3566160" cy="310896"/>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 Etik kontrol listesi çalışması</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9F3"/>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5B2C1E"/>
          </a:solidFill>
          <a:ln/>
        </p:spPr>
      </p:sp>
      <p:sp>
        <p:nvSpPr>
          <p:cNvPr id="3" name="Shape 1"/>
          <p:cNvSpPr/>
          <p:nvPr/>
        </p:nvSpPr>
        <p:spPr>
          <a:xfrm>
            <a:off x="0" y="685800"/>
            <a:ext cx="9144000" cy="45720"/>
          </a:xfrm>
          <a:prstGeom prst="rect">
            <a:avLst/>
          </a:prstGeom>
          <a:solidFill>
            <a:srgbClr val="2B7A78"/>
          </a:solidFill>
          <a:ln/>
        </p:spPr>
      </p:sp>
      <p:sp>
        <p:nvSpPr>
          <p:cNvPr id="4" name="Text 2"/>
          <p:cNvSpPr/>
          <p:nvPr/>
        </p:nvSpPr>
        <p:spPr>
          <a:xfrm>
            <a:off x="457200" y="0"/>
            <a:ext cx="6858000" cy="68580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Ödev ve Kaynaklar</a:t>
            </a:r>
            <a:endParaRPr lang="en-US" sz="2000" dirty="0"/>
          </a:p>
        </p:txBody>
      </p:sp>
      <p:sp>
        <p:nvSpPr>
          <p:cNvPr id="5" name="Shape 3"/>
          <p:cNvSpPr/>
          <p:nvPr/>
        </p:nvSpPr>
        <p:spPr>
          <a:xfrm>
            <a:off x="7498080" y="164592"/>
            <a:ext cx="1463040" cy="347472"/>
          </a:xfrm>
          <a:prstGeom prst="rect">
            <a:avLst/>
          </a:prstGeom>
          <a:solidFill>
            <a:srgbClr val="2B7A78"/>
          </a:solidFill>
          <a:ln/>
        </p:spPr>
      </p:sp>
      <p:sp>
        <p:nvSpPr>
          <p:cNvPr id="6" name="Text 4"/>
          <p:cNvSpPr/>
          <p:nvPr/>
        </p:nvSpPr>
        <p:spPr>
          <a:xfrm>
            <a:off x="7498080" y="164592"/>
            <a:ext cx="1463040" cy="34747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BÖLÜM 3</a:t>
            </a:r>
            <a:endParaRPr lang="en-US" sz="900" dirty="0"/>
          </a:p>
        </p:txBody>
      </p:sp>
      <p:sp>
        <p:nvSpPr>
          <p:cNvPr id="7" name="Text 5"/>
          <p:cNvSpPr/>
          <p:nvPr/>
        </p:nvSpPr>
        <p:spPr>
          <a:xfrm>
            <a:off x="8046720" y="4773168"/>
            <a:ext cx="914400" cy="320040"/>
          </a:xfrm>
          <a:prstGeom prst="rect">
            <a:avLst/>
          </a:prstGeom>
          <a:noFill/>
          <a:ln/>
        </p:spPr>
        <p:txBody>
          <a:bodyPr wrap="square" rtlCol="0" anchor="ctr"/>
          <a:lstStyle/>
          <a:p>
            <a:pPr algn="r" indent="0" marL="0">
              <a:buNone/>
            </a:pPr>
            <a:pPr algn="r" indent="0" marL="0">
              <a:buNone/>
            </a:pPr>
            <a:r>
              <a:rPr lang="en-US" sz="800" dirty="0">
                <a:solidFill>
                  <a:srgbClr val="A39585"/>
                </a:solidFill>
                <a:latin typeface="Calibri" pitchFamily="34" charset="0"/>
                <a:ea typeface="Calibri" pitchFamily="34" charset="-122"/>
                <a:cs typeface="Calibri" pitchFamily="34" charset="-120"/>
              </a:rPr>
              <a:t> / 20</a:t>
            </a:r>
            <a:endParaRPr lang="en-US" sz="800" dirty="0"/>
          </a:p>
        </p:txBody>
      </p:sp>
      <p:sp>
        <p:nvSpPr>
          <p:cNvPr id="8" name="Shape 6"/>
          <p:cNvSpPr/>
          <p:nvPr/>
        </p:nvSpPr>
        <p:spPr>
          <a:xfrm>
            <a:off x="457200" y="960120"/>
            <a:ext cx="3931920" cy="22860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9" name="Shape 7"/>
          <p:cNvSpPr/>
          <p:nvPr/>
        </p:nvSpPr>
        <p:spPr>
          <a:xfrm>
            <a:off x="457200" y="960120"/>
            <a:ext cx="3931920" cy="54864"/>
          </a:xfrm>
          <a:prstGeom prst="rect">
            <a:avLst/>
          </a:prstGeom>
          <a:solidFill>
            <a:srgbClr val="C97B5A"/>
          </a:solidFill>
          <a:ln/>
        </p:spPr>
      </p:sp>
      <p:sp>
        <p:nvSpPr>
          <p:cNvPr id="10" name="Text 8"/>
          <p:cNvSpPr/>
          <p:nvPr/>
        </p:nvSpPr>
        <p:spPr>
          <a:xfrm>
            <a:off x="640080" y="1051560"/>
            <a:ext cx="3566160" cy="347472"/>
          </a:xfrm>
          <a:prstGeom prst="rect">
            <a:avLst/>
          </a:prstGeom>
          <a:noFill/>
          <a:ln/>
        </p:spPr>
        <p:txBody>
          <a:bodyPr wrap="square" lIns="0" tIns="0" rIns="0" bIns="0" rtlCol="0" anchor="ctr"/>
          <a:lstStyle/>
          <a:p>
            <a:pPr indent="0" marL="0">
              <a:buNone/>
            </a:pPr>
            <a:r>
              <a:rPr lang="en-US" sz="1200" b="1" dirty="0">
                <a:solidFill>
                  <a:srgbClr val="C97B5A"/>
                </a:solidFill>
                <a:latin typeface="Georgia" pitchFamily="34" charset="0"/>
                <a:ea typeface="Georgia" pitchFamily="34" charset="-122"/>
                <a:cs typeface="Georgia" pitchFamily="34" charset="-120"/>
              </a:rPr>
              <a:t>Capstone Proje Teslimi</a:t>
            </a:r>
            <a:endParaRPr lang="en-US" sz="1200" dirty="0"/>
          </a:p>
        </p:txBody>
      </p:sp>
      <p:sp>
        <p:nvSpPr>
          <p:cNvPr id="11" name="Shape 9"/>
          <p:cNvSpPr/>
          <p:nvPr/>
        </p:nvSpPr>
        <p:spPr>
          <a:xfrm>
            <a:off x="640080" y="1417320"/>
            <a:ext cx="3566160" cy="36576"/>
          </a:xfrm>
          <a:prstGeom prst="rect">
            <a:avLst/>
          </a:prstGeom>
          <a:solidFill>
            <a:srgbClr val="E8DDD3"/>
          </a:solidFill>
          <a:ln/>
        </p:spPr>
      </p:sp>
      <p:sp>
        <p:nvSpPr>
          <p:cNvPr id="12" name="Shape 10"/>
          <p:cNvSpPr/>
          <p:nvPr/>
        </p:nvSpPr>
        <p:spPr>
          <a:xfrm>
            <a:off x="640080" y="1600200"/>
            <a:ext cx="201168" cy="201168"/>
          </a:xfrm>
          <a:prstGeom prst="rect">
            <a:avLst/>
          </a:prstGeom>
          <a:solidFill>
            <a:srgbClr val="FFFFFF"/>
          </a:solidFill>
          <a:ln w="12700">
            <a:solidFill>
              <a:srgbClr val="E8DDD3"/>
            </a:solidFill>
            <a:prstDash val="solid"/>
          </a:ln>
        </p:spPr>
      </p:sp>
      <p:sp>
        <p:nvSpPr>
          <p:cNvPr id="13" name="Text 11"/>
          <p:cNvSpPr/>
          <p:nvPr/>
        </p:nvSpPr>
        <p:spPr>
          <a:xfrm>
            <a:off x="960120" y="1554480"/>
            <a:ext cx="3200400" cy="292608"/>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5 projeden birini seçin</a:t>
            </a:r>
            <a:endParaRPr lang="en-US" sz="1050" dirty="0"/>
          </a:p>
        </p:txBody>
      </p:sp>
      <p:sp>
        <p:nvSpPr>
          <p:cNvPr id="14" name="Shape 12"/>
          <p:cNvSpPr/>
          <p:nvPr/>
        </p:nvSpPr>
        <p:spPr>
          <a:xfrm>
            <a:off x="640080" y="1920240"/>
            <a:ext cx="201168" cy="201168"/>
          </a:xfrm>
          <a:prstGeom prst="rect">
            <a:avLst/>
          </a:prstGeom>
          <a:solidFill>
            <a:srgbClr val="FFFFFF"/>
          </a:solidFill>
          <a:ln w="12700">
            <a:solidFill>
              <a:srgbClr val="E8DDD3"/>
            </a:solidFill>
            <a:prstDash val="solid"/>
          </a:ln>
        </p:spPr>
      </p:sp>
      <p:sp>
        <p:nvSpPr>
          <p:cNvPr id="15" name="Text 13"/>
          <p:cNvSpPr/>
          <p:nvPr/>
        </p:nvSpPr>
        <p:spPr>
          <a:xfrm>
            <a:off x="960120" y="1874520"/>
            <a:ext cx="3200400" cy="292608"/>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GitHub repo oluşturun</a:t>
            </a:r>
            <a:endParaRPr lang="en-US" sz="1050" dirty="0"/>
          </a:p>
        </p:txBody>
      </p:sp>
      <p:sp>
        <p:nvSpPr>
          <p:cNvPr id="16" name="Shape 14"/>
          <p:cNvSpPr/>
          <p:nvPr/>
        </p:nvSpPr>
        <p:spPr>
          <a:xfrm>
            <a:off x="640080" y="2240280"/>
            <a:ext cx="201168" cy="201168"/>
          </a:xfrm>
          <a:prstGeom prst="rect">
            <a:avLst/>
          </a:prstGeom>
          <a:solidFill>
            <a:srgbClr val="FFFFFF"/>
          </a:solidFill>
          <a:ln w="12700">
            <a:solidFill>
              <a:srgbClr val="E8DDD3"/>
            </a:solidFill>
            <a:prstDash val="solid"/>
          </a:ln>
        </p:spPr>
      </p:sp>
      <p:sp>
        <p:nvSpPr>
          <p:cNvPr id="17" name="Text 15"/>
          <p:cNvSpPr/>
          <p:nvPr/>
        </p:nvSpPr>
        <p:spPr>
          <a:xfrm>
            <a:off x="960120" y="2194560"/>
            <a:ext cx="3200400" cy="292608"/>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Veri toplama ve EDA</a:t>
            </a:r>
            <a:endParaRPr lang="en-US" sz="1050" dirty="0"/>
          </a:p>
        </p:txBody>
      </p:sp>
      <p:sp>
        <p:nvSpPr>
          <p:cNvPr id="18" name="Shape 16"/>
          <p:cNvSpPr/>
          <p:nvPr/>
        </p:nvSpPr>
        <p:spPr>
          <a:xfrm>
            <a:off x="640080" y="2560320"/>
            <a:ext cx="201168" cy="201168"/>
          </a:xfrm>
          <a:prstGeom prst="rect">
            <a:avLst/>
          </a:prstGeom>
          <a:solidFill>
            <a:srgbClr val="FFFFFF"/>
          </a:solidFill>
          <a:ln w="12700">
            <a:solidFill>
              <a:srgbClr val="E8DDD3"/>
            </a:solidFill>
            <a:prstDash val="solid"/>
          </a:ln>
        </p:spPr>
      </p:sp>
      <p:sp>
        <p:nvSpPr>
          <p:cNvPr id="19" name="Text 17"/>
          <p:cNvSpPr/>
          <p:nvPr/>
        </p:nvSpPr>
        <p:spPr>
          <a:xfrm>
            <a:off x="960120" y="2514600"/>
            <a:ext cx="3200400" cy="292608"/>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Model geliştirme ve değerlendirme</a:t>
            </a:r>
            <a:endParaRPr lang="en-US" sz="1050" dirty="0"/>
          </a:p>
        </p:txBody>
      </p:sp>
      <p:sp>
        <p:nvSpPr>
          <p:cNvPr id="20" name="Shape 18"/>
          <p:cNvSpPr/>
          <p:nvPr/>
        </p:nvSpPr>
        <p:spPr>
          <a:xfrm>
            <a:off x="640080" y="2880360"/>
            <a:ext cx="201168" cy="201168"/>
          </a:xfrm>
          <a:prstGeom prst="rect">
            <a:avLst/>
          </a:prstGeom>
          <a:solidFill>
            <a:srgbClr val="FFFFFF"/>
          </a:solidFill>
          <a:ln w="12700">
            <a:solidFill>
              <a:srgbClr val="E8DDD3"/>
            </a:solidFill>
            <a:prstDash val="solid"/>
          </a:ln>
        </p:spPr>
      </p:sp>
      <p:sp>
        <p:nvSpPr>
          <p:cNvPr id="21" name="Text 19"/>
          <p:cNvSpPr/>
          <p:nvPr/>
        </p:nvSpPr>
        <p:spPr>
          <a:xfrm>
            <a:off x="960120" y="2834640"/>
            <a:ext cx="3200400" cy="292608"/>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Streamlit/Gradio demo</a:t>
            </a:r>
            <a:endParaRPr lang="en-US" sz="1050" dirty="0"/>
          </a:p>
        </p:txBody>
      </p:sp>
      <p:sp>
        <p:nvSpPr>
          <p:cNvPr id="22" name="Shape 20"/>
          <p:cNvSpPr/>
          <p:nvPr/>
        </p:nvSpPr>
        <p:spPr>
          <a:xfrm>
            <a:off x="640080" y="3200400"/>
            <a:ext cx="201168" cy="201168"/>
          </a:xfrm>
          <a:prstGeom prst="rect">
            <a:avLst/>
          </a:prstGeom>
          <a:solidFill>
            <a:srgbClr val="FFFFFF"/>
          </a:solidFill>
          <a:ln w="12700">
            <a:solidFill>
              <a:srgbClr val="E8DDD3"/>
            </a:solidFill>
            <a:prstDash val="solid"/>
          </a:ln>
        </p:spPr>
      </p:sp>
      <p:sp>
        <p:nvSpPr>
          <p:cNvPr id="23" name="Text 21"/>
          <p:cNvSpPr/>
          <p:nvPr/>
        </p:nvSpPr>
        <p:spPr>
          <a:xfrm>
            <a:off x="960120" y="3154680"/>
            <a:ext cx="3200400" cy="292608"/>
          </a:xfrm>
          <a:prstGeom prst="rect">
            <a:avLst/>
          </a:prstGeom>
          <a:noFill/>
          <a:ln/>
        </p:spPr>
        <p:txBody>
          <a:bodyPr wrap="square" lIns="0" tIns="0" rIns="0" bIns="0" rtlCol="0" anchor="ctr"/>
          <a:lstStyle/>
          <a:p>
            <a:pPr indent="0" marL="0">
              <a:buNone/>
            </a:pPr>
            <a:r>
              <a:rPr lang="en-US" sz="1050" dirty="0">
                <a:solidFill>
                  <a:srgbClr val="2E1F1A"/>
                </a:solidFill>
                <a:latin typeface="Calibri" pitchFamily="34" charset="0"/>
                <a:ea typeface="Calibri" pitchFamily="34" charset="-122"/>
                <a:cs typeface="Calibri" pitchFamily="34" charset="-120"/>
              </a:rPr>
              <a:t>Sunum hazırlığı (10 dk)</a:t>
            </a:r>
            <a:endParaRPr lang="en-US" sz="1050" dirty="0"/>
          </a:p>
        </p:txBody>
      </p:sp>
      <p:sp>
        <p:nvSpPr>
          <p:cNvPr id="24" name="Shape 22"/>
          <p:cNvSpPr/>
          <p:nvPr/>
        </p:nvSpPr>
        <p:spPr>
          <a:xfrm>
            <a:off x="4754880" y="960120"/>
            <a:ext cx="3931920" cy="228600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25" name="Shape 23"/>
          <p:cNvSpPr/>
          <p:nvPr/>
        </p:nvSpPr>
        <p:spPr>
          <a:xfrm>
            <a:off x="4754880" y="960120"/>
            <a:ext cx="3931920" cy="54864"/>
          </a:xfrm>
          <a:prstGeom prst="rect">
            <a:avLst/>
          </a:prstGeom>
          <a:solidFill>
            <a:srgbClr val="2B7A78"/>
          </a:solidFill>
          <a:ln/>
        </p:spPr>
      </p:sp>
      <p:sp>
        <p:nvSpPr>
          <p:cNvPr id="26" name="Text 24"/>
          <p:cNvSpPr/>
          <p:nvPr/>
        </p:nvSpPr>
        <p:spPr>
          <a:xfrm>
            <a:off x="4937760" y="1051560"/>
            <a:ext cx="3566160" cy="347472"/>
          </a:xfrm>
          <a:prstGeom prst="rect">
            <a:avLst/>
          </a:prstGeom>
          <a:noFill/>
          <a:ln/>
        </p:spPr>
        <p:txBody>
          <a:bodyPr wrap="square" lIns="0" tIns="0" rIns="0" bIns="0" rtlCol="0" anchor="ctr"/>
          <a:lstStyle/>
          <a:p>
            <a:pPr indent="0" marL="0">
              <a:buNone/>
            </a:pPr>
            <a:r>
              <a:rPr lang="en-US" sz="1200" b="1" dirty="0">
                <a:solidFill>
                  <a:srgbClr val="2B7A78"/>
                </a:solidFill>
                <a:latin typeface="Georgia" pitchFamily="34" charset="0"/>
                <a:ea typeface="Georgia" pitchFamily="34" charset="-122"/>
                <a:cs typeface="Georgia" pitchFamily="34" charset="-120"/>
              </a:rPr>
              <a:t>Kaynaklar ve Okumalar</a:t>
            </a:r>
            <a:endParaRPr lang="en-US" sz="1200" dirty="0"/>
          </a:p>
        </p:txBody>
      </p:sp>
      <p:sp>
        <p:nvSpPr>
          <p:cNvPr id="27" name="Shape 25"/>
          <p:cNvSpPr/>
          <p:nvPr/>
        </p:nvSpPr>
        <p:spPr>
          <a:xfrm>
            <a:off x="4937760" y="1417320"/>
            <a:ext cx="3566160" cy="36576"/>
          </a:xfrm>
          <a:prstGeom prst="rect">
            <a:avLst/>
          </a:prstGeom>
          <a:solidFill>
            <a:srgbClr val="E8DDD3"/>
          </a:solidFill>
          <a:ln/>
        </p:spPr>
      </p:sp>
      <p:sp>
        <p:nvSpPr>
          <p:cNvPr id="28" name="Text 26"/>
          <p:cNvSpPr/>
          <p:nvPr/>
        </p:nvSpPr>
        <p:spPr>
          <a:xfrm>
            <a:off x="4937760" y="1554480"/>
            <a:ext cx="3566160" cy="182880"/>
          </a:xfrm>
          <a:prstGeom prst="rect">
            <a:avLst/>
          </a:prstGeom>
          <a:noFill/>
          <a:ln/>
        </p:spPr>
        <p:txBody>
          <a:bodyPr wrap="square" lIns="0" tIns="0" rIns="0" bIns="0" rtlCol="0" anchor="ctr"/>
          <a:lstStyle/>
          <a:p>
            <a:pPr indent="0" marL="0">
              <a:buNone/>
            </a:pPr>
            <a:r>
              <a:rPr lang="en-US" sz="1000" b="1" dirty="0">
                <a:solidFill>
                  <a:srgbClr val="2E1F1A"/>
                </a:solidFill>
                <a:latin typeface="Calibri" pitchFamily="34" charset="0"/>
                <a:ea typeface="Calibri" pitchFamily="34" charset="-122"/>
                <a:cs typeface="Calibri" pitchFamily="34" charset="-120"/>
              </a:rPr>
              <a:t>EU AI Act (Resmi Metin)</a:t>
            </a:r>
            <a:endParaRPr lang="en-US" sz="1000" dirty="0"/>
          </a:p>
        </p:txBody>
      </p:sp>
      <p:sp>
        <p:nvSpPr>
          <p:cNvPr id="29" name="Text 27"/>
          <p:cNvSpPr/>
          <p:nvPr/>
        </p:nvSpPr>
        <p:spPr>
          <a:xfrm>
            <a:off x="4937760" y="1709928"/>
            <a:ext cx="3566160" cy="164592"/>
          </a:xfrm>
          <a:prstGeom prst="rect">
            <a:avLst/>
          </a:prstGeom>
          <a:noFill/>
          <a:ln/>
        </p:spPr>
        <p:txBody>
          <a:bodyPr wrap="square" lIns="0" tIns="0" rIns="0" bIns="0" rtlCol="0" anchor="ctr"/>
          <a:lstStyle/>
          <a:p>
            <a:pPr indent="0" marL="0">
              <a:buNone/>
            </a:pPr>
            <a:r>
              <a:rPr lang="en-US" sz="850" i="1" dirty="0">
                <a:solidFill>
                  <a:srgbClr val="2B7A78"/>
                </a:solidFill>
                <a:latin typeface="Calibri" pitchFamily="34" charset="0"/>
                <a:ea typeface="Calibri" pitchFamily="34" charset="-122"/>
                <a:cs typeface="Calibri" pitchFamily="34" charset="-120"/>
              </a:rPr>
              <a:t>artificialintelligenceact.eu</a:t>
            </a:r>
            <a:endParaRPr lang="en-US" sz="850" dirty="0"/>
          </a:p>
        </p:txBody>
      </p:sp>
      <p:sp>
        <p:nvSpPr>
          <p:cNvPr id="30" name="Text 28"/>
          <p:cNvSpPr/>
          <p:nvPr/>
        </p:nvSpPr>
        <p:spPr>
          <a:xfrm>
            <a:off x="4937760" y="1874520"/>
            <a:ext cx="3566160" cy="182880"/>
          </a:xfrm>
          <a:prstGeom prst="rect">
            <a:avLst/>
          </a:prstGeom>
          <a:noFill/>
          <a:ln/>
        </p:spPr>
        <p:txBody>
          <a:bodyPr wrap="square" lIns="0" tIns="0" rIns="0" bIns="0" rtlCol="0" anchor="ctr"/>
          <a:lstStyle/>
          <a:p>
            <a:pPr indent="0" marL="0">
              <a:buNone/>
            </a:pPr>
            <a:r>
              <a:rPr lang="en-US" sz="1000" b="1" dirty="0">
                <a:solidFill>
                  <a:srgbClr val="2E1F1A"/>
                </a:solidFill>
                <a:latin typeface="Calibri" pitchFamily="34" charset="0"/>
                <a:ea typeface="Calibri" pitchFamily="34" charset="-122"/>
                <a:cs typeface="Calibri" pitchFamily="34" charset="-120"/>
              </a:rPr>
              <a:t>Google Responsible AI</a:t>
            </a:r>
            <a:endParaRPr lang="en-US" sz="1000" dirty="0"/>
          </a:p>
        </p:txBody>
      </p:sp>
      <p:sp>
        <p:nvSpPr>
          <p:cNvPr id="31" name="Text 29"/>
          <p:cNvSpPr/>
          <p:nvPr/>
        </p:nvSpPr>
        <p:spPr>
          <a:xfrm>
            <a:off x="4937760" y="2029968"/>
            <a:ext cx="3566160" cy="164592"/>
          </a:xfrm>
          <a:prstGeom prst="rect">
            <a:avLst/>
          </a:prstGeom>
          <a:noFill/>
          <a:ln/>
        </p:spPr>
        <p:txBody>
          <a:bodyPr wrap="square" lIns="0" tIns="0" rIns="0" bIns="0" rtlCol="0" anchor="ctr"/>
          <a:lstStyle/>
          <a:p>
            <a:pPr indent="0" marL="0">
              <a:buNone/>
            </a:pPr>
            <a:r>
              <a:rPr lang="en-US" sz="850" i="1" dirty="0">
                <a:solidFill>
                  <a:srgbClr val="2B7A78"/>
                </a:solidFill>
                <a:latin typeface="Calibri" pitchFamily="34" charset="0"/>
                <a:ea typeface="Calibri" pitchFamily="34" charset="-122"/>
                <a:cs typeface="Calibri" pitchFamily="34" charset="-120"/>
              </a:rPr>
              <a:t>ai.google/responsibility</a:t>
            </a:r>
            <a:endParaRPr lang="en-US" sz="850" dirty="0"/>
          </a:p>
        </p:txBody>
      </p:sp>
      <p:sp>
        <p:nvSpPr>
          <p:cNvPr id="32" name="Text 30"/>
          <p:cNvSpPr/>
          <p:nvPr/>
        </p:nvSpPr>
        <p:spPr>
          <a:xfrm>
            <a:off x="4937760" y="2194560"/>
            <a:ext cx="3566160" cy="182880"/>
          </a:xfrm>
          <a:prstGeom prst="rect">
            <a:avLst/>
          </a:prstGeom>
          <a:noFill/>
          <a:ln/>
        </p:spPr>
        <p:txBody>
          <a:bodyPr wrap="square" lIns="0" tIns="0" rIns="0" bIns="0" rtlCol="0" anchor="ctr"/>
          <a:lstStyle/>
          <a:p>
            <a:pPr indent="0" marL="0">
              <a:buNone/>
            </a:pPr>
            <a:r>
              <a:rPr lang="en-US" sz="1000" b="1" dirty="0">
                <a:solidFill>
                  <a:srgbClr val="2E1F1A"/>
                </a:solidFill>
                <a:latin typeface="Calibri" pitchFamily="34" charset="0"/>
                <a:ea typeface="Calibri" pitchFamily="34" charset="-122"/>
                <a:cs typeface="Calibri" pitchFamily="34" charset="-120"/>
              </a:rPr>
              <a:t>Microsoft RAI Toolkit</a:t>
            </a:r>
            <a:endParaRPr lang="en-US" sz="1000" dirty="0"/>
          </a:p>
        </p:txBody>
      </p:sp>
      <p:sp>
        <p:nvSpPr>
          <p:cNvPr id="33" name="Text 31"/>
          <p:cNvSpPr/>
          <p:nvPr/>
        </p:nvSpPr>
        <p:spPr>
          <a:xfrm>
            <a:off x="4937760" y="2350008"/>
            <a:ext cx="3566160" cy="164592"/>
          </a:xfrm>
          <a:prstGeom prst="rect">
            <a:avLst/>
          </a:prstGeom>
          <a:noFill/>
          <a:ln/>
        </p:spPr>
        <p:txBody>
          <a:bodyPr wrap="square" lIns="0" tIns="0" rIns="0" bIns="0" rtlCol="0" anchor="ctr"/>
          <a:lstStyle/>
          <a:p>
            <a:pPr indent="0" marL="0">
              <a:buNone/>
            </a:pPr>
            <a:r>
              <a:rPr lang="en-US" sz="850" i="1" dirty="0">
                <a:solidFill>
                  <a:srgbClr val="2B7A78"/>
                </a:solidFill>
                <a:latin typeface="Calibri" pitchFamily="34" charset="0"/>
                <a:ea typeface="Calibri" pitchFamily="34" charset="-122"/>
                <a:cs typeface="Calibri" pitchFamily="34" charset="-120"/>
              </a:rPr>
              <a:t>github.com/microsoft/responsible-ai</a:t>
            </a:r>
            <a:endParaRPr lang="en-US" sz="850" dirty="0"/>
          </a:p>
        </p:txBody>
      </p:sp>
      <p:sp>
        <p:nvSpPr>
          <p:cNvPr id="34" name="Text 32"/>
          <p:cNvSpPr/>
          <p:nvPr/>
        </p:nvSpPr>
        <p:spPr>
          <a:xfrm>
            <a:off x="4937760" y="2514600"/>
            <a:ext cx="3566160" cy="182880"/>
          </a:xfrm>
          <a:prstGeom prst="rect">
            <a:avLst/>
          </a:prstGeom>
          <a:noFill/>
          <a:ln/>
        </p:spPr>
        <p:txBody>
          <a:bodyPr wrap="square" lIns="0" tIns="0" rIns="0" bIns="0" rtlCol="0" anchor="ctr"/>
          <a:lstStyle/>
          <a:p>
            <a:pPr indent="0" marL="0">
              <a:buNone/>
            </a:pPr>
            <a:r>
              <a:rPr lang="en-US" sz="1000" b="1" dirty="0">
                <a:solidFill>
                  <a:srgbClr val="2E1F1A"/>
                </a:solidFill>
                <a:latin typeface="Calibri" pitchFamily="34" charset="0"/>
                <a:ea typeface="Calibri" pitchFamily="34" charset="-122"/>
                <a:cs typeface="Calibri" pitchFamily="34" charset="-120"/>
              </a:rPr>
              <a:t>Fairlearn Kütüphanesi</a:t>
            </a:r>
            <a:endParaRPr lang="en-US" sz="1000" dirty="0"/>
          </a:p>
        </p:txBody>
      </p:sp>
      <p:sp>
        <p:nvSpPr>
          <p:cNvPr id="35" name="Text 33"/>
          <p:cNvSpPr/>
          <p:nvPr/>
        </p:nvSpPr>
        <p:spPr>
          <a:xfrm>
            <a:off x="4937760" y="2670048"/>
            <a:ext cx="3566160" cy="164592"/>
          </a:xfrm>
          <a:prstGeom prst="rect">
            <a:avLst/>
          </a:prstGeom>
          <a:noFill/>
          <a:ln/>
        </p:spPr>
        <p:txBody>
          <a:bodyPr wrap="square" lIns="0" tIns="0" rIns="0" bIns="0" rtlCol="0" anchor="ctr"/>
          <a:lstStyle/>
          <a:p>
            <a:pPr indent="0" marL="0">
              <a:buNone/>
            </a:pPr>
            <a:r>
              <a:rPr lang="en-US" sz="850" i="1" dirty="0">
                <a:solidFill>
                  <a:srgbClr val="2B7A78"/>
                </a:solidFill>
                <a:latin typeface="Calibri" pitchFamily="34" charset="0"/>
                <a:ea typeface="Calibri" pitchFamily="34" charset="-122"/>
                <a:cs typeface="Calibri" pitchFamily="34" charset="-120"/>
              </a:rPr>
              <a:t>fairlearn.org</a:t>
            </a:r>
            <a:endParaRPr lang="en-US" sz="850" dirty="0"/>
          </a:p>
        </p:txBody>
      </p:sp>
      <p:sp>
        <p:nvSpPr>
          <p:cNvPr id="36" name="Text 34"/>
          <p:cNvSpPr/>
          <p:nvPr/>
        </p:nvSpPr>
        <p:spPr>
          <a:xfrm>
            <a:off x="4937760" y="2834640"/>
            <a:ext cx="3566160" cy="182880"/>
          </a:xfrm>
          <a:prstGeom prst="rect">
            <a:avLst/>
          </a:prstGeom>
          <a:noFill/>
          <a:ln/>
        </p:spPr>
        <p:txBody>
          <a:bodyPr wrap="square" lIns="0" tIns="0" rIns="0" bIns="0" rtlCol="0" anchor="ctr"/>
          <a:lstStyle/>
          <a:p>
            <a:pPr indent="0" marL="0">
              <a:buNone/>
            </a:pPr>
            <a:r>
              <a:rPr lang="en-US" sz="1000" b="1" dirty="0">
                <a:solidFill>
                  <a:srgbClr val="2E1F1A"/>
                </a:solidFill>
                <a:latin typeface="Calibri" pitchFamily="34" charset="0"/>
                <a:ea typeface="Calibri" pitchFamily="34" charset="-122"/>
                <a:cs typeface="Calibri" pitchFamily="34" charset="-120"/>
              </a:rPr>
              <a:t>SHAP Dokümantasyonu</a:t>
            </a:r>
            <a:endParaRPr lang="en-US" sz="1000" dirty="0"/>
          </a:p>
        </p:txBody>
      </p:sp>
      <p:sp>
        <p:nvSpPr>
          <p:cNvPr id="37" name="Text 35"/>
          <p:cNvSpPr/>
          <p:nvPr/>
        </p:nvSpPr>
        <p:spPr>
          <a:xfrm>
            <a:off x="4937760" y="2990088"/>
            <a:ext cx="3566160" cy="164592"/>
          </a:xfrm>
          <a:prstGeom prst="rect">
            <a:avLst/>
          </a:prstGeom>
          <a:noFill/>
          <a:ln/>
        </p:spPr>
        <p:txBody>
          <a:bodyPr wrap="square" lIns="0" tIns="0" rIns="0" bIns="0" rtlCol="0" anchor="ctr"/>
          <a:lstStyle/>
          <a:p>
            <a:pPr indent="0" marL="0">
              <a:buNone/>
            </a:pPr>
            <a:r>
              <a:rPr lang="en-US" sz="850" i="1" dirty="0">
                <a:solidFill>
                  <a:srgbClr val="2B7A78"/>
                </a:solidFill>
                <a:latin typeface="Calibri" pitchFamily="34" charset="0"/>
                <a:ea typeface="Calibri" pitchFamily="34" charset="-122"/>
                <a:cs typeface="Calibri" pitchFamily="34" charset="-120"/>
              </a:rPr>
              <a:t>shap.readthedocs.io</a:t>
            </a:r>
            <a:endParaRPr lang="en-US" sz="850" dirty="0"/>
          </a:p>
        </p:txBody>
      </p:sp>
      <p:sp>
        <p:nvSpPr>
          <p:cNvPr id="38" name="Text 36"/>
          <p:cNvSpPr/>
          <p:nvPr/>
        </p:nvSpPr>
        <p:spPr>
          <a:xfrm>
            <a:off x="4937760" y="3154680"/>
            <a:ext cx="3566160" cy="182880"/>
          </a:xfrm>
          <a:prstGeom prst="rect">
            <a:avLst/>
          </a:prstGeom>
          <a:noFill/>
          <a:ln/>
        </p:spPr>
        <p:txBody>
          <a:bodyPr wrap="square" lIns="0" tIns="0" rIns="0" bIns="0" rtlCol="0" anchor="ctr"/>
          <a:lstStyle/>
          <a:p>
            <a:pPr indent="0" marL="0">
              <a:buNone/>
            </a:pPr>
            <a:r>
              <a:rPr lang="en-US" sz="1000" b="1" dirty="0">
                <a:solidFill>
                  <a:srgbClr val="2E1F1A"/>
                </a:solidFill>
                <a:latin typeface="Calibri" pitchFamily="34" charset="0"/>
                <a:ea typeface="Calibri" pitchFamily="34" charset="-122"/>
                <a:cs typeface="Calibri" pitchFamily="34" charset="-120"/>
              </a:rPr>
              <a:t>Model Cards (Google)</a:t>
            </a:r>
            <a:endParaRPr lang="en-US" sz="1000" dirty="0"/>
          </a:p>
        </p:txBody>
      </p:sp>
      <p:sp>
        <p:nvSpPr>
          <p:cNvPr id="39" name="Text 37"/>
          <p:cNvSpPr/>
          <p:nvPr/>
        </p:nvSpPr>
        <p:spPr>
          <a:xfrm>
            <a:off x="4937760" y="3310128"/>
            <a:ext cx="3566160" cy="164592"/>
          </a:xfrm>
          <a:prstGeom prst="rect">
            <a:avLst/>
          </a:prstGeom>
          <a:noFill/>
          <a:ln/>
        </p:spPr>
        <p:txBody>
          <a:bodyPr wrap="square" lIns="0" tIns="0" rIns="0" bIns="0" rtlCol="0" anchor="ctr"/>
          <a:lstStyle/>
          <a:p>
            <a:pPr indent="0" marL="0">
              <a:buNone/>
            </a:pPr>
            <a:r>
              <a:rPr lang="en-US" sz="850" i="1" dirty="0">
                <a:solidFill>
                  <a:srgbClr val="2B7A78"/>
                </a:solidFill>
                <a:latin typeface="Calibri" pitchFamily="34" charset="0"/>
                <a:ea typeface="Calibri" pitchFamily="34" charset="-122"/>
                <a:cs typeface="Calibri" pitchFamily="34" charset="-120"/>
              </a:rPr>
              <a:t>modelcards.withgoogle.com</a:t>
            </a:r>
            <a:endParaRPr lang="en-US" sz="850" dirty="0"/>
          </a:p>
        </p:txBody>
      </p:sp>
      <p:sp>
        <p:nvSpPr>
          <p:cNvPr id="40" name="Shape 38"/>
          <p:cNvSpPr/>
          <p:nvPr/>
        </p:nvSpPr>
        <p:spPr>
          <a:xfrm>
            <a:off x="457200" y="3474720"/>
            <a:ext cx="8229600" cy="1188720"/>
          </a:xfrm>
          <a:prstGeom prst="rect">
            <a:avLst/>
          </a:prstGeom>
          <a:solidFill>
            <a:srgbClr val="FFFFFF"/>
          </a:solidFill>
          <a:ln w="12700">
            <a:solidFill>
              <a:srgbClr val="E8DDD3"/>
            </a:solidFill>
            <a:prstDash val="solid"/>
          </a:ln>
          <a:effectLst>
            <a:outerShdw sx="100000" sy="100000" kx="0" ky="0" algn="bl" rotWithShape="0" blurRad="63500" dist="25400" dir="8100000">
              <a:srgbClr val="000000">
                <a:alpha val="8000"/>
              </a:srgbClr>
            </a:outerShdw>
          </a:effectLst>
        </p:spPr>
      </p:sp>
      <p:sp>
        <p:nvSpPr>
          <p:cNvPr id="41" name="Shape 39"/>
          <p:cNvSpPr/>
          <p:nvPr/>
        </p:nvSpPr>
        <p:spPr>
          <a:xfrm>
            <a:off x="457200" y="3474720"/>
            <a:ext cx="8229600" cy="54864"/>
          </a:xfrm>
          <a:prstGeom prst="rect">
            <a:avLst/>
          </a:prstGeom>
          <a:solidFill>
            <a:srgbClr val="E8913A"/>
          </a:solidFill>
          <a:ln/>
        </p:spPr>
      </p:sp>
      <p:sp>
        <p:nvSpPr>
          <p:cNvPr id="42" name="Shape 40"/>
          <p:cNvSpPr/>
          <p:nvPr/>
        </p:nvSpPr>
        <p:spPr>
          <a:xfrm>
            <a:off x="457200" y="3474720"/>
            <a:ext cx="8229600" cy="411480"/>
          </a:xfrm>
          <a:prstGeom prst="rect">
            <a:avLst/>
          </a:prstGeom>
          <a:solidFill>
            <a:srgbClr val="E8913A"/>
          </a:solidFill>
          <a:ln/>
        </p:spPr>
      </p:sp>
      <p:sp>
        <p:nvSpPr>
          <p:cNvPr id="43" name="Text 41"/>
          <p:cNvSpPr/>
          <p:nvPr/>
        </p:nvSpPr>
        <p:spPr>
          <a:xfrm>
            <a:off x="640080" y="3474720"/>
            <a:ext cx="7772400" cy="411480"/>
          </a:xfrm>
          <a:prstGeom prst="rect">
            <a:avLst/>
          </a:prstGeom>
          <a:noFill/>
          <a:ln/>
        </p:spPr>
        <p:txBody>
          <a:bodyPr wrap="square" lIns="0" tIns="0" rIns="0" bIns="0"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TESLİM TARİHİ VE FORMAT</a:t>
            </a:r>
            <a:endParaRPr lang="en-US" sz="1200" dirty="0"/>
          </a:p>
        </p:txBody>
      </p:sp>
      <p:sp>
        <p:nvSpPr>
          <p:cNvPr id="44" name="Text 42"/>
          <p:cNvSpPr/>
          <p:nvPr/>
        </p:nvSpPr>
        <p:spPr>
          <a:xfrm>
            <a:off x="640080" y="3977640"/>
            <a:ext cx="7772400" cy="594360"/>
          </a:xfrm>
          <a:prstGeom prst="rect">
            <a:avLst/>
          </a:prstGeom>
          <a:noFill/>
          <a:ln/>
        </p:spPr>
        <p:txBody>
          <a:bodyPr wrap="square" lIns="0" tIns="0" rIns="0" bIns="0" rtlCol="0" anchor="ctr"/>
          <a:lstStyle/>
          <a:p>
            <a:pPr indent="0" marL="0">
              <a:buNone/>
            </a:pPr>
            <a:r>
              <a:rPr lang="en-US" sz="1100" dirty="0">
                <a:solidFill>
                  <a:srgbClr val="2E1F1A"/>
                </a:solidFill>
                <a:latin typeface="Calibri" pitchFamily="34" charset="0"/>
                <a:ea typeface="Calibri" pitchFamily="34" charset="-122"/>
                <a:cs typeface="Calibri" pitchFamily="34" charset="-120"/>
              </a:rPr>
              <a:t>Format: GitHub repo linki + Jupyter Notebook + çalışan demo linki + 10 dakikalık sunum</a:t>
            </a:r>
            <a:endParaRPr lang="en-US" sz="1100" dirty="0"/>
          </a:p>
          <a:p>
            <a:pPr indent="0" marL="0">
              <a:buNone/>
            </a:pPr>
            <a:r>
              <a:rPr lang="en-US" sz="1100" dirty="0">
                <a:solidFill>
                  <a:srgbClr val="2E1F1A"/>
                </a:solidFill>
                <a:latin typeface="Calibri" pitchFamily="34" charset="0"/>
                <a:ea typeface="Calibri" pitchFamily="34" charset="-122"/>
                <a:cs typeface="Calibri" pitchFamily="34" charset="-120"/>
              </a:rPr>
              <a:t>Son teslim: Eğitim bitiminden 2 hafta sonra. Geç teslim her gün için %5 puan düşümü.</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5B2C1E"/>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B7A78"/>
          </a:solidFill>
          <a:ln/>
        </p:spPr>
      </p:sp>
      <p:sp>
        <p:nvSpPr>
          <p:cNvPr id="3" name="Text 1"/>
          <p:cNvSpPr/>
          <p:nvPr/>
        </p:nvSpPr>
        <p:spPr>
          <a:xfrm>
            <a:off x="457200" y="18288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Büyük Final — 15 Haftalık Yolculuğun Özeti</a:t>
            </a:r>
            <a:endParaRPr lang="en-US" sz="2800" dirty="0"/>
          </a:p>
        </p:txBody>
      </p:sp>
      <p:sp>
        <p:nvSpPr>
          <p:cNvPr id="4" name="Shape 2"/>
          <p:cNvSpPr/>
          <p:nvPr/>
        </p:nvSpPr>
        <p:spPr>
          <a:xfrm>
            <a:off x="457200" y="749808"/>
            <a:ext cx="2286000" cy="36576"/>
          </a:xfrm>
          <a:prstGeom prst="rect">
            <a:avLst/>
          </a:prstGeom>
          <a:solidFill>
            <a:srgbClr val="C97B5A"/>
          </a:solidFill>
          <a:ln/>
        </p:spPr>
      </p:sp>
      <p:sp>
        <p:nvSpPr>
          <p:cNvPr id="5" name="Shape 3"/>
          <p:cNvSpPr/>
          <p:nvPr/>
        </p:nvSpPr>
        <p:spPr>
          <a:xfrm>
            <a:off x="457200" y="960120"/>
            <a:ext cx="8229600" cy="548640"/>
          </a:xfrm>
          <a:prstGeom prst="rect">
            <a:avLst/>
          </a:prstGeom>
          <a:solidFill>
            <a:srgbClr val="3D231A"/>
          </a:solidFill>
          <a:ln w="12700">
            <a:solidFill>
              <a:srgbClr val="5A3828"/>
            </a:solidFill>
            <a:prstDash val="solid"/>
          </a:ln>
        </p:spPr>
      </p:sp>
      <p:sp>
        <p:nvSpPr>
          <p:cNvPr id="6" name="Shape 4"/>
          <p:cNvSpPr/>
          <p:nvPr/>
        </p:nvSpPr>
        <p:spPr>
          <a:xfrm>
            <a:off x="566928" y="1069848"/>
            <a:ext cx="329184" cy="329184"/>
          </a:xfrm>
          <a:prstGeom prst="ellipse">
            <a:avLst/>
          </a:prstGeom>
          <a:solidFill>
            <a:srgbClr val="D94F4F"/>
          </a:solidFill>
          <a:ln/>
        </p:spPr>
      </p:sp>
      <p:sp>
        <p:nvSpPr>
          <p:cNvPr id="7" name="Text 5"/>
          <p:cNvSpPr/>
          <p:nvPr/>
        </p:nvSpPr>
        <p:spPr>
          <a:xfrm>
            <a:off x="566928" y="10698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024128" y="960120"/>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AI etiği sadece teknik değil, toplumsal bir sorumluluktur.</a:t>
            </a:r>
            <a:endParaRPr lang="en-US" sz="1200" dirty="0"/>
          </a:p>
        </p:txBody>
      </p:sp>
      <p:sp>
        <p:nvSpPr>
          <p:cNvPr id="9" name="Shape 7"/>
          <p:cNvSpPr/>
          <p:nvPr/>
        </p:nvSpPr>
        <p:spPr>
          <a:xfrm>
            <a:off x="457200" y="1618488"/>
            <a:ext cx="8229600" cy="548640"/>
          </a:xfrm>
          <a:prstGeom prst="rect">
            <a:avLst/>
          </a:prstGeom>
          <a:solidFill>
            <a:srgbClr val="3D231A"/>
          </a:solidFill>
          <a:ln w="12700">
            <a:solidFill>
              <a:srgbClr val="5A3828"/>
            </a:solidFill>
            <a:prstDash val="solid"/>
          </a:ln>
        </p:spPr>
      </p:sp>
      <p:sp>
        <p:nvSpPr>
          <p:cNvPr id="10" name="Shape 8"/>
          <p:cNvSpPr/>
          <p:nvPr/>
        </p:nvSpPr>
        <p:spPr>
          <a:xfrm>
            <a:off x="566928" y="1728216"/>
            <a:ext cx="329184" cy="329184"/>
          </a:xfrm>
          <a:prstGeom prst="ellipse">
            <a:avLst/>
          </a:prstGeom>
          <a:solidFill>
            <a:srgbClr val="E8913A"/>
          </a:solidFill>
          <a:ln/>
        </p:spPr>
      </p:sp>
      <p:sp>
        <p:nvSpPr>
          <p:cNvPr id="11" name="Text 9"/>
          <p:cNvSpPr/>
          <p:nvPr/>
        </p:nvSpPr>
        <p:spPr>
          <a:xfrm>
            <a:off x="566928" y="17282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024128" y="1618488"/>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Bias farkındalığı olmadan adil AI sistemleri inşa edilemez.</a:t>
            </a:r>
            <a:endParaRPr lang="en-US" sz="1200" dirty="0"/>
          </a:p>
        </p:txBody>
      </p:sp>
      <p:sp>
        <p:nvSpPr>
          <p:cNvPr id="13" name="Shape 11"/>
          <p:cNvSpPr/>
          <p:nvPr/>
        </p:nvSpPr>
        <p:spPr>
          <a:xfrm>
            <a:off x="457200" y="2276856"/>
            <a:ext cx="8229600" cy="548640"/>
          </a:xfrm>
          <a:prstGeom prst="rect">
            <a:avLst/>
          </a:prstGeom>
          <a:solidFill>
            <a:srgbClr val="3D231A"/>
          </a:solidFill>
          <a:ln w="12700">
            <a:solidFill>
              <a:srgbClr val="5A3828"/>
            </a:solidFill>
            <a:prstDash val="solid"/>
          </a:ln>
        </p:spPr>
      </p:sp>
      <p:sp>
        <p:nvSpPr>
          <p:cNvPr id="14" name="Shape 12"/>
          <p:cNvSpPr/>
          <p:nvPr/>
        </p:nvSpPr>
        <p:spPr>
          <a:xfrm>
            <a:off x="566928" y="2386584"/>
            <a:ext cx="329184" cy="329184"/>
          </a:xfrm>
          <a:prstGeom prst="ellipse">
            <a:avLst/>
          </a:prstGeom>
          <a:solidFill>
            <a:srgbClr val="2B7A78"/>
          </a:solidFill>
          <a:ln/>
        </p:spPr>
      </p:sp>
      <p:sp>
        <p:nvSpPr>
          <p:cNvPr id="15" name="Text 13"/>
          <p:cNvSpPr/>
          <p:nvPr/>
        </p:nvSpPr>
        <p:spPr>
          <a:xfrm>
            <a:off x="566928" y="2386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024128" y="2276856"/>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Sorumlu AI ilkeleri her projede tasarım aşamasından itibaren uygulanmalıdır.</a:t>
            </a:r>
            <a:endParaRPr lang="en-US" sz="1200" dirty="0"/>
          </a:p>
        </p:txBody>
      </p:sp>
      <p:sp>
        <p:nvSpPr>
          <p:cNvPr id="17" name="Shape 15"/>
          <p:cNvSpPr/>
          <p:nvPr/>
        </p:nvSpPr>
        <p:spPr>
          <a:xfrm>
            <a:off x="457200" y="2935224"/>
            <a:ext cx="8229600" cy="548640"/>
          </a:xfrm>
          <a:prstGeom prst="rect">
            <a:avLst/>
          </a:prstGeom>
          <a:solidFill>
            <a:srgbClr val="3D231A"/>
          </a:solidFill>
          <a:ln w="12700">
            <a:solidFill>
              <a:srgbClr val="5A3828"/>
            </a:solidFill>
            <a:prstDash val="solid"/>
          </a:ln>
        </p:spPr>
      </p:sp>
      <p:sp>
        <p:nvSpPr>
          <p:cNvPr id="18" name="Shape 16"/>
          <p:cNvSpPr/>
          <p:nvPr/>
        </p:nvSpPr>
        <p:spPr>
          <a:xfrm>
            <a:off x="566928" y="3044952"/>
            <a:ext cx="329184" cy="329184"/>
          </a:xfrm>
          <a:prstGeom prst="ellipse">
            <a:avLst/>
          </a:prstGeom>
          <a:solidFill>
            <a:srgbClr val="7C5BBF"/>
          </a:solidFill>
          <a:ln/>
        </p:spPr>
      </p:sp>
      <p:sp>
        <p:nvSpPr>
          <p:cNvPr id="19" name="Text 17"/>
          <p:cNvSpPr/>
          <p:nvPr/>
        </p:nvSpPr>
        <p:spPr>
          <a:xfrm>
            <a:off x="566928" y="30449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024128" y="2935224"/>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15 haftada Python’dan GenAI’ye, istatistikten deep learning’e uzanan bir yolculuk tamamlandı.</a:t>
            </a:r>
            <a:endParaRPr lang="en-US" sz="1200" dirty="0"/>
          </a:p>
        </p:txBody>
      </p:sp>
      <p:sp>
        <p:nvSpPr>
          <p:cNvPr id="21" name="Shape 19"/>
          <p:cNvSpPr/>
          <p:nvPr/>
        </p:nvSpPr>
        <p:spPr>
          <a:xfrm>
            <a:off x="457200" y="3593592"/>
            <a:ext cx="8229600" cy="548640"/>
          </a:xfrm>
          <a:prstGeom prst="rect">
            <a:avLst/>
          </a:prstGeom>
          <a:solidFill>
            <a:srgbClr val="3D231A"/>
          </a:solidFill>
          <a:ln w="12700">
            <a:solidFill>
              <a:srgbClr val="5A3828"/>
            </a:solidFill>
            <a:prstDash val="solid"/>
          </a:ln>
        </p:spPr>
      </p:sp>
      <p:sp>
        <p:nvSpPr>
          <p:cNvPr id="22" name="Shape 20"/>
          <p:cNvSpPr/>
          <p:nvPr/>
        </p:nvSpPr>
        <p:spPr>
          <a:xfrm>
            <a:off x="566928" y="3703320"/>
            <a:ext cx="329184" cy="329184"/>
          </a:xfrm>
          <a:prstGeom prst="ellipse">
            <a:avLst/>
          </a:prstGeom>
          <a:solidFill>
            <a:srgbClr val="3A9E6B"/>
          </a:solidFill>
          <a:ln/>
        </p:spPr>
      </p:sp>
      <p:sp>
        <p:nvSpPr>
          <p:cNvPr id="23" name="Text 21"/>
          <p:cNvSpPr/>
          <p:nvPr/>
        </p:nvSpPr>
        <p:spPr>
          <a:xfrm>
            <a:off x="566928" y="37033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024128" y="3593592"/>
            <a:ext cx="7498080" cy="548640"/>
          </a:xfrm>
          <a:prstGeom prst="rect">
            <a:avLst/>
          </a:prstGeom>
          <a:noFill/>
          <a:ln/>
        </p:spPr>
        <p:txBody>
          <a:bodyPr wrap="square" lIns="0" tIns="0" rIns="0" bIns="0" rtlCol="0" anchor="ctr"/>
          <a:lstStyle/>
          <a:p>
            <a:pPr indent="0" marL="0">
              <a:buNone/>
            </a:pPr>
            <a:r>
              <a:rPr lang="en-US" sz="1200" dirty="0">
                <a:solidFill>
                  <a:srgbClr val="E8C4A8"/>
                </a:solidFill>
                <a:latin typeface="Calibri" pitchFamily="34" charset="0"/>
                <a:ea typeface="Calibri" pitchFamily="34" charset="-122"/>
                <a:cs typeface="Calibri" pitchFamily="34" charset="-120"/>
              </a:rPr>
              <a:t>Capstone projesi öğrendiklerinizi gerçek dünyada uygulamanın en güçlü yoludur.</a:t>
            </a:r>
            <a:endParaRPr lang="en-US" sz="1200" dirty="0"/>
          </a:p>
        </p:txBody>
      </p:sp>
      <p:sp>
        <p:nvSpPr>
          <p:cNvPr id="25" name="Shape 23"/>
          <p:cNvSpPr/>
          <p:nvPr/>
        </p:nvSpPr>
        <p:spPr>
          <a:xfrm>
            <a:off x="0" y="4251960"/>
            <a:ext cx="9144000" cy="891540"/>
          </a:xfrm>
          <a:prstGeom prst="rect">
            <a:avLst/>
          </a:prstGeom>
          <a:solidFill>
            <a:srgbClr val="2E1710"/>
          </a:solidFill>
          <a:ln/>
        </p:spPr>
      </p:sp>
      <p:sp>
        <p:nvSpPr>
          <p:cNvPr id="26" name="Text 24"/>
          <p:cNvSpPr/>
          <p:nvPr/>
        </p:nvSpPr>
        <p:spPr>
          <a:xfrm>
            <a:off x="457200" y="4315968"/>
            <a:ext cx="8229600" cy="411480"/>
          </a:xfrm>
          <a:prstGeom prst="rect">
            <a:avLst/>
          </a:prstGeom>
          <a:noFill/>
          <a:ln/>
        </p:spPr>
        <p:txBody>
          <a:bodyPr wrap="square" lIns="0" tIns="0" rIns="0" bIns="0" rtlCol="0" anchor="ctr"/>
          <a:lstStyle/>
          <a:p>
            <a:pPr indent="0" marL="0">
              <a:buNone/>
            </a:pPr>
            <a:r>
              <a:rPr lang="en-US" sz="1600" b="1" i="1" dirty="0">
                <a:solidFill>
                  <a:srgbClr val="C97B5A"/>
                </a:solidFill>
                <a:latin typeface="Georgia" pitchFamily="34" charset="0"/>
                <a:ea typeface="Georgia" pitchFamily="34" charset="-122"/>
                <a:cs typeface="Georgia" pitchFamily="34" charset="-120"/>
              </a:rPr>
              <a:t>“Yapay zekâ gücü, onu sorumlu kullananların elindedir. Şimdi sıra sizde!”</a:t>
            </a:r>
            <a:endParaRPr lang="en-US" sz="1600" dirty="0"/>
          </a:p>
        </p:txBody>
      </p:sp>
      <p:sp>
        <p:nvSpPr>
          <p:cNvPr id="27" name="Text 25"/>
          <p:cNvSpPr/>
          <p:nvPr/>
        </p:nvSpPr>
        <p:spPr>
          <a:xfrm>
            <a:off x="457200" y="4754880"/>
            <a:ext cx="8229600" cy="274320"/>
          </a:xfrm>
          <a:prstGeom prst="rect">
            <a:avLst/>
          </a:prstGeom>
          <a:noFill/>
          <a:ln/>
        </p:spPr>
        <p:txBody>
          <a:bodyPr wrap="square" lIns="0" tIns="0" rIns="0" bIns="0" rtlCol="0" anchor="ctr"/>
          <a:lstStyle/>
          <a:p>
            <a:pPr indent="0" marL="0">
              <a:buNone/>
            </a:pPr>
            <a:r>
              <a:rPr lang="en-US" sz="1000" dirty="0">
                <a:solidFill>
                  <a:srgbClr val="A39585"/>
                </a:solidFill>
                <a:latin typeface="Calibri" pitchFamily="34" charset="0"/>
                <a:ea typeface="Calibri" pitchFamily="34" charset="-122"/>
                <a:cs typeface="Calibri" pitchFamily="34" charset="-120"/>
              </a:rPr>
              <a:t>Dr. Murat Altun  ·  Veri Bilimi ve Yapay Zekâ Eğitimi  ·  2026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Hafta 15: AI Etik ve Capstone Projesi</dc:title>
  <dc:subject>PptxGenJS Presentation</dc:subject>
  <dc:creator>Dr. Murat Altun</dc:creator>
  <cp:lastModifiedBy>Dr. Murat Altun</cp:lastModifiedBy>
  <cp:revision>1</cp:revision>
  <dcterms:created xsi:type="dcterms:W3CDTF">2026-04-09T11:39:42Z</dcterms:created>
  <dcterms:modified xsi:type="dcterms:W3CDTF">2026-04-09T11:39:42Z</dcterms:modified>
</cp:coreProperties>
</file>