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C2D8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5303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8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Kümeleme ve Öneri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Sistemler</a:t>
            </a:r>
            <a:endParaRPr lang="en-US" sz="46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0"/>
            <a:ext cx="2560320" cy="5486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33756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Denetimsiz Öğrenme, K-Means, Müşteri Segmentasyonu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Film Önerileri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43891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Murat Altun  ·  2026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5C1F6E"/>
          </a:solidFill>
          <a:ln w="12700">
            <a:solidFill>
              <a:srgbClr val="5C1F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0"/>
            <a:ext cx="54864" cy="51435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685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görev tipi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75120" y="1965960"/>
            <a:ext cx="2011680" cy="27432"/>
          </a:xfrm>
          <a:prstGeom prst="rect">
            <a:avLst/>
          </a:prstGeom>
          <a:solidFill>
            <a:srgbClr val="7C4FA8"/>
          </a:solidFill>
          <a:ln w="12700">
            <a:solidFill>
              <a:srgbClr val="7C4F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1031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0" y="2788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Kümeleme algoritması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75120" y="3383280"/>
            <a:ext cx="2011680" cy="27432"/>
          </a:xfrm>
          <a:prstGeom prst="rect">
            <a:avLst/>
          </a:prstGeom>
          <a:solidFill>
            <a:srgbClr val="7C4FA8"/>
          </a:solidFill>
          <a:ln w="12700">
            <a:solidFill>
              <a:srgbClr val="7C4F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35204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400800" y="42062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 alanı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7C2D8E"/>
          </a:solidFill>
          <a:ln w="12700">
            <a:solidFill>
              <a:srgbClr val="7C2D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Denetimsiz Öğrenme Nedir?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Etiketlenmemiş veriye yapı keşfi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51560"/>
            <a:ext cx="64008" cy="3657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Tanım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Denetimsiz öğrenme, etiketlenmemiş veri üzerinde kalıpları ve yapıları keşfetme işlemidir. Hedef değişken (y) olmadığında, algoritma verideki doğal grupları ve ilişkileri bulur.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379476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76148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Görevler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0352" y="3136392"/>
            <a:ext cx="164592" cy="16459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309067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Kümeleme: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Benzer nesneleri grupla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0352" y="3520440"/>
            <a:ext cx="164592" cy="16459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8096" y="3474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Boyut İnd.: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PCA, t-SNE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3904488"/>
            <a:ext cx="164592" cy="16459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385876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Anomali: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Sıra dışı örnekler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1772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1051560"/>
            <a:ext cx="64008" cy="365760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Denetimli vs Denetimsiz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0" y="1554480"/>
            <a:ext cx="3886200" cy="530352"/>
          </a:xfrm>
          <a:prstGeom prst="rect">
            <a:avLst/>
          </a:prstGeom>
          <a:solidFill>
            <a:srgbClr val="F3E8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6276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Türü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26480" y="162763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Etiketli (x, y)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06640" y="162763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Etiketlenmemiş (x)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54880" y="2121408"/>
            <a:ext cx="3886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21945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1945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Değeri tahmin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406640" y="21945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Yapı keşfi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2688336"/>
            <a:ext cx="3886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276148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126480" y="276148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fiyat tahmin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406640" y="276148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Müş. segmentasyon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54880" y="3255264"/>
            <a:ext cx="3886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46320" y="332841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126480" y="33284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MSE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406640" y="33284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Silhouette, Elbow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7C2D8E"/>
          </a:solidFill>
          <a:ln w="12700">
            <a:solidFill>
              <a:srgbClr val="7C2D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Algoritması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yaygın kümeleme yöntemi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51560"/>
            <a:ext cx="64008" cy="3657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 Adımları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 merkez rastgele seç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0116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Her noktayı en yakın merkeze ata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25146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Her kümenin yeni merkezini hesapla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0175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Merkezler kararlı olana kadar tekrarla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520440"/>
            <a:ext cx="379476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6118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Karmaşıklık: O(n·k·i·d)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n: örnek, k: küme, i: iterasyon, d: boyut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1772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1051560"/>
            <a:ext cx="64008" cy="36576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Örneği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54880" y="1508760"/>
            <a:ext cx="38862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16002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from sklearn.cluster import KMeans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892040" y="18013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import numpy as np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892040" y="20025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92040" y="220370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# Veriyi hazırla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892040" y="240487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X = np.array([[1,2],[1,4],[1,0],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92040" y="2606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          [4,2],[4,4],[4,0]])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892040" y="28072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892040" y="30083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# K-Means eğitimi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92040" y="320954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kmeans = KMeans(n_clusters=2,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892040" y="34107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            n_init=10,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892040" y="36118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            random_state=42)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892040" y="38130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kmeans.fit(X)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892040" y="40142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892040" y="421538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# Tahminler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892040" y="44165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labels = kmeans.labels_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892040" y="46177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centers = kmeans.cluster_centers_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892040" y="4818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print(f"Merkezler: {centers}")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7C2D8E"/>
          </a:solidFill>
          <a:ln w="12700">
            <a:solidFill>
              <a:srgbClr val="7C2D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Elbow Yöntemi (Dirsek)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Optimum küme sayısını belirleme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51560"/>
            <a:ext cx="64008" cy="3657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İşe Yarar?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Elbow yöntemi, optimal K değerini bulmak için WCSS (Within-Cluster Sum of Squares) kullanır. Grafikte 'dirsek' kırılma noktası en uygun K'ı gösterir.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514600"/>
            <a:ext cx="379476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6060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WCSS Nedir?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880360"/>
            <a:ext cx="3794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noktanın küme merkezine olan uzaklıklarının karelerinin toplamı.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WCSS = Σ ||x - center|| ²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arttıkça WCSS azalır, ama azalma hızı yavaşlar.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1772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17720" y="1051560"/>
            <a:ext cx="64008" cy="3657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Kodu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0" y="1508760"/>
            <a:ext cx="38862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1600200"/>
            <a:ext cx="3657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wcss = []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892040" y="1783080"/>
            <a:ext cx="3657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for k in range(1, 11):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892040" y="1965960"/>
            <a:ext cx="3657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km = KMeans(n_clusters=k,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892040" y="2148840"/>
            <a:ext cx="3657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            n_init=10,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892040" y="2331720"/>
            <a:ext cx="3657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            random_state=42)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92040" y="2514600"/>
            <a:ext cx="3657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km.fit(X)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892040" y="2697480"/>
            <a:ext cx="3657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wcss.append(km.inertia_)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92040" y="2880360"/>
            <a:ext cx="3657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892040" y="3063240"/>
            <a:ext cx="3657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import matplotlib.pyplot as plt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892040" y="3246120"/>
            <a:ext cx="3657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plt.plot(range(1, 11), wcss, 'o-')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92040" y="3429000"/>
            <a:ext cx="3657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plt.xlabel('K Sayısı')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892040" y="3611880"/>
            <a:ext cx="3657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plt.ylabel('WCSS')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892040" y="3794760"/>
            <a:ext cx="3657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plt.title('Elbow Grafiği')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892040" y="3977640"/>
            <a:ext cx="3657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plt.show()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7C2D8E"/>
          </a:solidFill>
          <a:ln w="12700">
            <a:solidFill>
              <a:srgbClr val="7C2D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Skoru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Kümeleme kalitesi metriği [-1, 1]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402336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716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 → 1.0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38912" y="2011680"/>
            <a:ext cx="3877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Mükemmel ayrılmış kümeler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188720"/>
            <a:ext cx="4023360" cy="73152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3716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→ 0.8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828032" y="2011680"/>
            <a:ext cx="3877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İyi kümeleme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88036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880360"/>
            <a:ext cx="4023360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063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 → 0.5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38912" y="3703320"/>
            <a:ext cx="3877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Zayıf veya çakışan kümeler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2880360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2880360"/>
            <a:ext cx="4023360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0632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 → -0.1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4828032" y="3703320"/>
            <a:ext cx="3877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Yanlış kümeye atanmış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4663440"/>
            <a:ext cx="8412480" cy="434340"/>
          </a:xfrm>
          <a:prstGeom prst="rect">
            <a:avLst/>
          </a:prstGeom>
          <a:solidFill>
            <a:srgbClr val="FAF5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470916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Formül: s(i) = (b(i) - a(i)) / max(a(i), b(i))  |  a(i): aynı küme içi ort. mesafe  |  b(i): en yakın diğer kümeye ort. mesafe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7C2D8E"/>
          </a:solidFill>
          <a:ln w="12700">
            <a:solidFill>
              <a:srgbClr val="7C2D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Segmentasyonu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RFM Analizi ile Kümeleme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51560"/>
            <a:ext cx="64008" cy="3657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RFM Metrikleri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5544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189280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alışveriş ne zaman?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377440"/>
            <a:ext cx="45720" cy="7315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3774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71576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sıklıkla alışveriş yapıyor?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45720" cy="7315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2004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353872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ne kadar harcadı?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474720"/>
            <a:ext cx="379476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547872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Segmentleri: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VIP: Yüksek R,F,M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Sadık: Yüksek 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Risk: Düşük R, yüksek 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1772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17720" y="1051560"/>
            <a:ext cx="64008" cy="36576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İş Etkisi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155448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Kişiselleştirilmiş pazarlama kampanyaları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00600" y="201168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Müşteri elde tutma oranı artırma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600" y="246888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Kayıp müşteriler için geri kazanma stratejileri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0600" y="292608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Yeni müşteri potansiyelini belirleme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00600" y="338328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Pazarlama bütçesi optimizasyonu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00600" y="3840480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Üretim planlaması iyileştirme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7C2D8E"/>
          </a:solidFill>
          <a:ln w="12700">
            <a:solidFill>
              <a:srgbClr val="7C2D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 Sistemleri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Content-Based &amp; Collaborative Filtering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51560"/>
            <a:ext cx="64008" cy="36576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Content-Based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Ürün özelliklerine dayalı benzerlik kullanır. Kullanıcının geçmiş beğendiği ürünlere benzer ürünleri önerir.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379476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35915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Kolay başlama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267919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Yeni ürün öner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999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Açıklanabilir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379476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36499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Sınırlı keşif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6850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Yeni kullanıcı sorunu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1772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17720" y="1051560"/>
            <a:ext cx="64008" cy="365760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Filtering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00600" y="1554480"/>
            <a:ext cx="3794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Benzer kullanıcıların tercihlerine dayalı. 'Senin gibi kullanıcılar bunu beğendi' mantığı.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800600" y="2286000"/>
            <a:ext cx="379476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35915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Güçlü öneriler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00600" y="267919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İç-içe bulma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00600" y="3017520"/>
            <a:ext cx="379476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309067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Soğuk başlangıç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0600" y="341071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Seyreklik sorunu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5760" y="4526280"/>
            <a:ext cx="8412480" cy="502920"/>
          </a:xfrm>
          <a:prstGeom prst="rect">
            <a:avLst/>
          </a:prstGeom>
          <a:solidFill>
            <a:srgbClr val="FEF3C7"/>
          </a:solidFill>
          <a:ln w="25400">
            <a:solidFill>
              <a:srgbClr val="F973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57200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Hibrit Yaklaşım: İkisini birleştir! Netflix, Spotify ve Amazon gibi büyük platformlar her iki yöntemi kombinleyerek en iyi sonuçları elde ediyor.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7C2D8E"/>
          </a:solidFill>
          <a:ln w="12700">
            <a:solidFill>
              <a:srgbClr val="7C2D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Vektörler Arasında Açısal Benzerlik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51560"/>
            <a:ext cx="64008" cy="3657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Tanım ve Formül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508760"/>
            <a:ext cx="3794760" cy="100584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6002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cos(θ) = (A·B) / (||A|| × ||B||)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256032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 Aralığı: [-1, 1]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8803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71600" y="28803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Tamamen aynı yön (benzer)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32918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71600" y="32918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 (ilişkisiz)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371600" y="37033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Zıt yön (zıt tercihler)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1772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1051560"/>
            <a:ext cx="64008" cy="36576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Cosine?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00600" y="155448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Büyüklükten bağımsız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00600" y="193852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Seyrek vektörlerde etkili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00600" y="232257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Hesaplama açısından verimli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00600" y="2706624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Metin ve rating verilerine ideal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00600" y="3200400"/>
            <a:ext cx="3794760" cy="2743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3273552"/>
            <a:ext cx="3886200" cy="123444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92040" y="3337560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from sklearn.metrics.pairwise \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892040" y="350215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import cosine_similarity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892040" y="3666744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892040" y="3831336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# Vektör matrisi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892040" y="3995928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X = [[1, 0, 1], [1, 1, 0]]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892040" y="4160520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92040" y="432511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# Benzerlik matrisi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892040" y="4489704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sim = cosine_similarity(X)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92040" y="4654296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print(sim)  # [[1. 0.5]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892040" y="4818888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       #  [0.5 1. ]]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7C2D8E"/>
          </a:solidFill>
          <a:ln w="12700">
            <a:solidFill>
              <a:srgbClr val="7C2D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 Öneri Sistemi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Pratik Uygulama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51560"/>
            <a:ext cx="64008" cy="36576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Content-Based Yaklaşım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45720" cy="54864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Türleri one-hot encode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148840"/>
            <a:ext cx="45720" cy="5486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1488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TF-IDF ile açıklamaları vektörleştir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45720" cy="548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743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Cosine benzerlik matrisi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337560"/>
            <a:ext cx="45720" cy="5486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337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En benzer N filmi öner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1772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17720" y="1051560"/>
            <a:ext cx="64008" cy="36576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00600" y="11430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Kodu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54880" y="1508760"/>
            <a:ext cx="38862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1600200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from sklearn.feature_extraction\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892040" y="17647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.text import TfidfVectorizer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92040" y="1929384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from sklearn.metrics.pairwise \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92040" y="2093976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import cosine_similarity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892040" y="2258568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92040" y="2423160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# TF-IDF vektörleştirme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892040" y="258775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tfidf = TfidfVectorizer(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892040" y="2752344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stop_words='english',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892040" y="2916936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max_features=5000)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892040" y="3081528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tfidf_matrix = tfidf.fit_transform(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892040" y="3246120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df['overview'])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892040" y="341071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92040" y="3575304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# Benzerlik matrisi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892040" y="3739896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sim_matrix = cosine_similarity(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92040" y="3904488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Monaco" pitchFamily="34" charset="0"/>
                <a:ea typeface="Monaco" pitchFamily="34" charset="-122"/>
                <a:cs typeface="Monaco" pitchFamily="34" charset="-120"/>
              </a:rPr>
              <a:t>    tfidf_matrix)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7C2D8E"/>
          </a:solidFill>
          <a:ln w="12700">
            <a:solidFill>
              <a:srgbClr val="7C2D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Diğer Kümeleme Algoritmaları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84124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DBSCAN, Hierarchical, GMM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51560"/>
            <a:ext cx="64008" cy="36576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Yoğunluk tabanlı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 önceden belirlenmez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Gürültü noktaları ayırır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3063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Para: eps, min_samples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3566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Keyfi şekilleri bulur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91840" y="1051560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91840" y="1051560"/>
            <a:ext cx="64008" cy="365760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143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1554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Hiyerarşik ağaç yapısı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47472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Dendrogram ile görselleştirme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474720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Aglomeratif (aşağı-yukarı)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74720" y="3063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K'yı dendrogram keserek seç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474720" y="3566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Küçük veri için ideal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17920" y="1051560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051560"/>
            <a:ext cx="64008" cy="36576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1143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Mixture Models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0" y="1554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Olasılıksal kümeleme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40080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Soft assignment (yumuşak)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400800" y="2560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Her nokta birden çok kümeye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00800" y="3063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 algoritması ile eğitim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400800" y="3566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Belirsizlik modeli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7C2D8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Özet ve Sonuç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3657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143000"/>
            <a:ext cx="397764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143000"/>
            <a:ext cx="3977640" cy="5486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5272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Denetimsiz Öğrenme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58191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Etiketlenmemiş veriden yapı ve kalıpları keşfeder. Kümeleme, boyut indirgeme, anomali tespiti temel görevlerdir.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846320" y="1143000"/>
            <a:ext cx="397764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0EA5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143000"/>
            <a:ext cx="3977640" cy="54864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25272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Algoritması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0" y="158191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yaygın kümeleme yöntemi. Merkezleri tekrarlı güncelleyerek optimal kümeler bulur.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397764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EC489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834640"/>
            <a:ext cx="3977640" cy="54864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4436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Segmentasyonu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2735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RFM analizi ile müşterileri segmente ettikten sonra her gruba özgü pazarlama stratejileri geliştirilir.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846320" y="2834640"/>
            <a:ext cx="397764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46320" y="2834640"/>
            <a:ext cx="397764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294436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 Sistemleri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32735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Content-based ve Collaborative filtering kombinasyonu (hibrit) modern uygulamalarda kullanılır.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5C1F6E"/>
          </a:solidFill>
          <a:ln w="12700">
            <a:solidFill>
              <a:srgbClr val="5C1F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681728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Veri Bilimi ve YZ Uzmanlığı — Hafta 8  |  Dr. Murat Altun  | 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Hafta 8: Kümeleme ve Öneri Sistemleri</dc:title>
  <dc:subject>PptxGenJS Presentation</dc:subject>
  <dc:creator>Dr. Murat Altun</dc:creator>
  <cp:lastModifiedBy>Dr. Murat Altun</cp:lastModifiedBy>
  <cp:revision>1</cp:revision>
  <dcterms:created xsi:type="dcterms:W3CDTF">2026-04-07T16:22:52Z</dcterms:created>
  <dcterms:modified xsi:type="dcterms:W3CDTF">2026-04-07T16:22:52Z</dcterms:modified>
</cp:coreProperties>
</file>