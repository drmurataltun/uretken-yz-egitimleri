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B2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4A2518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0"/>
            <a:ext cx="45720" cy="514350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548640"/>
            <a:ext cx="2194560" cy="310896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54864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VERİ BİLİMİ DERSİ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Kümeleme,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Zaman Serileri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 Öneri Sistemleri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457200" y="2971800"/>
            <a:ext cx="2743200" cy="4572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1546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8 · Modül 8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42519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Dr. Murat Altun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5354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Bilimi ve Yapay Zekâ Eğitimi  ·  2026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126480" y="3200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126480" y="82296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583680" y="1371600"/>
            <a:ext cx="1920240" cy="18288"/>
          </a:xfrm>
          <a:prstGeom prst="rect">
            <a:avLst/>
          </a:prstGeom>
          <a:solidFill>
            <a:srgbClr val="6B3A28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152704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126480" y="202996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83680" y="2578608"/>
            <a:ext cx="1920240" cy="18288"/>
          </a:xfrm>
          <a:prstGeom prst="rect">
            <a:avLst/>
          </a:prstGeom>
          <a:solidFill>
            <a:srgbClr val="6B3A28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2734056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126480" y="323697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Yöntem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İçindekiler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05840"/>
            <a:ext cx="54864" cy="105156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8" name="Shape 6"/>
          <p:cNvSpPr/>
          <p:nvPr/>
        </p:nvSpPr>
        <p:spPr>
          <a:xfrm>
            <a:off x="512064" y="1188720"/>
            <a:ext cx="640080" cy="64008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9" name="Text 7"/>
          <p:cNvSpPr/>
          <p:nvPr/>
        </p:nvSpPr>
        <p:spPr>
          <a:xfrm>
            <a:off x="512064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25880" y="111556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Kümeleme (Denetimsiz Öğrenme)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· Elbow Method · Silhouette Score · RFM Segmentasyonu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32320" y="1325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Slayt 3–8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240280"/>
            <a:ext cx="8229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240280"/>
            <a:ext cx="54864" cy="10515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5" name="Shape 13"/>
          <p:cNvSpPr/>
          <p:nvPr/>
        </p:nvSpPr>
        <p:spPr>
          <a:xfrm>
            <a:off x="512064" y="2423160"/>
            <a:ext cx="640080" cy="64008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25880" y="235000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Zaman Serileri Analizi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2788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· Mevsimsellik · Facebook Prophet · Satış Tahmini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132320" y="2560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Slayt 9–12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8229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474720"/>
            <a:ext cx="54864" cy="105156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22" name="Shape 20"/>
          <p:cNvSpPr/>
          <p:nvPr/>
        </p:nvSpPr>
        <p:spPr>
          <a:xfrm>
            <a:off x="512064" y="3657600"/>
            <a:ext cx="640080" cy="64008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23" name="Text 21"/>
          <p:cNvSpPr/>
          <p:nvPr/>
        </p:nvSpPr>
        <p:spPr>
          <a:xfrm>
            <a:off x="512064" y="3657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325880" y="358444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Öneri Sistemleri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25880" y="4023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 · Collaborative Filtering · SVD · MovieLens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32320" y="3794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Slayt 13–16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Denetimsiz Öğrenme Nedir?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51206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868680"/>
            <a:ext cx="5120640" cy="54864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00584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Denetimli vs Denetimsiz Öğrenme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1389888"/>
            <a:ext cx="4846320" cy="36576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38988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Özellik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783080" y="138988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Denetimli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11880" y="138988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Denetimsiz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1773936"/>
            <a:ext cx="484632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177393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Etiket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783080" y="177393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(y değeri)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11880" y="177393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Yok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2157984"/>
            <a:ext cx="4846320" cy="365760"/>
          </a:xfrm>
          <a:prstGeom prst="rect">
            <a:avLst/>
          </a:prstGeom>
          <a:solidFill>
            <a:srgbClr val="FEF5EE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15798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Amaç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783080" y="215798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Tahmin / Sınıflandırma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11880" y="215798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Yapı Keşfi / Gruplama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2920" y="2542032"/>
            <a:ext cx="484632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25420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783080" y="254203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tespiti, fiyat tahmini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611880" y="254203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segmentasyonu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02920" y="2926080"/>
            <a:ext cx="4846320" cy="365760"/>
          </a:xfrm>
          <a:prstGeom prst="rect">
            <a:avLst/>
          </a:prstGeom>
          <a:solidFill>
            <a:srgbClr val="FEF5EE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2926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783080" y="29260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Lojistik Reg., RF, XGB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611880" y="29260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K-Means, DBSCAN, PCA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02920" y="3310128"/>
            <a:ext cx="484632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33101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Değerlendirme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783080" y="331012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RMSE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611880" y="331012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Silhouette, Inertia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669280" y="868680"/>
            <a:ext cx="32004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669280" y="868680"/>
            <a:ext cx="3200400" cy="54864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37" name="Text 35"/>
          <p:cNvSpPr/>
          <p:nvPr/>
        </p:nvSpPr>
        <p:spPr>
          <a:xfrm>
            <a:off x="5852160" y="10058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Kullanım Alanları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852160" y="13716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Müşteri segmentasyonu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Anomali tespiti (fraud)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Boyut indirgeme (PCA)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Market sepet analizi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669280" y="2377440"/>
            <a:ext cx="14630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669280" y="2377440"/>
            <a:ext cx="1463040" cy="54864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41" name="Text 39"/>
          <p:cNvSpPr/>
          <p:nvPr/>
        </p:nvSpPr>
        <p:spPr>
          <a:xfrm>
            <a:off x="5669280" y="25146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%60</a:t>
            </a:r>
            <a:endParaRPr lang="en-US" sz="3400" dirty="0"/>
          </a:p>
        </p:txBody>
      </p:sp>
      <p:sp>
        <p:nvSpPr>
          <p:cNvPr id="42" name="Text 40"/>
          <p:cNvSpPr/>
          <p:nvPr/>
        </p:nvSpPr>
        <p:spPr>
          <a:xfrm>
            <a:off x="5760720" y="3127248"/>
            <a:ext cx="1280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Verinin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Etiketsiz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406640" y="2377440"/>
            <a:ext cx="14630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7406640" y="2377440"/>
            <a:ext cx="1463040" cy="54864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5" name="Text 43"/>
          <p:cNvSpPr/>
          <p:nvPr/>
        </p:nvSpPr>
        <p:spPr>
          <a:xfrm>
            <a:off x="7406640" y="25146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3+</a:t>
            </a:r>
            <a:endParaRPr lang="en-US" sz="3400" dirty="0"/>
          </a:p>
        </p:txBody>
      </p:sp>
      <p:sp>
        <p:nvSpPr>
          <p:cNvPr id="46" name="Text 44"/>
          <p:cNvSpPr/>
          <p:nvPr/>
        </p:nvSpPr>
        <p:spPr>
          <a:xfrm>
            <a:off x="7498080" y="3127248"/>
            <a:ext cx="1280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Kümeleme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Algoritmasi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365760" y="3977640"/>
            <a:ext cx="8503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65760" y="3977640"/>
            <a:ext cx="54864" cy="6858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49" name="Text 47"/>
          <p:cNvSpPr/>
          <p:nvPr/>
        </p:nvSpPr>
        <p:spPr>
          <a:xfrm>
            <a:off x="548640" y="404164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dünyada verilerin büyük çoğunluğu etiketsizdir. Denetimsiz öğrenme, verinin doğal yapısını keşfetmek için en güçlü yaklaşımdır.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K-Means Kümeleme Algoritması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47548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868680"/>
            <a:ext cx="4754880" cy="54864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00584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Algoritma Adımları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1463040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463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87552" y="1417320"/>
            <a:ext cx="3977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87552" y="1417320"/>
            <a:ext cx="54864" cy="438912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5" name="Text 13"/>
          <p:cNvSpPr/>
          <p:nvPr/>
        </p:nvSpPr>
        <p:spPr>
          <a:xfrm>
            <a:off x="1115568" y="143560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adet rastgele merkez (centroid) seç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1993392"/>
            <a:ext cx="329184" cy="329184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87552" y="1947672"/>
            <a:ext cx="3977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87552" y="1947672"/>
            <a:ext cx="54864" cy="43891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20" name="Text 18"/>
          <p:cNvSpPr/>
          <p:nvPr/>
        </p:nvSpPr>
        <p:spPr>
          <a:xfrm>
            <a:off x="1115568" y="196596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veri noktasını en yakın centroid'e ata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2523744"/>
            <a:ext cx="329184" cy="329184"/>
          </a:xfrm>
          <a:prstGeom prst="ellipse">
            <a:avLst/>
          </a:prstGeom>
          <a:solidFill>
            <a:srgbClr val="E8913A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25237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87552" y="2478024"/>
            <a:ext cx="3977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87552" y="2478024"/>
            <a:ext cx="54864" cy="438912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25" name="Text 23"/>
          <p:cNvSpPr/>
          <p:nvPr/>
        </p:nvSpPr>
        <p:spPr>
          <a:xfrm>
            <a:off x="1115568" y="249631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kümenin yeni centroid'ini hesapla (ortalama)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3054096"/>
            <a:ext cx="329184" cy="329184"/>
          </a:xfrm>
          <a:prstGeom prst="ellipse">
            <a:avLst/>
          </a:prstGeom>
          <a:solidFill>
            <a:srgbClr val="7C5BBF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0540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87552" y="3008376"/>
            <a:ext cx="3977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87552" y="3008376"/>
            <a:ext cx="54864" cy="438912"/>
          </a:xfrm>
          <a:prstGeom prst="rect">
            <a:avLst/>
          </a:prstGeom>
          <a:solidFill>
            <a:srgbClr val="7C5BBF"/>
          </a:solidFill>
          <a:ln/>
        </p:spPr>
      </p:sp>
      <p:sp>
        <p:nvSpPr>
          <p:cNvPr id="30" name="Text 28"/>
          <p:cNvSpPr/>
          <p:nvPr/>
        </p:nvSpPr>
        <p:spPr>
          <a:xfrm>
            <a:off x="1115568" y="3026664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Centroid'ler değişmeyene kadar 2–3'ü tekrarla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3584448"/>
            <a:ext cx="329184" cy="329184"/>
          </a:xfrm>
          <a:prstGeom prst="ellipse">
            <a:avLst/>
          </a:prstGeom>
          <a:solidFill>
            <a:srgbClr val="3A9E6B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3584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87552" y="3538728"/>
            <a:ext cx="3977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87552" y="3538728"/>
            <a:ext cx="54864" cy="438912"/>
          </a:xfrm>
          <a:prstGeom prst="rect">
            <a:avLst/>
          </a:prstGeom>
          <a:solidFill>
            <a:srgbClr val="3A9E6B"/>
          </a:solidFill>
          <a:ln/>
        </p:spPr>
      </p:sp>
      <p:sp>
        <p:nvSpPr>
          <p:cNvPr id="35" name="Text 33"/>
          <p:cNvSpPr/>
          <p:nvPr/>
        </p:nvSpPr>
        <p:spPr>
          <a:xfrm>
            <a:off x="1115568" y="355701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Yakınsama → Kümeler oluştu!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349240" y="868680"/>
            <a:ext cx="35204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349240" y="868680"/>
            <a:ext cx="3520440" cy="54864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38" name="Text 36"/>
          <p:cNvSpPr/>
          <p:nvPr/>
        </p:nvSpPr>
        <p:spPr>
          <a:xfrm>
            <a:off x="5532120" y="10058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Anahtar Kavramlar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532120" y="13716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Inertia: Küme içi toplam mesafe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(düşük → sıkı kümeler)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K: Küme sayısı (kullanıcı belirler)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Öklid mesafesi: Varsayılan uzaklık ölçüsü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349240" y="2514600"/>
            <a:ext cx="16916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349240" y="2514600"/>
            <a:ext cx="1691640" cy="54864"/>
          </a:xfrm>
          <a:prstGeom prst="rect">
            <a:avLst/>
          </a:prstGeom>
          <a:solidFill>
            <a:srgbClr val="3A9E6B"/>
          </a:solidFill>
          <a:ln/>
        </p:spPr>
      </p:sp>
      <p:sp>
        <p:nvSpPr>
          <p:cNvPr id="42" name="Text 40"/>
          <p:cNvSpPr/>
          <p:nvPr/>
        </p:nvSpPr>
        <p:spPr>
          <a:xfrm>
            <a:off x="5486400" y="26517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Avantajlar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486400" y="297180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Hızlı ve ölçeklenebilir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Anlaşılması kolay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Büyük veri setleri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için uygun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178040" y="2514600"/>
            <a:ext cx="16916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7178040" y="2514600"/>
            <a:ext cx="1691640" cy="54864"/>
          </a:xfrm>
          <a:prstGeom prst="rect">
            <a:avLst/>
          </a:prstGeom>
          <a:solidFill>
            <a:srgbClr val="D94F4F"/>
          </a:solidFill>
          <a:ln/>
        </p:spPr>
      </p:sp>
      <p:sp>
        <p:nvSpPr>
          <p:cNvPr id="46" name="Text 44"/>
          <p:cNvSpPr/>
          <p:nvPr/>
        </p:nvSpPr>
        <p:spPr>
          <a:xfrm>
            <a:off x="7315200" y="26517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4F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Dezavantajlar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315200" y="297180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 önceden bilinmeli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Küresel kümeler varsayar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Outlier'lara duyarlı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Başlangıç noktası etkisi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Elbow Method — Optimal K Seçimi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45720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868680"/>
            <a:ext cx="4572000" cy="54864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00584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Dirsek Yöntemi (Elbow Method)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1389888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Her K değeri için inertia (WCSS) hesaplanır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Grafik K vs Inertia olarak çizilir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Eğrinin "dirsek" yaptığı nokta optimal K'dır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Dirsek sonrası iyileşme azalır → diminishing returns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Gerçek dünyada net dirsek her zaman oluşmaz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166360" y="868680"/>
            <a:ext cx="1783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166360" y="868680"/>
            <a:ext cx="1783080" cy="54864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4" name="Text 12"/>
          <p:cNvSpPr/>
          <p:nvPr/>
        </p:nvSpPr>
        <p:spPr>
          <a:xfrm>
            <a:off x="5166360" y="100584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K=?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5257800" y="1618488"/>
            <a:ext cx="1600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Küme Sayısı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086600" y="868680"/>
            <a:ext cx="1828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086600" y="868680"/>
            <a:ext cx="1828800" cy="54864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8" name="Text 16"/>
          <p:cNvSpPr/>
          <p:nvPr/>
        </p:nvSpPr>
        <p:spPr>
          <a:xfrm>
            <a:off x="7086600" y="10058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WCSS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7178040" y="1618488"/>
            <a:ext cx="1645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Within-Cluster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Squares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166360" y="2103120"/>
            <a:ext cx="37490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166360" y="2103120"/>
            <a:ext cx="3749040" cy="54864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22" name="Text 20"/>
          <p:cNvSpPr/>
          <p:nvPr/>
        </p:nvSpPr>
        <p:spPr>
          <a:xfrm>
            <a:off x="5349240" y="22402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Örnek Inertia Değerleri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303520" y="2633472"/>
            <a:ext cx="3474720" cy="219456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24" name="Text 22"/>
          <p:cNvSpPr/>
          <p:nvPr/>
        </p:nvSpPr>
        <p:spPr>
          <a:xfrm>
            <a:off x="5349240" y="263347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080760" y="263347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Inertia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178040" y="263347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Değişim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303520" y="2862072"/>
            <a:ext cx="347472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5349240" y="286207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080760" y="286207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178040" y="286207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303520" y="3090672"/>
            <a:ext cx="3474720" cy="219456"/>
          </a:xfrm>
          <a:prstGeom prst="rect">
            <a:avLst/>
          </a:prstGeom>
          <a:solidFill>
            <a:srgbClr val="FEF5EE"/>
          </a:solidFill>
          <a:ln/>
        </p:spPr>
      </p:sp>
      <p:sp>
        <p:nvSpPr>
          <p:cNvPr id="32" name="Text 30"/>
          <p:cNvSpPr/>
          <p:nvPr/>
        </p:nvSpPr>
        <p:spPr>
          <a:xfrm>
            <a:off x="5349240" y="309067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080760" y="309067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178040" y="309067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-700 ↓↓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303520" y="3319272"/>
            <a:ext cx="3474720" cy="219456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36" name="Text 34"/>
          <p:cNvSpPr/>
          <p:nvPr/>
        </p:nvSpPr>
        <p:spPr>
          <a:xfrm>
            <a:off x="5349240" y="331927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080760" y="331927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178040" y="331927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-300 ↓ (dirsek)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303520" y="3547872"/>
            <a:ext cx="3474720" cy="219456"/>
          </a:xfrm>
          <a:prstGeom prst="rect">
            <a:avLst/>
          </a:prstGeom>
          <a:solidFill>
            <a:srgbClr val="FEF5EE"/>
          </a:solidFill>
          <a:ln/>
        </p:spPr>
      </p:sp>
      <p:sp>
        <p:nvSpPr>
          <p:cNvPr id="40" name="Text 38"/>
          <p:cNvSpPr/>
          <p:nvPr/>
        </p:nvSpPr>
        <p:spPr>
          <a:xfrm>
            <a:off x="5349240" y="354787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080760" y="354787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420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178040" y="354787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-80 ↓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303520" y="3776472"/>
            <a:ext cx="347472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5349240" y="377647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080760" y="377647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178040" y="377647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-20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65760" y="2880360"/>
            <a:ext cx="4572000" cy="164592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2926080"/>
            <a:ext cx="4389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sklearn.cluster </a:t>
            </a:r>
            <a:pPr indent="0" marL="0">
              <a:buNone/>
            </a:pPr>
            <a:r>
              <a:rPr lang="en-US" sz="9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9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KMeans
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inertias = []
</a:t>
            </a:r>
            <a:pPr indent="0" marL="0">
              <a:buNone/>
            </a:pPr>
            <a:r>
              <a:rPr lang="en-US" sz="9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</a:t>
            </a:r>
            <a:pPr indent="0" marL="0">
              <a:buNone/>
            </a:pPr>
            <a:r>
              <a:rPr lang="en-US" sz="9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</a:t>
            </a:r>
            <a:pPr indent="0" marL="0">
              <a:buNone/>
            </a:pPr>
            <a:r>
              <a:rPr lang="en-US" sz="9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range(2, 11):
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km = KMeans(n_clusters=k, random_state=42)
</a:t>
            </a:r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km.fit(X_scaled)
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inertias.append(km.inertia_)
</a:t>
            </a:r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plt.plot(range(2,11), inertias, 'o-')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Silhouette Score — Kümeleme Kalitesi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4937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868680"/>
            <a:ext cx="4937760" cy="54864"/>
          </a:xfrm>
          <a:prstGeom prst="rect">
            <a:avLst/>
          </a:prstGeom>
          <a:solidFill>
            <a:srgbClr val="7C5BB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0058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5B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Silhouette Katsayısı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1371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2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s(i) = (b(i) - a(i)) / max(a(i), b(i))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18288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a(i) = Aynı küme içi ortalama uzaklık (cohesion)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b(i) = En yakın komşu kümeye ortalama uzaklık (separation)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 aralığı: -1 ile +1 arası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532120" y="868680"/>
            <a:ext cx="33375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532120" y="868680"/>
            <a:ext cx="3337560" cy="54864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5" name="Text 13"/>
          <p:cNvSpPr/>
          <p:nvPr/>
        </p:nvSpPr>
        <p:spPr>
          <a:xfrm>
            <a:off x="5715000" y="10058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Yorumlama Rehberi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0" y="1389888"/>
            <a:ext cx="274320" cy="274320"/>
          </a:xfrm>
          <a:prstGeom prst="rect">
            <a:avLst/>
          </a:prstGeom>
          <a:solidFill>
            <a:srgbClr val="3A9E6B"/>
          </a:solidFill>
          <a:ln/>
        </p:spPr>
      </p:sp>
      <p:sp>
        <p:nvSpPr>
          <p:cNvPr id="17" name="Text 15"/>
          <p:cNvSpPr/>
          <p:nvPr/>
        </p:nvSpPr>
        <p:spPr>
          <a:xfrm>
            <a:off x="6016752" y="13898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 – 1.00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223760" y="13898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Mükemmel kümeleme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69280" y="1737360"/>
            <a:ext cx="274320" cy="2743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20" name="Text 18"/>
          <p:cNvSpPr/>
          <p:nvPr/>
        </p:nvSpPr>
        <p:spPr>
          <a:xfrm>
            <a:off x="6016752" y="1737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 – 0.70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223760" y="1737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İyi kümeleme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69280" y="2084832"/>
            <a:ext cx="274320" cy="27432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23" name="Text 21"/>
          <p:cNvSpPr/>
          <p:nvPr/>
        </p:nvSpPr>
        <p:spPr>
          <a:xfrm>
            <a:off x="6016752" y="2084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0.26 – 0.50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223760" y="20848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 düzey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69280" y="2432304"/>
            <a:ext cx="274320" cy="274320"/>
          </a:xfrm>
          <a:prstGeom prst="rect">
            <a:avLst/>
          </a:prstGeom>
          <a:solidFill>
            <a:srgbClr val="D94F4F"/>
          </a:solidFill>
          <a:ln/>
        </p:spPr>
      </p:sp>
      <p:sp>
        <p:nvSpPr>
          <p:cNvPr id="26" name="Text 24"/>
          <p:cNvSpPr/>
          <p:nvPr/>
        </p:nvSpPr>
        <p:spPr>
          <a:xfrm>
            <a:off x="6016752" y="24323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0.25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223760" y="2432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Zayıf / yapay kümeler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063240"/>
            <a:ext cx="8503920" cy="146304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108960"/>
            <a:ext cx="8321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sklearn.metrics </a:t>
            </a:r>
            <a:pPr indent="0" marL="0">
              <a:buNone/>
            </a:pPr>
            <a:r>
              <a:rPr lang="en-US" sz="9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9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silhouette_score
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km = KMeans(n_clusters=4, random_state=42)
</a:t>
            </a:r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labels = km.fit_predict(X_scaled)
</a:t>
            </a:r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silhouette_score(X_scaled, labels)
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print(f'Silhouette Score: {score:.3f}')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Müşteri Segmentasyonu — RFM Analizi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26060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868680"/>
            <a:ext cx="2606040" cy="54864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0" name="Shape 8"/>
          <p:cNvSpPr/>
          <p:nvPr/>
        </p:nvSpPr>
        <p:spPr>
          <a:xfrm>
            <a:off x="1325880" y="1051560"/>
            <a:ext cx="640080" cy="640080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11" name="Text 9"/>
          <p:cNvSpPr/>
          <p:nvPr/>
        </p:nvSpPr>
        <p:spPr>
          <a:xfrm>
            <a:off x="1325880" y="1051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48640" y="178308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Recency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148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alışverişten bu yana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geçen gün sayısı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868680"/>
            <a:ext cx="26060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868680"/>
            <a:ext cx="2606040" cy="54864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6" name="Shape 14"/>
          <p:cNvSpPr/>
          <p:nvPr/>
        </p:nvSpPr>
        <p:spPr>
          <a:xfrm>
            <a:off x="4160520" y="1051560"/>
            <a:ext cx="640080" cy="640080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17" name="Text 15"/>
          <p:cNvSpPr/>
          <p:nvPr/>
        </p:nvSpPr>
        <p:spPr>
          <a:xfrm>
            <a:off x="4160520" y="1051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383280" y="178308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Frequency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83280" y="2148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alışveriş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sayısı (sipariş adedi)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35040" y="868680"/>
            <a:ext cx="26060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35040" y="868680"/>
            <a:ext cx="2606040" cy="54864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22" name="Shape 20"/>
          <p:cNvSpPr/>
          <p:nvPr/>
        </p:nvSpPr>
        <p:spPr>
          <a:xfrm>
            <a:off x="6995160" y="1051560"/>
            <a:ext cx="640080" cy="640080"/>
          </a:xfrm>
          <a:prstGeom prst="ellipse">
            <a:avLst/>
          </a:prstGeom>
          <a:solidFill>
            <a:srgbClr val="E8913A"/>
          </a:solidFill>
          <a:ln/>
        </p:spPr>
      </p:sp>
      <p:sp>
        <p:nvSpPr>
          <p:cNvPr id="23" name="Text 21"/>
          <p:cNvSpPr/>
          <p:nvPr/>
        </p:nvSpPr>
        <p:spPr>
          <a:xfrm>
            <a:off x="6995160" y="1051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217920" y="178308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Monetary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17920" y="2148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harcama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tutarı (TL)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2971800"/>
            <a:ext cx="8503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2971800"/>
            <a:ext cx="8503920" cy="54864"/>
          </a:xfrm>
          <a:prstGeom prst="rect">
            <a:avLst/>
          </a:prstGeom>
          <a:solidFill>
            <a:srgbClr val="7C5BBF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310896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5B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K-Means ile Oluşturulan Tipik Segmentler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2920" y="3493008"/>
            <a:ext cx="8229600" cy="210312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3493008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011680" y="3493008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474720" y="3493008"/>
            <a:ext cx="1280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0" y="3493008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17920" y="3493008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Aksiyon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02920" y="3712464"/>
            <a:ext cx="8229600" cy="210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371246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Müşteri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011680" y="371246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Düşük ↓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474720" y="3712464"/>
            <a:ext cx="1280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 ↑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754880" y="371246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 ↑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217920" y="3712464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Sadakat programı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02920" y="3931920"/>
            <a:ext cx="8229600" cy="210312"/>
          </a:xfrm>
          <a:prstGeom prst="rect">
            <a:avLst/>
          </a:prstGeom>
          <a:solidFill>
            <a:srgbClr val="FEF5EE"/>
          </a:solidFill>
          <a:ln/>
        </p:spPr>
      </p:sp>
      <p:sp>
        <p:nvSpPr>
          <p:cNvPr id="42" name="Text 40"/>
          <p:cNvSpPr/>
          <p:nvPr/>
        </p:nvSpPr>
        <p:spPr>
          <a:xfrm>
            <a:off x="548640" y="393192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Altında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011680" y="393192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 ↑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474720" y="3931920"/>
            <a:ext cx="1280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754880" y="393192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17920" y="3931920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 kazanım kampanyası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02920" y="4151376"/>
            <a:ext cx="8229600" cy="210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548640" y="415137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Müşteri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011680" y="415137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Düşük ↓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474720" y="4151376"/>
            <a:ext cx="1280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Düşük ↓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754880" y="415137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Düşük ↓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217920" y="4151376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Hoş geldin teklifi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02920" y="4370832"/>
            <a:ext cx="8229600" cy="210312"/>
          </a:xfrm>
          <a:prstGeom prst="rect">
            <a:avLst/>
          </a:prstGeom>
          <a:solidFill>
            <a:srgbClr val="FEF5EE"/>
          </a:solidFill>
          <a:ln/>
        </p:spPr>
      </p:sp>
      <p:sp>
        <p:nvSpPr>
          <p:cNvPr id="54" name="Text 52"/>
          <p:cNvSpPr/>
          <p:nvPr/>
        </p:nvSpPr>
        <p:spPr>
          <a:xfrm>
            <a:off x="548640" y="437083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Pasif Müşteri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2011680" y="437083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 ↑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474720" y="4370832"/>
            <a:ext cx="1280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Düşük ↓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754880" y="437083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Düşük ↓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217920" y="4370832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Re-engagement e-mail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RFM + K-Means Kod Uygulaması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8503920" cy="365760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914400"/>
            <a:ext cx="83210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 </a:t>
            </a:r>
            <a:pPr indent="0" marL="0">
              <a:buNone/>
            </a:pPr>
            <a:r>
              <a:rPr lang="en-US" sz="9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</a:t>
            </a:r>
            <a:pPr indent="0" marL="0">
              <a:buNone/>
            </a:pPr>
            <a:r>
              <a:rPr lang="en-US" sz="9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
</a:t>
            </a:r>
            <a:pPr indent="0" marL="0">
              <a:buNone/>
            </a:pPr>
            <a:r>
              <a:rPr lang="en-US" sz="9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sklearn.preprocessing </a:t>
            </a:r>
            <a:pPr indent="0" marL="0">
              <a:buNone/>
            </a:pPr>
            <a:r>
              <a:rPr lang="en-US" sz="9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9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StandardScaler
</a:t>
            </a:r>
            <a:pPr indent="0" marL="0">
              <a:buNone/>
            </a:pPr>
            <a:r>
              <a:rPr lang="en-US" sz="9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sklearn.cluster </a:t>
            </a:r>
            <a:pPr indent="0" marL="0">
              <a:buNone/>
            </a:pPr>
            <a:r>
              <a:rPr lang="en-US" sz="9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9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KMeans
</a:t>
            </a:r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RFM metriklerini hesapla
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snapshot = df['InvoiceDate'].max() + pd.Timedelta(days=1)
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rfm = df.groupby('CustomerID').agg({
</a:t>
            </a:r>
            <a:pPr indent="0" marL="0">
              <a:buNone/>
            </a:pPr>
            <a:r>
              <a:rPr lang="en-US" sz="9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'InvoiceDate': 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lambda x: (snapshot - x.max()).days,  </a:t>
            </a:r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Recency
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'InvoiceNo':   'nunique',                       </a:t>
            </a:r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Frequency
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'TotalPrice':  'sum'                            </a:t>
            </a:r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Monetary
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
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rfm.columns = ['Recency', 'Frequency', 'Monetary']
</a:t>
            </a:r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Ölçekleme + Kümeleme
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scaler = StandardScaler()
</a:t>
            </a:r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rfm_scaled = scaler.fit_transform(rfm)
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km = KMeans(n_clusters=4, random_state=42)
</a:t>
            </a:r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rfm['Segment'] = km.fit_predict(rfm_scaled)
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rfm['Segment'].value_counts()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Zaman Serileri Nedir?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4937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868680"/>
            <a:ext cx="4937760" cy="54864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0058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Tanım ve Temel Kavramlar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137160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 serisi: Belirli zaman aralıklarında toplanan sıralı veri noktaları. Geçmiş verilerdeki örüntülerden geleceği tahmin etmeyi amaçlar. Hisse senedi fiyatları, hava sıcaklığı, satış verileri gibi alanlarda yaygın kullanılır.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532120" y="868680"/>
            <a:ext cx="16459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532120" y="868680"/>
            <a:ext cx="1645920" cy="54864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4" name="Text 12"/>
          <p:cNvSpPr/>
          <p:nvPr/>
        </p:nvSpPr>
        <p:spPr>
          <a:xfrm>
            <a:off x="5532120" y="10058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24/7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5623560" y="1618488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Sürekli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Akışı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0" y="868680"/>
            <a:ext cx="1554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0" y="868680"/>
            <a:ext cx="1554480" cy="54864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0" y="10058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∞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7406640" y="1618488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Sektör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Uygulaması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2560320"/>
            <a:ext cx="26060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560320"/>
            <a:ext cx="2606040" cy="54864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2697480"/>
            <a:ext cx="594360" cy="594360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23" name="Text 21"/>
          <p:cNvSpPr/>
          <p:nvPr/>
        </p:nvSpPr>
        <p:spPr>
          <a:xfrm>
            <a:off x="1325880" y="2697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↗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48640" y="33832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Trend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37490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Uzun vadeli yükseliş veya düşüş. Satışların yıldan yıla artması gibi.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0" y="2560320"/>
            <a:ext cx="26060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0" y="2560320"/>
            <a:ext cx="2606040" cy="54864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28" name="Shape 26"/>
          <p:cNvSpPr/>
          <p:nvPr/>
        </p:nvSpPr>
        <p:spPr>
          <a:xfrm>
            <a:off x="4160520" y="2697480"/>
            <a:ext cx="594360" cy="594360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29" name="Text 27"/>
          <p:cNvSpPr/>
          <p:nvPr/>
        </p:nvSpPr>
        <p:spPr>
          <a:xfrm>
            <a:off x="4160520" y="2697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3383280" y="33832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Mevsimsellik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383280" y="37490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Düzenli tekrar eden kalıplar. Kış aylarında enerji tüketimi artışı gibi.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035040" y="2560320"/>
            <a:ext cx="26060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35040" y="2560320"/>
            <a:ext cx="2606040" cy="54864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34" name="Shape 32"/>
          <p:cNvSpPr/>
          <p:nvPr/>
        </p:nvSpPr>
        <p:spPr>
          <a:xfrm>
            <a:off x="6995160" y="2697480"/>
            <a:ext cx="594360" cy="594360"/>
          </a:xfrm>
          <a:prstGeom prst="ellipse">
            <a:avLst/>
          </a:prstGeom>
          <a:solidFill>
            <a:srgbClr val="E8913A"/>
          </a:solidFill>
          <a:ln/>
        </p:spPr>
      </p:sp>
      <p:sp>
        <p:nvSpPr>
          <p:cNvPr id="35" name="Text 33"/>
          <p:cNvSpPr/>
          <p:nvPr/>
        </p:nvSpPr>
        <p:spPr>
          <a:xfrm>
            <a:off x="6995160" y="2697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217920" y="33832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Durağanlık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17920" y="37490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İstatistiksel özelliklerin zamana göre sabit kalması. Model için önemli.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Facebook Prophet — Otomatik Zaman Serisi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4937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868680"/>
            <a:ext cx="4937760" cy="54864"/>
          </a:xfrm>
          <a:prstGeom prst="rect">
            <a:avLst/>
          </a:prstGeom>
          <a:solidFill>
            <a:srgbClr val="4A7FC7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0058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F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Prophet Nedir?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137160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(Facebook) tarafından geliştirilen açık kaynaklı zaman serisi tahmin aracı. Trend + mevsimsellik + tatil etkilerini otomatik ayrıştırır. Eksik veri ve outlier'lara dayanıklıdır. Minimum ayarlama ile güçlü sonuçlar verir.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532120" y="868680"/>
            <a:ext cx="33375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532120" y="868680"/>
            <a:ext cx="3337560" cy="54864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4" name="Text 12"/>
          <p:cNvSpPr/>
          <p:nvPr/>
        </p:nvSpPr>
        <p:spPr>
          <a:xfrm>
            <a:off x="5715000" y="10058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Neden Prophet?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0" y="1408176"/>
            <a:ext cx="329184" cy="329184"/>
          </a:xfrm>
          <a:prstGeom prst="ellipse">
            <a:avLst/>
          </a:prstGeom>
          <a:solidFill>
            <a:srgbClr val="3A9E6B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0" y="1408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80760" y="13898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 trend algılama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669280" y="1664208"/>
            <a:ext cx="329184" cy="329184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0" y="1664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80760" y="16459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Haftalık / yıllık mevsimsellik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669280" y="1920240"/>
            <a:ext cx="329184" cy="329184"/>
          </a:xfrm>
          <a:prstGeom prst="ellipse">
            <a:avLst/>
          </a:prstGeom>
          <a:solidFill>
            <a:srgbClr val="E8913A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0" y="1920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080760" y="190195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Tatil etkisi ekleme desteği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669280" y="2176272"/>
            <a:ext cx="329184" cy="329184"/>
          </a:xfrm>
          <a:prstGeom prst="ellipse">
            <a:avLst/>
          </a:prstGeom>
          <a:solidFill>
            <a:srgbClr val="4A7FC7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0" y="2176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080760" y="215798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Belirsizlik aralıkları (CI)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2651760"/>
            <a:ext cx="8503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2651760"/>
            <a:ext cx="8503920" cy="54864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278892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Trend Decomposition: y(t) = g(t) + s(t) + h(t) + ε(t)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2920" y="3182112"/>
            <a:ext cx="1920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02920" y="3182112"/>
            <a:ext cx="1920240" cy="54864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" y="3291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g(t)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02920" y="3657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94360" y="3931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Doğrusal veya lojistik büyüme modeli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587752" y="3182112"/>
            <a:ext cx="1920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587752" y="3182112"/>
            <a:ext cx="1920240" cy="54864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37" name="Text 35"/>
          <p:cNvSpPr/>
          <p:nvPr/>
        </p:nvSpPr>
        <p:spPr>
          <a:xfrm>
            <a:off x="2587752" y="3291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s(t)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2587752" y="3657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Mevsimsellik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679192" y="3931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Fourier serileri ile periyodik değişimler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672584" y="3182112"/>
            <a:ext cx="1920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72584" y="3182112"/>
            <a:ext cx="1920240" cy="54864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42" name="Text 40"/>
          <p:cNvSpPr/>
          <p:nvPr/>
        </p:nvSpPr>
        <p:spPr>
          <a:xfrm>
            <a:off x="4672584" y="3291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h(t)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672584" y="3657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Tatil Etkisi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764024" y="3931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Bayram, kampanya gibi özel günler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757416" y="3182112"/>
            <a:ext cx="1920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757416" y="3182112"/>
            <a:ext cx="1920240" cy="54864"/>
          </a:xfrm>
          <a:prstGeom prst="rect">
            <a:avLst/>
          </a:prstGeom>
          <a:solidFill>
            <a:srgbClr val="6B5B52"/>
          </a:solidFill>
          <a:ln/>
        </p:spPr>
      </p:sp>
      <p:sp>
        <p:nvSpPr>
          <p:cNvPr id="47" name="Text 45"/>
          <p:cNvSpPr/>
          <p:nvPr/>
        </p:nvSpPr>
        <p:spPr>
          <a:xfrm>
            <a:off x="6757416" y="3291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5B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ε(t)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757416" y="3657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848856" y="3931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 açıklayamadığı gürültü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Prophet — Kod Uygulaması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8503920" cy="347472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914400"/>
            <a:ext cx="83210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prophet </a:t>
            </a:r>
            <a:pPr indent="0" marL="0">
              <a:buNone/>
            </a:pPr>
            <a:r>
              <a:rPr lang="en-US" sz="9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9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Prophet
</a:t>
            </a:r>
            <a:pPr indent="0" marL="0">
              <a:buNone/>
            </a:pPr>
            <a:r>
              <a:rPr lang="en-US" sz="9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 </a:t>
            </a:r>
            <a:pPr indent="0" marL="0">
              <a:buNone/>
            </a:pPr>
            <a:r>
              <a:rPr lang="en-US" sz="9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</a:t>
            </a:r>
            <a:pPr indent="0" marL="0">
              <a:buNone/>
            </a:pPr>
            <a:r>
              <a:rPr lang="en-US" sz="9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
</a:t>
            </a:r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Veriyi Prophet formatına dönüştür (ds, y)
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df_prophet = df[['Date', 'Sales']].rename(
</a:t>
            </a:r>
            <a:pPr indent="0" marL="0">
              <a:buNone/>
            </a:pPr>
            <a:r>
              <a:rPr lang="en-US" sz="9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columns={'Date': 'ds', 'Sales': 'y'}
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Model oluştur ve eğit
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Prophet(
</a:t>
            </a:r>
            <a:pPr indent="0" marL="0">
              <a:buNone/>
            </a:pPr>
            <a:r>
              <a:rPr lang="en-US" sz="9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yearly_seasonality=True,
</a:t>
            </a:r>
            <a:pPr indent="0" marL="0">
              <a:buNone/>
            </a:pPr>
            <a:r>
              <a:rPr lang="en-US" sz="9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weekly_seasonality=True,
</a:t>
            </a:r>
            <a:pPr indent="0" marL="0">
              <a:buNone/>
            </a:pPr>
            <a:r>
              <a:rPr lang="en-US" sz="9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changepoint_prior_scale=0.05
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model.fit(df_prophet)
</a:t>
            </a:r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90 günlük tahmin
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future = model.make_future_dataframe(periods=90)
</a:t>
            </a:r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forecast = model.predict(future)
</a:t>
            </a:r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Görselleştirme
</a:t>
            </a:r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model.plot(forecast)
</a:t>
            </a:r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model.plot_components(forecast)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Uygulama: Adidas US Sales Satış Tahmini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868680"/>
            <a:ext cx="4206240" cy="54864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0058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 Seti: Adidas US Sales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1371600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Kaynak: Kaggle Adidas US Sales Dataset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Dönem: 2020–2021 (2 yıllık satış verisi)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Özellikler: Tarih, ürün kategorisi, eyalet, satış tutarı, birim fiyat, kâr marjı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Amaç: Prophet ile 2022 Q1 satış tahmini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00600" y="868680"/>
            <a:ext cx="2011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00600" y="868680"/>
            <a:ext cx="2011680" cy="54864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10058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9.6K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892040" y="161848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Satış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Kaydı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949440" y="868680"/>
            <a:ext cx="1920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49440" y="868680"/>
            <a:ext cx="1920240" cy="54864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0" y="10058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7040880" y="1618488"/>
            <a:ext cx="1737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Günlük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Tahmin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00600" y="2103120"/>
            <a:ext cx="40690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2103120"/>
            <a:ext cx="4069080" cy="54864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22402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Analiz İş Akışı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983480" y="2660904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24" name="Text 22"/>
          <p:cNvSpPr/>
          <p:nvPr/>
        </p:nvSpPr>
        <p:spPr>
          <a:xfrm>
            <a:off x="4983480" y="2660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94960" y="263347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yükleme ve tarih dönüşümü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83480" y="3044952"/>
            <a:ext cx="329184" cy="329184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27" name="Text 25"/>
          <p:cNvSpPr/>
          <p:nvPr/>
        </p:nvSpPr>
        <p:spPr>
          <a:xfrm>
            <a:off x="4983480" y="3044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94960" y="30175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Günlük satış toplamı → zaman serisi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983480" y="3429000"/>
            <a:ext cx="329184" cy="329184"/>
          </a:xfrm>
          <a:prstGeom prst="ellipse">
            <a:avLst/>
          </a:prstGeom>
          <a:solidFill>
            <a:srgbClr val="E8913A"/>
          </a:solidFill>
          <a:ln/>
        </p:spPr>
      </p:sp>
      <p:sp>
        <p:nvSpPr>
          <p:cNvPr id="30" name="Text 28"/>
          <p:cNvSpPr/>
          <p:nvPr/>
        </p:nvSpPr>
        <p:spPr>
          <a:xfrm>
            <a:off x="4983480" y="3429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94960" y="34015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modeli eğitimi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983480" y="3813048"/>
            <a:ext cx="329184" cy="329184"/>
          </a:xfrm>
          <a:prstGeom prst="ellipse">
            <a:avLst/>
          </a:prstGeom>
          <a:solidFill>
            <a:srgbClr val="7C5BBF"/>
          </a:solidFill>
          <a:ln/>
        </p:spPr>
      </p:sp>
      <p:sp>
        <p:nvSpPr>
          <p:cNvPr id="33" name="Text 31"/>
          <p:cNvSpPr/>
          <p:nvPr/>
        </p:nvSpPr>
        <p:spPr>
          <a:xfrm>
            <a:off x="4983480" y="3813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94960" y="378561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günlük gelecek tahmini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983480" y="4197096"/>
            <a:ext cx="329184" cy="329184"/>
          </a:xfrm>
          <a:prstGeom prst="ellipse">
            <a:avLst/>
          </a:prstGeom>
          <a:solidFill>
            <a:srgbClr val="3A9E6B"/>
          </a:solidFill>
          <a:ln/>
        </p:spPr>
      </p:sp>
      <p:sp>
        <p:nvSpPr>
          <p:cNvPr id="36" name="Text 34"/>
          <p:cNvSpPr/>
          <p:nvPr/>
        </p:nvSpPr>
        <p:spPr>
          <a:xfrm>
            <a:off x="4983480" y="41970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394960" y="416966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ve mevsimsellik analizi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" y="2971800"/>
            <a:ext cx="4206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65760" y="2971800"/>
            <a:ext cx="4206240" cy="54864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" y="31089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Beklenen Çıktılar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48640" y="347472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Tahmin grafiği (gerçek + forecast + CI)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Trend bileşeni: Genel yükseliş eğilimi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Haftalık mevsimsellik: Haftasonu 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Yıllık mevsimsellik: Q4 (tatil sezonu) 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MAPE &lt; %15 hedefi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Öneri Sistemleri Nedir?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54864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868680"/>
            <a:ext cx="5486400" cy="54864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00584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Tanım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1353312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Kullanıcıların ilgisini çekebilecek ürünleri, içerikleri veya hizmetleri otomatik olarak tahmin eden ve öneren sistemlerdir. Kişiselleştirilmiş deneyim sunarak kullanıcı memnuniyetini ve geliri artırır.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80760" y="868680"/>
            <a:ext cx="1371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0760" y="868680"/>
            <a:ext cx="1371600" cy="54864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4" name="Text 12"/>
          <p:cNvSpPr/>
          <p:nvPr/>
        </p:nvSpPr>
        <p:spPr>
          <a:xfrm>
            <a:off x="6080760" y="10058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%35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172200" y="161848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Geliri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589520" y="868680"/>
            <a:ext cx="12801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589520" y="868680"/>
            <a:ext cx="1280160" cy="54864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8" name="Text 16"/>
          <p:cNvSpPr/>
          <p:nvPr/>
        </p:nvSpPr>
        <p:spPr>
          <a:xfrm>
            <a:off x="7589520" y="100584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%80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7680960" y="161848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İzlenmesi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2286000"/>
            <a:ext cx="19659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286000"/>
            <a:ext cx="1965960" cy="54864"/>
          </a:xfrm>
          <a:prstGeom prst="rect">
            <a:avLst/>
          </a:prstGeom>
          <a:solidFill>
            <a:srgbClr val="D94F4F"/>
          </a:solidFill>
          <a:ln/>
        </p:spPr>
      </p:sp>
      <p:sp>
        <p:nvSpPr>
          <p:cNvPr id="22" name="Shape 20"/>
          <p:cNvSpPr/>
          <p:nvPr/>
        </p:nvSpPr>
        <p:spPr>
          <a:xfrm>
            <a:off x="502920" y="2468880"/>
            <a:ext cx="1691640" cy="457200"/>
          </a:xfrm>
          <a:prstGeom prst="rect">
            <a:avLst/>
          </a:prstGeom>
          <a:solidFill>
            <a:srgbClr val="D94F4F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24688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Netflix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2920" y="30175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İzleme geçmişi + puanlama → film/dizi önerisi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920" y="37033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4F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300M+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02920" y="41148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514600" y="2286000"/>
            <a:ext cx="19659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514600" y="2286000"/>
            <a:ext cx="1965960" cy="54864"/>
          </a:xfrm>
          <a:prstGeom prst="rect">
            <a:avLst/>
          </a:prstGeom>
          <a:solidFill>
            <a:srgbClr val="3A9E6B"/>
          </a:solidFill>
          <a:ln/>
        </p:spPr>
      </p:sp>
      <p:sp>
        <p:nvSpPr>
          <p:cNvPr id="29" name="Shape 27"/>
          <p:cNvSpPr/>
          <p:nvPr/>
        </p:nvSpPr>
        <p:spPr>
          <a:xfrm>
            <a:off x="2651760" y="2468880"/>
            <a:ext cx="1691640" cy="457200"/>
          </a:xfrm>
          <a:prstGeom prst="rect">
            <a:avLst/>
          </a:prstGeom>
          <a:solidFill>
            <a:srgbClr val="3A9E6B"/>
          </a:solidFill>
          <a:ln/>
        </p:spPr>
      </p:sp>
      <p:sp>
        <p:nvSpPr>
          <p:cNvPr id="30" name="Text 28"/>
          <p:cNvSpPr/>
          <p:nvPr/>
        </p:nvSpPr>
        <p:spPr>
          <a:xfrm>
            <a:off x="2651760" y="24688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Spotify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2651760" y="30175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Dinleme alışkanlıkları → haftalık keşif listesi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651760" y="37033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600M+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2651760" y="41148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2286000"/>
            <a:ext cx="19659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2286000"/>
            <a:ext cx="1965960" cy="54864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36" name="Shape 34"/>
          <p:cNvSpPr/>
          <p:nvPr/>
        </p:nvSpPr>
        <p:spPr>
          <a:xfrm>
            <a:off x="4800600" y="2468880"/>
            <a:ext cx="1691640" cy="4572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37" name="Text 35"/>
          <p:cNvSpPr/>
          <p:nvPr/>
        </p:nvSpPr>
        <p:spPr>
          <a:xfrm>
            <a:off x="4800600" y="24688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Amazon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800600" y="30175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Satın alma + göz atma → ürün önerisi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00600" y="37033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350M+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4800600" y="41148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812280" y="2286000"/>
            <a:ext cx="19659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812280" y="2286000"/>
            <a:ext cx="1965960" cy="54864"/>
          </a:xfrm>
          <a:prstGeom prst="rect">
            <a:avLst/>
          </a:prstGeom>
          <a:solidFill>
            <a:srgbClr val="4A7FC7"/>
          </a:solidFill>
          <a:ln/>
        </p:spPr>
      </p:sp>
      <p:sp>
        <p:nvSpPr>
          <p:cNvPr id="43" name="Shape 41"/>
          <p:cNvSpPr/>
          <p:nvPr/>
        </p:nvSpPr>
        <p:spPr>
          <a:xfrm>
            <a:off x="6949440" y="2468880"/>
            <a:ext cx="1691640" cy="457200"/>
          </a:xfrm>
          <a:prstGeom prst="rect">
            <a:avLst/>
          </a:prstGeom>
          <a:solidFill>
            <a:srgbClr val="4A7FC7"/>
          </a:solidFill>
          <a:ln/>
        </p:spPr>
      </p:sp>
      <p:sp>
        <p:nvSpPr>
          <p:cNvPr id="44" name="Text 42"/>
          <p:cNvSpPr/>
          <p:nvPr/>
        </p:nvSpPr>
        <p:spPr>
          <a:xfrm>
            <a:off x="6949440" y="24688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YouTube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949440" y="30175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İzleme süresi + etkileşim → video önerisi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949440" y="37033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7F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2B+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6949440" y="41148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İçerik Tabanlı vs İşbirlikçi Filtreleme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40233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868680"/>
            <a:ext cx="4023360" cy="54864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1005840"/>
            <a:ext cx="3749040" cy="50292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0058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İçerik Tabanlı (Content-based)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1645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2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Öğenin özellikleri ile kullanıcı profilini eşleştirir.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1488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Ürün/içerik özelliklerini analiz eder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Kullanıcının geçmiş tercihlerini kullanır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Yeni kullanıcı sorunu (cold start) az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TF-IDF, cosine similarity kullanır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291840"/>
            <a:ext cx="3657600" cy="1051560"/>
          </a:xfrm>
          <a:prstGeom prst="rect">
            <a:avLst/>
          </a:prstGeom>
          <a:solidFill>
            <a:srgbClr val="FEF5EE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291840"/>
            <a:ext cx="54864" cy="105156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36499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5800" y="36118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"Aksiyon filmi sevdin → benzer aksiyon filmleri öner"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Filmin türü, yönetmeni, oyuncuları analiz edilir.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54880" y="868680"/>
            <a:ext cx="4114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868680"/>
            <a:ext cx="4114800" cy="54864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20" name="Shape 18"/>
          <p:cNvSpPr/>
          <p:nvPr/>
        </p:nvSpPr>
        <p:spPr>
          <a:xfrm>
            <a:off x="4892040" y="1005840"/>
            <a:ext cx="3840480" cy="5029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10058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İşbirlikçi Filtreleme (Collaborative)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37760" y="1645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2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Benzer kullanıcıların tercihlerini kullanır.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21488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Kullanıcı-öğe etkileşim matrisini analiz eder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Öğe özelliklerine ihtiyaç duymaz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Sürpriz öneriler yapabilir (serendipity)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SVD, ALS, NMF gibi matris ayrıştırma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37760" y="3291840"/>
            <a:ext cx="3749040" cy="1051560"/>
          </a:xfrm>
          <a:prstGeom prst="rect">
            <a:avLst/>
          </a:prstGeom>
          <a:solidFill>
            <a:srgbClr val="FEF5EE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37760" y="3291840"/>
            <a:ext cx="54864" cy="10515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26" name="Text 24"/>
          <p:cNvSpPr/>
          <p:nvPr/>
        </p:nvSpPr>
        <p:spPr>
          <a:xfrm>
            <a:off x="5074920" y="33649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Örnek: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74920" y="36118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"Sana benzeyen kullanıcılar şunu beğendi → sana da öner"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puanlamaları ve davranışları analiz edilir.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Collaborative Filtering — Matris Ayrıştırma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45720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868680"/>
            <a:ext cx="4572000" cy="54864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00584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Kullanıcı-Ürün Puanlama Matrisi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1417320"/>
            <a:ext cx="850392" cy="301752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417320"/>
            <a:ext cx="8503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417320" y="1417320"/>
            <a:ext cx="850392" cy="301752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14" name="Text 12"/>
          <p:cNvSpPr/>
          <p:nvPr/>
        </p:nvSpPr>
        <p:spPr>
          <a:xfrm>
            <a:off x="1417320" y="1417320"/>
            <a:ext cx="8503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0" y="1417320"/>
            <a:ext cx="850392" cy="301752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16" name="Text 14"/>
          <p:cNvSpPr/>
          <p:nvPr/>
        </p:nvSpPr>
        <p:spPr>
          <a:xfrm>
            <a:off x="2286000" y="1417320"/>
            <a:ext cx="8503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B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154680" y="1417320"/>
            <a:ext cx="850392" cy="301752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18" name="Text 16"/>
          <p:cNvSpPr/>
          <p:nvPr/>
        </p:nvSpPr>
        <p:spPr>
          <a:xfrm>
            <a:off x="3154680" y="1417320"/>
            <a:ext cx="8503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C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023360" y="1417320"/>
            <a:ext cx="850392" cy="301752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20" name="Text 18"/>
          <p:cNvSpPr/>
          <p:nvPr/>
        </p:nvSpPr>
        <p:spPr>
          <a:xfrm>
            <a:off x="4023360" y="1417320"/>
            <a:ext cx="8503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1737360"/>
            <a:ext cx="850392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1737360"/>
            <a:ext cx="8503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417320" y="1737360"/>
            <a:ext cx="850392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1417320" y="1737360"/>
            <a:ext cx="8503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0" y="1737360"/>
            <a:ext cx="850392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2286000" y="1737360"/>
            <a:ext cx="8503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154680" y="1737360"/>
            <a:ext cx="850392" cy="301752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28" name="Text 26"/>
          <p:cNvSpPr/>
          <p:nvPr/>
        </p:nvSpPr>
        <p:spPr>
          <a:xfrm>
            <a:off x="3154680" y="1737360"/>
            <a:ext cx="8503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023360" y="1737360"/>
            <a:ext cx="850392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4023360" y="1737360"/>
            <a:ext cx="8503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2057400"/>
            <a:ext cx="850392" cy="301752"/>
          </a:xfrm>
          <a:prstGeom prst="rect">
            <a:avLst/>
          </a:prstGeom>
          <a:solidFill>
            <a:srgbClr val="FEF5EE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2057400"/>
            <a:ext cx="8503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417320" y="2057400"/>
            <a:ext cx="850392" cy="301752"/>
          </a:xfrm>
          <a:prstGeom prst="rect">
            <a:avLst/>
          </a:prstGeom>
          <a:solidFill>
            <a:srgbClr val="FEF5EE"/>
          </a:solidFill>
          <a:ln/>
        </p:spPr>
      </p:sp>
      <p:sp>
        <p:nvSpPr>
          <p:cNvPr id="34" name="Text 32"/>
          <p:cNvSpPr/>
          <p:nvPr/>
        </p:nvSpPr>
        <p:spPr>
          <a:xfrm>
            <a:off x="1417320" y="2057400"/>
            <a:ext cx="8503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286000" y="2057400"/>
            <a:ext cx="850392" cy="301752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36" name="Text 34"/>
          <p:cNvSpPr/>
          <p:nvPr/>
        </p:nvSpPr>
        <p:spPr>
          <a:xfrm>
            <a:off x="2286000" y="2057400"/>
            <a:ext cx="8503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154680" y="2057400"/>
            <a:ext cx="850392" cy="301752"/>
          </a:xfrm>
          <a:prstGeom prst="rect">
            <a:avLst/>
          </a:prstGeom>
          <a:solidFill>
            <a:srgbClr val="FEF5EE"/>
          </a:solidFill>
          <a:ln/>
        </p:spPr>
      </p:sp>
      <p:sp>
        <p:nvSpPr>
          <p:cNvPr id="38" name="Text 36"/>
          <p:cNvSpPr/>
          <p:nvPr/>
        </p:nvSpPr>
        <p:spPr>
          <a:xfrm>
            <a:off x="3154680" y="2057400"/>
            <a:ext cx="8503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023360" y="2057400"/>
            <a:ext cx="850392" cy="301752"/>
          </a:xfrm>
          <a:prstGeom prst="rect">
            <a:avLst/>
          </a:prstGeom>
          <a:solidFill>
            <a:srgbClr val="FEF5EE"/>
          </a:solidFill>
          <a:ln/>
        </p:spPr>
      </p:sp>
      <p:sp>
        <p:nvSpPr>
          <p:cNvPr id="40" name="Text 38"/>
          <p:cNvSpPr/>
          <p:nvPr/>
        </p:nvSpPr>
        <p:spPr>
          <a:xfrm>
            <a:off x="4023360" y="2057400"/>
            <a:ext cx="8503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8640" y="2377440"/>
            <a:ext cx="850392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548640" y="2377440"/>
            <a:ext cx="8503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Mehmet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417320" y="2377440"/>
            <a:ext cx="850392" cy="301752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44" name="Text 42"/>
          <p:cNvSpPr/>
          <p:nvPr/>
        </p:nvSpPr>
        <p:spPr>
          <a:xfrm>
            <a:off x="1417320" y="2377440"/>
            <a:ext cx="8503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286000" y="2377440"/>
            <a:ext cx="850392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2286000" y="2377440"/>
            <a:ext cx="8503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154680" y="2377440"/>
            <a:ext cx="850392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3154680" y="2377440"/>
            <a:ext cx="8503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023360" y="2377440"/>
            <a:ext cx="850392" cy="301752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50" name="Text 48"/>
          <p:cNvSpPr/>
          <p:nvPr/>
        </p:nvSpPr>
        <p:spPr>
          <a:xfrm>
            <a:off x="4023360" y="2377440"/>
            <a:ext cx="8503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48640" y="2697480"/>
            <a:ext cx="850392" cy="301752"/>
          </a:xfrm>
          <a:prstGeom prst="rect">
            <a:avLst/>
          </a:prstGeom>
          <a:solidFill>
            <a:srgbClr val="FEF5EE"/>
          </a:solidFill>
          <a:ln/>
        </p:spPr>
      </p:sp>
      <p:sp>
        <p:nvSpPr>
          <p:cNvPr id="52" name="Text 50"/>
          <p:cNvSpPr/>
          <p:nvPr/>
        </p:nvSpPr>
        <p:spPr>
          <a:xfrm>
            <a:off x="548640" y="2697480"/>
            <a:ext cx="8503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Zeynep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1417320" y="2697480"/>
            <a:ext cx="850392" cy="301752"/>
          </a:xfrm>
          <a:prstGeom prst="rect">
            <a:avLst/>
          </a:prstGeom>
          <a:solidFill>
            <a:srgbClr val="FEF5EE"/>
          </a:solidFill>
          <a:ln/>
        </p:spPr>
      </p:sp>
      <p:sp>
        <p:nvSpPr>
          <p:cNvPr id="54" name="Text 52"/>
          <p:cNvSpPr/>
          <p:nvPr/>
        </p:nvSpPr>
        <p:spPr>
          <a:xfrm>
            <a:off x="1417320" y="2697480"/>
            <a:ext cx="8503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286000" y="2697480"/>
            <a:ext cx="850392" cy="301752"/>
          </a:xfrm>
          <a:prstGeom prst="rect">
            <a:avLst/>
          </a:prstGeom>
          <a:solidFill>
            <a:srgbClr val="FEF5EE"/>
          </a:solidFill>
          <a:ln/>
        </p:spPr>
      </p:sp>
      <p:sp>
        <p:nvSpPr>
          <p:cNvPr id="56" name="Text 54"/>
          <p:cNvSpPr/>
          <p:nvPr/>
        </p:nvSpPr>
        <p:spPr>
          <a:xfrm>
            <a:off x="2286000" y="2697480"/>
            <a:ext cx="8503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154680" y="2697480"/>
            <a:ext cx="850392" cy="301752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58" name="Text 56"/>
          <p:cNvSpPr/>
          <p:nvPr/>
        </p:nvSpPr>
        <p:spPr>
          <a:xfrm>
            <a:off x="3154680" y="2697480"/>
            <a:ext cx="8503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023360" y="2697480"/>
            <a:ext cx="850392" cy="301752"/>
          </a:xfrm>
          <a:prstGeom prst="rect">
            <a:avLst/>
          </a:prstGeom>
          <a:solidFill>
            <a:srgbClr val="FEF5EE"/>
          </a:solidFill>
          <a:ln/>
        </p:spPr>
      </p:sp>
      <p:sp>
        <p:nvSpPr>
          <p:cNvPr id="60" name="Text 58"/>
          <p:cNvSpPr/>
          <p:nvPr/>
        </p:nvSpPr>
        <p:spPr>
          <a:xfrm>
            <a:off x="4023360" y="2697480"/>
            <a:ext cx="8503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166360" y="868680"/>
            <a:ext cx="37033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5166360" y="868680"/>
            <a:ext cx="3703320" cy="54864"/>
          </a:xfrm>
          <a:prstGeom prst="rect">
            <a:avLst/>
          </a:prstGeom>
          <a:solidFill>
            <a:srgbClr val="7C5BBF"/>
          </a:solidFill>
          <a:ln/>
        </p:spPr>
      </p:sp>
      <p:sp>
        <p:nvSpPr>
          <p:cNvPr id="63" name="Text 61"/>
          <p:cNvSpPr/>
          <p:nvPr/>
        </p:nvSpPr>
        <p:spPr>
          <a:xfrm>
            <a:off x="5349240" y="10058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5B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Cosine Similarity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5349240" y="13716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2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cos(A, B) = (A · B) / (||A|| × ||B||)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5349240" y="18745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Vektörler arası açıyı ölçer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0 = ilişkisiz, 1 = özdeş tercihler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Yüksek benzerlik → güçlü öneri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Seyrek matris sorununa çözüm: SVD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365760" y="3154680"/>
            <a:ext cx="8503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365760" y="3154680"/>
            <a:ext cx="8503920" cy="54864"/>
          </a:xfrm>
          <a:prstGeom prst="rect">
            <a:avLst/>
          </a:prstGeom>
          <a:solidFill>
            <a:srgbClr val="4A7FC7"/>
          </a:solidFill>
          <a:ln/>
        </p:spPr>
      </p:sp>
      <p:sp>
        <p:nvSpPr>
          <p:cNvPr id="68" name="Text 66"/>
          <p:cNvSpPr/>
          <p:nvPr/>
        </p:nvSpPr>
        <p:spPr>
          <a:xfrm>
            <a:off x="548640" y="32918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F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SVD (Singular Value Decomposition) — Matris Ayrıştırma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502920" y="3657600"/>
            <a:ext cx="263347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502920" y="3657600"/>
            <a:ext cx="2633472" cy="54864"/>
          </a:xfrm>
          <a:prstGeom prst="rect">
            <a:avLst/>
          </a:prstGeom>
          <a:solidFill>
            <a:srgbClr val="4A7FC7"/>
          </a:solidFill>
          <a:ln/>
        </p:spPr>
      </p:sp>
      <p:sp>
        <p:nvSpPr>
          <p:cNvPr id="71" name="Text 69"/>
          <p:cNvSpPr/>
          <p:nvPr/>
        </p:nvSpPr>
        <p:spPr>
          <a:xfrm>
            <a:off x="594360" y="3730752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7F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≈ U × Σ × V^T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594360" y="4005072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matrisi, kullanıcı ve öğe gizli faktörlerine ayrıştırılır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3319272" y="3657600"/>
            <a:ext cx="263347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3319272" y="3657600"/>
            <a:ext cx="2633472" cy="54864"/>
          </a:xfrm>
          <a:prstGeom prst="rect">
            <a:avLst/>
          </a:prstGeom>
          <a:solidFill>
            <a:srgbClr val="7C5BBF"/>
          </a:solidFill>
          <a:ln/>
        </p:spPr>
      </p:sp>
      <p:sp>
        <p:nvSpPr>
          <p:cNvPr id="75" name="Text 73"/>
          <p:cNvSpPr/>
          <p:nvPr/>
        </p:nvSpPr>
        <p:spPr>
          <a:xfrm>
            <a:off x="3410712" y="3730752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5B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Boyut İndirgeme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3410712" y="4005072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Binlerce boyutlu matris k boyuta indirilir (genellikle k=50-200)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6135624" y="3657600"/>
            <a:ext cx="263347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6135624" y="3657600"/>
            <a:ext cx="2633472" cy="54864"/>
          </a:xfrm>
          <a:prstGeom prst="rect">
            <a:avLst/>
          </a:prstGeom>
          <a:solidFill>
            <a:srgbClr val="3A9E6B"/>
          </a:solidFill>
          <a:ln/>
        </p:spPr>
      </p:sp>
      <p:sp>
        <p:nvSpPr>
          <p:cNvPr id="79" name="Text 77"/>
          <p:cNvSpPr/>
          <p:nvPr/>
        </p:nvSpPr>
        <p:spPr>
          <a:xfrm>
            <a:off x="6227064" y="3730752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Boşluk Doldurma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6227064" y="4005072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"?" hücreleri tahmin edilir → öneri yapılır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Film Öneri Sistemi — Surprise SVD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8503920" cy="365760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914400"/>
            <a:ext cx="83210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surprise </a:t>
            </a:r>
            <a:pPr indent="0" marL="0">
              <a:buNone/>
            </a:pPr>
            <a:r>
              <a:rPr lang="en-US" sz="9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9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Dataset, Reader, SVD
</a:t>
            </a:r>
            <a:pPr indent="0" marL="0">
              <a:buNone/>
            </a:pPr>
            <a:r>
              <a:rPr lang="en-US" sz="9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surprise.model_selection </a:t>
            </a:r>
            <a:pPr indent="0" marL="0">
              <a:buNone/>
            </a:pPr>
            <a:r>
              <a:rPr lang="en-US" sz="9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9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cross_validate
</a:t>
            </a:r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MovieLens veri seti
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Dataset.load_builtin('ml-100k')
</a:t>
            </a:r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SVD modeli oluştur ve değerlendir
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SVD(n_factors=100, n_epochs=20, lr_all=0.005)
</a:t>
            </a:r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= cross_validate(
</a:t>
            </a:r>
            <a:pPr indent="0" marL="0">
              <a:buNone/>
            </a:pPr>
            <a:r>
              <a:rPr lang="en-US" sz="9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model, data, measures=['RMSE', 'MAE'], cv=5
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print(f"RMSE: {results['test_rmse'].mean():.4f}")
</a:t>
            </a:r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Tüm veri ile eğit + tahmin
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trainset = data.build_full_trainset()
</a:t>
            </a:r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model.fit(trainset)
</a:t>
            </a:r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Kullanıcı 196 için Film 302 tahmin puanı
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 = model.predict(uid='196', iid='302')
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print(f"Tahmini puan: {pred.est:.2f}")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Yöntem Karşılaştırma Tablosu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8503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051560"/>
            <a:ext cx="8229600" cy="329184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051560"/>
            <a:ext cx="1554480" cy="329184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Özellik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103120" y="1051560"/>
            <a:ext cx="2011680" cy="329184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Kümeleme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0" y="1051560"/>
            <a:ext cx="2103120" cy="329184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 Serisi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17920" y="1051560"/>
            <a:ext cx="2468880" cy="329184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Öneri Sistemleri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1399032"/>
            <a:ext cx="822960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1399032"/>
            <a:ext cx="1554480" cy="329184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Amaç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103120" y="1399032"/>
            <a:ext cx="2011680" cy="329184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Gruplama / Segmentasyon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14800" y="1399032"/>
            <a:ext cx="2103120" cy="329184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Gelecek değer tahmini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217920" y="1399032"/>
            <a:ext cx="2468880" cy="329184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Kişiselleştirilmiş öneri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1746504"/>
            <a:ext cx="8229600" cy="329184"/>
          </a:xfrm>
          <a:prstGeom prst="rect">
            <a:avLst/>
          </a:prstGeom>
          <a:solidFill>
            <a:srgbClr val="FEF5EE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1746504"/>
            <a:ext cx="1554480" cy="329184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Tipi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03120" y="1746504"/>
            <a:ext cx="2011680" cy="329184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Özellik vektörleri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14800" y="1746504"/>
            <a:ext cx="2103120" cy="329184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Zamana bağlı sıralı veri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217920" y="1746504"/>
            <a:ext cx="2468880" cy="329184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Kullanıcı-öğe etkileşimi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" y="2093976"/>
            <a:ext cx="822960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2093976"/>
            <a:ext cx="1554480" cy="329184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103120" y="2093976"/>
            <a:ext cx="2011680" cy="329184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K-Means, DBSCAN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114800" y="2093976"/>
            <a:ext cx="2103120" cy="329184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Prophet, ARIMA, LSTM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17920" y="2093976"/>
            <a:ext cx="2468880" cy="329184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SVD, ALS, Content-based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02920" y="2441448"/>
            <a:ext cx="8229600" cy="329184"/>
          </a:xfrm>
          <a:prstGeom prst="rect">
            <a:avLst/>
          </a:prstGeom>
          <a:solidFill>
            <a:srgbClr val="FEF5EE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2441448"/>
            <a:ext cx="1554480" cy="329184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Çıktı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103120" y="2441448"/>
            <a:ext cx="2011680" cy="329184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Küme etiketi (0, 1, 2..)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114800" y="2441448"/>
            <a:ext cx="2103120" cy="329184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Sayısal tahmin + CI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17920" y="2441448"/>
            <a:ext cx="2468880" cy="329184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Top-N öneri listesi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02920" y="2788920"/>
            <a:ext cx="822960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2788920"/>
            <a:ext cx="1554480" cy="329184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Metrik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103120" y="27889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Silhouette, Inertia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114800" y="2788920"/>
            <a:ext cx="2103120" cy="329184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MAPE, RMSE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217920" y="2788920"/>
            <a:ext cx="2468880" cy="329184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RMSE, Precision@K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02920" y="3136392"/>
            <a:ext cx="8229600" cy="329184"/>
          </a:xfrm>
          <a:prstGeom prst="rect">
            <a:avLst/>
          </a:prstGeom>
          <a:solidFill>
            <a:srgbClr val="FEF5EE"/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" y="3136392"/>
            <a:ext cx="1554480" cy="329184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 Uygulaması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103120" y="3136392"/>
            <a:ext cx="2011680" cy="329184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segmentasyonu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114800" y="3136392"/>
            <a:ext cx="2103120" cy="329184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Satış/stok tahmini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217920" y="3136392"/>
            <a:ext cx="2468880" cy="329184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Ürün/içerik önerme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02920" y="3483864"/>
            <a:ext cx="822960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548640" y="3483864"/>
            <a:ext cx="1554480" cy="329184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Kütüphanesi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2103120" y="3483864"/>
            <a:ext cx="2011680" cy="329184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114800" y="3483864"/>
            <a:ext cx="2103120" cy="329184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prophet, statsmodels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217920" y="3483864"/>
            <a:ext cx="2468880" cy="329184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surprise, implicit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02920" y="3831336"/>
            <a:ext cx="8229600" cy="329184"/>
          </a:xfrm>
          <a:prstGeom prst="rect">
            <a:avLst/>
          </a:prstGeom>
          <a:solidFill>
            <a:srgbClr val="FEF5EE"/>
          </a:solidFill>
          <a:ln/>
        </p:spPr>
      </p:sp>
      <p:sp>
        <p:nvSpPr>
          <p:cNvPr id="50" name="Text 48"/>
          <p:cNvSpPr/>
          <p:nvPr/>
        </p:nvSpPr>
        <p:spPr>
          <a:xfrm>
            <a:off x="548640" y="3831336"/>
            <a:ext cx="1554480" cy="329184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Boyutu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2103120" y="3831336"/>
            <a:ext cx="2011680" cy="329184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Orta-Büyük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114800" y="3831336"/>
            <a:ext cx="2103120" cy="329184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 serisi uzunluğu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217920" y="3831336"/>
            <a:ext cx="2468880" cy="329184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Seyrek matris (sparse)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Haftalık Notebook'lar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8503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868680"/>
            <a:ext cx="8503920" cy="54864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051560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051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10058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 1: K-Means Segmentasyon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0" y="1005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kmeans_segmentasyon.ipynb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132588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Retail veri seti ile RFM analizi ve müşteri segmentasyonu. Elbow Method ve Silhouette Score ile optimal K belirleme.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1764792"/>
            <a:ext cx="1371600" cy="256032"/>
          </a:xfrm>
          <a:prstGeom prst="rect">
            <a:avLst>
              <a:gd name="adj" fmla="val 50000"/>
            </a:avLst>
          </a:prstGeom>
          <a:solidFill>
            <a:srgbClr val="C97B5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17647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057400" y="1764792"/>
            <a:ext cx="1371600" cy="256032"/>
          </a:xfrm>
          <a:prstGeom prst="rect">
            <a:avLst>
              <a:gd name="adj" fmla="val 50000"/>
            </a:avLst>
          </a:prstGeom>
          <a:solidFill>
            <a:srgbClr val="C97B5A"/>
          </a:solidFill>
          <a:ln/>
        </p:spPr>
      </p:sp>
      <p:sp>
        <p:nvSpPr>
          <p:cNvPr id="18" name="Text 16"/>
          <p:cNvSpPr/>
          <p:nvPr/>
        </p:nvSpPr>
        <p:spPr>
          <a:xfrm>
            <a:off x="2057400" y="17647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566160" y="1764792"/>
            <a:ext cx="1371600" cy="256032"/>
          </a:xfrm>
          <a:prstGeom prst="rect">
            <a:avLst>
              <a:gd name="adj" fmla="val 50000"/>
            </a:avLst>
          </a:prstGeom>
          <a:solidFill>
            <a:srgbClr val="C97B5A"/>
          </a:solidFill>
          <a:ln/>
        </p:spPr>
      </p:sp>
      <p:sp>
        <p:nvSpPr>
          <p:cNvPr id="20" name="Text 18"/>
          <p:cNvSpPr/>
          <p:nvPr/>
        </p:nvSpPr>
        <p:spPr>
          <a:xfrm>
            <a:off x="3566160" y="17647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074920" y="1764792"/>
            <a:ext cx="1371600" cy="256032"/>
          </a:xfrm>
          <a:prstGeom prst="rect">
            <a:avLst>
              <a:gd name="adj" fmla="val 50000"/>
            </a:avLst>
          </a:prstGeom>
          <a:solidFill>
            <a:srgbClr val="C97B5A"/>
          </a:solidFill>
          <a:ln/>
        </p:spPr>
      </p:sp>
      <p:sp>
        <p:nvSpPr>
          <p:cNvPr id="22" name="Text 20"/>
          <p:cNvSpPr/>
          <p:nvPr/>
        </p:nvSpPr>
        <p:spPr>
          <a:xfrm>
            <a:off x="5074920" y="17647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" y="2240280"/>
            <a:ext cx="8503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2240280"/>
            <a:ext cx="8503920" cy="54864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2423160"/>
            <a:ext cx="329184" cy="329184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2423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05840" y="23774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 2: Zaman Serisi Prophet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0" y="2377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zaman_serisi_prophet.ipynb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" y="269748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Adidas US Sales verisi ile satış tahmini. Prophet modeli, trend decomposition, mevsimsellik analizi ve 90 günlük forecast.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3136392"/>
            <a:ext cx="1371600" cy="256032"/>
          </a:xfrm>
          <a:prstGeom prst="rect">
            <a:avLst>
              <a:gd name="adj" fmla="val 50000"/>
            </a:avLst>
          </a:prstGeom>
          <a:solidFill>
            <a:srgbClr val="2B7A78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31363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057400" y="3136392"/>
            <a:ext cx="1371600" cy="256032"/>
          </a:xfrm>
          <a:prstGeom prst="rect">
            <a:avLst>
              <a:gd name="adj" fmla="val 50000"/>
            </a:avLst>
          </a:prstGeom>
          <a:solidFill>
            <a:srgbClr val="2B7A78"/>
          </a:solidFill>
          <a:ln/>
        </p:spPr>
      </p:sp>
      <p:sp>
        <p:nvSpPr>
          <p:cNvPr id="33" name="Text 31"/>
          <p:cNvSpPr/>
          <p:nvPr/>
        </p:nvSpPr>
        <p:spPr>
          <a:xfrm>
            <a:off x="2057400" y="31363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566160" y="3136392"/>
            <a:ext cx="1371600" cy="256032"/>
          </a:xfrm>
          <a:prstGeom prst="rect">
            <a:avLst>
              <a:gd name="adj" fmla="val 50000"/>
            </a:avLst>
          </a:prstGeom>
          <a:solidFill>
            <a:srgbClr val="2B7A78"/>
          </a:solidFill>
          <a:ln/>
        </p:spPr>
      </p:sp>
      <p:sp>
        <p:nvSpPr>
          <p:cNvPr id="35" name="Text 33"/>
          <p:cNvSpPr/>
          <p:nvPr/>
        </p:nvSpPr>
        <p:spPr>
          <a:xfrm>
            <a:off x="3566160" y="31363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074920" y="3136392"/>
            <a:ext cx="1371600" cy="256032"/>
          </a:xfrm>
          <a:prstGeom prst="rect">
            <a:avLst>
              <a:gd name="adj" fmla="val 50000"/>
            </a:avLst>
          </a:prstGeom>
          <a:solidFill>
            <a:srgbClr val="2B7A78"/>
          </a:solidFill>
          <a:ln/>
        </p:spPr>
      </p:sp>
      <p:sp>
        <p:nvSpPr>
          <p:cNvPr id="37" name="Text 35"/>
          <p:cNvSpPr/>
          <p:nvPr/>
        </p:nvSpPr>
        <p:spPr>
          <a:xfrm>
            <a:off x="5074920" y="31363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Mevsimsellik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65760" y="3611880"/>
            <a:ext cx="8503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65760" y="3611880"/>
            <a:ext cx="8503920" cy="54864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40" name="Shape 38"/>
          <p:cNvSpPr/>
          <p:nvPr/>
        </p:nvSpPr>
        <p:spPr>
          <a:xfrm>
            <a:off x="548640" y="3794760"/>
            <a:ext cx="329184" cy="329184"/>
          </a:xfrm>
          <a:prstGeom prst="ellipse">
            <a:avLst/>
          </a:prstGeom>
          <a:solidFill>
            <a:srgbClr val="E8913A"/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" y="3794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005840" y="37490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 3: Film Öneri Sistemi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94360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film_oneri.ipynb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48640" y="406908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MovieLens 100K veri seti ile collaborative filtering. Surprise SVD modeli, cross-validation ve kişiselleştirilmiş öneriler.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48640" y="4507992"/>
            <a:ext cx="1371600" cy="256032"/>
          </a:xfrm>
          <a:prstGeom prst="rect">
            <a:avLst>
              <a:gd name="adj" fmla="val 50000"/>
            </a:avLst>
          </a:prstGeom>
          <a:solidFill>
            <a:srgbClr val="E8913A"/>
          </a:solidFill>
          <a:ln/>
        </p:spPr>
      </p:sp>
      <p:sp>
        <p:nvSpPr>
          <p:cNvPr id="46" name="Text 44"/>
          <p:cNvSpPr/>
          <p:nvPr/>
        </p:nvSpPr>
        <p:spPr>
          <a:xfrm>
            <a:off x="548640" y="45079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057400" y="4507992"/>
            <a:ext cx="1371600" cy="256032"/>
          </a:xfrm>
          <a:prstGeom prst="rect">
            <a:avLst>
              <a:gd name="adj" fmla="val 50000"/>
            </a:avLst>
          </a:prstGeom>
          <a:solidFill>
            <a:srgbClr val="E8913A"/>
          </a:solidFill>
          <a:ln/>
        </p:spPr>
      </p:sp>
      <p:sp>
        <p:nvSpPr>
          <p:cNvPr id="48" name="Text 46"/>
          <p:cNvSpPr/>
          <p:nvPr/>
        </p:nvSpPr>
        <p:spPr>
          <a:xfrm>
            <a:off x="2057400" y="45079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MovieLens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566160" y="4507992"/>
            <a:ext cx="1371600" cy="256032"/>
          </a:xfrm>
          <a:prstGeom prst="rect">
            <a:avLst>
              <a:gd name="adj" fmla="val 50000"/>
            </a:avLst>
          </a:prstGeom>
          <a:solidFill>
            <a:srgbClr val="E8913A"/>
          </a:solidFill>
          <a:ln/>
        </p:spPr>
      </p:sp>
      <p:sp>
        <p:nvSpPr>
          <p:cNvPr id="50" name="Text 48"/>
          <p:cNvSpPr/>
          <p:nvPr/>
        </p:nvSpPr>
        <p:spPr>
          <a:xfrm>
            <a:off x="3566160" y="45079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Surprise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074920" y="4507992"/>
            <a:ext cx="1371600" cy="256032"/>
          </a:xfrm>
          <a:prstGeom prst="rect">
            <a:avLst>
              <a:gd name="adj" fmla="val 50000"/>
            </a:avLst>
          </a:prstGeom>
          <a:solidFill>
            <a:srgbClr val="E8913A"/>
          </a:solidFill>
          <a:ln/>
        </p:spPr>
      </p:sp>
      <p:sp>
        <p:nvSpPr>
          <p:cNvPr id="52" name="Text 50"/>
          <p:cNvSpPr/>
          <p:nvPr/>
        </p:nvSpPr>
        <p:spPr>
          <a:xfrm>
            <a:off x="5074920" y="45079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Ödev ve Kaynaklar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42062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868680"/>
            <a:ext cx="4206240" cy="54864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0058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 Hafta Ödevleri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1417320"/>
            <a:ext cx="3840480" cy="1097280"/>
          </a:xfrm>
          <a:prstGeom prst="rect">
            <a:avLst/>
          </a:prstGeom>
          <a:solidFill>
            <a:srgbClr val="FEF5EE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1417320"/>
            <a:ext cx="54864" cy="109728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149047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Ödev 1: Mall Customer Segmentasyon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18288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Mall Customers veri seti ile K-Means kümeleme. Müşterileri gelir ve harcama skoruna göre segmentlere ayırın. Elbow + Silhouette ile K seçin.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2651760"/>
            <a:ext cx="3840480" cy="1097280"/>
          </a:xfrm>
          <a:prstGeom prst="rect">
            <a:avLst/>
          </a:prstGeom>
          <a:solidFill>
            <a:srgbClr val="FEF5EE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2651760"/>
            <a:ext cx="54864" cy="109728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72491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Ödev 2: MovieLens Öneri Sistemi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30632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MovieLens 100K veri seti ile SVD tabanlı film öneri sistemi kurun. RMSE'yi minimize edin ve kendinize 5 film önerisi oluşturun.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00600" y="868680"/>
            <a:ext cx="40690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868680"/>
            <a:ext cx="4069080" cy="54864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10058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Faydalı Kaynaklar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83480" y="1444752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23" name="Text 21"/>
          <p:cNvSpPr/>
          <p:nvPr/>
        </p:nvSpPr>
        <p:spPr>
          <a:xfrm>
            <a:off x="4983480" y="1444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94960" y="138988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Clustering Dokümantasyonu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scikit-learn.org/stable/modules/clustering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983480" y="2066544"/>
            <a:ext cx="329184" cy="329184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26" name="Text 24"/>
          <p:cNvSpPr/>
          <p:nvPr/>
        </p:nvSpPr>
        <p:spPr>
          <a:xfrm>
            <a:off x="4983480" y="2066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94960" y="20116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Dokümantasyonu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facebook.github.io/prophet/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983480" y="2688336"/>
            <a:ext cx="329184" cy="329184"/>
          </a:xfrm>
          <a:prstGeom prst="ellipse">
            <a:avLst/>
          </a:prstGeom>
          <a:solidFill>
            <a:srgbClr val="E8913A"/>
          </a:solidFill>
          <a:ln/>
        </p:spPr>
      </p:sp>
      <p:sp>
        <p:nvSpPr>
          <p:cNvPr id="29" name="Text 27"/>
          <p:cNvSpPr/>
          <p:nvPr/>
        </p:nvSpPr>
        <p:spPr>
          <a:xfrm>
            <a:off x="4983480" y="2688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94960" y="263347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Surprise Kütüphanesi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surpriselib.com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983480" y="3310128"/>
            <a:ext cx="329184" cy="329184"/>
          </a:xfrm>
          <a:prstGeom prst="ellipse">
            <a:avLst/>
          </a:prstGeom>
          <a:solidFill>
            <a:srgbClr val="7C5BBF"/>
          </a:solidFill>
          <a:ln/>
        </p:spPr>
      </p:sp>
      <p:sp>
        <p:nvSpPr>
          <p:cNvPr id="32" name="Text 30"/>
          <p:cNvSpPr/>
          <p:nvPr/>
        </p:nvSpPr>
        <p:spPr>
          <a:xfrm>
            <a:off x="4983480" y="3310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94960" y="325526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Kaggle: Mall Customers Dataset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kaggle.com/datasets/vjchoudhary7/...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983480" y="3931920"/>
            <a:ext cx="329184" cy="329184"/>
          </a:xfrm>
          <a:prstGeom prst="ellipse">
            <a:avLst/>
          </a:prstGeom>
          <a:solidFill>
            <a:srgbClr val="4A7FC7"/>
          </a:solidFill>
          <a:ln/>
        </p:spPr>
      </p:sp>
      <p:sp>
        <p:nvSpPr>
          <p:cNvPr id="35" name="Text 33"/>
          <p:cNvSpPr/>
          <p:nvPr/>
        </p:nvSpPr>
        <p:spPr>
          <a:xfrm>
            <a:off x="4983480" y="3931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394960" y="387705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Kaggle: MovieLens 100K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kaggle.com/datasets/prajitdatta/...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5B2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Hafta 8 — Öne Çıkan Noktalar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2286000" cy="36576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solidFill>
            <a:srgbClr val="3D231A"/>
          </a:solidFill>
          <a:ln w="12700">
            <a:solidFill>
              <a:srgbClr val="5A38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069848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069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9601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Denetimsiz öğrenme, etiketsiz veriden anlamlı yapılar keşfeder — K-Means en yaygın yöntemdir.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618488"/>
            <a:ext cx="8229600" cy="548640"/>
          </a:xfrm>
          <a:prstGeom prst="rect">
            <a:avLst/>
          </a:prstGeom>
          <a:solidFill>
            <a:srgbClr val="3D231A"/>
          </a:solidFill>
          <a:ln w="12700">
            <a:solidFill>
              <a:srgbClr val="5A38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1728216"/>
            <a:ext cx="329184" cy="329184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1728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161848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analizi ile müşteri segmentasyonu, pazarlama stratejisinin temelini oluşturur.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276856"/>
            <a:ext cx="8229600" cy="548640"/>
          </a:xfrm>
          <a:prstGeom prst="rect">
            <a:avLst/>
          </a:prstGeom>
          <a:solidFill>
            <a:srgbClr val="3D231A"/>
          </a:solidFill>
          <a:ln w="12700">
            <a:solidFill>
              <a:srgbClr val="5A38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2386584"/>
            <a:ext cx="329184" cy="329184"/>
          </a:xfrm>
          <a:prstGeom prst="ellipse">
            <a:avLst/>
          </a:prstGeom>
          <a:solidFill>
            <a:srgbClr val="E8913A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23865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24128" y="2276856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Prophet, minimum kod ile güçlü zaman serisi tahminleri yapar.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935224"/>
            <a:ext cx="8229600" cy="548640"/>
          </a:xfrm>
          <a:prstGeom prst="rect">
            <a:avLst/>
          </a:prstGeom>
          <a:solidFill>
            <a:srgbClr val="3D231A"/>
          </a:solidFill>
          <a:ln w="12700">
            <a:solidFill>
              <a:srgbClr val="5A38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3044952"/>
            <a:ext cx="329184" cy="329184"/>
          </a:xfrm>
          <a:prstGeom prst="ellipse">
            <a:avLst/>
          </a:prstGeom>
          <a:solidFill>
            <a:srgbClr val="7C5BBF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3044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24128" y="2935224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Öneri sistemleri, kişiselleştirilmiş deneyim sunarak geliri %35'e kadar artırır.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593592"/>
            <a:ext cx="8229600" cy="548640"/>
          </a:xfrm>
          <a:prstGeom prst="rect">
            <a:avLst/>
          </a:prstGeom>
          <a:solidFill>
            <a:srgbClr val="3D231A"/>
          </a:solidFill>
          <a:ln w="12700">
            <a:solidFill>
              <a:srgbClr val="5A382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" y="3703320"/>
            <a:ext cx="329184" cy="329184"/>
          </a:xfrm>
          <a:prstGeom prst="ellipse">
            <a:avLst/>
          </a:prstGeom>
          <a:solidFill>
            <a:srgbClr val="3A9E6B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3703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24128" y="359359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yöntem birlikte kullanıldığında veri biliminin tam gücü ortaya çıkar.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4251960"/>
            <a:ext cx="9144000" cy="891540"/>
          </a:xfrm>
          <a:prstGeom prst="rect">
            <a:avLst/>
          </a:prstGeom>
          <a:solidFill>
            <a:srgbClr val="2E1710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3159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“Verinin dilini anlamak, geleceği şekillendirmenin ilk adımıdır.”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Murat Altun  ·  Veri Bilimi ve Yapay Zekâ Eğitimi  ·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Hafta 8: Kümeleme, Zaman Serileri ve Öneri Sistemleri</dc:title>
  <dc:subject>PptxGenJS Presentation</dc:subject>
  <dc:creator>Dr. Murat Altun</dc:creator>
  <cp:lastModifiedBy>Dr. Murat Altun</cp:lastModifiedBy>
  <cp:revision>1</cp:revision>
  <dcterms:created xsi:type="dcterms:W3CDTF">2026-04-09T11:39:42Z</dcterms:created>
  <dcterms:modified xsi:type="dcterms:W3CDTF">2026-04-09T11:39:42Z</dcterms:modified>
</cp:coreProperties>
</file>