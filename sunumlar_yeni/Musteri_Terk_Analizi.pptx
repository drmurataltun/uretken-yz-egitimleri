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Terk Oranı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8.2</c:v>
                </c:pt>
                <c:pt idx="1">
                  <c:v>7.8</c:v>
                </c:pt>
                <c:pt idx="2">
                  <c:v>7.1</c:v>
                </c:pt>
                <c:pt idx="3">
                  <c:v>6.9</c:v>
                </c:pt>
                <c:pt idx="4">
                  <c:v>6.4</c:v>
                </c:pt>
                <c:pt idx="5">
                  <c:v>5.8</c:v>
                </c:pt>
                <c:pt idx="6">
                  <c:v>5.5</c:v>
                </c:pt>
                <c:pt idx="7">
                  <c:v>4.9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272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Analizi: Nedenler, Göstergeler ve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 Stratejileri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kaybı fark edilmeden gerçekleşir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edinme, elde tutmadan 5x pahalı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artışı kârı %25-95 artırır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Tanım ve Kapsam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 (churn), bir müşterinin belirli bir zaman dilimi içinde bir ürün veya hizmeti kullanmayı bırakmasıdır.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müşterinin belirli bir süre boyunca alışveriş yapmamış, hesabını kapatmış veya aboneliğini iptal etmiş olması terk olarak kabul edilir.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Türleri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5021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Gönüllü Terk: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bilinçli olarak ayrılır (iptal, değiştirme)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84962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Terk: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başarısızlığı, hesap kapatma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19709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151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Terk: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iptal olmadan kullanımın azalması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 Formülü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508760"/>
            <a:ext cx="36576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 =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1572768"/>
            <a:ext cx="1874520" cy="27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Eden Müşteri Sayısı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847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Başı Toplam Müşteri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85048" y="16276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1.000 müşteriden 50'si terk ettiyse → %5 terk oranı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Ortalamaları (yıllık)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456432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74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20840" y="3456432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474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5-7%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Yazılım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3931920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950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3931920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950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25-35%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Kadar Önemli?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 işletmelere doğrudan finansal zarar verir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3977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5-25x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edinmenin maliyeti, elde tutmaya kıyasla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15568"/>
            <a:ext cx="3977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36592" y="19202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daha iyi deneyim sunan rakibe geçme oranı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35808"/>
            <a:ext cx="39776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912" y="384048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oranı %5 artırıldığında kâr artış üst sınırı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3580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35808"/>
            <a:ext cx="3977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200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$1.6T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36592" y="384048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ABD'de müşteri terki nedeniyle yıllık kayıp (tahmini)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tutmak, işletmenin büyümesi için en karlı stratejilerden biridir — yeni müşteri kazanmaktan çok daha verimlidir.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Nedenleri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Araştırmalar müşterilerin neden ayrıldığını ortaya koyuyor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61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956816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956816"/>
            <a:ext cx="3149194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Müşteri Hizmetleri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5179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%82'si kötü deneyim sonrası başka markaya geçiyor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15568"/>
            <a:ext cx="64008" cy="1161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0328" y="1956816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0328" y="1956816"/>
            <a:ext cx="2534717" cy="16459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/ Değer Uyumsuzluğu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179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Ödediklerinin karşılığını alamadıklarını hisseden müşteriler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1188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14016"/>
            <a:ext cx="64008" cy="1161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3255264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255264"/>
            <a:ext cx="2342693" cy="16459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İyi Rakip Teklifi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Rakibin sunduğu daha cazip fiyat, özellik veya deneyim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14016"/>
            <a:ext cx="64008" cy="1161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0328" y="3255264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0328" y="3255264"/>
            <a:ext cx="2073859" cy="16459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Düşüklüğü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yeterince kullanmayan müşteriler zamanla ayrılır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712464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12464"/>
            <a:ext cx="64008" cy="1161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" y="4553712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" y="4553712"/>
            <a:ext cx="1805026" cy="16459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Ürün/Hizmet Sorunları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teknik sorunlar, eksik özellikler, düşük kalite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77640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3712464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712464"/>
            <a:ext cx="64008" cy="1161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0328" y="4553712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328" y="4553712"/>
            <a:ext cx="1459382" cy="164592"/>
          </a:xfrm>
          <a:prstGeom prst="rect">
            <a:avLst/>
          </a:prstGeom>
          <a:solidFill>
            <a:srgbClr val="475569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 Değişimi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ihtiyaçları artık ürünle örtüşmüyor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6760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Uyarı Sinyalleri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terk etmeden önce verdiği davranışsal ipuçları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Davranışsal Göstergeler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45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57276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Kullanım sıklığı azalıyor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veya işlem sayısında düşüş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176272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Belirli özellikleri kullanmayı bıraktı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önce aktif kullandığı bölümler artık boş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706624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6334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Müşteri hizmetleri aramaları artıyor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Çözülemeyen sorunların işareti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236976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369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16382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Uzun oturumsuzluk süreleri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Haftalarca hesaba giriş yokluğu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767328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673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69417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Abonelik bilgilerini sorguladı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ayarlarını ziyaret, fatura kontrolleri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4297680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22452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Harcama tutarı düştü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paketlere geçiş veya ek satış reddi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78992"/>
            <a:ext cx="6400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133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Geri Bildirimi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1636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15727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NPS skoru (0-6)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196596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1901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Olumsuz yorumlar / şikâyetler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22951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22311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 katılımının azalması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26243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25603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medyada olumsuz paylaşım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99923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999232"/>
            <a:ext cx="6400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Analizi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28032" y="3547872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547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9824" y="35112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satın almanın ne kadar önce olduğu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28032" y="3931920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49824" y="389534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sıklıkla alışveriş yapıldığı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4315968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9824" y="427939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harcandığı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Tahmini Yöntemleri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ile proaktif müşteri yönetimi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 modelleri, hangi müşterinin ayrılmak üzere olduğunu önceden tespit ederek proaktif önlem alınmasını sağlar.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81912"/>
            <a:ext cx="82296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Yorumlaması kolay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eğitim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Küçük veri setleri için uygun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Doğrusal ilişkilere sınırlı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Karmaşık örüntüleri kaçırabilir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0.75-0.82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481328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581912"/>
            <a:ext cx="82296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Yüksek doğruluk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Aşırı öğrenmeye dirençli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Özellik önemini hesaplar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Yorumlanması zor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Yüksek bellek kullanımı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0.84-0.90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481328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1581912"/>
            <a:ext cx="822960" cy="246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yüksek doğruluk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Eksik veriye toleranslı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Büyük veri setleri için ideal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6364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Hiperparametre ayarı gerekli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Fazla özellik ile aşırı öğrenme riski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0.88-0.95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 Stratejileri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 için kanıtlanmış yaklaşımlar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Proaktif İletişim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" y="1746504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azaldığında otomatik e-posta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130552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 geri kazanma kampanyaları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2514600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Sadık müşterilere özel teklifler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7899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18872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Başarı Programı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0712" y="1746504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riskli müşteriler için CSM atama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130552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sağlık skoru takibi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2514600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Proaktif eğitim ve destek sunumu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078992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18872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Bağlılık &amp; Sadakat Programları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36792" y="1746504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ve ödüllendirme sistemleri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130552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müşteri avantajları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36792" y="2514600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aboneliklere geçiş teşviki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044952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&amp; Deneyim İyileştirme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4632" y="3712464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anketleriyle geri bildirim toplama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" y="4096512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sorunların kök neden analizi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" y="4480560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Kullanılmayan özelliklerin iyileştirilmesi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46120" y="3044952"/>
            <a:ext cx="2743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31546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79476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Fiyatlandırma &amp; Esneklik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410712" y="3712464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4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Duraklatma seçeneği sunma (iptal yerine)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10712" y="4096512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indirimler veya geçiş dönemleri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10712" y="4480560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044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özel paket önerileri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7220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304495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315468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72084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Kazanım Kampanyaları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336792" y="3712464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65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müşterilere özel win-back e-postaları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36792" y="4096512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"Sizi özledik" indirimleri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36792" y="4480560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ayrıldıklarını anlamak için görüşme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Metrikleri ve KPI'lar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elde tutma performansını ölçmek için temel göstergeler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Terk Oranı Trendi (%)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353312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önleme programı ile terk oranı 8.2%'den 4.9%'a düştü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987552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987552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772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₺4.820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0916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Yaşam Boyu Değeri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840" y="987552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987552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2084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%87.3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81228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Elde Tutma Oranı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17720" y="23774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237744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177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470916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20840" y="23774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20840" y="237744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084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2084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1228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Memnuniyet Skoru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17720" y="37673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17720" y="3767328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772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17720" y="4133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ay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4709160" y="4608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Abonelik Süresi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20840" y="37673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720840" y="3767328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2084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WBR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720840" y="4133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%18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812280" y="4608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Oranı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Değerler örnek verilerdir. Gerçek metrikler sektöre ve şirkete göre değişir.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Yol Haritası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analizi programı için 4 aşamalı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0574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188720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1-2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816352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davranış verilerini topla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419856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destek ve kullanım loglarını entegre 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402336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kalitesini değerlendir ve temizle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496312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96312" y="10789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8688" y="1188720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587752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&amp;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70632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0632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3-5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60904" y="281635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 yap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60904" y="3419856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 modelini eğit ve doğrula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60904" y="402336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segmentasyonu oluştur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53712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672584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72584" y="1078992"/>
            <a:ext cx="20574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188720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64024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Tasarımı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46904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6-7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37176" y="2816352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38344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bazlı müdahale planları hazırla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37176" y="3419856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38344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ve bildirim şablonları oluştur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37176" y="402336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38344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rolleri ve sorumlulukları belirle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29984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3992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6848856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48856" y="1078992"/>
            <a:ext cx="20574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71232" y="1188720"/>
            <a:ext cx="621792" cy="6217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1232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940296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Ölçüm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23176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23176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8-12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13448" y="2816352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14616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müşteri grubuyla pilot başlat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13448" y="3419856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14616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 ile etkinliği ölç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13448" y="402336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14616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Sonuçlara göre modeli ve stratejiyi güncelle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65760" y="49560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fazın sonunda bir değerlendirme noktası belirlenmeli ve bir sonraki fazın kapsamı buna göre ayarlanmalıdır.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Temel Çıkarımlar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Tespite Odaklanın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etmeden önce sinyaller verir. Davranışsal verileri sürekli izleyin ve erken uyarı sistemleri kurun.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Veriyle Destekleyin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Sezgiye değil verilere güvenin. Makine öğrenmesi modelleri risk altındaki müşterileri %80+ doğrulukla tespit edebilir.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0584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8192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tip iletişim işe yaramaz. Her müşteri segmentine özel, doğru zamanda yapılan müdahaleler terk oranını düşürür.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22034"/>
          </a:solidFill>
          <a:ln w="12700">
            <a:solidFill>
              <a:srgbClr val="1220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tutmak, büyümek için kazanmaktan daha önemlidir.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Müşteri Terk Analizi</dc:title>
  <dc:subject>PptxGenJS Presentation</dc:subject>
  <dc:creator>Dr. Murat Altun</dc:creator>
  <cp:lastModifiedBy>Dr. Murat Altun</cp:lastModifiedBy>
  <cp:revision>1</cp:revision>
  <dcterms:created xsi:type="dcterms:W3CDTF">2026-04-07T16:17:38Z</dcterms:created>
  <dcterms:modified xsi:type="dcterms:W3CDTF">2026-04-07T16:17:38Z</dcterms:modified>
</cp:coreProperties>
</file>