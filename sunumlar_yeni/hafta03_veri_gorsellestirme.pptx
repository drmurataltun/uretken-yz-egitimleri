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B7A78"/>
          </a:solidFill>
          <a:ln/>
        </p:spPr>
      </p:sp>
      <p:sp>
        <p:nvSpPr>
          <p:cNvPr id="3" name="Shape 1"/>
          <p:cNvSpPr/>
          <p:nvPr/>
        </p:nvSpPr>
        <p:spPr>
          <a:xfrm>
            <a:off x="5943600" y="0"/>
            <a:ext cx="3200400" cy="5143500"/>
          </a:xfrm>
          <a:prstGeom prst="rect">
            <a:avLst/>
          </a:prstGeom>
          <a:solidFill>
            <a:srgbClr val="4A2518"/>
          </a:solidFill>
          <a:ln/>
        </p:spPr>
      </p:sp>
      <p:sp>
        <p:nvSpPr>
          <p:cNvPr id="4" name="Shape 2"/>
          <p:cNvSpPr/>
          <p:nvPr/>
        </p:nvSpPr>
        <p:spPr>
          <a:xfrm>
            <a:off x="5943600" y="0"/>
            <a:ext cx="45720" cy="5143500"/>
          </a:xfrm>
          <a:prstGeom prst="rect">
            <a:avLst/>
          </a:prstGeom>
          <a:solidFill>
            <a:srgbClr val="C97B5A"/>
          </a:solidFill>
          <a:ln/>
        </p:spPr>
      </p:sp>
      <p:sp>
        <p:nvSpPr>
          <p:cNvPr id="5" name="Shape 3"/>
          <p:cNvSpPr/>
          <p:nvPr/>
        </p:nvSpPr>
        <p:spPr>
          <a:xfrm>
            <a:off x="457200" y="548640"/>
            <a:ext cx="2194560" cy="310896"/>
          </a:xfrm>
          <a:prstGeom prst="rect">
            <a:avLst/>
          </a:prstGeom>
          <a:solidFill>
            <a:srgbClr val="2B7A78"/>
          </a:solidFill>
          <a:ln/>
        </p:spPr>
      </p:sp>
      <p:sp>
        <p:nvSpPr>
          <p:cNvPr id="6" name="Text 4"/>
          <p:cNvSpPr/>
          <p:nvPr/>
        </p:nvSpPr>
        <p:spPr>
          <a:xfrm>
            <a:off x="457200" y="548640"/>
            <a:ext cx="2194560" cy="310896"/>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Calibri" pitchFamily="34" charset="0"/>
                <a:ea typeface="Calibri" pitchFamily="34" charset="-122"/>
                <a:cs typeface="Calibri" pitchFamily="34" charset="-120"/>
              </a:rPr>
              <a:t>VERİ BİLİMİ DERSİ</a:t>
            </a:r>
            <a:endParaRPr lang="en-US" sz="1000" dirty="0"/>
          </a:p>
        </p:txBody>
      </p:sp>
      <p:sp>
        <p:nvSpPr>
          <p:cNvPr id="7" name="Text 5"/>
          <p:cNvSpPr/>
          <p:nvPr/>
        </p:nvSpPr>
        <p:spPr>
          <a:xfrm>
            <a:off x="457200" y="1097280"/>
            <a:ext cx="5120640" cy="18288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Veri Görselleştirme</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ve Hikayeleştirme</a:t>
            </a:r>
            <a:endParaRPr lang="en-US" sz="4800" dirty="0"/>
          </a:p>
        </p:txBody>
      </p:sp>
      <p:sp>
        <p:nvSpPr>
          <p:cNvPr id="8" name="Shape 6"/>
          <p:cNvSpPr/>
          <p:nvPr/>
        </p:nvSpPr>
        <p:spPr>
          <a:xfrm>
            <a:off x="457200" y="2971800"/>
            <a:ext cx="2743200" cy="45720"/>
          </a:xfrm>
          <a:prstGeom prst="rect">
            <a:avLst/>
          </a:prstGeom>
          <a:solidFill>
            <a:srgbClr val="C97B5A"/>
          </a:solidFill>
          <a:ln/>
        </p:spPr>
      </p:sp>
      <p:sp>
        <p:nvSpPr>
          <p:cNvPr id="9" name="Text 7"/>
          <p:cNvSpPr/>
          <p:nvPr/>
        </p:nvSpPr>
        <p:spPr>
          <a:xfrm>
            <a:off x="457200" y="3154680"/>
            <a:ext cx="5120640" cy="731520"/>
          </a:xfrm>
          <a:prstGeom prst="rect">
            <a:avLst/>
          </a:prstGeom>
          <a:noFill/>
          <a:ln/>
        </p:spPr>
        <p:txBody>
          <a:bodyPr wrap="square" lIns="0" tIns="0" rIns="0" bIns="0" rtlCol="0" anchor="ctr"/>
          <a:lstStyle/>
          <a:p>
            <a:pPr indent="0" marL="0">
              <a:buNone/>
            </a:pPr>
            <a:r>
              <a:rPr lang="en-US" sz="1500" i="1" dirty="0">
                <a:solidFill>
                  <a:srgbClr val="E8C4A8"/>
                </a:solidFill>
                <a:latin typeface="Calibri" pitchFamily="34" charset="0"/>
                <a:ea typeface="Calibri" pitchFamily="34" charset="-122"/>
                <a:cs typeface="Calibri" pitchFamily="34" charset="-120"/>
              </a:rPr>
              <a:t>Hafta 3 · Modül 3 — Veriden Anlam Çıkarmak</a:t>
            </a:r>
            <a:endParaRPr lang="en-US" sz="1500" dirty="0"/>
          </a:p>
        </p:txBody>
      </p:sp>
      <p:sp>
        <p:nvSpPr>
          <p:cNvPr id="10" name="Text 8"/>
          <p:cNvSpPr/>
          <p:nvPr/>
        </p:nvSpPr>
        <p:spPr>
          <a:xfrm>
            <a:off x="457200" y="4251960"/>
            <a:ext cx="2743200" cy="292608"/>
          </a:xfrm>
          <a:prstGeom prst="rect">
            <a:avLst/>
          </a:prstGeom>
          <a:noFill/>
          <a:ln/>
        </p:spPr>
        <p:txBody>
          <a:bodyPr wrap="square" lIns="0" tIns="0" rIns="0" bIns="0" rtlCol="0" anchor="ctr"/>
          <a:lstStyle/>
          <a:p>
            <a:pPr indent="0" marL="0">
              <a:buNone/>
            </a:pPr>
            <a:r>
              <a:rPr lang="en-US" sz="1300" b="1" dirty="0">
                <a:solidFill>
                  <a:srgbClr val="C97B5A"/>
                </a:solidFill>
                <a:latin typeface="Georgia" pitchFamily="34" charset="0"/>
                <a:ea typeface="Georgia" pitchFamily="34" charset="-122"/>
                <a:cs typeface="Georgia" pitchFamily="34" charset="-120"/>
              </a:rPr>
              <a:t>Dr. Murat Altun</a:t>
            </a:r>
            <a:endParaRPr lang="en-US" sz="1300" dirty="0"/>
          </a:p>
        </p:txBody>
      </p:sp>
      <p:sp>
        <p:nvSpPr>
          <p:cNvPr id="11" name="Text 9"/>
          <p:cNvSpPr/>
          <p:nvPr/>
        </p:nvSpPr>
        <p:spPr>
          <a:xfrm>
            <a:off x="457200" y="4535424"/>
            <a:ext cx="45720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Veri Bilimi ve Yapay Zekâ Eğitimi  ·  2026</a:t>
            </a:r>
            <a:endParaRPr lang="en-US" sz="1000" dirty="0"/>
          </a:p>
        </p:txBody>
      </p:sp>
      <p:sp>
        <p:nvSpPr>
          <p:cNvPr id="12" name="Text 10"/>
          <p:cNvSpPr/>
          <p:nvPr/>
        </p:nvSpPr>
        <p:spPr>
          <a:xfrm>
            <a:off x="6126480" y="320040"/>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6</a:t>
            </a:r>
            <a:endParaRPr lang="en-US" sz="3200" dirty="0"/>
          </a:p>
        </p:txBody>
      </p:sp>
      <p:sp>
        <p:nvSpPr>
          <p:cNvPr id="13" name="Text 11"/>
          <p:cNvSpPr/>
          <p:nvPr/>
        </p:nvSpPr>
        <p:spPr>
          <a:xfrm>
            <a:off x="6126480" y="822960"/>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Saat</a:t>
            </a:r>
            <a:endParaRPr lang="en-US" sz="1000" dirty="0"/>
          </a:p>
        </p:txBody>
      </p:sp>
      <p:sp>
        <p:nvSpPr>
          <p:cNvPr id="14" name="Shape 12"/>
          <p:cNvSpPr/>
          <p:nvPr/>
        </p:nvSpPr>
        <p:spPr>
          <a:xfrm>
            <a:off x="6583680" y="1371600"/>
            <a:ext cx="1920240" cy="18288"/>
          </a:xfrm>
          <a:prstGeom prst="rect">
            <a:avLst/>
          </a:prstGeom>
          <a:solidFill>
            <a:srgbClr val="6B3A28"/>
          </a:solidFill>
          <a:ln/>
        </p:spPr>
      </p:sp>
      <p:sp>
        <p:nvSpPr>
          <p:cNvPr id="15" name="Text 13"/>
          <p:cNvSpPr/>
          <p:nvPr/>
        </p:nvSpPr>
        <p:spPr>
          <a:xfrm>
            <a:off x="6126480" y="1527048"/>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4</a:t>
            </a:r>
            <a:endParaRPr lang="en-US" sz="3200" dirty="0"/>
          </a:p>
        </p:txBody>
      </p:sp>
      <p:sp>
        <p:nvSpPr>
          <p:cNvPr id="16" name="Text 14"/>
          <p:cNvSpPr/>
          <p:nvPr/>
        </p:nvSpPr>
        <p:spPr>
          <a:xfrm>
            <a:off x="6126480" y="2029968"/>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Notebook</a:t>
            </a:r>
            <a:endParaRPr lang="en-US" sz="1000" dirty="0"/>
          </a:p>
        </p:txBody>
      </p:sp>
      <p:sp>
        <p:nvSpPr>
          <p:cNvPr id="17" name="Shape 15"/>
          <p:cNvSpPr/>
          <p:nvPr/>
        </p:nvSpPr>
        <p:spPr>
          <a:xfrm>
            <a:off x="6583680" y="2578608"/>
            <a:ext cx="1920240" cy="18288"/>
          </a:xfrm>
          <a:prstGeom prst="rect">
            <a:avLst/>
          </a:prstGeom>
          <a:solidFill>
            <a:srgbClr val="6B3A28"/>
          </a:solidFill>
          <a:ln/>
        </p:spPr>
      </p:sp>
      <p:sp>
        <p:nvSpPr>
          <p:cNvPr id="18" name="Text 16"/>
          <p:cNvSpPr/>
          <p:nvPr/>
        </p:nvSpPr>
        <p:spPr>
          <a:xfrm>
            <a:off x="6126480" y="2734056"/>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5+</a:t>
            </a:r>
            <a:endParaRPr lang="en-US" sz="3200" dirty="0"/>
          </a:p>
        </p:txBody>
      </p:sp>
      <p:sp>
        <p:nvSpPr>
          <p:cNvPr id="19" name="Text 17"/>
          <p:cNvSpPr/>
          <p:nvPr/>
        </p:nvSpPr>
        <p:spPr>
          <a:xfrm>
            <a:off x="6126480" y="3236976"/>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Grafik Türü</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İçindekiler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GENEL BAKIŞ</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1005840"/>
            <a:ext cx="8229600" cy="8229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1005840"/>
            <a:ext cx="54864" cy="822960"/>
          </a:xfrm>
          <a:prstGeom prst="rect">
            <a:avLst/>
          </a:prstGeom>
          <a:solidFill>
            <a:srgbClr val="C97B5A"/>
          </a:solidFill>
          <a:ln/>
        </p:spPr>
      </p:sp>
      <p:sp>
        <p:nvSpPr>
          <p:cNvPr id="10" name="Shape 8"/>
          <p:cNvSpPr/>
          <p:nvPr/>
        </p:nvSpPr>
        <p:spPr>
          <a:xfrm>
            <a:off x="640080" y="1252728"/>
            <a:ext cx="329184" cy="329184"/>
          </a:xfrm>
          <a:prstGeom prst="ellipse">
            <a:avLst/>
          </a:prstGeom>
          <a:solidFill>
            <a:srgbClr val="C97B5A"/>
          </a:solidFill>
          <a:ln/>
        </p:spPr>
      </p:sp>
      <p:sp>
        <p:nvSpPr>
          <p:cNvPr id="11" name="Text 9"/>
          <p:cNvSpPr/>
          <p:nvPr/>
        </p:nvSpPr>
        <p:spPr>
          <a:xfrm>
            <a:off x="640080" y="12527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1097280" y="1078992"/>
            <a:ext cx="3657600" cy="347472"/>
          </a:xfrm>
          <a:prstGeom prst="rect">
            <a:avLst/>
          </a:prstGeom>
          <a:noFill/>
          <a:ln/>
        </p:spPr>
        <p:txBody>
          <a:bodyPr wrap="square" rtlCol="0" anchor="ctr"/>
          <a:lstStyle/>
          <a:p>
            <a:pPr indent="0" marL="0">
              <a:buNone/>
            </a:pPr>
            <a:r>
              <a:rPr lang="en-US" sz="1400" b="1" dirty="0">
                <a:solidFill>
                  <a:srgbClr val="5B2C1E"/>
                </a:solidFill>
                <a:latin typeface="Georgia" pitchFamily="34" charset="0"/>
                <a:ea typeface="Georgia" pitchFamily="34" charset="-122"/>
                <a:cs typeface="Georgia" pitchFamily="34" charset="-120"/>
              </a:rPr>
              <a:t>Matplotlib Temelleri</a:t>
            </a:r>
            <a:endParaRPr lang="en-US" sz="1400" dirty="0"/>
          </a:p>
        </p:txBody>
      </p:sp>
      <p:sp>
        <p:nvSpPr>
          <p:cNvPr id="13" name="Text 11"/>
          <p:cNvSpPr/>
          <p:nvPr/>
        </p:nvSpPr>
        <p:spPr>
          <a:xfrm>
            <a:off x="1097280" y="1426464"/>
            <a:ext cx="5029200" cy="320040"/>
          </a:xfrm>
          <a:prstGeom prst="rect">
            <a:avLst/>
          </a:prstGeom>
          <a:noFill/>
          <a:ln/>
        </p:spPr>
        <p:txBody>
          <a:bodyPr wrap="square" rtlCol="0" anchor="ctr"/>
          <a:lstStyle/>
          <a:p>
            <a:pPr indent="0" marL="0">
              <a:buNone/>
            </a:pPr>
            <a:r>
              <a:rPr lang="en-US" sz="1000" dirty="0">
                <a:solidFill>
                  <a:srgbClr val="6B5B52"/>
                </a:solidFill>
                <a:latin typeface="Calibri" pitchFamily="34" charset="0"/>
                <a:ea typeface="Calibri" pitchFamily="34" charset="-122"/>
                <a:cs typeface="Calibri" pitchFamily="34" charset="-120"/>
              </a:rPr>
              <a:t>Line, bar, histogram, scatter, pie chart; grafik özelleştirme</a:t>
            </a:r>
            <a:endParaRPr lang="en-US" sz="1000" dirty="0"/>
          </a:p>
        </p:txBody>
      </p:sp>
      <p:sp>
        <p:nvSpPr>
          <p:cNvPr id="14" name="Text 12"/>
          <p:cNvSpPr/>
          <p:nvPr/>
        </p:nvSpPr>
        <p:spPr>
          <a:xfrm>
            <a:off x="6858000" y="1234440"/>
            <a:ext cx="1645920" cy="365760"/>
          </a:xfrm>
          <a:prstGeom prst="rect">
            <a:avLst/>
          </a:prstGeom>
          <a:noFill/>
          <a:ln/>
        </p:spPr>
        <p:txBody>
          <a:bodyPr wrap="square" rtlCol="0" anchor="ctr"/>
          <a:lstStyle/>
          <a:p>
            <a:pPr algn="ctr" indent="0" marL="0">
              <a:buNone/>
            </a:pPr>
            <a:r>
              <a:rPr lang="en-US" sz="1000" b="1" dirty="0">
                <a:solidFill>
                  <a:srgbClr val="C97B5A"/>
                </a:solidFill>
                <a:latin typeface="Calibri" pitchFamily="34" charset="0"/>
                <a:ea typeface="Calibri" pitchFamily="34" charset="-122"/>
                <a:cs typeface="Calibri" pitchFamily="34" charset="-120"/>
              </a:rPr>
              <a:t>Slayt 3–8</a:t>
            </a:r>
            <a:endParaRPr lang="en-US" sz="1000" dirty="0"/>
          </a:p>
        </p:txBody>
      </p:sp>
      <p:sp>
        <p:nvSpPr>
          <p:cNvPr id="15" name="Shape 13"/>
          <p:cNvSpPr/>
          <p:nvPr/>
        </p:nvSpPr>
        <p:spPr>
          <a:xfrm>
            <a:off x="457200" y="1965960"/>
            <a:ext cx="8229600" cy="8229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6" name="Shape 14"/>
          <p:cNvSpPr/>
          <p:nvPr/>
        </p:nvSpPr>
        <p:spPr>
          <a:xfrm>
            <a:off x="457200" y="1965960"/>
            <a:ext cx="54864" cy="822960"/>
          </a:xfrm>
          <a:prstGeom prst="rect">
            <a:avLst/>
          </a:prstGeom>
          <a:solidFill>
            <a:srgbClr val="2B7A78"/>
          </a:solidFill>
          <a:ln/>
        </p:spPr>
      </p:sp>
      <p:sp>
        <p:nvSpPr>
          <p:cNvPr id="17" name="Shape 15"/>
          <p:cNvSpPr/>
          <p:nvPr/>
        </p:nvSpPr>
        <p:spPr>
          <a:xfrm>
            <a:off x="640080" y="2212848"/>
            <a:ext cx="329184" cy="329184"/>
          </a:xfrm>
          <a:prstGeom prst="ellipse">
            <a:avLst/>
          </a:prstGeom>
          <a:solidFill>
            <a:srgbClr val="2B7A78"/>
          </a:solidFill>
          <a:ln/>
        </p:spPr>
      </p:sp>
      <p:sp>
        <p:nvSpPr>
          <p:cNvPr id="18" name="Text 16"/>
          <p:cNvSpPr/>
          <p:nvPr/>
        </p:nvSpPr>
        <p:spPr>
          <a:xfrm>
            <a:off x="640080" y="22128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p:nvPr/>
        </p:nvSpPr>
        <p:spPr>
          <a:xfrm>
            <a:off x="1097280" y="2039112"/>
            <a:ext cx="3657600" cy="347472"/>
          </a:xfrm>
          <a:prstGeom prst="rect">
            <a:avLst/>
          </a:prstGeom>
          <a:noFill/>
          <a:ln/>
        </p:spPr>
        <p:txBody>
          <a:bodyPr wrap="square" rtlCol="0" anchor="ctr"/>
          <a:lstStyle/>
          <a:p>
            <a:pPr indent="0" marL="0">
              <a:buNone/>
            </a:pPr>
            <a:r>
              <a:rPr lang="en-US" sz="1400" b="1" dirty="0">
                <a:solidFill>
                  <a:srgbClr val="5B2C1E"/>
                </a:solidFill>
                <a:latin typeface="Georgia" pitchFamily="34" charset="0"/>
                <a:ea typeface="Georgia" pitchFamily="34" charset="-122"/>
                <a:cs typeface="Georgia" pitchFamily="34" charset="-120"/>
              </a:rPr>
              <a:t>Seaborn ile İleri Görselleştirme</a:t>
            </a:r>
            <a:endParaRPr lang="en-US" sz="1400" dirty="0"/>
          </a:p>
        </p:txBody>
      </p:sp>
      <p:sp>
        <p:nvSpPr>
          <p:cNvPr id="20" name="Text 18"/>
          <p:cNvSpPr/>
          <p:nvPr/>
        </p:nvSpPr>
        <p:spPr>
          <a:xfrm>
            <a:off x="1097280" y="2386584"/>
            <a:ext cx="5029200" cy="320040"/>
          </a:xfrm>
          <a:prstGeom prst="rect">
            <a:avLst/>
          </a:prstGeom>
          <a:noFill/>
          <a:ln/>
        </p:spPr>
        <p:txBody>
          <a:bodyPr wrap="square" rtlCol="0" anchor="ctr"/>
          <a:lstStyle/>
          <a:p>
            <a:pPr indent="0" marL="0">
              <a:buNone/>
            </a:pPr>
            <a:r>
              <a:rPr lang="en-US" sz="1000" dirty="0">
                <a:solidFill>
                  <a:srgbClr val="6B5B52"/>
                </a:solidFill>
                <a:latin typeface="Calibri" pitchFamily="34" charset="0"/>
                <a:ea typeface="Calibri" pitchFamily="34" charset="-122"/>
                <a:cs typeface="Calibri" pitchFamily="34" charset="-120"/>
              </a:rPr>
              <a:t>countplot, boxplot, violinplot, heatmap, pairplot</a:t>
            </a:r>
            <a:endParaRPr lang="en-US" sz="1000" dirty="0"/>
          </a:p>
        </p:txBody>
      </p:sp>
      <p:sp>
        <p:nvSpPr>
          <p:cNvPr id="21" name="Text 19"/>
          <p:cNvSpPr/>
          <p:nvPr/>
        </p:nvSpPr>
        <p:spPr>
          <a:xfrm>
            <a:off x="6858000" y="2194560"/>
            <a:ext cx="1645920" cy="365760"/>
          </a:xfrm>
          <a:prstGeom prst="rect">
            <a:avLst/>
          </a:prstGeom>
          <a:noFill/>
          <a:ln/>
        </p:spPr>
        <p:txBody>
          <a:bodyPr wrap="square" rtlCol="0" anchor="ctr"/>
          <a:lstStyle/>
          <a:p>
            <a:pPr algn="ctr" indent="0" marL="0">
              <a:buNone/>
            </a:pPr>
            <a:r>
              <a:rPr lang="en-US" sz="1000" b="1" dirty="0">
                <a:solidFill>
                  <a:srgbClr val="2B7A78"/>
                </a:solidFill>
                <a:latin typeface="Calibri" pitchFamily="34" charset="0"/>
                <a:ea typeface="Calibri" pitchFamily="34" charset="-122"/>
                <a:cs typeface="Calibri" pitchFamily="34" charset="-120"/>
              </a:rPr>
              <a:t>Slayt 9–13</a:t>
            </a:r>
            <a:endParaRPr lang="en-US" sz="1000" dirty="0"/>
          </a:p>
        </p:txBody>
      </p:sp>
      <p:sp>
        <p:nvSpPr>
          <p:cNvPr id="22" name="Shape 20"/>
          <p:cNvSpPr/>
          <p:nvPr/>
        </p:nvSpPr>
        <p:spPr>
          <a:xfrm>
            <a:off x="457200" y="2926080"/>
            <a:ext cx="8229600" cy="8229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3" name="Shape 21"/>
          <p:cNvSpPr/>
          <p:nvPr/>
        </p:nvSpPr>
        <p:spPr>
          <a:xfrm>
            <a:off x="457200" y="2926080"/>
            <a:ext cx="54864" cy="822960"/>
          </a:xfrm>
          <a:prstGeom prst="rect">
            <a:avLst/>
          </a:prstGeom>
          <a:solidFill>
            <a:srgbClr val="E8913A"/>
          </a:solidFill>
          <a:ln/>
        </p:spPr>
      </p:sp>
      <p:sp>
        <p:nvSpPr>
          <p:cNvPr id="24" name="Shape 22"/>
          <p:cNvSpPr/>
          <p:nvPr/>
        </p:nvSpPr>
        <p:spPr>
          <a:xfrm>
            <a:off x="640080" y="3172968"/>
            <a:ext cx="329184" cy="329184"/>
          </a:xfrm>
          <a:prstGeom prst="ellipse">
            <a:avLst/>
          </a:prstGeom>
          <a:solidFill>
            <a:srgbClr val="E8913A"/>
          </a:solidFill>
          <a:ln/>
        </p:spPr>
      </p:sp>
      <p:sp>
        <p:nvSpPr>
          <p:cNvPr id="25" name="Text 23"/>
          <p:cNvSpPr/>
          <p:nvPr/>
        </p:nvSpPr>
        <p:spPr>
          <a:xfrm>
            <a:off x="640080" y="31729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p:nvPr/>
        </p:nvSpPr>
        <p:spPr>
          <a:xfrm>
            <a:off x="1097280" y="2999232"/>
            <a:ext cx="3657600" cy="347472"/>
          </a:xfrm>
          <a:prstGeom prst="rect">
            <a:avLst/>
          </a:prstGeom>
          <a:noFill/>
          <a:ln/>
        </p:spPr>
        <p:txBody>
          <a:bodyPr wrap="square" rtlCol="0" anchor="ctr"/>
          <a:lstStyle/>
          <a:p>
            <a:pPr indent="0" marL="0">
              <a:buNone/>
            </a:pPr>
            <a:r>
              <a:rPr lang="en-US" sz="1400" b="1" dirty="0">
                <a:solidFill>
                  <a:srgbClr val="5B2C1E"/>
                </a:solidFill>
                <a:latin typeface="Georgia" pitchFamily="34" charset="0"/>
                <a:ea typeface="Georgia" pitchFamily="34" charset="-122"/>
                <a:cs typeface="Georgia" pitchFamily="34" charset="-120"/>
              </a:rPr>
              <a:t>Bar Chart Race &amp; Google Trends</a:t>
            </a:r>
            <a:endParaRPr lang="en-US" sz="1400" dirty="0"/>
          </a:p>
        </p:txBody>
      </p:sp>
      <p:sp>
        <p:nvSpPr>
          <p:cNvPr id="27" name="Text 25"/>
          <p:cNvSpPr/>
          <p:nvPr/>
        </p:nvSpPr>
        <p:spPr>
          <a:xfrm>
            <a:off x="1097280" y="3346704"/>
            <a:ext cx="5029200" cy="320040"/>
          </a:xfrm>
          <a:prstGeom prst="rect">
            <a:avLst/>
          </a:prstGeom>
          <a:noFill/>
          <a:ln/>
        </p:spPr>
        <p:txBody>
          <a:bodyPr wrap="square" rtlCol="0" anchor="ctr"/>
          <a:lstStyle/>
          <a:p>
            <a:pPr indent="0" marL="0">
              <a:buNone/>
            </a:pPr>
            <a:r>
              <a:rPr lang="en-US" sz="1000" dirty="0">
                <a:solidFill>
                  <a:srgbClr val="6B5B52"/>
                </a:solidFill>
                <a:latin typeface="Calibri" pitchFamily="34" charset="0"/>
                <a:ea typeface="Calibri" pitchFamily="34" charset="-122"/>
                <a:cs typeface="Calibri" pitchFamily="34" charset="-120"/>
              </a:rPr>
              <a:t>Animasyonlu grafikler, pytrends ile veri çekme</a:t>
            </a:r>
            <a:endParaRPr lang="en-US" sz="1000" dirty="0"/>
          </a:p>
        </p:txBody>
      </p:sp>
      <p:sp>
        <p:nvSpPr>
          <p:cNvPr id="28" name="Text 26"/>
          <p:cNvSpPr/>
          <p:nvPr/>
        </p:nvSpPr>
        <p:spPr>
          <a:xfrm>
            <a:off x="6858000" y="3154680"/>
            <a:ext cx="1645920" cy="365760"/>
          </a:xfrm>
          <a:prstGeom prst="rect">
            <a:avLst/>
          </a:prstGeom>
          <a:noFill/>
          <a:ln/>
        </p:spPr>
        <p:txBody>
          <a:bodyPr wrap="square" rtlCol="0" anchor="ctr"/>
          <a:lstStyle/>
          <a:p>
            <a:pPr algn="ctr" indent="0" marL="0">
              <a:buNone/>
            </a:pPr>
            <a:r>
              <a:rPr lang="en-US" sz="1000" b="1" dirty="0">
                <a:solidFill>
                  <a:srgbClr val="E8913A"/>
                </a:solidFill>
                <a:latin typeface="Calibri" pitchFamily="34" charset="0"/>
                <a:ea typeface="Calibri" pitchFamily="34" charset="-122"/>
                <a:cs typeface="Calibri" pitchFamily="34" charset="-120"/>
              </a:rPr>
              <a:t>Slayt 14–15</a:t>
            </a:r>
            <a:endParaRPr lang="en-US" sz="1000" dirty="0"/>
          </a:p>
        </p:txBody>
      </p:sp>
      <p:sp>
        <p:nvSpPr>
          <p:cNvPr id="29" name="Shape 27"/>
          <p:cNvSpPr/>
          <p:nvPr/>
        </p:nvSpPr>
        <p:spPr>
          <a:xfrm>
            <a:off x="457200" y="3886200"/>
            <a:ext cx="8229600" cy="8229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0" name="Shape 28"/>
          <p:cNvSpPr/>
          <p:nvPr/>
        </p:nvSpPr>
        <p:spPr>
          <a:xfrm>
            <a:off x="457200" y="3886200"/>
            <a:ext cx="54864" cy="822960"/>
          </a:xfrm>
          <a:prstGeom prst="rect">
            <a:avLst/>
          </a:prstGeom>
          <a:solidFill>
            <a:srgbClr val="7C5BBF"/>
          </a:solidFill>
          <a:ln/>
        </p:spPr>
      </p:sp>
      <p:sp>
        <p:nvSpPr>
          <p:cNvPr id="31" name="Shape 29"/>
          <p:cNvSpPr/>
          <p:nvPr/>
        </p:nvSpPr>
        <p:spPr>
          <a:xfrm>
            <a:off x="640080" y="4133088"/>
            <a:ext cx="329184" cy="329184"/>
          </a:xfrm>
          <a:prstGeom prst="ellipse">
            <a:avLst/>
          </a:prstGeom>
          <a:solidFill>
            <a:srgbClr val="7C5BBF"/>
          </a:solidFill>
          <a:ln/>
        </p:spPr>
      </p:sp>
      <p:sp>
        <p:nvSpPr>
          <p:cNvPr id="32" name="Text 30"/>
          <p:cNvSpPr/>
          <p:nvPr/>
        </p:nvSpPr>
        <p:spPr>
          <a:xfrm>
            <a:off x="640080" y="41330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3" name="Text 31"/>
          <p:cNvSpPr/>
          <p:nvPr/>
        </p:nvSpPr>
        <p:spPr>
          <a:xfrm>
            <a:off x="1097280" y="3959352"/>
            <a:ext cx="3657600" cy="347472"/>
          </a:xfrm>
          <a:prstGeom prst="rect">
            <a:avLst/>
          </a:prstGeom>
          <a:noFill/>
          <a:ln/>
        </p:spPr>
        <p:txBody>
          <a:bodyPr wrap="square" rtlCol="0" anchor="ctr"/>
          <a:lstStyle/>
          <a:p>
            <a:pPr indent="0" marL="0">
              <a:buNone/>
            </a:pPr>
            <a:r>
              <a:rPr lang="en-US" sz="1400" b="1" dirty="0">
                <a:solidFill>
                  <a:srgbClr val="5B2C1E"/>
                </a:solidFill>
                <a:latin typeface="Georgia" pitchFamily="34" charset="0"/>
                <a:ea typeface="Georgia" pitchFamily="34" charset="-122"/>
                <a:cs typeface="Georgia" pitchFamily="34" charset="-120"/>
              </a:rPr>
              <a:t>Oto-EDA Araçları</a:t>
            </a:r>
            <a:endParaRPr lang="en-US" sz="1400" dirty="0"/>
          </a:p>
        </p:txBody>
      </p:sp>
      <p:sp>
        <p:nvSpPr>
          <p:cNvPr id="34" name="Text 32"/>
          <p:cNvSpPr/>
          <p:nvPr/>
        </p:nvSpPr>
        <p:spPr>
          <a:xfrm>
            <a:off x="1097280" y="4306824"/>
            <a:ext cx="5029200" cy="320040"/>
          </a:xfrm>
          <a:prstGeom prst="rect">
            <a:avLst/>
          </a:prstGeom>
          <a:noFill/>
          <a:ln/>
        </p:spPr>
        <p:txBody>
          <a:bodyPr wrap="square" rtlCol="0" anchor="ctr"/>
          <a:lstStyle/>
          <a:p>
            <a:pPr indent="0" marL="0">
              <a:buNone/>
            </a:pPr>
            <a:r>
              <a:rPr lang="en-US" sz="1000" dirty="0">
                <a:solidFill>
                  <a:srgbClr val="6B5B52"/>
                </a:solidFill>
                <a:latin typeface="Calibri" pitchFamily="34" charset="0"/>
                <a:ea typeface="Calibri" pitchFamily="34" charset="-122"/>
                <a:cs typeface="Calibri" pitchFamily="34" charset="-120"/>
              </a:rPr>
              <a:t>Sweetviz, YData-Profiling ile otomatik keşifsel analiz</a:t>
            </a:r>
            <a:endParaRPr lang="en-US" sz="1000" dirty="0"/>
          </a:p>
        </p:txBody>
      </p:sp>
      <p:sp>
        <p:nvSpPr>
          <p:cNvPr id="35" name="Text 33"/>
          <p:cNvSpPr/>
          <p:nvPr/>
        </p:nvSpPr>
        <p:spPr>
          <a:xfrm>
            <a:off x="6858000" y="4114800"/>
            <a:ext cx="1645920" cy="365760"/>
          </a:xfrm>
          <a:prstGeom prst="rect">
            <a:avLst/>
          </a:prstGeom>
          <a:noFill/>
          <a:ln/>
        </p:spPr>
        <p:txBody>
          <a:bodyPr wrap="square" rtlCol="0" anchor="ctr"/>
          <a:lstStyle/>
          <a:p>
            <a:pPr algn="ctr" indent="0" marL="0">
              <a:buNone/>
            </a:pPr>
            <a:r>
              <a:rPr lang="en-US" sz="1000" b="1" dirty="0">
                <a:solidFill>
                  <a:srgbClr val="7C5BBF"/>
                </a:solidFill>
                <a:latin typeface="Calibri" pitchFamily="34" charset="0"/>
                <a:ea typeface="Calibri" pitchFamily="34" charset="-122"/>
                <a:cs typeface="Calibri" pitchFamily="34" charset="-120"/>
              </a:rPr>
              <a:t>Slayt 16–17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Neden Görselleştirme?</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5029200" cy="2194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5029200" cy="54864"/>
          </a:xfrm>
          <a:prstGeom prst="rect">
            <a:avLst/>
          </a:prstGeom>
          <a:solidFill>
            <a:srgbClr val="C97B5A"/>
          </a:solidFill>
          <a:ln/>
        </p:spPr>
      </p:sp>
      <p:sp>
        <p:nvSpPr>
          <p:cNvPr id="10" name="Text 8"/>
          <p:cNvSpPr/>
          <p:nvPr/>
        </p:nvSpPr>
        <p:spPr>
          <a:xfrm>
            <a:off x="640080" y="1097280"/>
            <a:ext cx="45720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Anscombe Dörtlüsü (1973)</a:t>
            </a:r>
            <a:endParaRPr lang="en-US" sz="1200" dirty="0"/>
          </a:p>
        </p:txBody>
      </p:sp>
      <p:sp>
        <p:nvSpPr>
          <p:cNvPr id="11" name="Text 9"/>
          <p:cNvSpPr/>
          <p:nvPr/>
        </p:nvSpPr>
        <p:spPr>
          <a:xfrm>
            <a:off x="640080" y="1463040"/>
            <a:ext cx="4663440" cy="15544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Dört farklı veri seti aynı ortalama, varyans ve korelasyona sahiptir — ancak grafikleri birbirinden tamamen farklıdır.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Bu örnek, sadece istatistiksel özetlerin yeterli olmadığını ve görselleştirmenin neden kritik olduğunu kanıtlar.</a:t>
            </a:r>
            <a:endParaRPr lang="en-US" sz="1100" dirty="0"/>
          </a:p>
        </p:txBody>
      </p:sp>
      <p:sp>
        <p:nvSpPr>
          <p:cNvPr id="12" name="Shape 10"/>
          <p:cNvSpPr/>
          <p:nvPr/>
        </p:nvSpPr>
        <p:spPr>
          <a:xfrm>
            <a:off x="5760720" y="960120"/>
            <a:ext cx="1234440" cy="1051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5760720" y="960120"/>
            <a:ext cx="1234440" cy="54864"/>
          </a:xfrm>
          <a:prstGeom prst="rect">
            <a:avLst/>
          </a:prstGeom>
          <a:solidFill>
            <a:srgbClr val="2B7A78"/>
          </a:solidFill>
          <a:ln/>
        </p:spPr>
      </p:sp>
      <p:sp>
        <p:nvSpPr>
          <p:cNvPr id="14" name="Text 12"/>
          <p:cNvSpPr/>
          <p:nvPr/>
        </p:nvSpPr>
        <p:spPr>
          <a:xfrm>
            <a:off x="5760720" y="1097280"/>
            <a:ext cx="123444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7.5</a:t>
            </a:r>
            <a:endParaRPr lang="en-US" sz="3400" dirty="0"/>
          </a:p>
        </p:txBody>
      </p:sp>
      <p:sp>
        <p:nvSpPr>
          <p:cNvPr id="15" name="Text 13"/>
          <p:cNvSpPr/>
          <p:nvPr/>
        </p:nvSpPr>
        <p:spPr>
          <a:xfrm>
            <a:off x="5852160" y="1709928"/>
            <a:ext cx="1051560" cy="2103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Ortalama X</a:t>
            </a:r>
            <a:endParaRPr lang="en-US" sz="1050" dirty="0"/>
          </a:p>
        </p:txBody>
      </p:sp>
      <p:sp>
        <p:nvSpPr>
          <p:cNvPr id="16" name="Shape 14"/>
          <p:cNvSpPr/>
          <p:nvPr/>
        </p:nvSpPr>
        <p:spPr>
          <a:xfrm>
            <a:off x="7178040" y="960120"/>
            <a:ext cx="1234440" cy="1051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7178040" y="960120"/>
            <a:ext cx="1234440" cy="54864"/>
          </a:xfrm>
          <a:prstGeom prst="rect">
            <a:avLst/>
          </a:prstGeom>
          <a:solidFill>
            <a:srgbClr val="C97B5A"/>
          </a:solidFill>
          <a:ln/>
        </p:spPr>
      </p:sp>
      <p:sp>
        <p:nvSpPr>
          <p:cNvPr id="18" name="Text 16"/>
          <p:cNvSpPr/>
          <p:nvPr/>
        </p:nvSpPr>
        <p:spPr>
          <a:xfrm>
            <a:off x="7178040" y="1097280"/>
            <a:ext cx="1234440" cy="594360"/>
          </a:xfrm>
          <a:prstGeom prst="rect">
            <a:avLst/>
          </a:prstGeom>
          <a:noFill/>
          <a:ln/>
        </p:spPr>
        <p:txBody>
          <a:bodyPr wrap="square" lIns="0" tIns="0" rIns="0" bIns="0" rtlCol="0" anchor="ctr"/>
          <a:lstStyle/>
          <a:p>
            <a:pPr algn="ctr" indent="0" marL="0">
              <a:buNone/>
            </a:pPr>
            <a:r>
              <a:rPr lang="en-US" sz="3400" b="1" dirty="0">
                <a:solidFill>
                  <a:srgbClr val="C97B5A"/>
                </a:solidFill>
                <a:latin typeface="Georgia" pitchFamily="34" charset="0"/>
                <a:ea typeface="Georgia" pitchFamily="34" charset="-122"/>
                <a:cs typeface="Georgia" pitchFamily="34" charset="-120"/>
              </a:rPr>
              <a:t>0.82</a:t>
            </a:r>
            <a:endParaRPr lang="en-US" sz="3400" dirty="0"/>
          </a:p>
        </p:txBody>
      </p:sp>
      <p:sp>
        <p:nvSpPr>
          <p:cNvPr id="19" name="Text 17"/>
          <p:cNvSpPr/>
          <p:nvPr/>
        </p:nvSpPr>
        <p:spPr>
          <a:xfrm>
            <a:off x="7269480" y="1709928"/>
            <a:ext cx="1051560" cy="2103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Korelasyon</a:t>
            </a:r>
            <a:endParaRPr lang="en-US" sz="1050" dirty="0"/>
          </a:p>
        </p:txBody>
      </p:sp>
      <p:sp>
        <p:nvSpPr>
          <p:cNvPr id="20" name="Shape 18"/>
          <p:cNvSpPr/>
          <p:nvPr/>
        </p:nvSpPr>
        <p:spPr>
          <a:xfrm>
            <a:off x="5760720" y="2148840"/>
            <a:ext cx="2651760" cy="1005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5760720" y="2148840"/>
            <a:ext cx="2651760" cy="54864"/>
          </a:xfrm>
          <a:prstGeom prst="rect">
            <a:avLst/>
          </a:prstGeom>
          <a:solidFill>
            <a:srgbClr val="E8913A"/>
          </a:solidFill>
          <a:ln/>
        </p:spPr>
      </p:sp>
      <p:sp>
        <p:nvSpPr>
          <p:cNvPr id="22" name="Text 20"/>
          <p:cNvSpPr/>
          <p:nvPr/>
        </p:nvSpPr>
        <p:spPr>
          <a:xfrm>
            <a:off x="5760720" y="2286000"/>
            <a:ext cx="2651760" cy="594360"/>
          </a:xfrm>
          <a:prstGeom prst="rect">
            <a:avLst/>
          </a:prstGeom>
          <a:noFill/>
          <a:ln/>
        </p:spPr>
        <p:txBody>
          <a:bodyPr wrap="square" lIns="0" tIns="0" rIns="0" bIns="0" rtlCol="0" anchor="ctr"/>
          <a:lstStyle/>
          <a:p>
            <a:pPr algn="ctr" indent="0" marL="0">
              <a:buNone/>
            </a:pPr>
            <a:r>
              <a:rPr lang="en-US" sz="3400" b="1" dirty="0">
                <a:solidFill>
                  <a:srgbClr val="E8913A"/>
                </a:solidFill>
                <a:latin typeface="Georgia" pitchFamily="34" charset="0"/>
                <a:ea typeface="Georgia" pitchFamily="34" charset="-122"/>
                <a:cs typeface="Georgia" pitchFamily="34" charset="-120"/>
              </a:rPr>
              <a:t>4</a:t>
            </a:r>
            <a:endParaRPr lang="en-US" sz="3400" dirty="0"/>
          </a:p>
        </p:txBody>
      </p:sp>
      <p:sp>
        <p:nvSpPr>
          <p:cNvPr id="23" name="Text 21"/>
          <p:cNvSpPr/>
          <p:nvPr/>
        </p:nvSpPr>
        <p:spPr>
          <a:xfrm>
            <a:off x="5852160" y="2898648"/>
            <a:ext cx="2468880" cy="16459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Farklı Dağılım</a:t>
            </a:r>
            <a:endParaRPr lang="en-US" sz="1050" dirty="0"/>
          </a:p>
        </p:txBody>
      </p:sp>
      <p:sp>
        <p:nvSpPr>
          <p:cNvPr id="24" name="Shape 22"/>
          <p:cNvSpPr/>
          <p:nvPr/>
        </p:nvSpPr>
        <p:spPr>
          <a:xfrm>
            <a:off x="457200" y="3383280"/>
            <a:ext cx="822960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457200" y="3383280"/>
            <a:ext cx="54864" cy="1280160"/>
          </a:xfrm>
          <a:prstGeom prst="rect">
            <a:avLst/>
          </a:prstGeom>
          <a:solidFill>
            <a:srgbClr val="2B7A78"/>
          </a:solidFill>
          <a:ln/>
        </p:spPr>
      </p:sp>
      <p:sp>
        <p:nvSpPr>
          <p:cNvPr id="26" name="Text 24"/>
          <p:cNvSpPr/>
          <p:nvPr/>
        </p:nvSpPr>
        <p:spPr>
          <a:xfrm>
            <a:off x="640080" y="3474720"/>
            <a:ext cx="7772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Veri Görselleştirmenin Temel İlkeleri</a:t>
            </a:r>
            <a:endParaRPr lang="en-US" sz="1200" dirty="0"/>
          </a:p>
        </p:txBody>
      </p:sp>
      <p:sp>
        <p:nvSpPr>
          <p:cNvPr id="27" name="Text 25"/>
          <p:cNvSpPr/>
          <p:nvPr/>
        </p:nvSpPr>
        <p:spPr>
          <a:xfrm>
            <a:off x="640080" y="3840480"/>
            <a:ext cx="7772400" cy="7315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Doğru grafik türü seçimi: Karşılaştırma → Bar, Dağılım → Histogram, İlişki → Scatter</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 Renk, etiket ve başlık ile hikaye anlatımı (data storytelling)</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 Hedef kitleye uygun sadelik düzeyi — teknik vs yönetici raporu</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Matplotlib Temelleri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840480" cy="36576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840480" cy="54864"/>
          </a:xfrm>
          <a:prstGeom prst="rect">
            <a:avLst/>
          </a:prstGeom>
          <a:solidFill>
            <a:srgbClr val="5B2C1E"/>
          </a:solidFill>
          <a:ln/>
        </p:spPr>
      </p:sp>
      <p:sp>
        <p:nvSpPr>
          <p:cNvPr id="10" name="Text 8"/>
          <p:cNvSpPr/>
          <p:nvPr/>
        </p:nvSpPr>
        <p:spPr>
          <a:xfrm>
            <a:off x="64008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matplotlib.pyplot Modülü</a:t>
            </a:r>
            <a:endParaRPr lang="en-US" sz="1200" dirty="0"/>
          </a:p>
        </p:txBody>
      </p:sp>
      <p:sp>
        <p:nvSpPr>
          <p:cNvPr id="11" name="Text 9"/>
          <p:cNvSpPr/>
          <p:nvPr/>
        </p:nvSpPr>
        <p:spPr>
          <a:xfrm>
            <a:off x="640080" y="1463040"/>
            <a:ext cx="3474720" cy="29260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Python'un en yaygın görselleştirme kütüphanesidir. MATLAB benzeri bir arayüz sunar.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Temel bileşenler: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Figure — tüm grafiğin taşıyıcısı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Axes — tek bir grafik alanı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Artist — çizgi, metin, etiket vb.</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plt.show() ile grafiği ekrana basarsınız.</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plt.savefig() ile dosyaya kaydedersiniz.</a:t>
            </a:r>
            <a:endParaRPr lang="en-US" sz="1100" dirty="0"/>
          </a:p>
        </p:txBody>
      </p:sp>
      <p:sp>
        <p:nvSpPr>
          <p:cNvPr id="12" name="Shape 10"/>
          <p:cNvSpPr/>
          <p:nvPr/>
        </p:nvSpPr>
        <p:spPr>
          <a:xfrm>
            <a:off x="4572000" y="960120"/>
            <a:ext cx="4114800" cy="3657600"/>
          </a:xfrm>
          <a:prstGeom prst="rect">
            <a:avLst/>
          </a:prstGeom>
          <a:solidFill>
            <a:srgbClr val="1E1E2E"/>
          </a:solidFill>
          <a:ln/>
        </p:spPr>
      </p:sp>
      <p:sp>
        <p:nvSpPr>
          <p:cNvPr id="13" name="Text 11"/>
          <p:cNvSpPr/>
          <p:nvPr/>
        </p:nvSpPr>
        <p:spPr>
          <a:xfrm>
            <a:off x="4663440" y="1005840"/>
            <a:ext cx="3931920" cy="356616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import matplotlib.pyplot as plt</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Basit çizgi grafiği</a:t>
            </a:r>
            <a:pPr indent="0" marL="0">
              <a:buNone/>
            </a:pPr>
            <a:r>
              <a:rPr lang="en-US" sz="900" dirty="0">
                <a:solidFill>
                  <a:srgbClr val="CDD6F4"/>
                </a:solidFill>
                <a:latin typeface="Consolas" pitchFamily="34" charset="0"/>
                <a:ea typeface="Consolas" pitchFamily="34" charset="-122"/>
                <a:cs typeface="Consolas" pitchFamily="34" charset="-120"/>
              </a:rPr>
              <a:t>x = [1, 2, 3, 4, 5]</a:t>
            </a:r>
            <a:pPr indent="0" marL="0">
              <a:buNone/>
            </a:pPr>
            <a:r>
              <a:rPr lang="en-US" sz="900" dirty="0">
                <a:solidFill>
                  <a:srgbClr val="CDD6F4"/>
                </a:solidFill>
                <a:latin typeface="Consolas" pitchFamily="34" charset="0"/>
                <a:ea typeface="Consolas" pitchFamily="34" charset="-122"/>
                <a:cs typeface="Consolas" pitchFamily="34" charset="-120"/>
              </a:rPr>
              <a:t>y = [10, 25, 18, 32, 28]</a:t>
            </a:r>
            <a:pPr indent="0" marL="0">
              <a:buNone/>
            </a:pPr>
            <a:pPr indent="0" marL="0">
              <a:buNone/>
            </a:pPr>
            <a:r>
              <a:rPr lang="en-US" sz="900" dirty="0">
                <a:solidFill>
                  <a:srgbClr val="F9E2AF"/>
                </a:solidFill>
                <a:latin typeface="Consolas" pitchFamily="34" charset="0"/>
                <a:ea typeface="Consolas" pitchFamily="34" charset="-122"/>
                <a:cs typeface="Consolas" pitchFamily="34" charset="-120"/>
              </a:rPr>
              <a:t>plt.plot(x, y, color='teal',</a:t>
            </a:r>
            <a:pPr indent="0" marL="0">
              <a:buNone/>
            </a:pPr>
            <a:r>
              <a:rPr lang="en-US" sz="900" dirty="0">
                <a:solidFill>
                  <a:srgbClr val="F9E2AF"/>
                </a:solidFill>
                <a:latin typeface="Consolas" pitchFamily="34" charset="0"/>
                <a:ea typeface="Consolas" pitchFamily="34" charset="-122"/>
                <a:cs typeface="Consolas" pitchFamily="34" charset="-120"/>
              </a:rPr>
              <a:t>         marker='o', linewidth=2)</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plt.xlabel('Gün')</a:t>
            </a:r>
            <a:pPr indent="0" marL="0">
              <a:buNone/>
            </a:pPr>
            <a:r>
              <a:rPr lang="en-US" sz="900" dirty="0">
                <a:solidFill>
                  <a:srgbClr val="CDD6F4"/>
                </a:solidFill>
                <a:latin typeface="Consolas" pitchFamily="34" charset="0"/>
                <a:ea typeface="Consolas" pitchFamily="34" charset="-122"/>
                <a:cs typeface="Consolas" pitchFamily="34" charset="-120"/>
              </a:rPr>
              <a:t>plt.ylabel('Satış')</a:t>
            </a:r>
            <a:pPr indent="0" marL="0">
              <a:buNone/>
            </a:pPr>
            <a:r>
              <a:rPr lang="en-US" sz="900" dirty="0">
                <a:solidFill>
                  <a:srgbClr val="CDD6F4"/>
                </a:solidFill>
                <a:latin typeface="Consolas" pitchFamily="34" charset="0"/>
                <a:ea typeface="Consolas" pitchFamily="34" charset="-122"/>
                <a:cs typeface="Consolas" pitchFamily="34" charset="-120"/>
              </a:rPr>
              <a:t>plt.title('Günlük Satış Trendi')</a:t>
            </a:r>
            <a:pPr indent="0" marL="0">
              <a:buNone/>
            </a:pPr>
            <a:r>
              <a:rPr lang="en-US" sz="900" dirty="0">
                <a:solidFill>
                  <a:srgbClr val="CDD6F4"/>
                </a:solidFill>
                <a:latin typeface="Consolas" pitchFamily="34" charset="0"/>
                <a:ea typeface="Consolas" pitchFamily="34" charset="-122"/>
                <a:cs typeface="Consolas" pitchFamily="34" charset="-120"/>
              </a:rPr>
              <a:t>plt.grid(True, alpha=0.3)</a:t>
            </a:r>
            <a:pPr indent="0" marL="0">
              <a:buNone/>
            </a:pPr>
            <a:r>
              <a:rPr lang="en-US" sz="900" dirty="0">
                <a:solidFill>
                  <a:srgbClr val="A6E3A1"/>
                </a:solidFill>
                <a:latin typeface="Consolas" pitchFamily="34" charset="0"/>
                <a:ea typeface="Consolas" pitchFamily="34" charset="-122"/>
                <a:cs typeface="Consolas" pitchFamily="34" charset="-120"/>
              </a:rPr>
              <a:t>plt.show()</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Bar Grafiği ve Histogram</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18288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2B7A78"/>
          </a:solidFill>
          <a:ln/>
        </p:spPr>
      </p:sp>
      <p:sp>
        <p:nvSpPr>
          <p:cNvPr id="10" name="Text 8"/>
          <p:cNvSpPr/>
          <p:nvPr/>
        </p:nvSpPr>
        <p:spPr>
          <a:xfrm>
            <a:off x="64008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plt.bar() — Kategorik Karşılaştırma</a:t>
            </a:r>
            <a:endParaRPr lang="en-US" sz="1200" dirty="0"/>
          </a:p>
        </p:txBody>
      </p:sp>
      <p:sp>
        <p:nvSpPr>
          <p:cNvPr id="11" name="Text 9"/>
          <p:cNvSpPr/>
          <p:nvPr/>
        </p:nvSpPr>
        <p:spPr>
          <a:xfrm>
            <a:off x="640080" y="1463040"/>
            <a:ext cx="3474720" cy="11887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Kategorik değişkenlerin büyüklük karşılaştırması için kullanılır.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Parametreler: x (kategoriler), height (değerler), color, edgecolor, width, label</a:t>
            </a:r>
            <a:endParaRPr lang="en-US" sz="1100" dirty="0"/>
          </a:p>
        </p:txBody>
      </p:sp>
      <p:sp>
        <p:nvSpPr>
          <p:cNvPr id="12" name="Shape 10"/>
          <p:cNvSpPr/>
          <p:nvPr/>
        </p:nvSpPr>
        <p:spPr>
          <a:xfrm>
            <a:off x="4754880" y="960120"/>
            <a:ext cx="3931920" cy="18288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960120"/>
            <a:ext cx="3931920" cy="54864"/>
          </a:xfrm>
          <a:prstGeom prst="rect">
            <a:avLst/>
          </a:prstGeom>
          <a:solidFill>
            <a:srgbClr val="C97B5A"/>
          </a:solidFill>
          <a:ln/>
        </p:spPr>
      </p:sp>
      <p:sp>
        <p:nvSpPr>
          <p:cNvPr id="14" name="Text 12"/>
          <p:cNvSpPr/>
          <p:nvPr/>
        </p:nvSpPr>
        <p:spPr>
          <a:xfrm>
            <a:off x="493776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plt.hist() — Sürekli Dağılım</a:t>
            </a:r>
            <a:endParaRPr lang="en-US" sz="1200" dirty="0"/>
          </a:p>
        </p:txBody>
      </p:sp>
      <p:sp>
        <p:nvSpPr>
          <p:cNvPr id="15" name="Text 13"/>
          <p:cNvSpPr/>
          <p:nvPr/>
        </p:nvSpPr>
        <p:spPr>
          <a:xfrm>
            <a:off x="4937760" y="1463040"/>
            <a:ext cx="3474720" cy="11887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Sürekli bir değişkenin frekans dağılımını gösterir.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Parametreler: x (veri), bins (çubuk sayısı), alpha (şeffaflık), edgecolor, density</a:t>
            </a:r>
            <a:endParaRPr lang="en-US" sz="1100" dirty="0"/>
          </a:p>
        </p:txBody>
      </p:sp>
      <p:sp>
        <p:nvSpPr>
          <p:cNvPr id="16" name="Shape 14"/>
          <p:cNvSpPr/>
          <p:nvPr/>
        </p:nvSpPr>
        <p:spPr>
          <a:xfrm>
            <a:off x="457200" y="3017520"/>
            <a:ext cx="3931920" cy="1737360"/>
          </a:xfrm>
          <a:prstGeom prst="rect">
            <a:avLst/>
          </a:prstGeom>
          <a:solidFill>
            <a:srgbClr val="1E1E2E"/>
          </a:solidFill>
          <a:ln/>
        </p:spPr>
      </p:sp>
      <p:sp>
        <p:nvSpPr>
          <p:cNvPr id="17" name="Text 15"/>
          <p:cNvSpPr/>
          <p:nvPr/>
        </p:nvSpPr>
        <p:spPr>
          <a:xfrm>
            <a:off x="548640" y="3063240"/>
            <a:ext cx="3749040" cy="164592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Bar Grafiği</a:t>
            </a:r>
            <a:pPr indent="0" marL="0">
              <a:buNone/>
            </a:pPr>
            <a:r>
              <a:rPr lang="en-US" sz="900" dirty="0">
                <a:solidFill>
                  <a:srgbClr val="CDD6F4"/>
                </a:solidFill>
                <a:latin typeface="Consolas" pitchFamily="34" charset="0"/>
                <a:ea typeface="Consolas" pitchFamily="34" charset="-122"/>
                <a:cs typeface="Consolas" pitchFamily="34" charset="-120"/>
              </a:rPr>
              <a:t>sehirler = ['İstanbul','Ankara','İzmir']</a:t>
            </a:r>
            <a:pPr indent="0" marL="0">
              <a:buNone/>
            </a:pPr>
            <a:r>
              <a:rPr lang="en-US" sz="900" dirty="0">
                <a:solidFill>
                  <a:srgbClr val="CDD6F4"/>
                </a:solidFill>
                <a:latin typeface="Consolas" pitchFamily="34" charset="0"/>
                <a:ea typeface="Consolas" pitchFamily="34" charset="-122"/>
                <a:cs typeface="Consolas" pitchFamily="34" charset="-120"/>
              </a:rPr>
              <a:t>nufus = [16, 5.7, 4.4]</a:t>
            </a:r>
            <a:pPr indent="0" marL="0">
              <a:buNone/>
            </a:pPr>
            <a:pPr indent="0" marL="0">
              <a:buNone/>
            </a:pPr>
            <a:r>
              <a:rPr lang="en-US" sz="900" dirty="0">
                <a:solidFill>
                  <a:srgbClr val="F9E2AF"/>
                </a:solidFill>
                <a:latin typeface="Consolas" pitchFamily="34" charset="0"/>
                <a:ea typeface="Consolas" pitchFamily="34" charset="-122"/>
                <a:cs typeface="Consolas" pitchFamily="34" charset="-120"/>
              </a:rPr>
              <a:t>plt.bar(sehirler, nufus,</a:t>
            </a:r>
            <a:pPr indent="0" marL="0">
              <a:buNone/>
            </a:pPr>
            <a:r>
              <a:rPr lang="en-US" sz="900" dirty="0">
                <a:solidFill>
                  <a:srgbClr val="F9E2AF"/>
                </a:solidFill>
                <a:latin typeface="Consolas" pitchFamily="34" charset="0"/>
                <a:ea typeface="Consolas" pitchFamily="34" charset="-122"/>
                <a:cs typeface="Consolas" pitchFamily="34" charset="-120"/>
              </a:rPr>
              <a:t>        color=['#2B7A78','#C97B5A',</a:t>
            </a:r>
            <a:pPr indent="0" marL="0">
              <a:buNone/>
            </a:pPr>
            <a:r>
              <a:rPr lang="en-US" sz="900" dirty="0">
                <a:solidFill>
                  <a:srgbClr val="F9E2AF"/>
                </a:solidFill>
                <a:latin typeface="Consolas" pitchFamily="34" charset="0"/>
                <a:ea typeface="Consolas" pitchFamily="34" charset="-122"/>
                <a:cs typeface="Consolas" pitchFamily="34" charset="-120"/>
              </a:rPr>
              <a:t>               '#E8913A'])</a:t>
            </a:r>
            <a:endParaRPr lang="en-US" sz="900" dirty="0"/>
          </a:p>
        </p:txBody>
      </p:sp>
      <p:sp>
        <p:nvSpPr>
          <p:cNvPr id="18" name="Shape 16"/>
          <p:cNvSpPr/>
          <p:nvPr/>
        </p:nvSpPr>
        <p:spPr>
          <a:xfrm>
            <a:off x="4754880" y="3017520"/>
            <a:ext cx="3931920" cy="1737360"/>
          </a:xfrm>
          <a:prstGeom prst="rect">
            <a:avLst/>
          </a:prstGeom>
          <a:solidFill>
            <a:srgbClr val="1E1E2E"/>
          </a:solidFill>
          <a:ln/>
        </p:spPr>
      </p:sp>
      <p:sp>
        <p:nvSpPr>
          <p:cNvPr id="19" name="Text 17"/>
          <p:cNvSpPr/>
          <p:nvPr/>
        </p:nvSpPr>
        <p:spPr>
          <a:xfrm>
            <a:off x="4846320" y="3063240"/>
            <a:ext cx="3749040" cy="164592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Histogram</a:t>
            </a:r>
            <a:pPr indent="0" marL="0">
              <a:buNone/>
            </a:pPr>
            <a:r>
              <a:rPr lang="en-US" sz="900" dirty="0">
                <a:solidFill>
                  <a:srgbClr val="89B4FA"/>
                </a:solidFill>
                <a:latin typeface="Consolas" pitchFamily="34" charset="0"/>
                <a:ea typeface="Consolas" pitchFamily="34" charset="-122"/>
                <a:cs typeface="Consolas" pitchFamily="34" charset="-120"/>
              </a:rPr>
              <a:t>import numpy as np</a:t>
            </a:r>
            <a:pPr indent="0" marL="0">
              <a:buNone/>
            </a:pPr>
            <a:r>
              <a:rPr lang="en-US" sz="900" dirty="0">
                <a:solidFill>
                  <a:srgbClr val="CDD6F4"/>
                </a:solidFill>
                <a:latin typeface="Consolas" pitchFamily="34" charset="0"/>
                <a:ea typeface="Consolas" pitchFamily="34" charset="-122"/>
                <a:cs typeface="Consolas" pitchFamily="34" charset="-120"/>
              </a:rPr>
              <a:t>veri = np.random.normal(170, 10, 500)</a:t>
            </a:r>
            <a:pPr indent="0" marL="0">
              <a:buNone/>
            </a:pPr>
            <a:pPr indent="0" marL="0">
              <a:buNone/>
            </a:pPr>
            <a:r>
              <a:rPr lang="en-US" sz="900" dirty="0">
                <a:solidFill>
                  <a:srgbClr val="F9E2AF"/>
                </a:solidFill>
                <a:latin typeface="Consolas" pitchFamily="34" charset="0"/>
                <a:ea typeface="Consolas" pitchFamily="34" charset="-122"/>
                <a:cs typeface="Consolas" pitchFamily="34" charset="-120"/>
              </a:rPr>
              <a:t>plt.hist(veri, bins=25,</a:t>
            </a:r>
            <a:pPr indent="0" marL="0">
              <a:buNone/>
            </a:pPr>
            <a:r>
              <a:rPr lang="en-US" sz="900" dirty="0">
                <a:solidFill>
                  <a:srgbClr val="F9E2AF"/>
                </a:solidFill>
                <a:latin typeface="Consolas" pitchFamily="34" charset="0"/>
                <a:ea typeface="Consolas" pitchFamily="34" charset="-122"/>
                <a:cs typeface="Consolas" pitchFamily="34" charset="-120"/>
              </a:rPr>
              <a:t>         color='teal', alpha=0.7,</a:t>
            </a:r>
            <a:pPr indent="0" marL="0">
              <a:buNone/>
            </a:pPr>
            <a:r>
              <a:rPr lang="en-US" sz="900" dirty="0">
                <a:solidFill>
                  <a:srgbClr val="F9E2AF"/>
                </a:solidFill>
                <a:latin typeface="Consolas" pitchFamily="34" charset="0"/>
                <a:ea typeface="Consolas" pitchFamily="34" charset="-122"/>
                <a:cs typeface="Consolas" pitchFamily="34" charset="-120"/>
              </a:rPr>
              <a:t>         edgecolor='white')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Scatter Plot ve Pie Chart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4A7FC7"/>
          </a:solidFill>
          <a:ln/>
        </p:spPr>
      </p:sp>
      <p:sp>
        <p:nvSpPr>
          <p:cNvPr id="10" name="Text 8"/>
          <p:cNvSpPr/>
          <p:nvPr/>
        </p:nvSpPr>
        <p:spPr>
          <a:xfrm>
            <a:off x="64008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plt.scatter() — İlişki Analizi</a:t>
            </a:r>
            <a:endParaRPr lang="en-US" sz="1200" dirty="0"/>
          </a:p>
        </p:txBody>
      </p:sp>
      <p:sp>
        <p:nvSpPr>
          <p:cNvPr id="11" name="Text 9"/>
          <p:cNvSpPr/>
          <p:nvPr/>
        </p:nvSpPr>
        <p:spPr>
          <a:xfrm>
            <a:off x="640080" y="1463040"/>
            <a:ext cx="3474720" cy="13716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İki sürekli değişken arasındaki ilişkiyi gösterir. Noktaların dağılımı korelasyonu ortaya koyar.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Pozitif korelasyon: noktalar sağ üste doğru</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Negatif korelasyon: noktalar sağ alta doğru</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s parametresi: nokta büyüklüğü (3. değişken)</a:t>
            </a:r>
            <a:endParaRPr lang="en-US" sz="1100" dirty="0"/>
          </a:p>
        </p:txBody>
      </p:sp>
      <p:sp>
        <p:nvSpPr>
          <p:cNvPr id="12" name="Shape 10"/>
          <p:cNvSpPr/>
          <p:nvPr/>
        </p:nvSpPr>
        <p:spPr>
          <a:xfrm>
            <a:off x="4754880" y="960120"/>
            <a:ext cx="393192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960120"/>
            <a:ext cx="3931920" cy="54864"/>
          </a:xfrm>
          <a:prstGeom prst="rect">
            <a:avLst/>
          </a:prstGeom>
          <a:solidFill>
            <a:srgbClr val="D4688E"/>
          </a:solidFill>
          <a:ln/>
        </p:spPr>
      </p:sp>
      <p:sp>
        <p:nvSpPr>
          <p:cNvPr id="14" name="Text 12"/>
          <p:cNvSpPr/>
          <p:nvPr/>
        </p:nvSpPr>
        <p:spPr>
          <a:xfrm>
            <a:off x="493776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plt.pie() — Oran Gösterimi</a:t>
            </a:r>
            <a:endParaRPr lang="en-US" sz="1200" dirty="0"/>
          </a:p>
        </p:txBody>
      </p:sp>
      <p:sp>
        <p:nvSpPr>
          <p:cNvPr id="15" name="Text 13"/>
          <p:cNvSpPr/>
          <p:nvPr/>
        </p:nvSpPr>
        <p:spPr>
          <a:xfrm>
            <a:off x="4937760" y="1463040"/>
            <a:ext cx="3474720" cy="13716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Bütünün parçalarını yüzdelik dilimler halinde gösterir. 5'ten fazla kategori varsa okunabilirlik düşer.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explode: dilimi dışarı çıkar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autopct: yüzde göster ('%1.1f%%')</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startangle: başlangıç açısı</a:t>
            </a:r>
            <a:endParaRPr lang="en-US" sz="1100" dirty="0"/>
          </a:p>
        </p:txBody>
      </p:sp>
      <p:sp>
        <p:nvSpPr>
          <p:cNvPr id="16" name="Shape 14"/>
          <p:cNvSpPr/>
          <p:nvPr/>
        </p:nvSpPr>
        <p:spPr>
          <a:xfrm>
            <a:off x="457200" y="3200400"/>
            <a:ext cx="3931920" cy="1554480"/>
          </a:xfrm>
          <a:prstGeom prst="rect">
            <a:avLst/>
          </a:prstGeom>
          <a:solidFill>
            <a:srgbClr val="1E1E2E"/>
          </a:solidFill>
          <a:ln/>
        </p:spPr>
      </p:sp>
      <p:sp>
        <p:nvSpPr>
          <p:cNvPr id="17" name="Text 15"/>
          <p:cNvSpPr/>
          <p:nvPr/>
        </p:nvSpPr>
        <p:spPr>
          <a:xfrm>
            <a:off x="548640" y="3246120"/>
            <a:ext cx="3749040" cy="146304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Scatter Plot</a:t>
            </a:r>
            <a:pPr indent="0" marL="0">
              <a:buNone/>
            </a:pPr>
            <a:r>
              <a:rPr lang="en-US" sz="900" dirty="0">
                <a:solidFill>
                  <a:srgbClr val="CDD6F4"/>
                </a:solidFill>
                <a:latin typeface="Consolas" pitchFamily="34" charset="0"/>
                <a:ea typeface="Consolas" pitchFamily="34" charset="-122"/>
                <a:cs typeface="Consolas" pitchFamily="34" charset="-120"/>
              </a:rPr>
              <a:t>plt.scatter(df['Gelir'], df['Harcama'],</a:t>
            </a:r>
            <a:pPr indent="0" marL="0">
              <a:buNone/>
            </a:pPr>
            <a:r>
              <a:rPr lang="en-US" sz="900" dirty="0">
                <a:solidFill>
                  <a:srgbClr val="F9E2AF"/>
                </a:solidFill>
                <a:latin typeface="Consolas" pitchFamily="34" charset="0"/>
                <a:ea typeface="Consolas" pitchFamily="34" charset="-122"/>
                <a:cs typeface="Consolas" pitchFamily="34" charset="-120"/>
              </a:rPr>
              <a:t>           c=df['Yaş'], cmap='viridis',</a:t>
            </a:r>
            <a:pPr indent="0" marL="0">
              <a:buNone/>
            </a:pPr>
            <a:r>
              <a:rPr lang="en-US" sz="900" dirty="0">
                <a:solidFill>
                  <a:srgbClr val="F9E2AF"/>
                </a:solidFill>
                <a:latin typeface="Consolas" pitchFamily="34" charset="0"/>
                <a:ea typeface="Consolas" pitchFamily="34" charset="-122"/>
                <a:cs typeface="Consolas" pitchFamily="34" charset="-120"/>
              </a:rPr>
              <a:t>           s=50, alpha=0.6)</a:t>
            </a:r>
            <a:pPr indent="0" marL="0">
              <a:buNone/>
            </a:pPr>
            <a:r>
              <a:rPr lang="en-US" sz="900" dirty="0">
                <a:solidFill>
                  <a:srgbClr val="CDD6F4"/>
                </a:solidFill>
                <a:latin typeface="Consolas" pitchFamily="34" charset="0"/>
                <a:ea typeface="Consolas" pitchFamily="34" charset="-122"/>
                <a:cs typeface="Consolas" pitchFamily="34" charset="-120"/>
              </a:rPr>
              <a:t>plt.colorbar(label='Yaş')</a:t>
            </a:r>
            <a:endParaRPr lang="en-US" sz="900" dirty="0"/>
          </a:p>
        </p:txBody>
      </p:sp>
      <p:sp>
        <p:nvSpPr>
          <p:cNvPr id="18" name="Shape 16"/>
          <p:cNvSpPr/>
          <p:nvPr/>
        </p:nvSpPr>
        <p:spPr>
          <a:xfrm>
            <a:off x="4754880" y="3200400"/>
            <a:ext cx="3931920" cy="1554480"/>
          </a:xfrm>
          <a:prstGeom prst="rect">
            <a:avLst/>
          </a:prstGeom>
          <a:solidFill>
            <a:srgbClr val="1E1E2E"/>
          </a:solidFill>
          <a:ln/>
        </p:spPr>
      </p:sp>
      <p:sp>
        <p:nvSpPr>
          <p:cNvPr id="19" name="Text 17"/>
          <p:cNvSpPr/>
          <p:nvPr/>
        </p:nvSpPr>
        <p:spPr>
          <a:xfrm>
            <a:off x="4846320" y="3246120"/>
            <a:ext cx="3749040" cy="146304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Pie Chart</a:t>
            </a:r>
            <a:pPr indent="0" marL="0">
              <a:buNone/>
            </a:pPr>
            <a:r>
              <a:rPr lang="en-US" sz="900" dirty="0">
                <a:solidFill>
                  <a:srgbClr val="CDD6F4"/>
                </a:solidFill>
                <a:latin typeface="Consolas" pitchFamily="34" charset="0"/>
                <a:ea typeface="Consolas" pitchFamily="34" charset="-122"/>
                <a:cs typeface="Consolas" pitchFamily="34" charset="-120"/>
              </a:rPr>
              <a:t>labels = ['Python','R','SQL','Julia']</a:t>
            </a:r>
            <a:pPr indent="0" marL="0">
              <a:buNone/>
            </a:pPr>
            <a:r>
              <a:rPr lang="en-US" sz="900" dirty="0">
                <a:solidFill>
                  <a:srgbClr val="CDD6F4"/>
                </a:solidFill>
                <a:latin typeface="Consolas" pitchFamily="34" charset="0"/>
                <a:ea typeface="Consolas" pitchFamily="34" charset="-122"/>
                <a:cs typeface="Consolas" pitchFamily="34" charset="-120"/>
              </a:rPr>
              <a:t>sizes  = [55, 20, 18, 7]</a:t>
            </a:r>
            <a:pPr indent="0" marL="0">
              <a:buNone/>
            </a:pPr>
            <a:r>
              <a:rPr lang="en-US" sz="900" dirty="0">
                <a:solidFill>
                  <a:srgbClr val="F9E2AF"/>
                </a:solidFill>
                <a:latin typeface="Consolas" pitchFamily="34" charset="0"/>
                <a:ea typeface="Consolas" pitchFamily="34" charset="-122"/>
                <a:cs typeface="Consolas" pitchFamily="34" charset="-120"/>
              </a:rPr>
              <a:t>plt.pie(sizes, labels=labels,</a:t>
            </a:r>
            <a:pPr indent="0" marL="0">
              <a:buNone/>
            </a:pPr>
            <a:r>
              <a:rPr lang="en-US" sz="900" dirty="0">
                <a:solidFill>
                  <a:srgbClr val="F9E2AF"/>
                </a:solidFill>
                <a:latin typeface="Consolas" pitchFamily="34" charset="0"/>
                <a:ea typeface="Consolas" pitchFamily="34" charset="-122"/>
                <a:cs typeface="Consolas" pitchFamily="34" charset="-120"/>
              </a:rPr>
              <a:t>        autopct='%1.1f%%',</a:t>
            </a:r>
            <a:pPr indent="0" marL="0">
              <a:buNone/>
            </a:pPr>
            <a:r>
              <a:rPr lang="en-US" sz="900" dirty="0">
                <a:solidFill>
                  <a:srgbClr val="F9E2AF"/>
                </a:solidFill>
                <a:latin typeface="Consolas" pitchFamily="34" charset="0"/>
                <a:ea typeface="Consolas" pitchFamily="34" charset="-122"/>
                <a:cs typeface="Consolas" pitchFamily="34" charset="-120"/>
              </a:rPr>
              <a:t>        startangle=90)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Çoklu Grafik: plt.subplots()</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657600" cy="3749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657600" cy="54864"/>
          </a:xfrm>
          <a:prstGeom prst="rect">
            <a:avLst/>
          </a:prstGeom>
          <a:solidFill>
            <a:srgbClr val="2B7A78"/>
          </a:solidFill>
          <a:ln/>
        </p:spPr>
      </p:sp>
      <p:sp>
        <p:nvSpPr>
          <p:cNvPr id="10" name="Text 8"/>
          <p:cNvSpPr/>
          <p:nvPr/>
        </p:nvSpPr>
        <p:spPr>
          <a:xfrm>
            <a:off x="640080" y="1097280"/>
            <a:ext cx="3200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Figure ve Axes Yönetimi</a:t>
            </a:r>
            <a:endParaRPr lang="en-US" sz="1200" dirty="0"/>
          </a:p>
        </p:txBody>
      </p:sp>
      <p:sp>
        <p:nvSpPr>
          <p:cNvPr id="11" name="Text 9"/>
          <p:cNvSpPr/>
          <p:nvPr/>
        </p:nvSpPr>
        <p:spPr>
          <a:xfrm>
            <a:off x="640080" y="1463040"/>
            <a:ext cx="3200400" cy="3017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Tek bir figure içinde birden fazla grafik oluşturmak için subplots kullanılır.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Avantajları: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Farklı perspektifleri yan yana karşılaştırma</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Raporlarda alan tasarrufu</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Tutarlı eksen ve ölçek kontrolü</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Önemli parametreler: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nrows, ncols — satır ve sütun sayısı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figsize — (genişlik, yükseklik) tuple</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sharex, sharey — ortak eksen paylaşımı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tight_layout() — otomatik boşluk ayarı</a:t>
            </a:r>
            <a:endParaRPr lang="en-US" sz="1100" dirty="0"/>
          </a:p>
        </p:txBody>
      </p:sp>
      <p:sp>
        <p:nvSpPr>
          <p:cNvPr id="12" name="Shape 10"/>
          <p:cNvSpPr/>
          <p:nvPr/>
        </p:nvSpPr>
        <p:spPr>
          <a:xfrm>
            <a:off x="4389120" y="960120"/>
            <a:ext cx="4297680" cy="3749040"/>
          </a:xfrm>
          <a:prstGeom prst="rect">
            <a:avLst/>
          </a:prstGeom>
          <a:solidFill>
            <a:srgbClr val="1E1E2E"/>
          </a:solidFill>
          <a:ln/>
        </p:spPr>
      </p:sp>
      <p:sp>
        <p:nvSpPr>
          <p:cNvPr id="13" name="Text 11"/>
          <p:cNvSpPr/>
          <p:nvPr/>
        </p:nvSpPr>
        <p:spPr>
          <a:xfrm>
            <a:off x="4480560" y="1005840"/>
            <a:ext cx="4114800" cy="365760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2x2 çoklu grafik ızgarası</a:t>
            </a:r>
            <a:pPr indent="0" marL="0">
              <a:buNone/>
            </a:pPr>
            <a:r>
              <a:rPr lang="en-US" sz="900" dirty="0">
                <a:solidFill>
                  <a:srgbClr val="CDD6F4"/>
                </a:solidFill>
                <a:latin typeface="Consolas" pitchFamily="34" charset="0"/>
                <a:ea typeface="Consolas" pitchFamily="34" charset="-122"/>
                <a:cs typeface="Consolas" pitchFamily="34" charset="-120"/>
              </a:rPr>
              <a:t>fig, axes = plt.subplots(2, 2,</a:t>
            </a:r>
            <a:pPr indent="0" marL="0">
              <a:buNone/>
            </a:pPr>
            <a:r>
              <a:rPr lang="en-US" sz="900" dirty="0">
                <a:solidFill>
                  <a:srgbClr val="F9E2AF"/>
                </a:solidFill>
                <a:latin typeface="Consolas" pitchFamily="34" charset="0"/>
                <a:ea typeface="Consolas" pitchFamily="34" charset="-122"/>
                <a:cs typeface="Consolas" pitchFamily="34" charset="-120"/>
              </a:rPr>
              <a:t>                         figsize=(12, 8))</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Sol üst: Çizgi grafiği</a:t>
            </a:r>
            <a:pPr indent="0" marL="0">
              <a:buNone/>
            </a:pPr>
            <a:r>
              <a:rPr lang="en-US" sz="900" dirty="0">
                <a:solidFill>
                  <a:srgbClr val="CDD6F4"/>
                </a:solidFill>
                <a:latin typeface="Consolas" pitchFamily="34" charset="0"/>
                <a:ea typeface="Consolas" pitchFamily="34" charset="-122"/>
                <a:cs typeface="Consolas" pitchFamily="34" charset="-120"/>
              </a:rPr>
              <a:t>axes[0,0].plot(x, y, 'b-o')</a:t>
            </a:r>
            <a:pPr indent="0" marL="0">
              <a:buNone/>
            </a:pPr>
            <a:r>
              <a:rPr lang="en-US" sz="900" dirty="0">
                <a:solidFill>
                  <a:srgbClr val="CDD6F4"/>
                </a:solidFill>
                <a:latin typeface="Consolas" pitchFamily="34" charset="0"/>
                <a:ea typeface="Consolas" pitchFamily="34" charset="-122"/>
                <a:cs typeface="Consolas" pitchFamily="34" charset="-120"/>
              </a:rPr>
              <a:t>axes[0,0].set_title('Trend')</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Sağ üst: Bar grafiği</a:t>
            </a:r>
            <a:pPr indent="0" marL="0">
              <a:buNone/>
            </a:pPr>
            <a:r>
              <a:rPr lang="en-US" sz="900" dirty="0">
                <a:solidFill>
                  <a:srgbClr val="CDD6F4"/>
                </a:solidFill>
                <a:latin typeface="Consolas" pitchFamily="34" charset="0"/>
                <a:ea typeface="Consolas" pitchFamily="34" charset="-122"/>
                <a:cs typeface="Consolas" pitchFamily="34" charset="-120"/>
              </a:rPr>
              <a:t>axes[0,1].bar(kategoriler, degerler)</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Sol alt: Histogram</a:t>
            </a:r>
            <a:pPr indent="0" marL="0">
              <a:buNone/>
            </a:pPr>
            <a:r>
              <a:rPr lang="en-US" sz="900" dirty="0">
                <a:solidFill>
                  <a:srgbClr val="CDD6F4"/>
                </a:solidFill>
                <a:latin typeface="Consolas" pitchFamily="34" charset="0"/>
                <a:ea typeface="Consolas" pitchFamily="34" charset="-122"/>
                <a:cs typeface="Consolas" pitchFamily="34" charset="-120"/>
              </a:rPr>
              <a:t>axes[1,0].hist(veri, bins=20)</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Sağ alt: Scatter</a:t>
            </a:r>
            <a:pPr indent="0" marL="0">
              <a:buNone/>
            </a:pPr>
            <a:r>
              <a:rPr lang="en-US" sz="900" dirty="0">
                <a:solidFill>
                  <a:srgbClr val="CDD6F4"/>
                </a:solidFill>
                <a:latin typeface="Consolas" pitchFamily="34" charset="0"/>
                <a:ea typeface="Consolas" pitchFamily="34" charset="-122"/>
                <a:cs typeface="Consolas" pitchFamily="34" charset="-120"/>
              </a:rPr>
              <a:t>axes[1,1].scatter(x, y, c='teal')</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plt.tight_layout()</a:t>
            </a:r>
            <a:pPr indent="0" marL="0">
              <a:buNone/>
            </a:pPr>
            <a:r>
              <a:rPr lang="en-US" sz="900" dirty="0">
                <a:solidFill>
                  <a:srgbClr val="A6E3A1"/>
                </a:solidFill>
                <a:latin typeface="Consolas" pitchFamily="34" charset="0"/>
                <a:ea typeface="Consolas" pitchFamily="34" charset="-122"/>
                <a:cs typeface="Consolas" pitchFamily="34" charset="-120"/>
              </a:rPr>
              <a:t>plt.savefig('coklu_grafik.png', dpi=150)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Grafik Özelleştirme Parametreleri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1005840"/>
            <a:ext cx="1828800" cy="384048"/>
          </a:xfrm>
          <a:prstGeom prst="rect">
            <a:avLst/>
          </a:prstGeom>
          <a:solidFill>
            <a:srgbClr val="5B2C1E"/>
          </a:solidFill>
          <a:ln w="6350">
            <a:solidFill>
              <a:srgbClr val="E8DDD3"/>
            </a:solidFill>
            <a:prstDash val="solid"/>
          </a:ln>
        </p:spPr>
      </p:sp>
      <p:sp>
        <p:nvSpPr>
          <p:cNvPr id="9" name="Text 7"/>
          <p:cNvSpPr/>
          <p:nvPr/>
        </p:nvSpPr>
        <p:spPr>
          <a:xfrm>
            <a:off x="548640" y="1005840"/>
            <a:ext cx="1645920" cy="384048"/>
          </a:xfrm>
          <a:prstGeom prst="rect">
            <a:avLst/>
          </a:prstGeom>
          <a:noFill/>
          <a:ln/>
        </p:spPr>
        <p:txBody>
          <a:bodyPr wrap="square"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Parametre</a:t>
            </a:r>
            <a:endParaRPr lang="en-US" sz="1000" dirty="0"/>
          </a:p>
        </p:txBody>
      </p:sp>
      <p:sp>
        <p:nvSpPr>
          <p:cNvPr id="10" name="Shape 8"/>
          <p:cNvSpPr/>
          <p:nvPr/>
        </p:nvSpPr>
        <p:spPr>
          <a:xfrm>
            <a:off x="2286000" y="1005840"/>
            <a:ext cx="3200400" cy="384048"/>
          </a:xfrm>
          <a:prstGeom prst="rect">
            <a:avLst/>
          </a:prstGeom>
          <a:solidFill>
            <a:srgbClr val="5B2C1E"/>
          </a:solidFill>
          <a:ln w="6350">
            <a:solidFill>
              <a:srgbClr val="E8DDD3"/>
            </a:solidFill>
            <a:prstDash val="solid"/>
          </a:ln>
        </p:spPr>
      </p:sp>
      <p:sp>
        <p:nvSpPr>
          <p:cNvPr id="11" name="Text 9"/>
          <p:cNvSpPr/>
          <p:nvPr/>
        </p:nvSpPr>
        <p:spPr>
          <a:xfrm>
            <a:off x="2377440" y="1005840"/>
            <a:ext cx="3017520" cy="384048"/>
          </a:xfrm>
          <a:prstGeom prst="rect">
            <a:avLst/>
          </a:prstGeom>
          <a:noFill/>
          <a:ln/>
        </p:spPr>
        <p:txBody>
          <a:bodyPr wrap="square"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Açıklama</a:t>
            </a:r>
            <a:endParaRPr lang="en-US" sz="1000" dirty="0"/>
          </a:p>
        </p:txBody>
      </p:sp>
      <p:sp>
        <p:nvSpPr>
          <p:cNvPr id="12" name="Shape 10"/>
          <p:cNvSpPr/>
          <p:nvPr/>
        </p:nvSpPr>
        <p:spPr>
          <a:xfrm>
            <a:off x="5486400" y="1005840"/>
            <a:ext cx="3200400" cy="384048"/>
          </a:xfrm>
          <a:prstGeom prst="rect">
            <a:avLst/>
          </a:prstGeom>
          <a:solidFill>
            <a:srgbClr val="5B2C1E"/>
          </a:solidFill>
          <a:ln w="6350">
            <a:solidFill>
              <a:srgbClr val="E8DDD3"/>
            </a:solidFill>
            <a:prstDash val="solid"/>
          </a:ln>
        </p:spPr>
      </p:sp>
      <p:sp>
        <p:nvSpPr>
          <p:cNvPr id="13" name="Text 11"/>
          <p:cNvSpPr/>
          <p:nvPr/>
        </p:nvSpPr>
        <p:spPr>
          <a:xfrm>
            <a:off x="5577840" y="1005840"/>
            <a:ext cx="3017520" cy="384048"/>
          </a:xfrm>
          <a:prstGeom prst="rect">
            <a:avLst/>
          </a:prstGeom>
          <a:noFill/>
          <a:ln/>
        </p:spPr>
        <p:txBody>
          <a:bodyPr wrap="square"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Örnek</a:t>
            </a:r>
            <a:endParaRPr lang="en-US" sz="1000" dirty="0"/>
          </a:p>
        </p:txBody>
      </p:sp>
      <p:sp>
        <p:nvSpPr>
          <p:cNvPr id="14" name="Shape 12"/>
          <p:cNvSpPr/>
          <p:nvPr/>
        </p:nvSpPr>
        <p:spPr>
          <a:xfrm>
            <a:off x="457200" y="1389888"/>
            <a:ext cx="1828800" cy="384048"/>
          </a:xfrm>
          <a:prstGeom prst="rect">
            <a:avLst/>
          </a:prstGeom>
          <a:solidFill>
            <a:srgbClr val="FFFFFF"/>
          </a:solidFill>
          <a:ln w="6350">
            <a:solidFill>
              <a:srgbClr val="E8DDD3"/>
            </a:solidFill>
            <a:prstDash val="solid"/>
          </a:ln>
        </p:spPr>
      </p:sp>
      <p:sp>
        <p:nvSpPr>
          <p:cNvPr id="15" name="Text 13"/>
          <p:cNvSpPr/>
          <p:nvPr/>
        </p:nvSpPr>
        <p:spPr>
          <a:xfrm>
            <a:off x="548640" y="1389888"/>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color / c</a:t>
            </a:r>
            <a:endParaRPr lang="en-US" sz="900" dirty="0"/>
          </a:p>
        </p:txBody>
      </p:sp>
      <p:sp>
        <p:nvSpPr>
          <p:cNvPr id="16" name="Shape 14"/>
          <p:cNvSpPr/>
          <p:nvPr/>
        </p:nvSpPr>
        <p:spPr>
          <a:xfrm>
            <a:off x="2286000" y="1389888"/>
            <a:ext cx="3200400" cy="384048"/>
          </a:xfrm>
          <a:prstGeom prst="rect">
            <a:avLst/>
          </a:prstGeom>
          <a:solidFill>
            <a:srgbClr val="FFFFFF"/>
          </a:solidFill>
          <a:ln w="6350">
            <a:solidFill>
              <a:srgbClr val="E8DDD3"/>
            </a:solidFill>
            <a:prstDash val="solid"/>
          </a:ln>
        </p:spPr>
      </p:sp>
      <p:sp>
        <p:nvSpPr>
          <p:cNvPr id="17" name="Text 15"/>
          <p:cNvSpPr/>
          <p:nvPr/>
        </p:nvSpPr>
        <p:spPr>
          <a:xfrm>
            <a:off x="2377440" y="1389888"/>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Grafik rengi (isim, hex, RGB)</a:t>
            </a:r>
            <a:endParaRPr lang="en-US" sz="900" dirty="0"/>
          </a:p>
        </p:txBody>
      </p:sp>
      <p:sp>
        <p:nvSpPr>
          <p:cNvPr id="18" name="Shape 16"/>
          <p:cNvSpPr/>
          <p:nvPr/>
        </p:nvSpPr>
        <p:spPr>
          <a:xfrm>
            <a:off x="5486400" y="1389888"/>
            <a:ext cx="3200400" cy="384048"/>
          </a:xfrm>
          <a:prstGeom prst="rect">
            <a:avLst/>
          </a:prstGeom>
          <a:solidFill>
            <a:srgbClr val="FFFFFF"/>
          </a:solidFill>
          <a:ln w="6350">
            <a:solidFill>
              <a:srgbClr val="E8DDD3"/>
            </a:solidFill>
            <a:prstDash val="solid"/>
          </a:ln>
        </p:spPr>
      </p:sp>
      <p:sp>
        <p:nvSpPr>
          <p:cNvPr id="19" name="Text 17"/>
          <p:cNvSpPr/>
          <p:nvPr/>
        </p:nvSpPr>
        <p:spPr>
          <a:xfrm>
            <a:off x="5577840" y="1389888"/>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color='teal', c='#2B7A78'</a:t>
            </a:r>
            <a:endParaRPr lang="en-US" sz="900" dirty="0"/>
          </a:p>
        </p:txBody>
      </p:sp>
      <p:sp>
        <p:nvSpPr>
          <p:cNvPr id="20" name="Shape 18"/>
          <p:cNvSpPr/>
          <p:nvPr/>
        </p:nvSpPr>
        <p:spPr>
          <a:xfrm>
            <a:off x="457200" y="1773936"/>
            <a:ext cx="1828800" cy="384048"/>
          </a:xfrm>
          <a:prstGeom prst="rect">
            <a:avLst/>
          </a:prstGeom>
          <a:solidFill>
            <a:srgbClr val="FEF5EE"/>
          </a:solidFill>
          <a:ln w="6350">
            <a:solidFill>
              <a:srgbClr val="E8DDD3"/>
            </a:solidFill>
            <a:prstDash val="solid"/>
          </a:ln>
        </p:spPr>
      </p:sp>
      <p:sp>
        <p:nvSpPr>
          <p:cNvPr id="21" name="Text 19"/>
          <p:cNvSpPr/>
          <p:nvPr/>
        </p:nvSpPr>
        <p:spPr>
          <a:xfrm>
            <a:off x="548640" y="1773936"/>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linewidth / lw</a:t>
            </a:r>
            <a:endParaRPr lang="en-US" sz="900" dirty="0"/>
          </a:p>
        </p:txBody>
      </p:sp>
      <p:sp>
        <p:nvSpPr>
          <p:cNvPr id="22" name="Shape 20"/>
          <p:cNvSpPr/>
          <p:nvPr/>
        </p:nvSpPr>
        <p:spPr>
          <a:xfrm>
            <a:off x="2286000" y="1773936"/>
            <a:ext cx="3200400" cy="384048"/>
          </a:xfrm>
          <a:prstGeom prst="rect">
            <a:avLst/>
          </a:prstGeom>
          <a:solidFill>
            <a:srgbClr val="FEF5EE"/>
          </a:solidFill>
          <a:ln w="6350">
            <a:solidFill>
              <a:srgbClr val="E8DDD3"/>
            </a:solidFill>
            <a:prstDash val="solid"/>
          </a:ln>
        </p:spPr>
      </p:sp>
      <p:sp>
        <p:nvSpPr>
          <p:cNvPr id="23" name="Text 21"/>
          <p:cNvSpPr/>
          <p:nvPr/>
        </p:nvSpPr>
        <p:spPr>
          <a:xfrm>
            <a:off x="2377440" y="1773936"/>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Çizgi kalınlığı</a:t>
            </a:r>
            <a:endParaRPr lang="en-US" sz="900" dirty="0"/>
          </a:p>
        </p:txBody>
      </p:sp>
      <p:sp>
        <p:nvSpPr>
          <p:cNvPr id="24" name="Shape 22"/>
          <p:cNvSpPr/>
          <p:nvPr/>
        </p:nvSpPr>
        <p:spPr>
          <a:xfrm>
            <a:off x="5486400" y="1773936"/>
            <a:ext cx="3200400" cy="384048"/>
          </a:xfrm>
          <a:prstGeom prst="rect">
            <a:avLst/>
          </a:prstGeom>
          <a:solidFill>
            <a:srgbClr val="FEF5EE"/>
          </a:solidFill>
          <a:ln w="6350">
            <a:solidFill>
              <a:srgbClr val="E8DDD3"/>
            </a:solidFill>
            <a:prstDash val="solid"/>
          </a:ln>
        </p:spPr>
      </p:sp>
      <p:sp>
        <p:nvSpPr>
          <p:cNvPr id="25" name="Text 23"/>
          <p:cNvSpPr/>
          <p:nvPr/>
        </p:nvSpPr>
        <p:spPr>
          <a:xfrm>
            <a:off x="5577840" y="1773936"/>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lw=2.5</a:t>
            </a:r>
            <a:endParaRPr lang="en-US" sz="900" dirty="0"/>
          </a:p>
        </p:txBody>
      </p:sp>
      <p:sp>
        <p:nvSpPr>
          <p:cNvPr id="26" name="Shape 24"/>
          <p:cNvSpPr/>
          <p:nvPr/>
        </p:nvSpPr>
        <p:spPr>
          <a:xfrm>
            <a:off x="457200" y="2157984"/>
            <a:ext cx="1828800" cy="384048"/>
          </a:xfrm>
          <a:prstGeom prst="rect">
            <a:avLst/>
          </a:prstGeom>
          <a:solidFill>
            <a:srgbClr val="FFFFFF"/>
          </a:solidFill>
          <a:ln w="6350">
            <a:solidFill>
              <a:srgbClr val="E8DDD3"/>
            </a:solidFill>
            <a:prstDash val="solid"/>
          </a:ln>
        </p:spPr>
      </p:sp>
      <p:sp>
        <p:nvSpPr>
          <p:cNvPr id="27" name="Text 25"/>
          <p:cNvSpPr/>
          <p:nvPr/>
        </p:nvSpPr>
        <p:spPr>
          <a:xfrm>
            <a:off x="548640" y="2157984"/>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marker</a:t>
            </a:r>
            <a:endParaRPr lang="en-US" sz="900" dirty="0"/>
          </a:p>
        </p:txBody>
      </p:sp>
      <p:sp>
        <p:nvSpPr>
          <p:cNvPr id="28" name="Shape 26"/>
          <p:cNvSpPr/>
          <p:nvPr/>
        </p:nvSpPr>
        <p:spPr>
          <a:xfrm>
            <a:off x="2286000" y="2157984"/>
            <a:ext cx="3200400" cy="384048"/>
          </a:xfrm>
          <a:prstGeom prst="rect">
            <a:avLst/>
          </a:prstGeom>
          <a:solidFill>
            <a:srgbClr val="FFFFFF"/>
          </a:solidFill>
          <a:ln w="6350">
            <a:solidFill>
              <a:srgbClr val="E8DDD3"/>
            </a:solidFill>
            <a:prstDash val="solid"/>
          </a:ln>
        </p:spPr>
      </p:sp>
      <p:sp>
        <p:nvSpPr>
          <p:cNvPr id="29" name="Text 27"/>
          <p:cNvSpPr/>
          <p:nvPr/>
        </p:nvSpPr>
        <p:spPr>
          <a:xfrm>
            <a:off x="2377440" y="2157984"/>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Veri noktası işareti</a:t>
            </a:r>
            <a:endParaRPr lang="en-US" sz="900" dirty="0"/>
          </a:p>
        </p:txBody>
      </p:sp>
      <p:sp>
        <p:nvSpPr>
          <p:cNvPr id="30" name="Shape 28"/>
          <p:cNvSpPr/>
          <p:nvPr/>
        </p:nvSpPr>
        <p:spPr>
          <a:xfrm>
            <a:off x="5486400" y="2157984"/>
            <a:ext cx="3200400" cy="384048"/>
          </a:xfrm>
          <a:prstGeom prst="rect">
            <a:avLst/>
          </a:prstGeom>
          <a:solidFill>
            <a:srgbClr val="FFFFFF"/>
          </a:solidFill>
          <a:ln w="6350">
            <a:solidFill>
              <a:srgbClr val="E8DDD3"/>
            </a:solidFill>
            <a:prstDash val="solid"/>
          </a:ln>
        </p:spPr>
      </p:sp>
      <p:sp>
        <p:nvSpPr>
          <p:cNvPr id="31" name="Text 29"/>
          <p:cNvSpPr/>
          <p:nvPr/>
        </p:nvSpPr>
        <p:spPr>
          <a:xfrm>
            <a:off x="5577840" y="2157984"/>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marker='o', 's', '^', 'D'</a:t>
            </a:r>
            <a:endParaRPr lang="en-US" sz="900" dirty="0"/>
          </a:p>
        </p:txBody>
      </p:sp>
      <p:sp>
        <p:nvSpPr>
          <p:cNvPr id="32" name="Shape 30"/>
          <p:cNvSpPr/>
          <p:nvPr/>
        </p:nvSpPr>
        <p:spPr>
          <a:xfrm>
            <a:off x="457200" y="2542032"/>
            <a:ext cx="1828800" cy="384048"/>
          </a:xfrm>
          <a:prstGeom prst="rect">
            <a:avLst/>
          </a:prstGeom>
          <a:solidFill>
            <a:srgbClr val="FEF5EE"/>
          </a:solidFill>
          <a:ln w="6350">
            <a:solidFill>
              <a:srgbClr val="E8DDD3"/>
            </a:solidFill>
            <a:prstDash val="solid"/>
          </a:ln>
        </p:spPr>
      </p:sp>
      <p:sp>
        <p:nvSpPr>
          <p:cNvPr id="33" name="Text 31"/>
          <p:cNvSpPr/>
          <p:nvPr/>
        </p:nvSpPr>
        <p:spPr>
          <a:xfrm>
            <a:off x="548640" y="2542032"/>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alpha</a:t>
            </a:r>
            <a:endParaRPr lang="en-US" sz="900" dirty="0"/>
          </a:p>
        </p:txBody>
      </p:sp>
      <p:sp>
        <p:nvSpPr>
          <p:cNvPr id="34" name="Shape 32"/>
          <p:cNvSpPr/>
          <p:nvPr/>
        </p:nvSpPr>
        <p:spPr>
          <a:xfrm>
            <a:off x="2286000" y="2542032"/>
            <a:ext cx="3200400" cy="384048"/>
          </a:xfrm>
          <a:prstGeom prst="rect">
            <a:avLst/>
          </a:prstGeom>
          <a:solidFill>
            <a:srgbClr val="FEF5EE"/>
          </a:solidFill>
          <a:ln w="6350">
            <a:solidFill>
              <a:srgbClr val="E8DDD3"/>
            </a:solidFill>
            <a:prstDash val="solid"/>
          </a:ln>
        </p:spPr>
      </p:sp>
      <p:sp>
        <p:nvSpPr>
          <p:cNvPr id="35" name="Text 33"/>
          <p:cNvSpPr/>
          <p:nvPr/>
        </p:nvSpPr>
        <p:spPr>
          <a:xfrm>
            <a:off x="2377440" y="2542032"/>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Şeffaflık (0–1)</a:t>
            </a:r>
            <a:endParaRPr lang="en-US" sz="900" dirty="0"/>
          </a:p>
        </p:txBody>
      </p:sp>
      <p:sp>
        <p:nvSpPr>
          <p:cNvPr id="36" name="Shape 34"/>
          <p:cNvSpPr/>
          <p:nvPr/>
        </p:nvSpPr>
        <p:spPr>
          <a:xfrm>
            <a:off x="5486400" y="2542032"/>
            <a:ext cx="3200400" cy="384048"/>
          </a:xfrm>
          <a:prstGeom prst="rect">
            <a:avLst/>
          </a:prstGeom>
          <a:solidFill>
            <a:srgbClr val="FEF5EE"/>
          </a:solidFill>
          <a:ln w="6350">
            <a:solidFill>
              <a:srgbClr val="E8DDD3"/>
            </a:solidFill>
            <a:prstDash val="solid"/>
          </a:ln>
        </p:spPr>
      </p:sp>
      <p:sp>
        <p:nvSpPr>
          <p:cNvPr id="37" name="Text 35"/>
          <p:cNvSpPr/>
          <p:nvPr/>
        </p:nvSpPr>
        <p:spPr>
          <a:xfrm>
            <a:off x="5577840" y="2542032"/>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alpha=0.7</a:t>
            </a:r>
            <a:endParaRPr lang="en-US" sz="900" dirty="0"/>
          </a:p>
        </p:txBody>
      </p:sp>
      <p:sp>
        <p:nvSpPr>
          <p:cNvPr id="38" name="Shape 36"/>
          <p:cNvSpPr/>
          <p:nvPr/>
        </p:nvSpPr>
        <p:spPr>
          <a:xfrm>
            <a:off x="457200" y="2926080"/>
            <a:ext cx="1828800" cy="384048"/>
          </a:xfrm>
          <a:prstGeom prst="rect">
            <a:avLst/>
          </a:prstGeom>
          <a:solidFill>
            <a:srgbClr val="FFFFFF"/>
          </a:solidFill>
          <a:ln w="6350">
            <a:solidFill>
              <a:srgbClr val="E8DDD3"/>
            </a:solidFill>
            <a:prstDash val="solid"/>
          </a:ln>
        </p:spPr>
      </p:sp>
      <p:sp>
        <p:nvSpPr>
          <p:cNvPr id="39" name="Text 37"/>
          <p:cNvSpPr/>
          <p:nvPr/>
        </p:nvSpPr>
        <p:spPr>
          <a:xfrm>
            <a:off x="548640" y="2926080"/>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fontsize</a:t>
            </a:r>
            <a:endParaRPr lang="en-US" sz="900" dirty="0"/>
          </a:p>
        </p:txBody>
      </p:sp>
      <p:sp>
        <p:nvSpPr>
          <p:cNvPr id="40" name="Shape 38"/>
          <p:cNvSpPr/>
          <p:nvPr/>
        </p:nvSpPr>
        <p:spPr>
          <a:xfrm>
            <a:off x="2286000" y="2926080"/>
            <a:ext cx="3200400" cy="384048"/>
          </a:xfrm>
          <a:prstGeom prst="rect">
            <a:avLst/>
          </a:prstGeom>
          <a:solidFill>
            <a:srgbClr val="FFFFFF"/>
          </a:solidFill>
          <a:ln w="6350">
            <a:solidFill>
              <a:srgbClr val="E8DDD3"/>
            </a:solidFill>
            <a:prstDash val="solid"/>
          </a:ln>
        </p:spPr>
      </p:sp>
      <p:sp>
        <p:nvSpPr>
          <p:cNvPr id="41" name="Text 39"/>
          <p:cNvSpPr/>
          <p:nvPr/>
        </p:nvSpPr>
        <p:spPr>
          <a:xfrm>
            <a:off x="2377440" y="2926080"/>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Yazı boyutu (başlık, etiket)</a:t>
            </a:r>
            <a:endParaRPr lang="en-US" sz="900" dirty="0"/>
          </a:p>
        </p:txBody>
      </p:sp>
      <p:sp>
        <p:nvSpPr>
          <p:cNvPr id="42" name="Shape 40"/>
          <p:cNvSpPr/>
          <p:nvPr/>
        </p:nvSpPr>
        <p:spPr>
          <a:xfrm>
            <a:off x="5486400" y="2926080"/>
            <a:ext cx="3200400" cy="384048"/>
          </a:xfrm>
          <a:prstGeom prst="rect">
            <a:avLst/>
          </a:prstGeom>
          <a:solidFill>
            <a:srgbClr val="FFFFFF"/>
          </a:solidFill>
          <a:ln w="6350">
            <a:solidFill>
              <a:srgbClr val="E8DDD3"/>
            </a:solidFill>
            <a:prstDash val="solid"/>
          </a:ln>
        </p:spPr>
      </p:sp>
      <p:sp>
        <p:nvSpPr>
          <p:cNvPr id="43" name="Text 41"/>
          <p:cNvSpPr/>
          <p:nvPr/>
        </p:nvSpPr>
        <p:spPr>
          <a:xfrm>
            <a:off x="5577840" y="2926080"/>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fontsize=14</a:t>
            </a:r>
            <a:endParaRPr lang="en-US" sz="900" dirty="0"/>
          </a:p>
        </p:txBody>
      </p:sp>
      <p:sp>
        <p:nvSpPr>
          <p:cNvPr id="44" name="Shape 42"/>
          <p:cNvSpPr/>
          <p:nvPr/>
        </p:nvSpPr>
        <p:spPr>
          <a:xfrm>
            <a:off x="457200" y="3310128"/>
            <a:ext cx="1828800" cy="384048"/>
          </a:xfrm>
          <a:prstGeom prst="rect">
            <a:avLst/>
          </a:prstGeom>
          <a:solidFill>
            <a:srgbClr val="FEF5EE"/>
          </a:solidFill>
          <a:ln w="6350">
            <a:solidFill>
              <a:srgbClr val="E8DDD3"/>
            </a:solidFill>
            <a:prstDash val="solid"/>
          </a:ln>
        </p:spPr>
      </p:sp>
      <p:sp>
        <p:nvSpPr>
          <p:cNvPr id="45" name="Text 43"/>
          <p:cNvSpPr/>
          <p:nvPr/>
        </p:nvSpPr>
        <p:spPr>
          <a:xfrm>
            <a:off x="548640" y="3310128"/>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grid</a:t>
            </a:r>
            <a:endParaRPr lang="en-US" sz="900" dirty="0"/>
          </a:p>
        </p:txBody>
      </p:sp>
      <p:sp>
        <p:nvSpPr>
          <p:cNvPr id="46" name="Shape 44"/>
          <p:cNvSpPr/>
          <p:nvPr/>
        </p:nvSpPr>
        <p:spPr>
          <a:xfrm>
            <a:off x="2286000" y="3310128"/>
            <a:ext cx="3200400" cy="384048"/>
          </a:xfrm>
          <a:prstGeom prst="rect">
            <a:avLst/>
          </a:prstGeom>
          <a:solidFill>
            <a:srgbClr val="FEF5EE"/>
          </a:solidFill>
          <a:ln w="6350">
            <a:solidFill>
              <a:srgbClr val="E8DDD3"/>
            </a:solidFill>
            <a:prstDash val="solid"/>
          </a:ln>
        </p:spPr>
      </p:sp>
      <p:sp>
        <p:nvSpPr>
          <p:cNvPr id="47" name="Text 45"/>
          <p:cNvSpPr/>
          <p:nvPr/>
        </p:nvSpPr>
        <p:spPr>
          <a:xfrm>
            <a:off x="2377440" y="3310128"/>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Izgara çizgileri</a:t>
            </a:r>
            <a:endParaRPr lang="en-US" sz="900" dirty="0"/>
          </a:p>
        </p:txBody>
      </p:sp>
      <p:sp>
        <p:nvSpPr>
          <p:cNvPr id="48" name="Shape 46"/>
          <p:cNvSpPr/>
          <p:nvPr/>
        </p:nvSpPr>
        <p:spPr>
          <a:xfrm>
            <a:off x="5486400" y="3310128"/>
            <a:ext cx="3200400" cy="384048"/>
          </a:xfrm>
          <a:prstGeom prst="rect">
            <a:avLst/>
          </a:prstGeom>
          <a:solidFill>
            <a:srgbClr val="FEF5EE"/>
          </a:solidFill>
          <a:ln w="6350">
            <a:solidFill>
              <a:srgbClr val="E8DDD3"/>
            </a:solidFill>
            <a:prstDash val="solid"/>
          </a:ln>
        </p:spPr>
      </p:sp>
      <p:sp>
        <p:nvSpPr>
          <p:cNvPr id="49" name="Text 47"/>
          <p:cNvSpPr/>
          <p:nvPr/>
        </p:nvSpPr>
        <p:spPr>
          <a:xfrm>
            <a:off x="5577840" y="3310128"/>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plt.grid(True, alpha=0.3)</a:t>
            </a:r>
            <a:endParaRPr lang="en-US" sz="900" dirty="0"/>
          </a:p>
        </p:txBody>
      </p:sp>
      <p:sp>
        <p:nvSpPr>
          <p:cNvPr id="50" name="Shape 48"/>
          <p:cNvSpPr/>
          <p:nvPr/>
        </p:nvSpPr>
        <p:spPr>
          <a:xfrm>
            <a:off x="457200" y="3694176"/>
            <a:ext cx="1828800" cy="384048"/>
          </a:xfrm>
          <a:prstGeom prst="rect">
            <a:avLst/>
          </a:prstGeom>
          <a:solidFill>
            <a:srgbClr val="FFFFFF"/>
          </a:solidFill>
          <a:ln w="6350">
            <a:solidFill>
              <a:srgbClr val="E8DDD3"/>
            </a:solidFill>
            <a:prstDash val="solid"/>
          </a:ln>
        </p:spPr>
      </p:sp>
      <p:sp>
        <p:nvSpPr>
          <p:cNvPr id="51" name="Text 49"/>
          <p:cNvSpPr/>
          <p:nvPr/>
        </p:nvSpPr>
        <p:spPr>
          <a:xfrm>
            <a:off x="548640" y="3694176"/>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legend</a:t>
            </a:r>
            <a:endParaRPr lang="en-US" sz="900" dirty="0"/>
          </a:p>
        </p:txBody>
      </p:sp>
      <p:sp>
        <p:nvSpPr>
          <p:cNvPr id="52" name="Shape 50"/>
          <p:cNvSpPr/>
          <p:nvPr/>
        </p:nvSpPr>
        <p:spPr>
          <a:xfrm>
            <a:off x="2286000" y="3694176"/>
            <a:ext cx="3200400" cy="384048"/>
          </a:xfrm>
          <a:prstGeom prst="rect">
            <a:avLst/>
          </a:prstGeom>
          <a:solidFill>
            <a:srgbClr val="FFFFFF"/>
          </a:solidFill>
          <a:ln w="6350">
            <a:solidFill>
              <a:srgbClr val="E8DDD3"/>
            </a:solidFill>
            <a:prstDash val="solid"/>
          </a:ln>
        </p:spPr>
      </p:sp>
      <p:sp>
        <p:nvSpPr>
          <p:cNvPr id="53" name="Text 51"/>
          <p:cNvSpPr/>
          <p:nvPr/>
        </p:nvSpPr>
        <p:spPr>
          <a:xfrm>
            <a:off x="2377440" y="3694176"/>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Açıklama kutusu</a:t>
            </a:r>
            <a:endParaRPr lang="en-US" sz="900" dirty="0"/>
          </a:p>
        </p:txBody>
      </p:sp>
      <p:sp>
        <p:nvSpPr>
          <p:cNvPr id="54" name="Shape 52"/>
          <p:cNvSpPr/>
          <p:nvPr/>
        </p:nvSpPr>
        <p:spPr>
          <a:xfrm>
            <a:off x="5486400" y="3694176"/>
            <a:ext cx="3200400" cy="384048"/>
          </a:xfrm>
          <a:prstGeom prst="rect">
            <a:avLst/>
          </a:prstGeom>
          <a:solidFill>
            <a:srgbClr val="FFFFFF"/>
          </a:solidFill>
          <a:ln w="6350">
            <a:solidFill>
              <a:srgbClr val="E8DDD3"/>
            </a:solidFill>
            <a:prstDash val="solid"/>
          </a:ln>
        </p:spPr>
      </p:sp>
      <p:sp>
        <p:nvSpPr>
          <p:cNvPr id="55" name="Text 53"/>
          <p:cNvSpPr/>
          <p:nvPr/>
        </p:nvSpPr>
        <p:spPr>
          <a:xfrm>
            <a:off x="5577840" y="3694176"/>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plt.legend(loc='upper left')</a:t>
            </a:r>
            <a:endParaRPr lang="en-US" sz="900" dirty="0"/>
          </a:p>
        </p:txBody>
      </p:sp>
      <p:sp>
        <p:nvSpPr>
          <p:cNvPr id="56" name="Shape 54"/>
          <p:cNvSpPr/>
          <p:nvPr/>
        </p:nvSpPr>
        <p:spPr>
          <a:xfrm>
            <a:off x="457200" y="4078224"/>
            <a:ext cx="1828800" cy="384048"/>
          </a:xfrm>
          <a:prstGeom prst="rect">
            <a:avLst/>
          </a:prstGeom>
          <a:solidFill>
            <a:srgbClr val="FEF5EE"/>
          </a:solidFill>
          <a:ln w="6350">
            <a:solidFill>
              <a:srgbClr val="E8DDD3"/>
            </a:solidFill>
            <a:prstDash val="solid"/>
          </a:ln>
        </p:spPr>
      </p:sp>
      <p:sp>
        <p:nvSpPr>
          <p:cNvPr id="57" name="Text 55"/>
          <p:cNvSpPr/>
          <p:nvPr/>
        </p:nvSpPr>
        <p:spPr>
          <a:xfrm>
            <a:off x="548640" y="4078224"/>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annotate</a:t>
            </a:r>
            <a:endParaRPr lang="en-US" sz="900" dirty="0"/>
          </a:p>
        </p:txBody>
      </p:sp>
      <p:sp>
        <p:nvSpPr>
          <p:cNvPr id="58" name="Shape 56"/>
          <p:cNvSpPr/>
          <p:nvPr/>
        </p:nvSpPr>
        <p:spPr>
          <a:xfrm>
            <a:off x="2286000" y="4078224"/>
            <a:ext cx="3200400" cy="384048"/>
          </a:xfrm>
          <a:prstGeom prst="rect">
            <a:avLst/>
          </a:prstGeom>
          <a:solidFill>
            <a:srgbClr val="FEF5EE"/>
          </a:solidFill>
          <a:ln w="6350">
            <a:solidFill>
              <a:srgbClr val="E8DDD3"/>
            </a:solidFill>
            <a:prstDash val="solid"/>
          </a:ln>
        </p:spPr>
      </p:sp>
      <p:sp>
        <p:nvSpPr>
          <p:cNvPr id="59" name="Text 57"/>
          <p:cNvSpPr/>
          <p:nvPr/>
        </p:nvSpPr>
        <p:spPr>
          <a:xfrm>
            <a:off x="2377440" y="4078224"/>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Grafik üzerinde metin</a:t>
            </a:r>
            <a:endParaRPr lang="en-US" sz="900" dirty="0"/>
          </a:p>
        </p:txBody>
      </p:sp>
      <p:sp>
        <p:nvSpPr>
          <p:cNvPr id="60" name="Shape 58"/>
          <p:cNvSpPr/>
          <p:nvPr/>
        </p:nvSpPr>
        <p:spPr>
          <a:xfrm>
            <a:off x="5486400" y="4078224"/>
            <a:ext cx="3200400" cy="384048"/>
          </a:xfrm>
          <a:prstGeom prst="rect">
            <a:avLst/>
          </a:prstGeom>
          <a:solidFill>
            <a:srgbClr val="FEF5EE"/>
          </a:solidFill>
          <a:ln w="6350">
            <a:solidFill>
              <a:srgbClr val="E8DDD3"/>
            </a:solidFill>
            <a:prstDash val="solid"/>
          </a:ln>
        </p:spPr>
      </p:sp>
      <p:sp>
        <p:nvSpPr>
          <p:cNvPr id="61" name="Text 59"/>
          <p:cNvSpPr/>
          <p:nvPr/>
        </p:nvSpPr>
        <p:spPr>
          <a:xfrm>
            <a:off x="5577840" y="4078224"/>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plt.annotate('Max', xy=(3,32))</a:t>
            </a:r>
            <a:endParaRPr lang="en-US" sz="900" dirty="0"/>
          </a:p>
        </p:txBody>
      </p:sp>
      <p:sp>
        <p:nvSpPr>
          <p:cNvPr id="62" name="Shape 60"/>
          <p:cNvSpPr/>
          <p:nvPr/>
        </p:nvSpPr>
        <p:spPr>
          <a:xfrm>
            <a:off x="457200" y="4462272"/>
            <a:ext cx="1828800" cy="384048"/>
          </a:xfrm>
          <a:prstGeom prst="rect">
            <a:avLst/>
          </a:prstGeom>
          <a:solidFill>
            <a:srgbClr val="FFFFFF"/>
          </a:solidFill>
          <a:ln w="6350">
            <a:solidFill>
              <a:srgbClr val="E8DDD3"/>
            </a:solidFill>
            <a:prstDash val="solid"/>
          </a:ln>
        </p:spPr>
      </p:sp>
      <p:sp>
        <p:nvSpPr>
          <p:cNvPr id="63" name="Text 61"/>
          <p:cNvSpPr/>
          <p:nvPr/>
        </p:nvSpPr>
        <p:spPr>
          <a:xfrm>
            <a:off x="548640" y="4462272"/>
            <a:ext cx="1645920" cy="384048"/>
          </a:xfrm>
          <a:prstGeom prst="rect">
            <a:avLst/>
          </a:prstGeom>
          <a:noFill/>
          <a:ln/>
        </p:spPr>
        <p:txBody>
          <a:bodyPr wrap="square" rtlCol="0" anchor="ctr"/>
          <a:lstStyle/>
          <a:p>
            <a:pPr indent="0" marL="0">
              <a:buNone/>
            </a:pPr>
            <a:r>
              <a:rPr lang="en-US" sz="900" dirty="0">
                <a:solidFill>
                  <a:srgbClr val="2E1F1A"/>
                </a:solidFill>
                <a:latin typeface="Consolas" pitchFamily="34" charset="0"/>
                <a:ea typeface="Consolas" pitchFamily="34" charset="-122"/>
                <a:cs typeface="Consolas" pitchFamily="34" charset="-120"/>
              </a:rPr>
              <a:t>style</a:t>
            </a:r>
            <a:endParaRPr lang="en-US" sz="900" dirty="0"/>
          </a:p>
        </p:txBody>
      </p:sp>
      <p:sp>
        <p:nvSpPr>
          <p:cNvPr id="64" name="Shape 62"/>
          <p:cNvSpPr/>
          <p:nvPr/>
        </p:nvSpPr>
        <p:spPr>
          <a:xfrm>
            <a:off x="2286000" y="4462272"/>
            <a:ext cx="3200400" cy="384048"/>
          </a:xfrm>
          <a:prstGeom prst="rect">
            <a:avLst/>
          </a:prstGeom>
          <a:solidFill>
            <a:srgbClr val="FFFFFF"/>
          </a:solidFill>
          <a:ln w="6350">
            <a:solidFill>
              <a:srgbClr val="E8DDD3"/>
            </a:solidFill>
            <a:prstDash val="solid"/>
          </a:ln>
        </p:spPr>
      </p:sp>
      <p:sp>
        <p:nvSpPr>
          <p:cNvPr id="65" name="Text 63"/>
          <p:cNvSpPr/>
          <p:nvPr/>
        </p:nvSpPr>
        <p:spPr>
          <a:xfrm>
            <a:off x="2377440" y="4462272"/>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Hazır stil şablonu</a:t>
            </a:r>
            <a:endParaRPr lang="en-US" sz="900" dirty="0"/>
          </a:p>
        </p:txBody>
      </p:sp>
      <p:sp>
        <p:nvSpPr>
          <p:cNvPr id="66" name="Shape 64"/>
          <p:cNvSpPr/>
          <p:nvPr/>
        </p:nvSpPr>
        <p:spPr>
          <a:xfrm>
            <a:off x="5486400" y="4462272"/>
            <a:ext cx="3200400" cy="384048"/>
          </a:xfrm>
          <a:prstGeom prst="rect">
            <a:avLst/>
          </a:prstGeom>
          <a:solidFill>
            <a:srgbClr val="FFFFFF"/>
          </a:solidFill>
          <a:ln w="6350">
            <a:solidFill>
              <a:srgbClr val="E8DDD3"/>
            </a:solidFill>
            <a:prstDash val="solid"/>
          </a:ln>
        </p:spPr>
      </p:sp>
      <p:sp>
        <p:nvSpPr>
          <p:cNvPr id="67" name="Text 65"/>
          <p:cNvSpPr/>
          <p:nvPr/>
        </p:nvSpPr>
        <p:spPr>
          <a:xfrm>
            <a:off x="5577840" y="4462272"/>
            <a:ext cx="3017520" cy="384048"/>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plt.style.use('seaborn-v0_8')</a:t>
            </a:r>
            <a:endParaRPr lang="en-US" sz="900" dirty="0"/>
          </a:p>
        </p:txBody>
      </p:sp>
      <p:sp>
        <p:nvSpPr>
          <p:cNvPr id="68" name="Shape 66"/>
          <p:cNvSpPr/>
          <p:nvPr/>
        </p:nvSpPr>
        <p:spPr>
          <a:xfrm>
            <a:off x="457200" y="4572000"/>
            <a:ext cx="822960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69" name="Shape 67"/>
          <p:cNvSpPr/>
          <p:nvPr/>
        </p:nvSpPr>
        <p:spPr>
          <a:xfrm>
            <a:off x="457200" y="4572000"/>
            <a:ext cx="54864" cy="411480"/>
          </a:xfrm>
          <a:prstGeom prst="rect">
            <a:avLst/>
          </a:prstGeom>
          <a:solidFill>
            <a:srgbClr val="2B7A78"/>
          </a:solidFill>
          <a:ln/>
        </p:spPr>
      </p:sp>
      <p:sp>
        <p:nvSpPr>
          <p:cNvPr id="70" name="Text 68"/>
          <p:cNvSpPr/>
          <p:nvPr/>
        </p:nvSpPr>
        <p:spPr>
          <a:xfrm>
            <a:off x="640080" y="4617720"/>
            <a:ext cx="7772400" cy="32004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İpucu: plt.style.available ile tüm hazır stilleri listeleyebilirsiniz.</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Seaborn Tanıtımı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27432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C97B5A"/>
          </a:solidFill>
          <a:ln/>
        </p:spPr>
      </p:sp>
      <p:sp>
        <p:nvSpPr>
          <p:cNvPr id="10" name="Text 8"/>
          <p:cNvSpPr/>
          <p:nvPr/>
        </p:nvSpPr>
        <p:spPr>
          <a:xfrm>
            <a:off x="64008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Matplotlib</a:t>
            </a:r>
            <a:endParaRPr lang="en-US" sz="1200" dirty="0"/>
          </a:p>
        </p:txBody>
      </p:sp>
      <p:sp>
        <p:nvSpPr>
          <p:cNvPr id="11" name="Text 9"/>
          <p:cNvSpPr/>
          <p:nvPr/>
        </p:nvSpPr>
        <p:spPr>
          <a:xfrm>
            <a:off x="640080" y="1463040"/>
            <a:ext cx="3474720" cy="2011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Düşük seviyeli kontrol</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Her detayı elle ayarlama</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Daha fazla kod satırı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Esnek ama karmaşık</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Varsayılan stiller sade</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Pandas entegrasyonu sınırlı</a:t>
            </a:r>
            <a:endParaRPr lang="en-US" sz="1100" dirty="0"/>
          </a:p>
        </p:txBody>
      </p:sp>
      <p:sp>
        <p:nvSpPr>
          <p:cNvPr id="12" name="Shape 10"/>
          <p:cNvSpPr/>
          <p:nvPr/>
        </p:nvSpPr>
        <p:spPr>
          <a:xfrm>
            <a:off x="4754880" y="960120"/>
            <a:ext cx="3931920" cy="27432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960120"/>
            <a:ext cx="3931920" cy="54864"/>
          </a:xfrm>
          <a:prstGeom prst="rect">
            <a:avLst/>
          </a:prstGeom>
          <a:solidFill>
            <a:srgbClr val="2B7A78"/>
          </a:solidFill>
          <a:ln/>
        </p:spPr>
      </p:sp>
      <p:sp>
        <p:nvSpPr>
          <p:cNvPr id="14" name="Text 12"/>
          <p:cNvSpPr/>
          <p:nvPr/>
        </p:nvSpPr>
        <p:spPr>
          <a:xfrm>
            <a:off x="493776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Seaborn</a:t>
            </a:r>
            <a:endParaRPr lang="en-US" sz="1200" dirty="0"/>
          </a:p>
        </p:txBody>
      </p:sp>
      <p:sp>
        <p:nvSpPr>
          <p:cNvPr id="15" name="Text 13"/>
          <p:cNvSpPr/>
          <p:nvPr/>
        </p:nvSpPr>
        <p:spPr>
          <a:xfrm>
            <a:off x="4937760" y="1463040"/>
            <a:ext cx="3474720" cy="2011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Yüksek seviyeli API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Güzel varsayılan stiller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Daha az kod, daha çok iş</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İstatistiksel grafikler hazır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Pandas DataFrame ile doğal uyum</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Matplotlib üzerine kurulu</a:t>
            </a:r>
            <a:endParaRPr lang="en-US" sz="1100" dirty="0"/>
          </a:p>
        </p:txBody>
      </p:sp>
      <p:sp>
        <p:nvSpPr>
          <p:cNvPr id="16" name="Shape 14"/>
          <p:cNvSpPr/>
          <p:nvPr/>
        </p:nvSpPr>
        <p:spPr>
          <a:xfrm>
            <a:off x="457200" y="3931920"/>
            <a:ext cx="8229600" cy="822960"/>
          </a:xfrm>
          <a:prstGeom prst="rect">
            <a:avLst/>
          </a:prstGeom>
          <a:solidFill>
            <a:srgbClr val="1E1E2E"/>
          </a:solidFill>
          <a:ln/>
        </p:spPr>
      </p:sp>
      <p:sp>
        <p:nvSpPr>
          <p:cNvPr id="17" name="Text 15"/>
          <p:cNvSpPr/>
          <p:nvPr/>
        </p:nvSpPr>
        <p:spPr>
          <a:xfrm>
            <a:off x="548640" y="3977640"/>
            <a:ext cx="8046720" cy="73152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pip install seaborn                       # Kurulum</a:t>
            </a:r>
            <a:pPr indent="0" marL="0">
              <a:buNone/>
            </a:pPr>
            <a:r>
              <a:rPr lang="en-US" sz="900" dirty="0">
                <a:solidFill>
                  <a:srgbClr val="89B4FA"/>
                </a:solidFill>
                <a:latin typeface="Consolas" pitchFamily="34" charset="0"/>
                <a:ea typeface="Consolas" pitchFamily="34" charset="-122"/>
                <a:cs typeface="Consolas" pitchFamily="34" charset="-120"/>
              </a:rPr>
              <a:t>import seaborn as sns                     # Import</a:t>
            </a:r>
            <a:pPr indent="0" marL="0">
              <a:buNone/>
            </a:pPr>
            <a:r>
              <a:rPr lang="en-US" sz="900" dirty="0">
                <a:solidFill>
                  <a:srgbClr val="F9E2AF"/>
                </a:solidFill>
                <a:latin typeface="Consolas" pitchFamily="34" charset="0"/>
                <a:ea typeface="Consolas" pitchFamily="34" charset="-122"/>
                <a:cs typeface="Consolas" pitchFamily="34" charset="-120"/>
              </a:rPr>
              <a:t>sns.set_theme(style='whitegrid')          # Tema ayarla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sns.countplot() ve barplot()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2B7A78"/>
          </a:solidFill>
          <a:ln/>
        </p:spPr>
      </p:sp>
      <p:sp>
        <p:nvSpPr>
          <p:cNvPr id="10" name="Text 8"/>
          <p:cNvSpPr/>
          <p:nvPr/>
        </p:nvSpPr>
        <p:spPr>
          <a:xfrm>
            <a:off x="640080" y="1097280"/>
            <a:ext cx="7772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Kategorik Veri Görselleştirme</a:t>
            </a:r>
            <a:endParaRPr lang="en-US" sz="1200" dirty="0"/>
          </a:p>
        </p:txBody>
      </p:sp>
      <p:sp>
        <p:nvSpPr>
          <p:cNvPr id="11" name="Text 9"/>
          <p:cNvSpPr/>
          <p:nvPr/>
        </p:nvSpPr>
        <p:spPr>
          <a:xfrm>
            <a:off x="640080" y="1463040"/>
            <a:ext cx="7772400" cy="5486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countplot(): Kategori frekanslarını otomatik sayar ve gösterir. barplot(): Sayısal bir değişkenin kategoriye göre ortalamasını (veya başka istatistiğini) gösterir.</a:t>
            </a:r>
            <a:endParaRPr lang="en-US" sz="1100" dirty="0"/>
          </a:p>
        </p:txBody>
      </p:sp>
      <p:sp>
        <p:nvSpPr>
          <p:cNvPr id="12" name="Shape 10"/>
          <p:cNvSpPr/>
          <p:nvPr/>
        </p:nvSpPr>
        <p:spPr>
          <a:xfrm>
            <a:off x="457200" y="2377440"/>
            <a:ext cx="3931920" cy="2377440"/>
          </a:xfrm>
          <a:prstGeom prst="rect">
            <a:avLst/>
          </a:prstGeom>
          <a:solidFill>
            <a:srgbClr val="1E1E2E"/>
          </a:solidFill>
          <a:ln/>
        </p:spPr>
      </p:sp>
      <p:sp>
        <p:nvSpPr>
          <p:cNvPr id="13" name="Text 11"/>
          <p:cNvSpPr/>
          <p:nvPr/>
        </p:nvSpPr>
        <p:spPr>
          <a:xfrm>
            <a:off x="548640" y="2423160"/>
            <a:ext cx="3749040" cy="228600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Frekans grafiği</a:t>
            </a:r>
            <a:pPr indent="0" marL="0">
              <a:buNone/>
            </a:pPr>
            <a:r>
              <a:rPr lang="en-US" sz="900" dirty="0">
                <a:solidFill>
                  <a:srgbClr val="CDD6F4"/>
                </a:solidFill>
                <a:latin typeface="Consolas" pitchFamily="34" charset="0"/>
                <a:ea typeface="Consolas" pitchFamily="34" charset="-122"/>
                <a:cs typeface="Consolas" pitchFamily="34" charset="-120"/>
              </a:rPr>
              <a:t>sns.countplot(</a:t>
            </a:r>
            <a:pPr indent="0" marL="0">
              <a:buNone/>
            </a:pPr>
            <a:r>
              <a:rPr lang="en-US" sz="900" dirty="0">
                <a:solidFill>
                  <a:srgbClr val="F9E2AF"/>
                </a:solidFill>
                <a:latin typeface="Consolas" pitchFamily="34" charset="0"/>
                <a:ea typeface="Consolas" pitchFamily="34" charset="-122"/>
                <a:cs typeface="Consolas" pitchFamily="34" charset="-120"/>
              </a:rPr>
              <a:t>    data=df,</a:t>
            </a:r>
            <a:pPr indent="0" marL="0">
              <a:buNone/>
            </a:pPr>
            <a:r>
              <a:rPr lang="en-US" sz="900" dirty="0">
                <a:solidFill>
                  <a:srgbClr val="F9E2AF"/>
                </a:solidFill>
                <a:latin typeface="Consolas" pitchFamily="34" charset="0"/>
                <a:ea typeface="Consolas" pitchFamily="34" charset="-122"/>
                <a:cs typeface="Consolas" pitchFamily="34" charset="-120"/>
              </a:rPr>
              <a:t>    x='Departman',</a:t>
            </a:r>
            <a:pPr indent="0" marL="0">
              <a:buNone/>
            </a:pPr>
            <a:r>
              <a:rPr lang="en-US" sz="900" dirty="0">
                <a:solidFill>
                  <a:srgbClr val="F9E2AF"/>
                </a:solidFill>
                <a:latin typeface="Consolas" pitchFamily="34" charset="0"/>
                <a:ea typeface="Consolas" pitchFamily="34" charset="-122"/>
                <a:cs typeface="Consolas" pitchFamily="34" charset="-120"/>
              </a:rPr>
              <a:t>    hue='Cinsiyet',</a:t>
            </a:r>
            <a:pPr indent="0" marL="0">
              <a:buNone/>
            </a:pPr>
            <a:r>
              <a:rPr lang="en-US" sz="900" dirty="0">
                <a:solidFill>
                  <a:srgbClr val="F9E2AF"/>
                </a:solidFill>
                <a:latin typeface="Consolas" pitchFamily="34" charset="0"/>
                <a:ea typeface="Consolas" pitchFamily="34" charset="-122"/>
                <a:cs typeface="Consolas" pitchFamily="34" charset="-120"/>
              </a:rPr>
              <a:t>    palette='Set2'</a:t>
            </a:r>
            <a:pPr indent="0" marL="0">
              <a:buNone/>
            </a:pPr>
            <a:r>
              <a:rPr lang="en-US" sz="900" dirty="0">
                <a:solidFill>
                  <a:srgbClr val="CDD6F4"/>
                </a:solidFill>
                <a:latin typeface="Consolas" pitchFamily="34" charset="0"/>
                <a:ea typeface="Consolas" pitchFamily="34" charset="-122"/>
                <a:cs typeface="Consolas" pitchFamily="34" charset="-120"/>
              </a:rPr>
              <a:t>)</a:t>
            </a:r>
            <a:pPr indent="0" marL="0">
              <a:buNone/>
            </a:pPr>
            <a:r>
              <a:rPr lang="en-US" sz="900" dirty="0">
                <a:solidFill>
                  <a:srgbClr val="CDD6F4"/>
                </a:solidFill>
                <a:latin typeface="Consolas" pitchFamily="34" charset="0"/>
                <a:ea typeface="Consolas" pitchFamily="34" charset="-122"/>
                <a:cs typeface="Consolas" pitchFamily="34" charset="-120"/>
              </a:rPr>
              <a:t>plt.xticks(rotation=45)</a:t>
            </a:r>
            <a:endParaRPr lang="en-US" sz="900" dirty="0"/>
          </a:p>
        </p:txBody>
      </p:sp>
      <p:sp>
        <p:nvSpPr>
          <p:cNvPr id="14" name="Shape 12"/>
          <p:cNvSpPr/>
          <p:nvPr/>
        </p:nvSpPr>
        <p:spPr>
          <a:xfrm>
            <a:off x="4754880" y="2377440"/>
            <a:ext cx="3931920" cy="2377440"/>
          </a:xfrm>
          <a:prstGeom prst="rect">
            <a:avLst/>
          </a:prstGeom>
          <a:solidFill>
            <a:srgbClr val="1E1E2E"/>
          </a:solidFill>
          <a:ln/>
        </p:spPr>
      </p:sp>
      <p:sp>
        <p:nvSpPr>
          <p:cNvPr id="15" name="Text 13"/>
          <p:cNvSpPr/>
          <p:nvPr/>
        </p:nvSpPr>
        <p:spPr>
          <a:xfrm>
            <a:off x="4846320" y="2423160"/>
            <a:ext cx="3749040" cy="228600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Ortalama maaş (departmana göre)</a:t>
            </a:r>
            <a:pPr indent="0" marL="0">
              <a:buNone/>
            </a:pPr>
            <a:r>
              <a:rPr lang="en-US" sz="900" dirty="0">
                <a:solidFill>
                  <a:srgbClr val="CDD6F4"/>
                </a:solidFill>
                <a:latin typeface="Consolas" pitchFamily="34" charset="0"/>
                <a:ea typeface="Consolas" pitchFamily="34" charset="-122"/>
                <a:cs typeface="Consolas" pitchFamily="34" charset="-120"/>
              </a:rPr>
              <a:t>sns.barplot(</a:t>
            </a:r>
            <a:pPr indent="0" marL="0">
              <a:buNone/>
            </a:pPr>
            <a:r>
              <a:rPr lang="en-US" sz="900" dirty="0">
                <a:solidFill>
                  <a:srgbClr val="F9E2AF"/>
                </a:solidFill>
                <a:latin typeface="Consolas" pitchFamily="34" charset="0"/>
                <a:ea typeface="Consolas" pitchFamily="34" charset="-122"/>
                <a:cs typeface="Consolas" pitchFamily="34" charset="-120"/>
              </a:rPr>
              <a:t>    data=df,</a:t>
            </a:r>
            <a:pPr indent="0" marL="0">
              <a:buNone/>
            </a:pPr>
            <a:r>
              <a:rPr lang="en-US" sz="900" dirty="0">
                <a:solidFill>
                  <a:srgbClr val="F9E2AF"/>
                </a:solidFill>
                <a:latin typeface="Consolas" pitchFamily="34" charset="0"/>
                <a:ea typeface="Consolas" pitchFamily="34" charset="-122"/>
                <a:cs typeface="Consolas" pitchFamily="34" charset="-120"/>
              </a:rPr>
              <a:t>    x='Departman',</a:t>
            </a:r>
            <a:pPr indent="0" marL="0">
              <a:buNone/>
            </a:pPr>
            <a:r>
              <a:rPr lang="en-US" sz="900" dirty="0">
                <a:solidFill>
                  <a:srgbClr val="F9E2AF"/>
                </a:solidFill>
                <a:latin typeface="Consolas" pitchFamily="34" charset="0"/>
                <a:ea typeface="Consolas" pitchFamily="34" charset="-122"/>
                <a:cs typeface="Consolas" pitchFamily="34" charset="-120"/>
              </a:rPr>
              <a:t>    y='Maas',</a:t>
            </a:r>
            <a:pPr indent="0" marL="0">
              <a:buNone/>
            </a:pPr>
            <a:r>
              <a:rPr lang="en-US" sz="900" dirty="0">
                <a:solidFill>
                  <a:srgbClr val="F9E2AF"/>
                </a:solidFill>
                <a:latin typeface="Consolas" pitchFamily="34" charset="0"/>
                <a:ea typeface="Consolas" pitchFamily="34" charset="-122"/>
                <a:cs typeface="Consolas" pitchFamily="34" charset="-120"/>
              </a:rPr>
              <a:t>    estimator='mean',</a:t>
            </a:r>
            <a:pPr indent="0" marL="0">
              <a:buNone/>
            </a:pPr>
            <a:r>
              <a:rPr lang="en-US" sz="900" dirty="0">
                <a:solidFill>
                  <a:srgbClr val="F9E2AF"/>
                </a:solidFill>
                <a:latin typeface="Consolas" pitchFamily="34" charset="0"/>
                <a:ea typeface="Consolas" pitchFamily="34" charset="-122"/>
                <a:cs typeface="Consolas" pitchFamily="34" charset="-120"/>
              </a:rPr>
              <a:t>    ci=95,  # güven aralığı</a:t>
            </a:r>
            <a:pPr indent="0" marL="0">
              <a:buNone/>
            </a:pPr>
            <a:r>
              <a:rPr lang="en-US" sz="900" dirty="0">
                <a:solidFill>
                  <a:srgbClr val="F9E2AF"/>
                </a:solidFill>
                <a:latin typeface="Consolas" pitchFamily="34" charset="0"/>
                <a:ea typeface="Consolas" pitchFamily="34" charset="-122"/>
                <a:cs typeface="Consolas" pitchFamily="34" charset="-120"/>
              </a:rPr>
              <a:t>    palette='coolwarm'</a:t>
            </a:r>
            <a:pPr indent="0" marL="0">
              <a:buNone/>
            </a:pPr>
            <a:r>
              <a:rPr lang="en-US" sz="900" dirty="0">
                <a:solidFill>
                  <a:srgbClr val="CDD6F4"/>
                </a:solidFill>
                <a:latin typeface="Consolas" pitchFamily="34" charset="0"/>
                <a:ea typeface="Consolas" pitchFamily="34" charset="-122"/>
                <a:cs typeface="Consolas" pitchFamily="34" charset="-120"/>
              </a:rPr>
              <a: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Boxplot ve Violinplot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21031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C97B5A"/>
          </a:solidFill>
          <a:ln/>
        </p:spPr>
      </p:sp>
      <p:sp>
        <p:nvSpPr>
          <p:cNvPr id="10" name="Text 8"/>
          <p:cNvSpPr/>
          <p:nvPr/>
        </p:nvSpPr>
        <p:spPr>
          <a:xfrm>
            <a:off x="64008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sns.boxplot() — Aykırı Değer Tespiti</a:t>
            </a:r>
            <a:endParaRPr lang="en-US" sz="1200" dirty="0"/>
          </a:p>
        </p:txBody>
      </p:sp>
      <p:sp>
        <p:nvSpPr>
          <p:cNvPr id="11" name="Text 9"/>
          <p:cNvSpPr/>
          <p:nvPr/>
        </p:nvSpPr>
        <p:spPr>
          <a:xfrm>
            <a:off x="640080" y="1463040"/>
            <a:ext cx="3474720" cy="14630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5 sayı özeti gösterir: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Minimum (Q1 - 1.5xIQR)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Q1 (1. çeyreklik — %25)</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Medyan (Q2 — %50)</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Q3 (3. çeyreklik — %75)</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Maksimum (Q3 + 1.5xIQR)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Dışındaki noktalar → Aykırı değer (outlier)</a:t>
            </a:r>
            <a:endParaRPr lang="en-US" sz="1100" dirty="0"/>
          </a:p>
        </p:txBody>
      </p:sp>
      <p:sp>
        <p:nvSpPr>
          <p:cNvPr id="12" name="Shape 10"/>
          <p:cNvSpPr/>
          <p:nvPr/>
        </p:nvSpPr>
        <p:spPr>
          <a:xfrm>
            <a:off x="4754880" y="960120"/>
            <a:ext cx="3931920" cy="21031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960120"/>
            <a:ext cx="3931920" cy="54864"/>
          </a:xfrm>
          <a:prstGeom prst="rect">
            <a:avLst/>
          </a:prstGeom>
          <a:solidFill>
            <a:srgbClr val="7C5BBF"/>
          </a:solidFill>
          <a:ln/>
        </p:spPr>
      </p:sp>
      <p:sp>
        <p:nvSpPr>
          <p:cNvPr id="14" name="Text 12"/>
          <p:cNvSpPr/>
          <p:nvPr/>
        </p:nvSpPr>
        <p:spPr>
          <a:xfrm>
            <a:off x="4937760" y="109728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sns.violinplot() — Dağılım Şekli</a:t>
            </a:r>
            <a:endParaRPr lang="en-US" sz="1200" dirty="0"/>
          </a:p>
        </p:txBody>
      </p:sp>
      <p:sp>
        <p:nvSpPr>
          <p:cNvPr id="15" name="Text 13"/>
          <p:cNvSpPr/>
          <p:nvPr/>
        </p:nvSpPr>
        <p:spPr>
          <a:xfrm>
            <a:off x="4937760" y="1463040"/>
            <a:ext cx="3474720" cy="14630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Boxplot + KDE (yoğunluk tahmini) birleşimi.</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Avantajları: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Dağılımın bimodal olup olmadığını gösterir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Veri yoğunluğunu genişlikle ifade eder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inner='box' ile boxplot'u da içerir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split=True ile iki grubu karşılaştırır</a:t>
            </a:r>
            <a:endParaRPr lang="en-US" sz="1100" dirty="0"/>
          </a:p>
        </p:txBody>
      </p:sp>
      <p:sp>
        <p:nvSpPr>
          <p:cNvPr id="16" name="Shape 14"/>
          <p:cNvSpPr/>
          <p:nvPr/>
        </p:nvSpPr>
        <p:spPr>
          <a:xfrm>
            <a:off x="457200" y="3291840"/>
            <a:ext cx="3931920" cy="1463040"/>
          </a:xfrm>
          <a:prstGeom prst="rect">
            <a:avLst/>
          </a:prstGeom>
          <a:solidFill>
            <a:srgbClr val="1E1E2E"/>
          </a:solidFill>
          <a:ln/>
        </p:spPr>
      </p:sp>
      <p:sp>
        <p:nvSpPr>
          <p:cNvPr id="17" name="Text 15"/>
          <p:cNvSpPr/>
          <p:nvPr/>
        </p:nvSpPr>
        <p:spPr>
          <a:xfrm>
            <a:off x="548640" y="3337560"/>
            <a:ext cx="3749040" cy="1371600"/>
          </a:xfrm>
          <a:prstGeom prst="rect">
            <a:avLst/>
          </a:prstGeom>
          <a:noFill/>
          <a:ln/>
        </p:spPr>
        <p:txBody>
          <a:bodyPr wrap="square" rtlCol="0" anchor="ctr"/>
          <a:lstStyle/>
          <a:p>
            <a:pPr indent="0" marL="0">
              <a:buNone/>
            </a:pPr>
            <a:r>
              <a:rPr lang="en-US" sz="900" dirty="0">
                <a:solidFill>
                  <a:srgbClr val="CDD6F4"/>
                </a:solidFill>
                <a:latin typeface="Consolas" pitchFamily="34" charset="0"/>
                <a:ea typeface="Consolas" pitchFamily="34" charset="-122"/>
                <a:cs typeface="Consolas" pitchFamily="34" charset="-120"/>
              </a:rPr>
              <a:t>sns.boxplot(data=df, x='Kategori',</a:t>
            </a:r>
            <a:pPr indent="0" marL="0">
              <a:buNone/>
            </a:pPr>
            <a:r>
              <a:rPr lang="en-US" sz="900" dirty="0">
                <a:solidFill>
                  <a:srgbClr val="F9E2AF"/>
                </a:solidFill>
                <a:latin typeface="Consolas" pitchFamily="34" charset="0"/>
                <a:ea typeface="Consolas" pitchFamily="34" charset="-122"/>
                <a:cs typeface="Consolas" pitchFamily="34" charset="-120"/>
              </a:rPr>
              <a:t>           y='Fiyat',</a:t>
            </a:r>
            <a:pPr indent="0" marL="0">
              <a:buNone/>
            </a:pPr>
            <a:r>
              <a:rPr lang="en-US" sz="900" dirty="0">
                <a:solidFill>
                  <a:srgbClr val="F9E2AF"/>
                </a:solidFill>
                <a:latin typeface="Consolas" pitchFamily="34" charset="0"/>
                <a:ea typeface="Consolas" pitchFamily="34" charset="-122"/>
                <a:cs typeface="Consolas" pitchFamily="34" charset="-120"/>
              </a:rPr>
              <a:t>           hue='Bölge',</a:t>
            </a:r>
            <a:pPr indent="0" marL="0">
              <a:buNone/>
            </a:pPr>
            <a:r>
              <a:rPr lang="en-US" sz="900" dirty="0">
                <a:solidFill>
                  <a:srgbClr val="F9E2AF"/>
                </a:solidFill>
                <a:latin typeface="Consolas" pitchFamily="34" charset="0"/>
                <a:ea typeface="Consolas" pitchFamily="34" charset="-122"/>
                <a:cs typeface="Consolas" pitchFamily="34" charset="-120"/>
              </a:rPr>
              <a:t>           palette='pastel',</a:t>
            </a:r>
            <a:pPr indent="0" marL="0">
              <a:buNone/>
            </a:pPr>
            <a:r>
              <a:rPr lang="en-US" sz="900" dirty="0">
                <a:solidFill>
                  <a:srgbClr val="F9E2AF"/>
                </a:solidFill>
                <a:latin typeface="Consolas" pitchFamily="34" charset="0"/>
                <a:ea typeface="Consolas" pitchFamily="34" charset="-122"/>
                <a:cs typeface="Consolas" pitchFamily="34" charset="-120"/>
              </a:rPr>
              <a:t>           flierprops={'marker':'D'})</a:t>
            </a:r>
            <a:endParaRPr lang="en-US" sz="900" dirty="0"/>
          </a:p>
        </p:txBody>
      </p:sp>
      <p:sp>
        <p:nvSpPr>
          <p:cNvPr id="18" name="Shape 16"/>
          <p:cNvSpPr/>
          <p:nvPr/>
        </p:nvSpPr>
        <p:spPr>
          <a:xfrm>
            <a:off x="4754880" y="3291840"/>
            <a:ext cx="3931920" cy="1463040"/>
          </a:xfrm>
          <a:prstGeom prst="rect">
            <a:avLst/>
          </a:prstGeom>
          <a:solidFill>
            <a:srgbClr val="1E1E2E"/>
          </a:solidFill>
          <a:ln/>
        </p:spPr>
      </p:sp>
      <p:sp>
        <p:nvSpPr>
          <p:cNvPr id="19" name="Text 17"/>
          <p:cNvSpPr/>
          <p:nvPr/>
        </p:nvSpPr>
        <p:spPr>
          <a:xfrm>
            <a:off x="4846320" y="3337560"/>
            <a:ext cx="3749040" cy="1371600"/>
          </a:xfrm>
          <a:prstGeom prst="rect">
            <a:avLst/>
          </a:prstGeom>
          <a:noFill/>
          <a:ln/>
        </p:spPr>
        <p:txBody>
          <a:bodyPr wrap="square" rtlCol="0" anchor="ctr"/>
          <a:lstStyle/>
          <a:p>
            <a:pPr indent="0" marL="0">
              <a:buNone/>
            </a:pPr>
            <a:r>
              <a:rPr lang="en-US" sz="900" dirty="0">
                <a:solidFill>
                  <a:srgbClr val="CDD6F4"/>
                </a:solidFill>
                <a:latin typeface="Consolas" pitchFamily="34" charset="0"/>
                <a:ea typeface="Consolas" pitchFamily="34" charset="-122"/>
                <a:cs typeface="Consolas" pitchFamily="34" charset="-120"/>
              </a:rPr>
              <a:t>sns.violinplot(data=df,</a:t>
            </a:r>
            <a:pPr indent="0" marL="0">
              <a:buNone/>
            </a:pPr>
            <a:r>
              <a:rPr lang="en-US" sz="900" dirty="0">
                <a:solidFill>
                  <a:srgbClr val="F9E2AF"/>
                </a:solidFill>
                <a:latin typeface="Consolas" pitchFamily="34" charset="0"/>
                <a:ea typeface="Consolas" pitchFamily="34" charset="-122"/>
                <a:cs typeface="Consolas" pitchFamily="34" charset="-120"/>
              </a:rPr>
              <a:t>              x='Kategori',</a:t>
            </a:r>
            <a:pPr indent="0" marL="0">
              <a:buNone/>
            </a:pPr>
            <a:r>
              <a:rPr lang="en-US" sz="900" dirty="0">
                <a:solidFill>
                  <a:srgbClr val="F9E2AF"/>
                </a:solidFill>
                <a:latin typeface="Consolas" pitchFamily="34" charset="0"/>
                <a:ea typeface="Consolas" pitchFamily="34" charset="-122"/>
                <a:cs typeface="Consolas" pitchFamily="34" charset="-120"/>
              </a:rPr>
              <a:t>              y='Fiyat',</a:t>
            </a:r>
            <a:pPr indent="0" marL="0">
              <a:buNone/>
            </a:pPr>
            <a:r>
              <a:rPr lang="en-US" sz="900" dirty="0">
                <a:solidFill>
                  <a:srgbClr val="F9E2AF"/>
                </a:solidFill>
                <a:latin typeface="Consolas" pitchFamily="34" charset="0"/>
                <a:ea typeface="Consolas" pitchFamily="34" charset="-122"/>
                <a:cs typeface="Consolas" pitchFamily="34" charset="-120"/>
              </a:rPr>
              <a:t>              inner='box',</a:t>
            </a:r>
            <a:pPr indent="0" marL="0">
              <a:buNone/>
            </a:pPr>
            <a:r>
              <a:rPr lang="en-US" sz="900" dirty="0">
                <a:solidFill>
                  <a:srgbClr val="F9E2AF"/>
                </a:solidFill>
                <a:latin typeface="Consolas" pitchFamily="34" charset="0"/>
                <a:ea typeface="Consolas" pitchFamily="34" charset="-122"/>
                <a:cs typeface="Consolas" pitchFamily="34" charset="-120"/>
              </a:rPr>
              <a:t>              palette='muted')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Korelasyon Isı Haritası: sns.heatmap()</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572000" cy="3749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572000" cy="54864"/>
          </a:xfrm>
          <a:prstGeom prst="rect">
            <a:avLst/>
          </a:prstGeom>
          <a:solidFill>
            <a:srgbClr val="D94F4F"/>
          </a:solidFill>
          <a:ln/>
        </p:spPr>
      </p:sp>
      <p:sp>
        <p:nvSpPr>
          <p:cNvPr id="10" name="Text 8"/>
          <p:cNvSpPr/>
          <p:nvPr/>
        </p:nvSpPr>
        <p:spPr>
          <a:xfrm>
            <a:off x="640080" y="1097280"/>
            <a:ext cx="41148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Korelasyon Matrisi Nedir?</a:t>
            </a:r>
            <a:endParaRPr lang="en-US" sz="1200" dirty="0"/>
          </a:p>
        </p:txBody>
      </p:sp>
      <p:sp>
        <p:nvSpPr>
          <p:cNvPr id="11" name="Text 9"/>
          <p:cNvSpPr/>
          <p:nvPr/>
        </p:nvSpPr>
        <p:spPr>
          <a:xfrm>
            <a:off x="640080" y="1463040"/>
            <a:ext cx="4114800" cy="3017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Her değişken çiftinin doğrusal ilişki gücünü -1 ile +1 arasında ölçer.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Yorumlama:</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+1.0 → Mükemmel pozitif ilişki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+0.7 ~ +1.0 → Güçlü pozitif</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+0.3 ~ +0.7 → Orta pozitif</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-0.3 ~ +0.3 → Zayıf / yok</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-0.7 ~ -1.0 → Güçlü negatif</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Renk haritaları (cmap):</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'coolwarm' — mavi-kırmızı (en yaygın)</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'RdYlGn' — kırmızı-yeşil</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'viridis' — evrensel erişilebilir</a:t>
            </a:r>
            <a:endParaRPr lang="en-US" sz="1100" dirty="0"/>
          </a:p>
        </p:txBody>
      </p:sp>
      <p:sp>
        <p:nvSpPr>
          <p:cNvPr id="12" name="Shape 10"/>
          <p:cNvSpPr/>
          <p:nvPr/>
        </p:nvSpPr>
        <p:spPr>
          <a:xfrm>
            <a:off x="5303520" y="960120"/>
            <a:ext cx="3383280" cy="3749040"/>
          </a:xfrm>
          <a:prstGeom prst="rect">
            <a:avLst/>
          </a:prstGeom>
          <a:solidFill>
            <a:srgbClr val="1E1E2E"/>
          </a:solidFill>
          <a:ln/>
        </p:spPr>
      </p:sp>
      <p:sp>
        <p:nvSpPr>
          <p:cNvPr id="13" name="Text 11"/>
          <p:cNvSpPr/>
          <p:nvPr/>
        </p:nvSpPr>
        <p:spPr>
          <a:xfrm>
            <a:off x="5394960" y="1005840"/>
            <a:ext cx="3200400" cy="365760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Korelasyon ısı haritası</a:t>
            </a:r>
            <a:pPr indent="0" marL="0">
              <a:buNone/>
            </a:pPr>
            <a:r>
              <a:rPr lang="en-US" sz="900" dirty="0">
                <a:solidFill>
                  <a:srgbClr val="CDD6F4"/>
                </a:solidFill>
                <a:latin typeface="Consolas" pitchFamily="34" charset="0"/>
                <a:ea typeface="Consolas" pitchFamily="34" charset="-122"/>
                <a:cs typeface="Consolas" pitchFamily="34" charset="-120"/>
              </a:rPr>
              <a:t>corr = df.select_dtypes('number')</a:t>
            </a:r>
            <a:pPr indent="0" marL="0">
              <a:buNone/>
            </a:pPr>
            <a:r>
              <a:rPr lang="en-US" sz="900" dirty="0">
                <a:solidFill>
                  <a:srgbClr val="CDD6F4"/>
                </a:solidFill>
                <a:latin typeface="Consolas" pitchFamily="34" charset="0"/>
                <a:ea typeface="Consolas" pitchFamily="34" charset="-122"/>
                <a:cs typeface="Consolas" pitchFamily="34" charset="-120"/>
              </a:rPr>
              <a:t>           .corr()</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plt.figure(figsize=(10, 8))</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sns.heatmap(</a:t>
            </a:r>
            <a:pPr indent="0" marL="0">
              <a:buNone/>
            </a:pPr>
            <a:r>
              <a:rPr lang="en-US" sz="900" dirty="0">
                <a:solidFill>
                  <a:srgbClr val="F9E2AF"/>
                </a:solidFill>
                <a:latin typeface="Consolas" pitchFamily="34" charset="0"/>
                <a:ea typeface="Consolas" pitchFamily="34" charset="-122"/>
                <a:cs typeface="Consolas" pitchFamily="34" charset="-120"/>
              </a:rPr>
              <a:t>    corr,</a:t>
            </a:r>
            <a:pPr indent="0" marL="0">
              <a:buNone/>
            </a:pPr>
            <a:r>
              <a:rPr lang="en-US" sz="900" dirty="0">
                <a:solidFill>
                  <a:srgbClr val="F9E2AF"/>
                </a:solidFill>
                <a:latin typeface="Consolas" pitchFamily="34" charset="0"/>
                <a:ea typeface="Consolas" pitchFamily="34" charset="-122"/>
                <a:cs typeface="Consolas" pitchFamily="34" charset="-120"/>
              </a:rPr>
              <a:t>    annot=True,       # değerleri yaz</a:t>
            </a:r>
            <a:pPr indent="0" marL="0">
              <a:buNone/>
            </a:pPr>
            <a:r>
              <a:rPr lang="en-US" sz="900" dirty="0">
                <a:solidFill>
                  <a:srgbClr val="F9E2AF"/>
                </a:solidFill>
                <a:latin typeface="Consolas" pitchFamily="34" charset="0"/>
                <a:ea typeface="Consolas" pitchFamily="34" charset="-122"/>
                <a:cs typeface="Consolas" pitchFamily="34" charset="-120"/>
              </a:rPr>
              <a:t>    fmt='.2f',        # 2 ondalık</a:t>
            </a:r>
            <a:pPr indent="0" marL="0">
              <a:buNone/>
            </a:pPr>
            <a:r>
              <a:rPr lang="en-US" sz="900" dirty="0">
                <a:solidFill>
                  <a:srgbClr val="F9E2AF"/>
                </a:solidFill>
                <a:latin typeface="Consolas" pitchFamily="34" charset="0"/>
                <a:ea typeface="Consolas" pitchFamily="34" charset="-122"/>
                <a:cs typeface="Consolas" pitchFamily="34" charset="-120"/>
              </a:rPr>
              <a:t>    cmap='coolwarm',  # renk haritası</a:t>
            </a:r>
            <a:pPr indent="0" marL="0">
              <a:buNone/>
            </a:pPr>
            <a:r>
              <a:rPr lang="en-US" sz="900" dirty="0">
                <a:solidFill>
                  <a:srgbClr val="F9E2AF"/>
                </a:solidFill>
                <a:latin typeface="Consolas" pitchFamily="34" charset="0"/>
                <a:ea typeface="Consolas" pitchFamily="34" charset="-122"/>
                <a:cs typeface="Consolas" pitchFamily="34" charset="-120"/>
              </a:rPr>
              <a:t>    center=0,         # sıfır merkez</a:t>
            </a:r>
            <a:pPr indent="0" marL="0">
              <a:buNone/>
            </a:pPr>
            <a:r>
              <a:rPr lang="en-US" sz="900" dirty="0">
                <a:solidFill>
                  <a:srgbClr val="F9E2AF"/>
                </a:solidFill>
                <a:latin typeface="Consolas" pitchFamily="34" charset="0"/>
                <a:ea typeface="Consolas" pitchFamily="34" charset="-122"/>
                <a:cs typeface="Consolas" pitchFamily="34" charset="-120"/>
              </a:rPr>
              <a:t>    linewidths=0.5,</a:t>
            </a:r>
            <a:pPr indent="0" marL="0">
              <a:buNone/>
            </a:pPr>
            <a:r>
              <a:rPr lang="en-US" sz="900" dirty="0">
                <a:solidFill>
                  <a:srgbClr val="F9E2AF"/>
                </a:solidFill>
                <a:latin typeface="Consolas" pitchFamily="34" charset="0"/>
                <a:ea typeface="Consolas" pitchFamily="34" charset="-122"/>
                <a:cs typeface="Consolas" pitchFamily="34" charset="-120"/>
              </a:rPr>
              <a:t>    square=True</a:t>
            </a:r>
            <a:pPr indent="0" marL="0">
              <a:buNone/>
            </a:pPr>
            <a:r>
              <a:rPr lang="en-US" sz="900" dirty="0">
                <a:solidFill>
                  <a:srgbClr val="CDD6F4"/>
                </a:solidFill>
                <a:latin typeface="Consolas" pitchFamily="34" charset="0"/>
                <a:ea typeface="Consolas" pitchFamily="34" charset="-122"/>
                <a:cs typeface="Consolas" pitchFamily="34" charset="-120"/>
              </a:rPr>
              <a:t>)</a:t>
            </a:r>
            <a:pPr indent="0" marL="0">
              <a:buNone/>
            </a:pPr>
            <a:r>
              <a:rPr lang="en-US" sz="900" dirty="0">
                <a:solidFill>
                  <a:srgbClr val="CDD6F4"/>
                </a:solidFill>
                <a:latin typeface="Consolas" pitchFamily="34" charset="0"/>
                <a:ea typeface="Consolas" pitchFamily="34" charset="-122"/>
                <a:cs typeface="Consolas" pitchFamily="34" charset="-120"/>
              </a:rPr>
              <a:t>plt.title('Değişkenler Arası Korelasyon')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Çok Değişkenli Analiz: sns.pairplot()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572000" cy="2377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572000" cy="54864"/>
          </a:xfrm>
          <a:prstGeom prst="rect">
            <a:avLst/>
          </a:prstGeom>
          <a:solidFill>
            <a:srgbClr val="2B7A78"/>
          </a:solidFill>
          <a:ln/>
        </p:spPr>
      </p:sp>
      <p:sp>
        <p:nvSpPr>
          <p:cNvPr id="10" name="Text 8"/>
          <p:cNvSpPr/>
          <p:nvPr/>
        </p:nvSpPr>
        <p:spPr>
          <a:xfrm>
            <a:off x="640080" y="1097280"/>
            <a:ext cx="41148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Pairplot Nedir?</a:t>
            </a:r>
            <a:endParaRPr lang="en-US" sz="1200" dirty="0"/>
          </a:p>
        </p:txBody>
      </p:sp>
      <p:sp>
        <p:nvSpPr>
          <p:cNvPr id="11" name="Text 9"/>
          <p:cNvSpPr/>
          <p:nvPr/>
        </p:nvSpPr>
        <p:spPr>
          <a:xfrm>
            <a:off x="640080" y="1463040"/>
            <a:ext cx="4114800" cy="16459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Tüm sayısal değişken çiftlerini tek seferde görselleştirir.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Köşegen: Her değişkenin kendi dağılımı (histogram veya KDE)</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Üst/Alt üçgen: İkili scatter plotlar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hue parametresi ile gruplara renk atanır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Büyük veri setlerinde yavaş olabilir — sütun seçimi yapın</a:t>
            </a:r>
            <a:endParaRPr lang="en-US" sz="1100" dirty="0"/>
          </a:p>
        </p:txBody>
      </p:sp>
      <p:sp>
        <p:nvSpPr>
          <p:cNvPr id="12" name="Shape 10"/>
          <p:cNvSpPr/>
          <p:nvPr/>
        </p:nvSpPr>
        <p:spPr>
          <a:xfrm>
            <a:off x="5303520" y="960120"/>
            <a:ext cx="3383280" cy="2377440"/>
          </a:xfrm>
          <a:prstGeom prst="rect">
            <a:avLst/>
          </a:prstGeom>
          <a:solidFill>
            <a:srgbClr val="1E1E2E"/>
          </a:solidFill>
          <a:ln/>
        </p:spPr>
      </p:sp>
      <p:sp>
        <p:nvSpPr>
          <p:cNvPr id="13" name="Text 11"/>
          <p:cNvSpPr/>
          <p:nvPr/>
        </p:nvSpPr>
        <p:spPr>
          <a:xfrm>
            <a:off x="5394960" y="1005840"/>
            <a:ext cx="3200400" cy="228600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Iris veri seti ile pairplot</a:t>
            </a:r>
            <a:pPr indent="0" marL="0">
              <a:buNone/>
            </a:pPr>
            <a:r>
              <a:rPr lang="en-US" sz="900" dirty="0">
                <a:solidFill>
                  <a:srgbClr val="89B4FA"/>
                </a:solidFill>
                <a:latin typeface="Consolas" pitchFamily="34" charset="0"/>
                <a:ea typeface="Consolas" pitchFamily="34" charset="-122"/>
                <a:cs typeface="Consolas" pitchFamily="34" charset="-120"/>
              </a:rPr>
              <a:t>iris = sns.load_dataset('iris')</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sns.pairplot(</a:t>
            </a:r>
            <a:pPr indent="0" marL="0">
              <a:buNone/>
            </a:pPr>
            <a:r>
              <a:rPr lang="en-US" sz="900" dirty="0">
                <a:solidFill>
                  <a:srgbClr val="F9E2AF"/>
                </a:solidFill>
                <a:latin typeface="Consolas" pitchFamily="34" charset="0"/>
                <a:ea typeface="Consolas" pitchFamily="34" charset="-122"/>
                <a:cs typeface="Consolas" pitchFamily="34" charset="-120"/>
              </a:rPr>
              <a:t>    iris,</a:t>
            </a:r>
            <a:pPr indent="0" marL="0">
              <a:buNone/>
            </a:pPr>
            <a:r>
              <a:rPr lang="en-US" sz="900" dirty="0">
                <a:solidFill>
                  <a:srgbClr val="F9E2AF"/>
                </a:solidFill>
                <a:latin typeface="Consolas" pitchFamily="34" charset="0"/>
                <a:ea typeface="Consolas" pitchFamily="34" charset="-122"/>
                <a:cs typeface="Consolas" pitchFamily="34" charset="-120"/>
              </a:rPr>
              <a:t>    hue='species',</a:t>
            </a:r>
            <a:pPr indent="0" marL="0">
              <a:buNone/>
            </a:pPr>
            <a:r>
              <a:rPr lang="en-US" sz="900" dirty="0">
                <a:solidFill>
                  <a:srgbClr val="F9E2AF"/>
                </a:solidFill>
                <a:latin typeface="Consolas" pitchFamily="34" charset="0"/>
                <a:ea typeface="Consolas" pitchFamily="34" charset="-122"/>
                <a:cs typeface="Consolas" pitchFamily="34" charset="-120"/>
              </a:rPr>
              <a:t>    diag_kind='kde',</a:t>
            </a:r>
            <a:pPr indent="0" marL="0">
              <a:buNone/>
            </a:pPr>
            <a:r>
              <a:rPr lang="en-US" sz="900" dirty="0">
                <a:solidFill>
                  <a:srgbClr val="F9E2AF"/>
                </a:solidFill>
                <a:latin typeface="Consolas" pitchFamily="34" charset="0"/>
                <a:ea typeface="Consolas" pitchFamily="34" charset="-122"/>
                <a:cs typeface="Consolas" pitchFamily="34" charset="-120"/>
              </a:rPr>
              <a:t>    palette='husl',</a:t>
            </a:r>
            <a:pPr indent="0" marL="0">
              <a:buNone/>
            </a:pPr>
            <a:r>
              <a:rPr lang="en-US" sz="900" dirty="0">
                <a:solidFill>
                  <a:srgbClr val="F9E2AF"/>
                </a:solidFill>
                <a:latin typeface="Consolas" pitchFamily="34" charset="0"/>
                <a:ea typeface="Consolas" pitchFamily="34" charset="-122"/>
                <a:cs typeface="Consolas" pitchFamily="34" charset="-120"/>
              </a:rPr>
              <a:t>    plot_kws={'alpha': 0.6}</a:t>
            </a:r>
            <a:pPr indent="0" marL="0">
              <a:buNone/>
            </a:pPr>
            <a:r>
              <a:rPr lang="en-US" sz="900" dirty="0">
                <a:solidFill>
                  <a:srgbClr val="CDD6F4"/>
                </a:solidFill>
                <a:latin typeface="Consolas" pitchFamily="34" charset="0"/>
                <a:ea typeface="Consolas" pitchFamily="34" charset="-122"/>
                <a:cs typeface="Consolas" pitchFamily="34" charset="-120"/>
              </a:rPr>
              <a:t>)</a:t>
            </a:r>
            <a:endParaRPr lang="en-US" sz="900" dirty="0"/>
          </a:p>
        </p:txBody>
      </p:sp>
      <p:sp>
        <p:nvSpPr>
          <p:cNvPr id="14" name="Shape 12"/>
          <p:cNvSpPr/>
          <p:nvPr/>
        </p:nvSpPr>
        <p:spPr>
          <a:xfrm>
            <a:off x="457200" y="3566160"/>
            <a:ext cx="393192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57200" y="3566160"/>
            <a:ext cx="54864" cy="1188720"/>
          </a:xfrm>
          <a:prstGeom prst="rect">
            <a:avLst/>
          </a:prstGeom>
          <a:solidFill>
            <a:srgbClr val="E8913A"/>
          </a:solidFill>
          <a:ln/>
        </p:spPr>
      </p:sp>
      <p:sp>
        <p:nvSpPr>
          <p:cNvPr id="16" name="Text 14"/>
          <p:cNvSpPr/>
          <p:nvPr/>
        </p:nvSpPr>
        <p:spPr>
          <a:xfrm>
            <a:off x="640080" y="365760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Performans İpucu</a:t>
            </a:r>
            <a:endParaRPr lang="en-US" sz="1200" dirty="0"/>
          </a:p>
        </p:txBody>
      </p:sp>
      <p:sp>
        <p:nvSpPr>
          <p:cNvPr id="17" name="Text 15"/>
          <p:cNvSpPr/>
          <p:nvPr/>
        </p:nvSpPr>
        <p:spPr>
          <a:xfrm>
            <a:off x="640080" y="3977640"/>
            <a:ext cx="3474720" cy="64008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Çok sütunlu veri setlerinde vars=[...] ile sadece ilgilendiğiniz sütunları seçin. corner=True ile sadece alt üçgeni çizin.</a:t>
            </a:r>
            <a:endParaRPr lang="en-US" sz="1000" dirty="0"/>
          </a:p>
        </p:txBody>
      </p:sp>
      <p:sp>
        <p:nvSpPr>
          <p:cNvPr id="18" name="Shape 16"/>
          <p:cNvSpPr/>
          <p:nvPr/>
        </p:nvSpPr>
        <p:spPr>
          <a:xfrm>
            <a:off x="4754880" y="3566160"/>
            <a:ext cx="393192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9" name="Shape 17"/>
          <p:cNvSpPr/>
          <p:nvPr/>
        </p:nvSpPr>
        <p:spPr>
          <a:xfrm>
            <a:off x="4754880" y="3566160"/>
            <a:ext cx="54864" cy="1188720"/>
          </a:xfrm>
          <a:prstGeom prst="rect">
            <a:avLst/>
          </a:prstGeom>
          <a:solidFill>
            <a:srgbClr val="3A9E6B"/>
          </a:solidFill>
          <a:ln/>
        </p:spPr>
      </p:sp>
      <p:sp>
        <p:nvSpPr>
          <p:cNvPr id="20" name="Text 18"/>
          <p:cNvSpPr/>
          <p:nvPr/>
        </p:nvSpPr>
        <p:spPr>
          <a:xfrm>
            <a:off x="4937760" y="3657600"/>
            <a:ext cx="34747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Alternatif: sns.jointplot()</a:t>
            </a:r>
            <a:endParaRPr lang="en-US" sz="1200" dirty="0"/>
          </a:p>
        </p:txBody>
      </p:sp>
      <p:sp>
        <p:nvSpPr>
          <p:cNvPr id="21" name="Text 19"/>
          <p:cNvSpPr/>
          <p:nvPr/>
        </p:nvSpPr>
        <p:spPr>
          <a:xfrm>
            <a:off x="4937760" y="3977640"/>
            <a:ext cx="3474720" cy="64008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İki değişken arasındaki ilişkiyi scatter + kenar histogramları ile gösterir. kind='hex', 'kde', 'reg' seçenekleri.</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Bar Chart Race — Animasyonlu Grafikler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114800" cy="18288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114800" cy="54864"/>
          </a:xfrm>
          <a:prstGeom prst="rect">
            <a:avLst/>
          </a:prstGeom>
          <a:solidFill>
            <a:srgbClr val="E8913A"/>
          </a:solidFill>
          <a:ln/>
        </p:spPr>
      </p:sp>
      <p:sp>
        <p:nvSpPr>
          <p:cNvPr id="10" name="Text 8"/>
          <p:cNvSpPr/>
          <p:nvPr/>
        </p:nvSpPr>
        <p:spPr>
          <a:xfrm>
            <a:off x="640080" y="1097280"/>
            <a:ext cx="36576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bar_chart_race Kütüphanesi</a:t>
            </a:r>
            <a:endParaRPr lang="en-US" sz="1200" dirty="0"/>
          </a:p>
        </p:txBody>
      </p:sp>
      <p:sp>
        <p:nvSpPr>
          <p:cNvPr id="11" name="Text 9"/>
          <p:cNvSpPr/>
          <p:nvPr/>
        </p:nvSpPr>
        <p:spPr>
          <a:xfrm>
            <a:off x="640080" y="1463040"/>
            <a:ext cx="3657600" cy="11887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Zaman serisi verilerini animasyonlu yarışan çubuk grafiğine dönüştürür.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MP4, GIF veya HTML çıktısı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Pandas DataFrame doğrudan kullanılır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COVID-19, nüfus, GSYİH gibi veriler için ideal</a:t>
            </a:r>
            <a:endParaRPr lang="en-US" sz="1100" dirty="0"/>
          </a:p>
        </p:txBody>
      </p:sp>
      <p:sp>
        <p:nvSpPr>
          <p:cNvPr id="12" name="Shape 10"/>
          <p:cNvSpPr/>
          <p:nvPr/>
        </p:nvSpPr>
        <p:spPr>
          <a:xfrm>
            <a:off x="4846320" y="960120"/>
            <a:ext cx="3840480" cy="18288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846320" y="960120"/>
            <a:ext cx="3840480" cy="54864"/>
          </a:xfrm>
          <a:prstGeom prst="rect">
            <a:avLst/>
          </a:prstGeom>
          <a:solidFill>
            <a:srgbClr val="D94F4F"/>
          </a:solidFill>
          <a:ln/>
        </p:spPr>
      </p:sp>
      <p:sp>
        <p:nvSpPr>
          <p:cNvPr id="14" name="Text 12"/>
          <p:cNvSpPr/>
          <p:nvPr/>
        </p:nvSpPr>
        <p:spPr>
          <a:xfrm>
            <a:off x="5029200" y="1097280"/>
            <a:ext cx="338328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Kullanım Alanları</a:t>
            </a:r>
            <a:endParaRPr lang="en-US" sz="1200" dirty="0"/>
          </a:p>
        </p:txBody>
      </p:sp>
      <p:sp>
        <p:nvSpPr>
          <p:cNvPr id="15" name="Text 13"/>
          <p:cNvSpPr/>
          <p:nvPr/>
        </p:nvSpPr>
        <p:spPr>
          <a:xfrm>
            <a:off x="5029200" y="1463040"/>
            <a:ext cx="3383280" cy="11887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COVID-19 vaka sayıları (ülke bazlı)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Ülkelerin GSYİH değişimi (1960–2024)</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YouTube en çok izlenen kanallar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Programlama dilleri popülaritesi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Şehir nüfus değişimleri</a:t>
            </a:r>
            <a:endParaRPr lang="en-US" sz="1100" dirty="0"/>
          </a:p>
        </p:txBody>
      </p:sp>
      <p:sp>
        <p:nvSpPr>
          <p:cNvPr id="16" name="Shape 14"/>
          <p:cNvSpPr/>
          <p:nvPr/>
        </p:nvSpPr>
        <p:spPr>
          <a:xfrm>
            <a:off x="457200" y="3017520"/>
            <a:ext cx="8229600" cy="1737360"/>
          </a:xfrm>
          <a:prstGeom prst="rect">
            <a:avLst/>
          </a:prstGeom>
          <a:solidFill>
            <a:srgbClr val="1E1E2E"/>
          </a:solidFill>
          <a:ln/>
        </p:spPr>
      </p:sp>
      <p:sp>
        <p:nvSpPr>
          <p:cNvPr id="17" name="Text 15"/>
          <p:cNvSpPr/>
          <p:nvPr/>
        </p:nvSpPr>
        <p:spPr>
          <a:xfrm>
            <a:off x="548640" y="3063240"/>
            <a:ext cx="8046720" cy="164592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import bar_chart_race as bcr</a:t>
            </a:r>
            <a:pPr indent="0" marL="0">
              <a:buNone/>
            </a:pPr>
            <a:r>
              <a:rPr lang="en-US" sz="900" dirty="0">
                <a:solidFill>
                  <a:srgbClr val="89B4FA"/>
                </a:solidFill>
                <a:latin typeface="Consolas" pitchFamily="34" charset="0"/>
                <a:ea typeface="Consolas" pitchFamily="34" charset="-122"/>
                <a:cs typeface="Consolas" pitchFamily="34" charset="-120"/>
              </a:rPr>
              <a:t>import pandas as pd</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COVID-19 veri seti (satırlar: tarih, sütunlar: ülke)</a:t>
            </a:r>
            <a:pPr indent="0" marL="0">
              <a:buNone/>
            </a:pPr>
            <a:r>
              <a:rPr lang="en-US" sz="900" dirty="0">
                <a:solidFill>
                  <a:srgbClr val="CDD6F4"/>
                </a:solidFill>
                <a:latin typeface="Consolas" pitchFamily="34" charset="0"/>
                <a:ea typeface="Consolas" pitchFamily="34" charset="-122"/>
                <a:cs typeface="Consolas" pitchFamily="34" charset="-120"/>
              </a:rPr>
              <a:t>df = pd.read_csv('covid_worldwide.csv', index_col='date', parse_dates=True)</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bcr.bar_chart_race(</a:t>
            </a:r>
            <a:pPr indent="0" marL="0">
              <a:buNone/>
            </a:pPr>
            <a:r>
              <a:rPr lang="en-US" sz="900" dirty="0">
                <a:solidFill>
                  <a:srgbClr val="F9E2AF"/>
                </a:solidFill>
                <a:latin typeface="Consolas" pitchFamily="34" charset="0"/>
                <a:ea typeface="Consolas" pitchFamily="34" charset="-122"/>
                <a:cs typeface="Consolas" pitchFamily="34" charset="-120"/>
              </a:rPr>
              <a:t>    df=df, filename='covid_race.mp4', n_bars=10,</a:t>
            </a:r>
            <a:pPr indent="0" marL="0">
              <a:buNone/>
            </a:pPr>
            <a:r>
              <a:rPr lang="en-US" sz="900" dirty="0">
                <a:solidFill>
                  <a:srgbClr val="F9E2AF"/>
                </a:solidFill>
                <a:latin typeface="Consolas" pitchFamily="34" charset="0"/>
                <a:ea typeface="Consolas" pitchFamily="34" charset="-122"/>
                <a:cs typeface="Consolas" pitchFamily="34" charset="-120"/>
              </a:rPr>
              <a:t>    title='COVID-19 Toplam Vaka Sayıları', period_length=500,</a:t>
            </a:r>
            <a:pPr indent="0" marL="0">
              <a:buNone/>
            </a:pPr>
            <a:r>
              <a:rPr lang="en-US" sz="900" dirty="0">
                <a:solidFill>
                  <a:srgbClr val="F9E2AF"/>
                </a:solidFill>
                <a:latin typeface="Consolas" pitchFamily="34" charset="0"/>
                <a:ea typeface="Consolas" pitchFamily="34" charset="-122"/>
                <a:cs typeface="Consolas" pitchFamily="34" charset="-120"/>
              </a:rPr>
              <a:t>    figsize=(8, 5), cmap='dark12', bar_size=0.8)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Google Trends Analizi: pytrends</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4A7FC7"/>
          </a:solidFill>
          <a:ln/>
        </p:spPr>
      </p:sp>
      <p:sp>
        <p:nvSpPr>
          <p:cNvPr id="10" name="Text 8"/>
          <p:cNvSpPr/>
          <p:nvPr/>
        </p:nvSpPr>
        <p:spPr>
          <a:xfrm>
            <a:off x="640080" y="1097280"/>
            <a:ext cx="7772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pytrends — Google Arama Trendlerini Python'a Getirin</a:t>
            </a:r>
            <a:endParaRPr lang="en-US" sz="1200" dirty="0"/>
          </a:p>
        </p:txBody>
      </p:sp>
      <p:sp>
        <p:nvSpPr>
          <p:cNvPr id="11" name="Text 9"/>
          <p:cNvSpPr/>
          <p:nvPr/>
        </p:nvSpPr>
        <p:spPr>
          <a:xfrm>
            <a:off x="640080" y="1463040"/>
            <a:ext cx="7772400" cy="8229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Google Trends verilerini programatik olarak çekmenizi sağlar. Anahtar kelime popülaritesi, bölgesel ilgi, ilgili sorgular ve yükselen trendleri analiz edebilirsiniz. Veri bilimi projelerinde trend keşfi ve mevsimsel analiz için güçlü bir araçtır.</a:t>
            </a:r>
            <a:endParaRPr lang="en-US" sz="1100" dirty="0"/>
          </a:p>
        </p:txBody>
      </p:sp>
      <p:sp>
        <p:nvSpPr>
          <p:cNvPr id="12" name="Shape 10"/>
          <p:cNvSpPr/>
          <p:nvPr/>
        </p:nvSpPr>
        <p:spPr>
          <a:xfrm>
            <a:off x="457200" y="2651760"/>
            <a:ext cx="4572000" cy="2103120"/>
          </a:xfrm>
          <a:prstGeom prst="rect">
            <a:avLst/>
          </a:prstGeom>
          <a:solidFill>
            <a:srgbClr val="1E1E2E"/>
          </a:solidFill>
          <a:ln/>
        </p:spPr>
      </p:sp>
      <p:sp>
        <p:nvSpPr>
          <p:cNvPr id="13" name="Text 11"/>
          <p:cNvSpPr/>
          <p:nvPr/>
        </p:nvSpPr>
        <p:spPr>
          <a:xfrm>
            <a:off x="548640" y="2697480"/>
            <a:ext cx="4389120" cy="201168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from pytrends.request import TrendReq</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pytrends = TrendReq(hl='tr-TR', tz=180)</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Anahtar kelime karşılaştırma</a:t>
            </a:r>
            <a:pPr indent="0" marL="0">
              <a:buNone/>
            </a:pPr>
            <a:r>
              <a:rPr lang="en-US" sz="900" dirty="0">
                <a:solidFill>
                  <a:srgbClr val="F9E2AF"/>
                </a:solidFill>
                <a:latin typeface="Consolas" pitchFamily="34" charset="0"/>
                <a:ea typeface="Consolas" pitchFamily="34" charset="-122"/>
                <a:cs typeface="Consolas" pitchFamily="34" charset="-120"/>
              </a:rPr>
              <a:t>kw = ['yapay zeka','veri bilimi',</a:t>
            </a:r>
            <a:pPr indent="0" marL="0">
              <a:buNone/>
            </a:pPr>
            <a:r>
              <a:rPr lang="en-US" sz="900" dirty="0">
                <a:solidFill>
                  <a:srgbClr val="F9E2AF"/>
                </a:solidFill>
                <a:latin typeface="Consolas" pitchFamily="34" charset="0"/>
                <a:ea typeface="Consolas" pitchFamily="34" charset="-122"/>
                <a:cs typeface="Consolas" pitchFamily="34" charset="-120"/>
              </a:rPr>
              <a:t>      'makine öğrenmesi']</a:t>
            </a:r>
            <a:pPr indent="0" marL="0">
              <a:buNone/>
            </a:pPr>
            <a:r>
              <a:rPr lang="en-US" sz="900" dirty="0">
                <a:solidFill>
                  <a:srgbClr val="CDD6F4"/>
                </a:solidFill>
                <a:latin typeface="Consolas" pitchFamily="34" charset="0"/>
                <a:ea typeface="Consolas" pitchFamily="34" charset="-122"/>
                <a:cs typeface="Consolas" pitchFamily="34" charset="-120"/>
              </a:rPr>
              <a:t>pytrends.build_payload(kw,</a:t>
            </a:r>
            <a:pPr indent="0" marL="0">
              <a:buNone/>
            </a:pPr>
            <a:r>
              <a:rPr lang="en-US" sz="900" dirty="0">
                <a:solidFill>
                  <a:srgbClr val="F9E2AF"/>
                </a:solidFill>
                <a:latin typeface="Consolas" pitchFamily="34" charset="0"/>
                <a:ea typeface="Consolas" pitchFamily="34" charset="-122"/>
                <a:cs typeface="Consolas" pitchFamily="34" charset="-120"/>
              </a:rPr>
              <a:t>    timeframe='2020-01-01 2024-12-31',</a:t>
            </a:r>
            <a:pPr indent="0" marL="0">
              <a:buNone/>
            </a:pPr>
            <a:r>
              <a:rPr lang="en-US" sz="900" dirty="0">
                <a:solidFill>
                  <a:srgbClr val="F9E2AF"/>
                </a:solidFill>
                <a:latin typeface="Consolas" pitchFamily="34" charset="0"/>
                <a:ea typeface="Consolas" pitchFamily="34" charset="-122"/>
                <a:cs typeface="Consolas" pitchFamily="34" charset="-120"/>
              </a:rPr>
              <a:t>    geo='TR')</a:t>
            </a:r>
            <a:pPr indent="0" marL="0">
              <a:buNone/>
            </a:pPr>
            <a:r>
              <a:rPr lang="en-US" sz="900" dirty="0">
                <a:solidFill>
                  <a:srgbClr val="A6E3A1"/>
                </a:solidFill>
                <a:latin typeface="Consolas" pitchFamily="34" charset="0"/>
                <a:ea typeface="Consolas" pitchFamily="34" charset="-122"/>
                <a:cs typeface="Consolas" pitchFamily="34" charset="-120"/>
              </a:rPr>
              <a:t>df = pytrends.interest_over_time()</a:t>
            </a:r>
            <a:endParaRPr lang="en-US" sz="900" dirty="0"/>
          </a:p>
        </p:txBody>
      </p:sp>
      <p:sp>
        <p:nvSpPr>
          <p:cNvPr id="14" name="Shape 12"/>
          <p:cNvSpPr/>
          <p:nvPr/>
        </p:nvSpPr>
        <p:spPr>
          <a:xfrm>
            <a:off x="5303520" y="2651760"/>
            <a:ext cx="3383280" cy="9601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5303520" y="2651760"/>
            <a:ext cx="54864" cy="960120"/>
          </a:xfrm>
          <a:prstGeom prst="rect">
            <a:avLst/>
          </a:prstGeom>
          <a:solidFill>
            <a:srgbClr val="2B7A78"/>
          </a:solidFill>
          <a:ln/>
        </p:spPr>
      </p:sp>
      <p:sp>
        <p:nvSpPr>
          <p:cNvPr id="16" name="Text 14"/>
          <p:cNvSpPr/>
          <p:nvPr/>
        </p:nvSpPr>
        <p:spPr>
          <a:xfrm>
            <a:off x="5486400" y="2743200"/>
            <a:ext cx="30175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Kullanılabilir Veriler</a:t>
            </a:r>
            <a:endParaRPr lang="en-US" sz="1200" dirty="0"/>
          </a:p>
        </p:txBody>
      </p:sp>
      <p:sp>
        <p:nvSpPr>
          <p:cNvPr id="17" name="Text 15"/>
          <p:cNvSpPr/>
          <p:nvPr/>
        </p:nvSpPr>
        <p:spPr>
          <a:xfrm>
            <a:off x="5486400" y="3063240"/>
            <a:ext cx="3017520" cy="457200"/>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 interest_over_time()</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 interest_by_region()</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 related_queries()</a:t>
            </a:r>
            <a:endParaRPr lang="en-US" sz="900" dirty="0"/>
          </a:p>
        </p:txBody>
      </p:sp>
      <p:sp>
        <p:nvSpPr>
          <p:cNvPr id="18" name="Shape 16"/>
          <p:cNvSpPr/>
          <p:nvPr/>
        </p:nvSpPr>
        <p:spPr>
          <a:xfrm>
            <a:off x="5303520" y="3794760"/>
            <a:ext cx="3383280" cy="9601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9" name="Shape 17"/>
          <p:cNvSpPr/>
          <p:nvPr/>
        </p:nvSpPr>
        <p:spPr>
          <a:xfrm>
            <a:off x="5303520" y="3794760"/>
            <a:ext cx="54864" cy="960120"/>
          </a:xfrm>
          <a:prstGeom prst="rect">
            <a:avLst/>
          </a:prstGeom>
          <a:solidFill>
            <a:srgbClr val="C97B5A"/>
          </a:solidFill>
          <a:ln/>
        </p:spPr>
      </p:sp>
      <p:sp>
        <p:nvSpPr>
          <p:cNvPr id="20" name="Text 18"/>
          <p:cNvSpPr/>
          <p:nvPr/>
        </p:nvSpPr>
        <p:spPr>
          <a:xfrm>
            <a:off x="5486400" y="3886200"/>
            <a:ext cx="301752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Görselleştirme</a:t>
            </a:r>
            <a:endParaRPr lang="en-US" sz="1200" dirty="0"/>
          </a:p>
        </p:txBody>
      </p:sp>
      <p:sp>
        <p:nvSpPr>
          <p:cNvPr id="21" name="Text 19"/>
          <p:cNvSpPr/>
          <p:nvPr/>
        </p:nvSpPr>
        <p:spPr>
          <a:xfrm>
            <a:off x="5486400" y="4206240"/>
            <a:ext cx="3017520" cy="457200"/>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 df.plot() ile trend çizgisi</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 sns.heatmap() ile bölgesel ısı haritası</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Oto-EDA: Sweetviz</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114800" cy="31089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114800" cy="54864"/>
          </a:xfrm>
          <a:prstGeom prst="rect">
            <a:avLst/>
          </a:prstGeom>
          <a:solidFill>
            <a:srgbClr val="7C5BBF"/>
          </a:solidFill>
          <a:ln/>
        </p:spPr>
      </p:sp>
      <p:sp>
        <p:nvSpPr>
          <p:cNvPr id="10" name="Text 8"/>
          <p:cNvSpPr/>
          <p:nvPr/>
        </p:nvSpPr>
        <p:spPr>
          <a:xfrm>
            <a:off x="640080" y="1097280"/>
            <a:ext cx="36576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Tek Satırda Tam EDA Raporu</a:t>
            </a:r>
            <a:endParaRPr lang="en-US" sz="1200" dirty="0"/>
          </a:p>
        </p:txBody>
      </p:sp>
      <p:sp>
        <p:nvSpPr>
          <p:cNvPr id="11" name="Text 9"/>
          <p:cNvSpPr/>
          <p:nvPr/>
        </p:nvSpPr>
        <p:spPr>
          <a:xfrm>
            <a:off x="640080" y="1463040"/>
            <a:ext cx="3657600" cy="24688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Sweetviz, veri setinizi otomatik olarak analiz eder ve interaktif bir HTML raporu üretir.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Rapor içeriği: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Her sütun için dağılım grafikleri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Eksik değer yüzdeleri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Korelasyon matrisi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Hedef değişken analizi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İki veri seti karşılaştırması (train vs test)</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Avantaj: Saatlerce sürecek EDA'yı saniyede bitirir. Dezavantaj: Büyük veri setlerinde RAM yoğun.</a:t>
            </a:r>
            <a:endParaRPr lang="en-US" sz="1100" dirty="0"/>
          </a:p>
        </p:txBody>
      </p:sp>
      <p:sp>
        <p:nvSpPr>
          <p:cNvPr id="12" name="Shape 10"/>
          <p:cNvSpPr/>
          <p:nvPr/>
        </p:nvSpPr>
        <p:spPr>
          <a:xfrm>
            <a:off x="4846320" y="960120"/>
            <a:ext cx="3840480" cy="1828800"/>
          </a:xfrm>
          <a:prstGeom prst="rect">
            <a:avLst/>
          </a:prstGeom>
          <a:solidFill>
            <a:srgbClr val="1E1E2E"/>
          </a:solidFill>
          <a:ln/>
        </p:spPr>
      </p:sp>
      <p:sp>
        <p:nvSpPr>
          <p:cNvPr id="13" name="Text 11"/>
          <p:cNvSpPr/>
          <p:nvPr/>
        </p:nvSpPr>
        <p:spPr>
          <a:xfrm>
            <a:off x="4937760" y="1005840"/>
            <a:ext cx="3657600" cy="173736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import sweetviz as sv</a:t>
            </a:r>
            <a:pPr indent="0" marL="0">
              <a:buNone/>
            </a:pPr>
            <a:r>
              <a:rPr lang="en-US" sz="900" dirty="0">
                <a:solidFill>
                  <a:srgbClr val="89B4FA"/>
                </a:solidFill>
                <a:latin typeface="Consolas" pitchFamily="34" charset="0"/>
                <a:ea typeface="Consolas" pitchFamily="34" charset="-122"/>
                <a:cs typeface="Consolas" pitchFamily="34" charset="-120"/>
              </a:rPr>
              <a:t>import pandas as pd</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df = pd.read_csv('veri.csv')</a:t>
            </a:r>
            <a:pPr indent="0" marL="0">
              <a:buNone/>
            </a:pPr>
            <a:pPr indent="0" marL="0">
              <a:buNone/>
            </a:pPr>
            <a:r>
              <a:rPr lang="en-US" sz="900" dirty="0">
                <a:solidFill>
                  <a:srgbClr val="A6E3A1"/>
                </a:solidFill>
                <a:latin typeface="Consolas" pitchFamily="34" charset="0"/>
                <a:ea typeface="Consolas" pitchFamily="34" charset="-122"/>
                <a:cs typeface="Consolas" pitchFamily="34" charset="-120"/>
              </a:rPr>
              <a:t># Tek satır EDA raporu</a:t>
            </a:r>
            <a:pPr indent="0" marL="0">
              <a:buNone/>
            </a:pPr>
            <a:r>
              <a:rPr lang="en-US" sz="900" dirty="0">
                <a:solidFill>
                  <a:srgbClr val="CDD6F4"/>
                </a:solidFill>
                <a:latin typeface="Consolas" pitchFamily="34" charset="0"/>
                <a:ea typeface="Consolas" pitchFamily="34" charset="-122"/>
                <a:cs typeface="Consolas" pitchFamily="34" charset="-120"/>
              </a:rPr>
              <a:t>rapor = sv.analyze(df,</a:t>
            </a:r>
            <a:pPr indent="0" marL="0">
              <a:buNone/>
            </a:pPr>
            <a:r>
              <a:rPr lang="en-US" sz="900" dirty="0">
                <a:solidFill>
                  <a:srgbClr val="F9E2AF"/>
                </a:solidFill>
                <a:latin typeface="Consolas" pitchFamily="34" charset="0"/>
                <a:ea typeface="Consolas" pitchFamily="34" charset="-122"/>
                <a:cs typeface="Consolas" pitchFamily="34" charset="-120"/>
              </a:rPr>
              <a:t>    target_feat='Fiyat')</a:t>
            </a:r>
            <a:pPr indent="0" marL="0">
              <a:buNone/>
            </a:pPr>
            <a:r>
              <a:rPr lang="en-US" sz="900" dirty="0">
                <a:solidFill>
                  <a:srgbClr val="A6E3A1"/>
                </a:solidFill>
                <a:latin typeface="Consolas" pitchFamily="34" charset="0"/>
                <a:ea typeface="Consolas" pitchFamily="34" charset="-122"/>
                <a:cs typeface="Consolas" pitchFamily="34" charset="-120"/>
              </a:rPr>
              <a:t>rapor.show_html('eda_rapor.html')</a:t>
            </a:r>
            <a:endParaRPr lang="en-US" sz="900" dirty="0"/>
          </a:p>
        </p:txBody>
      </p:sp>
      <p:sp>
        <p:nvSpPr>
          <p:cNvPr id="14" name="Shape 12"/>
          <p:cNvSpPr/>
          <p:nvPr/>
        </p:nvSpPr>
        <p:spPr>
          <a:xfrm>
            <a:off x="4846320" y="3017520"/>
            <a:ext cx="3840480" cy="1051560"/>
          </a:xfrm>
          <a:prstGeom prst="rect">
            <a:avLst/>
          </a:prstGeom>
          <a:solidFill>
            <a:srgbClr val="1E1E2E"/>
          </a:solidFill>
          <a:ln/>
        </p:spPr>
      </p:sp>
      <p:sp>
        <p:nvSpPr>
          <p:cNvPr id="15" name="Text 13"/>
          <p:cNvSpPr/>
          <p:nvPr/>
        </p:nvSpPr>
        <p:spPr>
          <a:xfrm>
            <a:off x="4937760" y="3063240"/>
            <a:ext cx="3657600" cy="96012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Train vs Test karşılaştırma</a:t>
            </a:r>
            <a:pPr indent="0" marL="0">
              <a:buNone/>
            </a:pPr>
            <a:r>
              <a:rPr lang="en-US" sz="900" dirty="0">
                <a:solidFill>
                  <a:srgbClr val="CDD6F4"/>
                </a:solidFill>
                <a:latin typeface="Consolas" pitchFamily="34" charset="0"/>
                <a:ea typeface="Consolas" pitchFamily="34" charset="-122"/>
                <a:cs typeface="Consolas" pitchFamily="34" charset="-120"/>
              </a:rPr>
              <a:t>rapor = sv.compare(</a:t>
            </a:r>
            <a:pPr indent="0" marL="0">
              <a:buNone/>
            </a:pPr>
            <a:r>
              <a:rPr lang="en-US" sz="900" dirty="0">
                <a:solidFill>
                  <a:srgbClr val="F9E2AF"/>
                </a:solidFill>
                <a:latin typeface="Consolas" pitchFamily="34" charset="0"/>
                <a:ea typeface="Consolas" pitchFamily="34" charset="-122"/>
                <a:cs typeface="Consolas" pitchFamily="34" charset="-120"/>
              </a:rPr>
              <a:t>    [train, 'Eğitim'],</a:t>
            </a:r>
            <a:pPr indent="0" marL="0">
              <a:buNone/>
            </a:pPr>
            <a:r>
              <a:rPr lang="en-US" sz="900" dirty="0">
                <a:solidFill>
                  <a:srgbClr val="F9E2AF"/>
                </a:solidFill>
                <a:latin typeface="Consolas" pitchFamily="34" charset="0"/>
                <a:ea typeface="Consolas" pitchFamily="34" charset="-122"/>
                <a:cs typeface="Consolas" pitchFamily="34" charset="-120"/>
              </a:rPr>
              <a:t>    [test,  'Test'])</a:t>
            </a:r>
            <a:endParaRPr lang="en-US" sz="900" dirty="0"/>
          </a:p>
        </p:txBody>
      </p:sp>
      <p:sp>
        <p:nvSpPr>
          <p:cNvPr id="16" name="Shape 14"/>
          <p:cNvSpPr/>
          <p:nvPr/>
        </p:nvSpPr>
        <p:spPr>
          <a:xfrm>
            <a:off x="457200" y="4297680"/>
            <a:ext cx="8229600" cy="4572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457200" y="4297680"/>
            <a:ext cx="54864" cy="457200"/>
          </a:xfrm>
          <a:prstGeom prst="rect">
            <a:avLst/>
          </a:prstGeom>
          <a:solidFill>
            <a:srgbClr val="E8913A"/>
          </a:solidFill>
          <a:ln/>
        </p:spPr>
      </p:sp>
      <p:sp>
        <p:nvSpPr>
          <p:cNvPr id="18" name="Text 16"/>
          <p:cNvSpPr/>
          <p:nvPr/>
        </p:nvSpPr>
        <p:spPr>
          <a:xfrm>
            <a:off x="640080" y="4343400"/>
            <a:ext cx="7772400" cy="36576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Kurulum: pip install sweetviz  —  Minimum Python 3.7, Pandas &gt;= 1.0 gerektirir.</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Oto-EDA: YData-Profiling</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114800" cy="2194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114800" cy="54864"/>
          </a:xfrm>
          <a:prstGeom prst="rect">
            <a:avLst/>
          </a:prstGeom>
          <a:solidFill>
            <a:srgbClr val="3A9E6B"/>
          </a:solidFill>
          <a:ln/>
        </p:spPr>
      </p:sp>
      <p:sp>
        <p:nvSpPr>
          <p:cNvPr id="10" name="Text 8"/>
          <p:cNvSpPr/>
          <p:nvPr/>
        </p:nvSpPr>
        <p:spPr>
          <a:xfrm>
            <a:off x="640080" y="1097280"/>
            <a:ext cx="36576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ProfileReport ile Derin Analiz</a:t>
            </a:r>
            <a:endParaRPr lang="en-US" sz="1200" dirty="0"/>
          </a:p>
        </p:txBody>
      </p:sp>
      <p:sp>
        <p:nvSpPr>
          <p:cNvPr id="11" name="Text 9"/>
          <p:cNvSpPr/>
          <p:nvPr/>
        </p:nvSpPr>
        <p:spPr>
          <a:xfrm>
            <a:off x="640080" y="1463040"/>
            <a:ext cx="3657600" cy="15544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Eski adıyla pandas-profiling. Sweetviz'den daha detaylı rapor üretir.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Ekstra özellikler: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Değişken etkileşim grafikleri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Duplikasyon analizi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Metin ve kategorik sütun detayları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Jupyter Notebook içinde gösterim</a:t>
            </a:r>
            <a:endParaRPr lang="en-US" sz="1100" dirty="0"/>
          </a:p>
        </p:txBody>
      </p:sp>
      <p:sp>
        <p:nvSpPr>
          <p:cNvPr id="12" name="Shape 10"/>
          <p:cNvSpPr/>
          <p:nvPr/>
        </p:nvSpPr>
        <p:spPr>
          <a:xfrm>
            <a:off x="457200" y="3383280"/>
            <a:ext cx="4114800" cy="1371600"/>
          </a:xfrm>
          <a:prstGeom prst="rect">
            <a:avLst/>
          </a:prstGeom>
          <a:solidFill>
            <a:srgbClr val="1E1E2E"/>
          </a:solidFill>
          <a:ln/>
        </p:spPr>
      </p:sp>
      <p:sp>
        <p:nvSpPr>
          <p:cNvPr id="13" name="Text 11"/>
          <p:cNvSpPr/>
          <p:nvPr/>
        </p:nvSpPr>
        <p:spPr>
          <a:xfrm>
            <a:off x="548640" y="3429000"/>
            <a:ext cx="3931920" cy="128016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from ydata_profiling import ProfileReport</a:t>
            </a:r>
            <a:pPr indent="0" marL="0">
              <a:buNone/>
            </a:pPr>
            <a:pPr indent="0" marL="0">
              <a:buNone/>
            </a:pPr>
            <a:r>
              <a:rPr lang="en-US" sz="900" dirty="0">
                <a:solidFill>
                  <a:srgbClr val="CDD6F4"/>
                </a:solidFill>
                <a:latin typeface="Consolas" pitchFamily="34" charset="0"/>
                <a:ea typeface="Consolas" pitchFamily="34" charset="-122"/>
                <a:cs typeface="Consolas" pitchFamily="34" charset="-120"/>
              </a:rPr>
              <a:t>profil = ProfileReport(df,</a:t>
            </a:r>
            <a:pPr indent="0" marL="0">
              <a:buNone/>
            </a:pPr>
            <a:r>
              <a:rPr lang="en-US" sz="900" dirty="0">
                <a:solidFill>
                  <a:srgbClr val="F9E2AF"/>
                </a:solidFill>
                <a:latin typeface="Consolas" pitchFamily="34" charset="0"/>
                <a:ea typeface="Consolas" pitchFamily="34" charset="-122"/>
                <a:cs typeface="Consolas" pitchFamily="34" charset="-120"/>
              </a:rPr>
              <a:t>    title='Veri Seti Profili',</a:t>
            </a:r>
            <a:pPr indent="0" marL="0">
              <a:buNone/>
            </a:pPr>
            <a:r>
              <a:rPr lang="en-US" sz="900" dirty="0">
                <a:solidFill>
                  <a:srgbClr val="F9E2AF"/>
                </a:solidFill>
                <a:latin typeface="Consolas" pitchFamily="34" charset="0"/>
                <a:ea typeface="Consolas" pitchFamily="34" charset="-122"/>
                <a:cs typeface="Consolas" pitchFamily="34" charset="-120"/>
              </a:rPr>
              <a:t>    explorative=True)</a:t>
            </a:r>
            <a:pPr indent="0" marL="0">
              <a:buNone/>
            </a:pPr>
            <a:r>
              <a:rPr lang="en-US" sz="900" dirty="0">
                <a:solidFill>
                  <a:srgbClr val="A6E3A1"/>
                </a:solidFill>
                <a:latin typeface="Consolas" pitchFamily="34" charset="0"/>
                <a:ea typeface="Consolas" pitchFamily="34" charset="-122"/>
                <a:cs typeface="Consolas" pitchFamily="34" charset="-120"/>
              </a:rPr>
              <a:t>profil.to_file('profil_rapor.html')</a:t>
            </a:r>
            <a:endParaRPr lang="en-US" sz="900" dirty="0"/>
          </a:p>
        </p:txBody>
      </p:sp>
      <p:sp>
        <p:nvSpPr>
          <p:cNvPr id="14" name="Shape 12"/>
          <p:cNvSpPr/>
          <p:nvPr/>
        </p:nvSpPr>
        <p:spPr>
          <a:xfrm>
            <a:off x="4846320" y="960120"/>
            <a:ext cx="3840480" cy="37947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846320" y="960120"/>
            <a:ext cx="3840480" cy="54864"/>
          </a:xfrm>
          <a:prstGeom prst="rect">
            <a:avLst/>
          </a:prstGeom>
          <a:solidFill>
            <a:srgbClr val="5B2C1E"/>
          </a:solidFill>
          <a:ln/>
        </p:spPr>
      </p:sp>
      <p:sp>
        <p:nvSpPr>
          <p:cNvPr id="16" name="Text 14"/>
          <p:cNvSpPr/>
          <p:nvPr/>
        </p:nvSpPr>
        <p:spPr>
          <a:xfrm>
            <a:off x="5029200" y="1097280"/>
            <a:ext cx="338328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Sweetviz vs YData-Profiling</a:t>
            </a:r>
            <a:endParaRPr lang="en-US" sz="1200" dirty="0"/>
          </a:p>
        </p:txBody>
      </p:sp>
      <p:sp>
        <p:nvSpPr>
          <p:cNvPr id="17" name="Shape 15"/>
          <p:cNvSpPr/>
          <p:nvPr/>
        </p:nvSpPr>
        <p:spPr>
          <a:xfrm>
            <a:off x="4937760" y="1463040"/>
            <a:ext cx="1280160" cy="292608"/>
          </a:xfrm>
          <a:prstGeom prst="rect">
            <a:avLst/>
          </a:prstGeom>
          <a:solidFill>
            <a:srgbClr val="5B2C1E"/>
          </a:solidFill>
          <a:ln w="6350">
            <a:solidFill>
              <a:srgbClr val="E8DDD3"/>
            </a:solidFill>
            <a:prstDash val="solid"/>
          </a:ln>
        </p:spPr>
      </p:sp>
      <p:sp>
        <p:nvSpPr>
          <p:cNvPr id="18" name="Text 16"/>
          <p:cNvSpPr/>
          <p:nvPr/>
        </p:nvSpPr>
        <p:spPr>
          <a:xfrm>
            <a:off x="4983480" y="1463040"/>
            <a:ext cx="1188720" cy="292608"/>
          </a:xfrm>
          <a:prstGeom prst="rect">
            <a:avLst/>
          </a:prstGeom>
          <a:noFill/>
          <a:ln/>
        </p:spPr>
        <p:txBody>
          <a:bodyPr wrap="square" rtlCol="0" anchor="ctr"/>
          <a:lstStyle/>
          <a:p>
            <a:pPr indent="0" marL="0">
              <a:buNone/>
            </a:pPr>
            <a:r>
              <a:rPr lang="en-US" sz="800" b="1" dirty="0">
                <a:solidFill>
                  <a:srgbClr val="FFFFFF"/>
                </a:solidFill>
                <a:latin typeface="Georgia" pitchFamily="34" charset="0"/>
                <a:ea typeface="Georgia" pitchFamily="34" charset="-122"/>
                <a:cs typeface="Georgia" pitchFamily="34" charset="-120"/>
              </a:rPr>
              <a:t>Özellik</a:t>
            </a:r>
            <a:endParaRPr lang="en-US" sz="800" dirty="0"/>
          </a:p>
        </p:txBody>
      </p:sp>
      <p:sp>
        <p:nvSpPr>
          <p:cNvPr id="19" name="Shape 17"/>
          <p:cNvSpPr/>
          <p:nvPr/>
        </p:nvSpPr>
        <p:spPr>
          <a:xfrm>
            <a:off x="6217920" y="1463040"/>
            <a:ext cx="1188720" cy="292608"/>
          </a:xfrm>
          <a:prstGeom prst="rect">
            <a:avLst/>
          </a:prstGeom>
          <a:solidFill>
            <a:srgbClr val="5B2C1E"/>
          </a:solidFill>
          <a:ln w="6350">
            <a:solidFill>
              <a:srgbClr val="E8DDD3"/>
            </a:solidFill>
            <a:prstDash val="solid"/>
          </a:ln>
        </p:spPr>
      </p:sp>
      <p:sp>
        <p:nvSpPr>
          <p:cNvPr id="20" name="Text 18"/>
          <p:cNvSpPr/>
          <p:nvPr/>
        </p:nvSpPr>
        <p:spPr>
          <a:xfrm>
            <a:off x="6263640" y="1463040"/>
            <a:ext cx="1097280" cy="292608"/>
          </a:xfrm>
          <a:prstGeom prst="rect">
            <a:avLst/>
          </a:prstGeom>
          <a:noFill/>
          <a:ln/>
        </p:spPr>
        <p:txBody>
          <a:bodyPr wrap="square" rtlCol="0" anchor="ctr"/>
          <a:lstStyle/>
          <a:p>
            <a:pPr indent="0" marL="0">
              <a:buNone/>
            </a:pPr>
            <a:r>
              <a:rPr lang="en-US" sz="800" b="1" dirty="0">
                <a:solidFill>
                  <a:srgbClr val="FFFFFF"/>
                </a:solidFill>
                <a:latin typeface="Georgia" pitchFamily="34" charset="0"/>
                <a:ea typeface="Georgia" pitchFamily="34" charset="-122"/>
                <a:cs typeface="Georgia" pitchFamily="34" charset="-120"/>
              </a:rPr>
              <a:t>Sweetviz</a:t>
            </a:r>
            <a:endParaRPr lang="en-US" sz="800" dirty="0"/>
          </a:p>
        </p:txBody>
      </p:sp>
      <p:sp>
        <p:nvSpPr>
          <p:cNvPr id="21" name="Shape 19"/>
          <p:cNvSpPr/>
          <p:nvPr/>
        </p:nvSpPr>
        <p:spPr>
          <a:xfrm>
            <a:off x="7406640" y="1463040"/>
            <a:ext cx="1188720" cy="292608"/>
          </a:xfrm>
          <a:prstGeom prst="rect">
            <a:avLst/>
          </a:prstGeom>
          <a:solidFill>
            <a:srgbClr val="5B2C1E"/>
          </a:solidFill>
          <a:ln w="6350">
            <a:solidFill>
              <a:srgbClr val="E8DDD3"/>
            </a:solidFill>
            <a:prstDash val="solid"/>
          </a:ln>
        </p:spPr>
      </p:sp>
      <p:sp>
        <p:nvSpPr>
          <p:cNvPr id="22" name="Text 20"/>
          <p:cNvSpPr/>
          <p:nvPr/>
        </p:nvSpPr>
        <p:spPr>
          <a:xfrm>
            <a:off x="7452360" y="1463040"/>
            <a:ext cx="1097280" cy="292608"/>
          </a:xfrm>
          <a:prstGeom prst="rect">
            <a:avLst/>
          </a:prstGeom>
          <a:noFill/>
          <a:ln/>
        </p:spPr>
        <p:txBody>
          <a:bodyPr wrap="square" rtlCol="0" anchor="ctr"/>
          <a:lstStyle/>
          <a:p>
            <a:pPr indent="0" marL="0">
              <a:buNone/>
            </a:pPr>
            <a:r>
              <a:rPr lang="en-US" sz="800" b="1" dirty="0">
                <a:solidFill>
                  <a:srgbClr val="FFFFFF"/>
                </a:solidFill>
                <a:latin typeface="Georgia" pitchFamily="34" charset="0"/>
                <a:ea typeface="Georgia" pitchFamily="34" charset="-122"/>
                <a:cs typeface="Georgia" pitchFamily="34" charset="-120"/>
              </a:rPr>
              <a:t>YData-Profiling</a:t>
            </a:r>
            <a:endParaRPr lang="en-US" sz="800" dirty="0"/>
          </a:p>
        </p:txBody>
      </p:sp>
      <p:sp>
        <p:nvSpPr>
          <p:cNvPr id="23" name="Shape 21"/>
          <p:cNvSpPr/>
          <p:nvPr/>
        </p:nvSpPr>
        <p:spPr>
          <a:xfrm>
            <a:off x="4937760" y="1755648"/>
            <a:ext cx="1280160" cy="292608"/>
          </a:xfrm>
          <a:prstGeom prst="rect">
            <a:avLst/>
          </a:prstGeom>
          <a:solidFill>
            <a:srgbClr val="FFFFFF"/>
          </a:solidFill>
          <a:ln w="6350">
            <a:solidFill>
              <a:srgbClr val="E8DDD3"/>
            </a:solidFill>
            <a:prstDash val="solid"/>
          </a:ln>
        </p:spPr>
      </p:sp>
      <p:sp>
        <p:nvSpPr>
          <p:cNvPr id="24" name="Text 22"/>
          <p:cNvSpPr/>
          <p:nvPr/>
        </p:nvSpPr>
        <p:spPr>
          <a:xfrm>
            <a:off x="4983480" y="1755648"/>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Kurulum</a:t>
            </a:r>
            <a:endParaRPr lang="en-US" sz="800" dirty="0"/>
          </a:p>
        </p:txBody>
      </p:sp>
      <p:sp>
        <p:nvSpPr>
          <p:cNvPr id="25" name="Shape 23"/>
          <p:cNvSpPr/>
          <p:nvPr/>
        </p:nvSpPr>
        <p:spPr>
          <a:xfrm>
            <a:off x="6217920" y="1755648"/>
            <a:ext cx="1188720" cy="292608"/>
          </a:xfrm>
          <a:prstGeom prst="rect">
            <a:avLst/>
          </a:prstGeom>
          <a:solidFill>
            <a:srgbClr val="FFFFFF"/>
          </a:solidFill>
          <a:ln w="6350">
            <a:solidFill>
              <a:srgbClr val="E8DDD3"/>
            </a:solidFill>
            <a:prstDash val="solid"/>
          </a:ln>
        </p:spPr>
      </p:sp>
      <p:sp>
        <p:nvSpPr>
          <p:cNvPr id="26" name="Text 24"/>
          <p:cNvSpPr/>
          <p:nvPr/>
        </p:nvSpPr>
        <p:spPr>
          <a:xfrm>
            <a:off x="6263640" y="1755648"/>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pip install sweetviz</a:t>
            </a:r>
            <a:endParaRPr lang="en-US" sz="800" dirty="0"/>
          </a:p>
        </p:txBody>
      </p:sp>
      <p:sp>
        <p:nvSpPr>
          <p:cNvPr id="27" name="Shape 25"/>
          <p:cNvSpPr/>
          <p:nvPr/>
        </p:nvSpPr>
        <p:spPr>
          <a:xfrm>
            <a:off x="7406640" y="1755648"/>
            <a:ext cx="1188720" cy="292608"/>
          </a:xfrm>
          <a:prstGeom prst="rect">
            <a:avLst/>
          </a:prstGeom>
          <a:solidFill>
            <a:srgbClr val="FFFFFF"/>
          </a:solidFill>
          <a:ln w="6350">
            <a:solidFill>
              <a:srgbClr val="E8DDD3"/>
            </a:solidFill>
            <a:prstDash val="solid"/>
          </a:ln>
        </p:spPr>
      </p:sp>
      <p:sp>
        <p:nvSpPr>
          <p:cNvPr id="28" name="Text 26"/>
          <p:cNvSpPr/>
          <p:nvPr/>
        </p:nvSpPr>
        <p:spPr>
          <a:xfrm>
            <a:off x="7452360" y="1755648"/>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pip install ydata-profiling</a:t>
            </a:r>
            <a:endParaRPr lang="en-US" sz="800" dirty="0"/>
          </a:p>
        </p:txBody>
      </p:sp>
      <p:sp>
        <p:nvSpPr>
          <p:cNvPr id="29" name="Shape 27"/>
          <p:cNvSpPr/>
          <p:nvPr/>
        </p:nvSpPr>
        <p:spPr>
          <a:xfrm>
            <a:off x="4937760" y="2048256"/>
            <a:ext cx="1280160" cy="292608"/>
          </a:xfrm>
          <a:prstGeom prst="rect">
            <a:avLst/>
          </a:prstGeom>
          <a:solidFill>
            <a:srgbClr val="FEF5EE"/>
          </a:solidFill>
          <a:ln w="6350">
            <a:solidFill>
              <a:srgbClr val="E8DDD3"/>
            </a:solidFill>
            <a:prstDash val="solid"/>
          </a:ln>
        </p:spPr>
      </p:sp>
      <p:sp>
        <p:nvSpPr>
          <p:cNvPr id="30" name="Text 28"/>
          <p:cNvSpPr/>
          <p:nvPr/>
        </p:nvSpPr>
        <p:spPr>
          <a:xfrm>
            <a:off x="4983480" y="2048256"/>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Hız</a:t>
            </a:r>
            <a:endParaRPr lang="en-US" sz="800" dirty="0"/>
          </a:p>
        </p:txBody>
      </p:sp>
      <p:sp>
        <p:nvSpPr>
          <p:cNvPr id="31" name="Shape 29"/>
          <p:cNvSpPr/>
          <p:nvPr/>
        </p:nvSpPr>
        <p:spPr>
          <a:xfrm>
            <a:off x="6217920" y="2048256"/>
            <a:ext cx="1188720" cy="292608"/>
          </a:xfrm>
          <a:prstGeom prst="rect">
            <a:avLst/>
          </a:prstGeom>
          <a:solidFill>
            <a:srgbClr val="FEF5EE"/>
          </a:solidFill>
          <a:ln w="6350">
            <a:solidFill>
              <a:srgbClr val="E8DDD3"/>
            </a:solidFill>
            <a:prstDash val="solid"/>
          </a:ln>
        </p:spPr>
      </p:sp>
      <p:sp>
        <p:nvSpPr>
          <p:cNvPr id="32" name="Text 30"/>
          <p:cNvSpPr/>
          <p:nvPr/>
        </p:nvSpPr>
        <p:spPr>
          <a:xfrm>
            <a:off x="6263640" y="2048256"/>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Hızlı</a:t>
            </a:r>
            <a:endParaRPr lang="en-US" sz="800" dirty="0"/>
          </a:p>
        </p:txBody>
      </p:sp>
      <p:sp>
        <p:nvSpPr>
          <p:cNvPr id="33" name="Shape 31"/>
          <p:cNvSpPr/>
          <p:nvPr/>
        </p:nvSpPr>
        <p:spPr>
          <a:xfrm>
            <a:off x="7406640" y="2048256"/>
            <a:ext cx="1188720" cy="292608"/>
          </a:xfrm>
          <a:prstGeom prst="rect">
            <a:avLst/>
          </a:prstGeom>
          <a:solidFill>
            <a:srgbClr val="FEF5EE"/>
          </a:solidFill>
          <a:ln w="6350">
            <a:solidFill>
              <a:srgbClr val="E8DDD3"/>
            </a:solidFill>
            <a:prstDash val="solid"/>
          </a:ln>
        </p:spPr>
      </p:sp>
      <p:sp>
        <p:nvSpPr>
          <p:cNvPr id="34" name="Text 32"/>
          <p:cNvSpPr/>
          <p:nvPr/>
        </p:nvSpPr>
        <p:spPr>
          <a:xfrm>
            <a:off x="7452360" y="2048256"/>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Daha yavaş (detaylı)</a:t>
            </a:r>
            <a:endParaRPr lang="en-US" sz="800" dirty="0"/>
          </a:p>
        </p:txBody>
      </p:sp>
      <p:sp>
        <p:nvSpPr>
          <p:cNvPr id="35" name="Shape 33"/>
          <p:cNvSpPr/>
          <p:nvPr/>
        </p:nvSpPr>
        <p:spPr>
          <a:xfrm>
            <a:off x="4937760" y="2340864"/>
            <a:ext cx="1280160" cy="292608"/>
          </a:xfrm>
          <a:prstGeom prst="rect">
            <a:avLst/>
          </a:prstGeom>
          <a:solidFill>
            <a:srgbClr val="FFFFFF"/>
          </a:solidFill>
          <a:ln w="6350">
            <a:solidFill>
              <a:srgbClr val="E8DDD3"/>
            </a:solidFill>
            <a:prstDash val="solid"/>
          </a:ln>
        </p:spPr>
      </p:sp>
      <p:sp>
        <p:nvSpPr>
          <p:cNvPr id="36" name="Text 34"/>
          <p:cNvSpPr/>
          <p:nvPr/>
        </p:nvSpPr>
        <p:spPr>
          <a:xfrm>
            <a:off x="4983480" y="2340864"/>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Rapor Boyutu</a:t>
            </a:r>
            <a:endParaRPr lang="en-US" sz="800" dirty="0"/>
          </a:p>
        </p:txBody>
      </p:sp>
      <p:sp>
        <p:nvSpPr>
          <p:cNvPr id="37" name="Shape 35"/>
          <p:cNvSpPr/>
          <p:nvPr/>
        </p:nvSpPr>
        <p:spPr>
          <a:xfrm>
            <a:off x="6217920" y="2340864"/>
            <a:ext cx="1188720" cy="292608"/>
          </a:xfrm>
          <a:prstGeom prst="rect">
            <a:avLst/>
          </a:prstGeom>
          <a:solidFill>
            <a:srgbClr val="FFFFFF"/>
          </a:solidFill>
          <a:ln w="6350">
            <a:solidFill>
              <a:srgbClr val="E8DDD3"/>
            </a:solidFill>
            <a:prstDash val="solid"/>
          </a:ln>
        </p:spPr>
      </p:sp>
      <p:sp>
        <p:nvSpPr>
          <p:cNvPr id="38" name="Text 36"/>
          <p:cNvSpPr/>
          <p:nvPr/>
        </p:nvSpPr>
        <p:spPr>
          <a:xfrm>
            <a:off x="6263640" y="2340864"/>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Kompakt</a:t>
            </a:r>
            <a:endParaRPr lang="en-US" sz="800" dirty="0"/>
          </a:p>
        </p:txBody>
      </p:sp>
      <p:sp>
        <p:nvSpPr>
          <p:cNvPr id="39" name="Shape 37"/>
          <p:cNvSpPr/>
          <p:nvPr/>
        </p:nvSpPr>
        <p:spPr>
          <a:xfrm>
            <a:off x="7406640" y="2340864"/>
            <a:ext cx="1188720" cy="292608"/>
          </a:xfrm>
          <a:prstGeom prst="rect">
            <a:avLst/>
          </a:prstGeom>
          <a:solidFill>
            <a:srgbClr val="FFFFFF"/>
          </a:solidFill>
          <a:ln w="6350">
            <a:solidFill>
              <a:srgbClr val="E8DDD3"/>
            </a:solidFill>
            <a:prstDash val="solid"/>
          </a:ln>
        </p:spPr>
      </p:sp>
      <p:sp>
        <p:nvSpPr>
          <p:cNvPr id="40" name="Text 38"/>
          <p:cNvSpPr/>
          <p:nvPr/>
        </p:nvSpPr>
        <p:spPr>
          <a:xfrm>
            <a:off x="7452360" y="2340864"/>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Kapsamlı</a:t>
            </a:r>
            <a:endParaRPr lang="en-US" sz="800" dirty="0"/>
          </a:p>
        </p:txBody>
      </p:sp>
      <p:sp>
        <p:nvSpPr>
          <p:cNvPr id="41" name="Shape 39"/>
          <p:cNvSpPr/>
          <p:nvPr/>
        </p:nvSpPr>
        <p:spPr>
          <a:xfrm>
            <a:off x="4937760" y="2633472"/>
            <a:ext cx="1280160" cy="292608"/>
          </a:xfrm>
          <a:prstGeom prst="rect">
            <a:avLst/>
          </a:prstGeom>
          <a:solidFill>
            <a:srgbClr val="FEF5EE"/>
          </a:solidFill>
          <a:ln w="6350">
            <a:solidFill>
              <a:srgbClr val="E8DDD3"/>
            </a:solidFill>
            <a:prstDash val="solid"/>
          </a:ln>
        </p:spPr>
      </p:sp>
      <p:sp>
        <p:nvSpPr>
          <p:cNvPr id="42" name="Text 40"/>
          <p:cNvSpPr/>
          <p:nvPr/>
        </p:nvSpPr>
        <p:spPr>
          <a:xfrm>
            <a:off x="4983480" y="2633472"/>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Karşılaştırma</a:t>
            </a:r>
            <a:endParaRPr lang="en-US" sz="800" dirty="0"/>
          </a:p>
        </p:txBody>
      </p:sp>
      <p:sp>
        <p:nvSpPr>
          <p:cNvPr id="43" name="Shape 41"/>
          <p:cNvSpPr/>
          <p:nvPr/>
        </p:nvSpPr>
        <p:spPr>
          <a:xfrm>
            <a:off x="6217920" y="2633472"/>
            <a:ext cx="1188720" cy="292608"/>
          </a:xfrm>
          <a:prstGeom prst="rect">
            <a:avLst/>
          </a:prstGeom>
          <a:solidFill>
            <a:srgbClr val="FEF5EE"/>
          </a:solidFill>
          <a:ln w="6350">
            <a:solidFill>
              <a:srgbClr val="E8DDD3"/>
            </a:solidFill>
            <a:prstDash val="solid"/>
          </a:ln>
        </p:spPr>
      </p:sp>
      <p:sp>
        <p:nvSpPr>
          <p:cNvPr id="44" name="Text 42"/>
          <p:cNvSpPr/>
          <p:nvPr/>
        </p:nvSpPr>
        <p:spPr>
          <a:xfrm>
            <a:off x="6263640" y="2633472"/>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compare() ile kolay</a:t>
            </a:r>
            <a:endParaRPr lang="en-US" sz="800" dirty="0"/>
          </a:p>
        </p:txBody>
      </p:sp>
      <p:sp>
        <p:nvSpPr>
          <p:cNvPr id="45" name="Shape 43"/>
          <p:cNvSpPr/>
          <p:nvPr/>
        </p:nvSpPr>
        <p:spPr>
          <a:xfrm>
            <a:off x="7406640" y="2633472"/>
            <a:ext cx="1188720" cy="292608"/>
          </a:xfrm>
          <a:prstGeom prst="rect">
            <a:avLst/>
          </a:prstGeom>
          <a:solidFill>
            <a:srgbClr val="FEF5EE"/>
          </a:solidFill>
          <a:ln w="6350">
            <a:solidFill>
              <a:srgbClr val="E8DDD3"/>
            </a:solidFill>
            <a:prstDash val="solid"/>
          </a:ln>
        </p:spPr>
      </p:sp>
      <p:sp>
        <p:nvSpPr>
          <p:cNvPr id="46" name="Text 44"/>
          <p:cNvSpPr/>
          <p:nvPr/>
        </p:nvSpPr>
        <p:spPr>
          <a:xfrm>
            <a:off x="7452360" y="2633472"/>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compare() mevcut</a:t>
            </a:r>
            <a:endParaRPr lang="en-US" sz="800" dirty="0"/>
          </a:p>
        </p:txBody>
      </p:sp>
      <p:sp>
        <p:nvSpPr>
          <p:cNvPr id="47" name="Shape 45"/>
          <p:cNvSpPr/>
          <p:nvPr/>
        </p:nvSpPr>
        <p:spPr>
          <a:xfrm>
            <a:off x="4937760" y="2926080"/>
            <a:ext cx="1280160" cy="292608"/>
          </a:xfrm>
          <a:prstGeom prst="rect">
            <a:avLst/>
          </a:prstGeom>
          <a:solidFill>
            <a:srgbClr val="FFFFFF"/>
          </a:solidFill>
          <a:ln w="6350">
            <a:solidFill>
              <a:srgbClr val="E8DDD3"/>
            </a:solidFill>
            <a:prstDash val="solid"/>
          </a:ln>
        </p:spPr>
      </p:sp>
      <p:sp>
        <p:nvSpPr>
          <p:cNvPr id="48" name="Text 46"/>
          <p:cNvSpPr/>
          <p:nvPr/>
        </p:nvSpPr>
        <p:spPr>
          <a:xfrm>
            <a:off x="4983480" y="2926080"/>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Jupyter</a:t>
            </a:r>
            <a:endParaRPr lang="en-US" sz="800" dirty="0"/>
          </a:p>
        </p:txBody>
      </p:sp>
      <p:sp>
        <p:nvSpPr>
          <p:cNvPr id="49" name="Shape 47"/>
          <p:cNvSpPr/>
          <p:nvPr/>
        </p:nvSpPr>
        <p:spPr>
          <a:xfrm>
            <a:off x="6217920" y="2926080"/>
            <a:ext cx="1188720" cy="292608"/>
          </a:xfrm>
          <a:prstGeom prst="rect">
            <a:avLst/>
          </a:prstGeom>
          <a:solidFill>
            <a:srgbClr val="FFFFFF"/>
          </a:solidFill>
          <a:ln w="6350">
            <a:solidFill>
              <a:srgbClr val="E8DDD3"/>
            </a:solidFill>
            <a:prstDash val="solid"/>
          </a:ln>
        </p:spPr>
      </p:sp>
      <p:sp>
        <p:nvSpPr>
          <p:cNvPr id="50" name="Text 48"/>
          <p:cNvSpPr/>
          <p:nvPr/>
        </p:nvSpPr>
        <p:spPr>
          <a:xfrm>
            <a:off x="6263640" y="2926080"/>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show_notebook()</a:t>
            </a:r>
            <a:endParaRPr lang="en-US" sz="800" dirty="0"/>
          </a:p>
        </p:txBody>
      </p:sp>
      <p:sp>
        <p:nvSpPr>
          <p:cNvPr id="51" name="Shape 49"/>
          <p:cNvSpPr/>
          <p:nvPr/>
        </p:nvSpPr>
        <p:spPr>
          <a:xfrm>
            <a:off x="7406640" y="2926080"/>
            <a:ext cx="1188720" cy="292608"/>
          </a:xfrm>
          <a:prstGeom prst="rect">
            <a:avLst/>
          </a:prstGeom>
          <a:solidFill>
            <a:srgbClr val="FFFFFF"/>
          </a:solidFill>
          <a:ln w="6350">
            <a:solidFill>
              <a:srgbClr val="E8DDD3"/>
            </a:solidFill>
            <a:prstDash val="solid"/>
          </a:ln>
        </p:spPr>
      </p:sp>
      <p:sp>
        <p:nvSpPr>
          <p:cNvPr id="52" name="Text 50"/>
          <p:cNvSpPr/>
          <p:nvPr/>
        </p:nvSpPr>
        <p:spPr>
          <a:xfrm>
            <a:off x="7452360" y="2926080"/>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to_notebook_iframe()</a:t>
            </a:r>
            <a:endParaRPr lang="en-US" sz="800" dirty="0"/>
          </a:p>
        </p:txBody>
      </p:sp>
      <p:sp>
        <p:nvSpPr>
          <p:cNvPr id="53" name="Shape 51"/>
          <p:cNvSpPr/>
          <p:nvPr/>
        </p:nvSpPr>
        <p:spPr>
          <a:xfrm>
            <a:off x="4937760" y="3218688"/>
            <a:ext cx="1280160" cy="292608"/>
          </a:xfrm>
          <a:prstGeom prst="rect">
            <a:avLst/>
          </a:prstGeom>
          <a:solidFill>
            <a:srgbClr val="FEF5EE"/>
          </a:solidFill>
          <a:ln w="6350">
            <a:solidFill>
              <a:srgbClr val="E8DDD3"/>
            </a:solidFill>
            <a:prstDash val="solid"/>
          </a:ln>
        </p:spPr>
      </p:sp>
      <p:sp>
        <p:nvSpPr>
          <p:cNvPr id="54" name="Text 52"/>
          <p:cNvSpPr/>
          <p:nvPr/>
        </p:nvSpPr>
        <p:spPr>
          <a:xfrm>
            <a:off x="4983480" y="3218688"/>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Duplikasyon</a:t>
            </a:r>
            <a:endParaRPr lang="en-US" sz="800" dirty="0"/>
          </a:p>
        </p:txBody>
      </p:sp>
      <p:sp>
        <p:nvSpPr>
          <p:cNvPr id="55" name="Shape 53"/>
          <p:cNvSpPr/>
          <p:nvPr/>
        </p:nvSpPr>
        <p:spPr>
          <a:xfrm>
            <a:off x="6217920" y="3218688"/>
            <a:ext cx="1188720" cy="292608"/>
          </a:xfrm>
          <a:prstGeom prst="rect">
            <a:avLst/>
          </a:prstGeom>
          <a:solidFill>
            <a:srgbClr val="FEF5EE"/>
          </a:solidFill>
          <a:ln w="6350">
            <a:solidFill>
              <a:srgbClr val="E8DDD3"/>
            </a:solidFill>
            <a:prstDash val="solid"/>
          </a:ln>
        </p:spPr>
      </p:sp>
      <p:sp>
        <p:nvSpPr>
          <p:cNvPr id="56" name="Text 54"/>
          <p:cNvSpPr/>
          <p:nvPr/>
        </p:nvSpPr>
        <p:spPr>
          <a:xfrm>
            <a:off x="6263640" y="3218688"/>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Yok</a:t>
            </a:r>
            <a:endParaRPr lang="en-US" sz="800" dirty="0"/>
          </a:p>
        </p:txBody>
      </p:sp>
      <p:sp>
        <p:nvSpPr>
          <p:cNvPr id="57" name="Shape 55"/>
          <p:cNvSpPr/>
          <p:nvPr/>
        </p:nvSpPr>
        <p:spPr>
          <a:xfrm>
            <a:off x="7406640" y="3218688"/>
            <a:ext cx="1188720" cy="292608"/>
          </a:xfrm>
          <a:prstGeom prst="rect">
            <a:avLst/>
          </a:prstGeom>
          <a:solidFill>
            <a:srgbClr val="FEF5EE"/>
          </a:solidFill>
          <a:ln w="6350">
            <a:solidFill>
              <a:srgbClr val="E8DDD3"/>
            </a:solidFill>
            <a:prstDash val="solid"/>
          </a:ln>
        </p:spPr>
      </p:sp>
      <p:sp>
        <p:nvSpPr>
          <p:cNvPr id="58" name="Text 56"/>
          <p:cNvSpPr/>
          <p:nvPr/>
        </p:nvSpPr>
        <p:spPr>
          <a:xfrm>
            <a:off x="7452360" y="3218688"/>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Var</a:t>
            </a:r>
            <a:endParaRPr lang="en-US" sz="800" dirty="0"/>
          </a:p>
        </p:txBody>
      </p:sp>
      <p:sp>
        <p:nvSpPr>
          <p:cNvPr id="59" name="Shape 57"/>
          <p:cNvSpPr/>
          <p:nvPr/>
        </p:nvSpPr>
        <p:spPr>
          <a:xfrm>
            <a:off x="4937760" y="3511296"/>
            <a:ext cx="1280160" cy="292608"/>
          </a:xfrm>
          <a:prstGeom prst="rect">
            <a:avLst/>
          </a:prstGeom>
          <a:solidFill>
            <a:srgbClr val="FFFFFF"/>
          </a:solidFill>
          <a:ln w="6350">
            <a:solidFill>
              <a:srgbClr val="E8DDD3"/>
            </a:solidFill>
            <a:prstDash val="solid"/>
          </a:ln>
        </p:spPr>
      </p:sp>
      <p:sp>
        <p:nvSpPr>
          <p:cNvPr id="60" name="Text 58"/>
          <p:cNvSpPr/>
          <p:nvPr/>
        </p:nvSpPr>
        <p:spPr>
          <a:xfrm>
            <a:off x="4983480" y="3511296"/>
            <a:ext cx="1188720" cy="292608"/>
          </a:xfrm>
          <a:prstGeom prst="rect">
            <a:avLst/>
          </a:prstGeom>
          <a:noFill/>
          <a:ln/>
        </p:spPr>
        <p:txBody>
          <a:bodyPr wrap="square" rtlCol="0" anchor="ctr"/>
          <a:lstStyle/>
          <a:p>
            <a:pPr indent="0" marL="0">
              <a:buNone/>
            </a:pPr>
            <a:r>
              <a:rPr lang="en-US" sz="800" b="1" dirty="0">
                <a:solidFill>
                  <a:srgbClr val="2E1F1A"/>
                </a:solidFill>
                <a:latin typeface="Calibri" pitchFamily="34" charset="0"/>
                <a:ea typeface="Calibri" pitchFamily="34" charset="-122"/>
                <a:cs typeface="Calibri" pitchFamily="34" charset="-120"/>
              </a:rPr>
              <a:t>Etkileşim</a:t>
            </a:r>
            <a:endParaRPr lang="en-US" sz="800" dirty="0"/>
          </a:p>
        </p:txBody>
      </p:sp>
      <p:sp>
        <p:nvSpPr>
          <p:cNvPr id="61" name="Shape 59"/>
          <p:cNvSpPr/>
          <p:nvPr/>
        </p:nvSpPr>
        <p:spPr>
          <a:xfrm>
            <a:off x="6217920" y="3511296"/>
            <a:ext cx="1188720" cy="292608"/>
          </a:xfrm>
          <a:prstGeom prst="rect">
            <a:avLst/>
          </a:prstGeom>
          <a:solidFill>
            <a:srgbClr val="FFFFFF"/>
          </a:solidFill>
          <a:ln w="6350">
            <a:solidFill>
              <a:srgbClr val="E8DDD3"/>
            </a:solidFill>
            <a:prstDash val="solid"/>
          </a:ln>
        </p:spPr>
      </p:sp>
      <p:sp>
        <p:nvSpPr>
          <p:cNvPr id="62" name="Text 60"/>
          <p:cNvSpPr/>
          <p:nvPr/>
        </p:nvSpPr>
        <p:spPr>
          <a:xfrm>
            <a:off x="6263640" y="3511296"/>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Sınırlı</a:t>
            </a:r>
            <a:endParaRPr lang="en-US" sz="800" dirty="0"/>
          </a:p>
        </p:txBody>
      </p:sp>
      <p:sp>
        <p:nvSpPr>
          <p:cNvPr id="63" name="Shape 61"/>
          <p:cNvSpPr/>
          <p:nvPr/>
        </p:nvSpPr>
        <p:spPr>
          <a:xfrm>
            <a:off x="7406640" y="3511296"/>
            <a:ext cx="1188720" cy="292608"/>
          </a:xfrm>
          <a:prstGeom prst="rect">
            <a:avLst/>
          </a:prstGeom>
          <a:solidFill>
            <a:srgbClr val="FFFFFF"/>
          </a:solidFill>
          <a:ln w="6350">
            <a:solidFill>
              <a:srgbClr val="E8DDD3"/>
            </a:solidFill>
            <a:prstDash val="solid"/>
          </a:ln>
        </p:spPr>
      </p:sp>
      <p:sp>
        <p:nvSpPr>
          <p:cNvPr id="64" name="Text 62"/>
          <p:cNvSpPr/>
          <p:nvPr/>
        </p:nvSpPr>
        <p:spPr>
          <a:xfrm>
            <a:off x="7452360" y="3511296"/>
            <a:ext cx="1097280" cy="292608"/>
          </a:xfrm>
          <a:prstGeom prst="rect">
            <a:avLst/>
          </a:prstGeom>
          <a:noFill/>
          <a:ln/>
        </p:spPr>
        <p:txBody>
          <a:bodyPr wrap="square" rtlCol="0" anchor="ctr"/>
          <a:lstStyle/>
          <a:p>
            <a:pPr indent="0" marL="0">
              <a:buNone/>
            </a:pPr>
            <a:r>
              <a:rPr lang="en-US" sz="800" dirty="0">
                <a:solidFill>
                  <a:srgbClr val="2E1F1A"/>
                </a:solidFill>
                <a:latin typeface="Calibri" pitchFamily="34" charset="0"/>
                <a:ea typeface="Calibri" pitchFamily="34" charset="-122"/>
                <a:cs typeface="Calibri" pitchFamily="34" charset="-120"/>
              </a:rPr>
              <a:t>Detaylı</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Haftalık Notebook'lar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UYGULAMA</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100584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1005840"/>
            <a:ext cx="3931920" cy="54864"/>
          </a:xfrm>
          <a:prstGeom prst="rect">
            <a:avLst/>
          </a:prstGeom>
          <a:solidFill>
            <a:srgbClr val="2B7A78"/>
          </a:solidFill>
          <a:ln/>
        </p:spPr>
      </p:sp>
      <p:sp>
        <p:nvSpPr>
          <p:cNvPr id="10" name="Shape 8"/>
          <p:cNvSpPr/>
          <p:nvPr/>
        </p:nvSpPr>
        <p:spPr>
          <a:xfrm>
            <a:off x="594360" y="1188720"/>
            <a:ext cx="329184" cy="329184"/>
          </a:xfrm>
          <a:prstGeom prst="ellipse">
            <a:avLst/>
          </a:prstGeom>
          <a:solidFill>
            <a:srgbClr val="2B7A78"/>
          </a:solidFill>
          <a:ln/>
        </p:spPr>
      </p:sp>
      <p:sp>
        <p:nvSpPr>
          <p:cNvPr id="11" name="Text 9"/>
          <p:cNvSpPr/>
          <p:nvPr/>
        </p:nvSpPr>
        <p:spPr>
          <a:xfrm>
            <a:off x="594360" y="118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1051560" y="1143000"/>
            <a:ext cx="3108960" cy="320040"/>
          </a:xfrm>
          <a:prstGeom prst="rect">
            <a:avLst/>
          </a:prstGeom>
          <a:noFill/>
          <a:ln/>
        </p:spPr>
        <p:txBody>
          <a:bodyPr wrap="square"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NB1: Matplotlib &amp; Seaborn</a:t>
            </a:r>
            <a:endParaRPr lang="en-US" sz="1200" dirty="0"/>
          </a:p>
        </p:txBody>
      </p:sp>
      <p:sp>
        <p:nvSpPr>
          <p:cNvPr id="13" name="Text 11"/>
          <p:cNvSpPr/>
          <p:nvPr/>
        </p:nvSpPr>
        <p:spPr>
          <a:xfrm>
            <a:off x="640080" y="1508760"/>
            <a:ext cx="3566160" cy="5943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Temel grafik türleri, özelleştirme, stil ayarları. 15+ farklı grafik uygulaması.</a:t>
            </a:r>
            <a:endParaRPr lang="en-US" sz="1000" dirty="0"/>
          </a:p>
        </p:txBody>
      </p:sp>
      <p:sp>
        <p:nvSpPr>
          <p:cNvPr id="14" name="Text 12"/>
          <p:cNvSpPr/>
          <p:nvPr/>
        </p:nvSpPr>
        <p:spPr>
          <a:xfrm>
            <a:off x="640080" y="2194560"/>
            <a:ext cx="3566160" cy="320040"/>
          </a:xfrm>
          <a:prstGeom prst="rect">
            <a:avLst/>
          </a:prstGeom>
          <a:noFill/>
          <a:ln/>
        </p:spPr>
        <p:txBody>
          <a:bodyPr wrap="square" rtlCol="0" anchor="ctr"/>
          <a:lstStyle/>
          <a:p>
            <a:pPr indent="0" marL="0">
              <a:buNone/>
            </a:pPr>
            <a:r>
              <a:rPr lang="en-US" sz="900" i="1" dirty="0">
                <a:solidFill>
                  <a:srgbClr val="2B7A78"/>
                </a:solidFill>
                <a:latin typeface="Consolas" pitchFamily="34" charset="0"/>
                <a:ea typeface="Consolas" pitchFamily="34" charset="-122"/>
                <a:cs typeface="Consolas" pitchFamily="34" charset="-120"/>
              </a:rPr>
              <a:t>matplotlib_seaborn.ipynb</a:t>
            </a:r>
            <a:endParaRPr lang="en-US" sz="900" dirty="0"/>
          </a:p>
        </p:txBody>
      </p:sp>
      <p:sp>
        <p:nvSpPr>
          <p:cNvPr id="15" name="Shape 13"/>
          <p:cNvSpPr/>
          <p:nvPr/>
        </p:nvSpPr>
        <p:spPr>
          <a:xfrm>
            <a:off x="4754880" y="100584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6" name="Shape 14"/>
          <p:cNvSpPr/>
          <p:nvPr/>
        </p:nvSpPr>
        <p:spPr>
          <a:xfrm>
            <a:off x="4754880" y="1005840"/>
            <a:ext cx="3931920" cy="54864"/>
          </a:xfrm>
          <a:prstGeom prst="rect">
            <a:avLst/>
          </a:prstGeom>
          <a:solidFill>
            <a:srgbClr val="D94F4F"/>
          </a:solidFill>
          <a:ln/>
        </p:spPr>
      </p:sp>
      <p:sp>
        <p:nvSpPr>
          <p:cNvPr id="17" name="Shape 15"/>
          <p:cNvSpPr/>
          <p:nvPr/>
        </p:nvSpPr>
        <p:spPr>
          <a:xfrm>
            <a:off x="4892040" y="1188720"/>
            <a:ext cx="329184" cy="329184"/>
          </a:xfrm>
          <a:prstGeom prst="ellipse">
            <a:avLst/>
          </a:prstGeom>
          <a:solidFill>
            <a:srgbClr val="D94F4F"/>
          </a:solidFill>
          <a:ln/>
        </p:spPr>
      </p:sp>
      <p:sp>
        <p:nvSpPr>
          <p:cNvPr id="18" name="Text 16"/>
          <p:cNvSpPr/>
          <p:nvPr/>
        </p:nvSpPr>
        <p:spPr>
          <a:xfrm>
            <a:off x="4892040" y="118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p:nvPr/>
        </p:nvSpPr>
        <p:spPr>
          <a:xfrm>
            <a:off x="5349240" y="1143000"/>
            <a:ext cx="3108960" cy="320040"/>
          </a:xfrm>
          <a:prstGeom prst="rect">
            <a:avLst/>
          </a:prstGeom>
          <a:noFill/>
          <a:ln/>
        </p:spPr>
        <p:txBody>
          <a:bodyPr wrap="square"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NB2: COVID Yarışan Çubuk</a:t>
            </a:r>
            <a:endParaRPr lang="en-US" sz="1200" dirty="0"/>
          </a:p>
        </p:txBody>
      </p:sp>
      <p:sp>
        <p:nvSpPr>
          <p:cNvPr id="20" name="Text 18"/>
          <p:cNvSpPr/>
          <p:nvPr/>
        </p:nvSpPr>
        <p:spPr>
          <a:xfrm>
            <a:off x="4937760" y="1508760"/>
            <a:ext cx="3566160" cy="5943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bar_chart_race ile COVID-19 verilerini animasyonlu görselleştirme.</a:t>
            </a:r>
            <a:endParaRPr lang="en-US" sz="1000" dirty="0"/>
          </a:p>
        </p:txBody>
      </p:sp>
      <p:sp>
        <p:nvSpPr>
          <p:cNvPr id="21" name="Text 19"/>
          <p:cNvSpPr/>
          <p:nvPr/>
        </p:nvSpPr>
        <p:spPr>
          <a:xfrm>
            <a:off x="4937760" y="2194560"/>
            <a:ext cx="3566160" cy="320040"/>
          </a:xfrm>
          <a:prstGeom prst="rect">
            <a:avLst/>
          </a:prstGeom>
          <a:noFill/>
          <a:ln/>
        </p:spPr>
        <p:txBody>
          <a:bodyPr wrap="square" rtlCol="0" anchor="ctr"/>
          <a:lstStyle/>
          <a:p>
            <a:pPr indent="0" marL="0">
              <a:buNone/>
            </a:pPr>
            <a:r>
              <a:rPr lang="en-US" sz="900" i="1" dirty="0">
                <a:solidFill>
                  <a:srgbClr val="2B7A78"/>
                </a:solidFill>
                <a:latin typeface="Consolas" pitchFamily="34" charset="0"/>
                <a:ea typeface="Consolas" pitchFamily="34" charset="-122"/>
                <a:cs typeface="Consolas" pitchFamily="34" charset="-120"/>
              </a:rPr>
              <a:t>covid_yarisan.ipynb</a:t>
            </a:r>
            <a:endParaRPr lang="en-US" sz="900" dirty="0"/>
          </a:p>
        </p:txBody>
      </p:sp>
      <p:sp>
        <p:nvSpPr>
          <p:cNvPr id="22" name="Shape 20"/>
          <p:cNvSpPr/>
          <p:nvPr/>
        </p:nvSpPr>
        <p:spPr>
          <a:xfrm>
            <a:off x="457200" y="292608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3" name="Shape 21"/>
          <p:cNvSpPr/>
          <p:nvPr/>
        </p:nvSpPr>
        <p:spPr>
          <a:xfrm>
            <a:off x="457200" y="2926080"/>
            <a:ext cx="3931920" cy="54864"/>
          </a:xfrm>
          <a:prstGeom prst="rect">
            <a:avLst/>
          </a:prstGeom>
          <a:solidFill>
            <a:srgbClr val="E8913A"/>
          </a:solidFill>
          <a:ln/>
        </p:spPr>
      </p:sp>
      <p:sp>
        <p:nvSpPr>
          <p:cNvPr id="24" name="Shape 22"/>
          <p:cNvSpPr/>
          <p:nvPr/>
        </p:nvSpPr>
        <p:spPr>
          <a:xfrm>
            <a:off x="594360" y="3108960"/>
            <a:ext cx="329184" cy="329184"/>
          </a:xfrm>
          <a:prstGeom prst="ellipse">
            <a:avLst/>
          </a:prstGeom>
          <a:solidFill>
            <a:srgbClr val="E8913A"/>
          </a:solidFill>
          <a:ln/>
        </p:spPr>
      </p:sp>
      <p:sp>
        <p:nvSpPr>
          <p:cNvPr id="25" name="Text 23"/>
          <p:cNvSpPr/>
          <p:nvPr/>
        </p:nvSpPr>
        <p:spPr>
          <a:xfrm>
            <a:off x="594360"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p:nvPr/>
        </p:nvSpPr>
        <p:spPr>
          <a:xfrm>
            <a:off x="1051560" y="3063240"/>
            <a:ext cx="3108960" cy="320040"/>
          </a:xfrm>
          <a:prstGeom prst="rect">
            <a:avLst/>
          </a:prstGeom>
          <a:noFill/>
          <a:ln/>
        </p:spPr>
        <p:txBody>
          <a:bodyPr wrap="square"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NB3: Supermarket EDA</a:t>
            </a:r>
            <a:endParaRPr lang="en-US" sz="1200" dirty="0"/>
          </a:p>
        </p:txBody>
      </p:sp>
      <p:sp>
        <p:nvSpPr>
          <p:cNvPr id="27" name="Text 25"/>
          <p:cNvSpPr/>
          <p:nvPr/>
        </p:nvSpPr>
        <p:spPr>
          <a:xfrm>
            <a:off x="640080" y="3429000"/>
            <a:ext cx="3566160" cy="5943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Gerçek süpermarket veri seti üzerinde Sweetviz ve YData-Profiling uygulaması.</a:t>
            </a:r>
            <a:endParaRPr lang="en-US" sz="1000" dirty="0"/>
          </a:p>
        </p:txBody>
      </p:sp>
      <p:sp>
        <p:nvSpPr>
          <p:cNvPr id="28" name="Text 26"/>
          <p:cNvSpPr/>
          <p:nvPr/>
        </p:nvSpPr>
        <p:spPr>
          <a:xfrm>
            <a:off x="640080" y="4114800"/>
            <a:ext cx="3566160" cy="320040"/>
          </a:xfrm>
          <a:prstGeom prst="rect">
            <a:avLst/>
          </a:prstGeom>
          <a:noFill/>
          <a:ln/>
        </p:spPr>
        <p:txBody>
          <a:bodyPr wrap="square" rtlCol="0" anchor="ctr"/>
          <a:lstStyle/>
          <a:p>
            <a:pPr indent="0" marL="0">
              <a:buNone/>
            </a:pPr>
            <a:r>
              <a:rPr lang="en-US" sz="900" i="1" dirty="0">
                <a:solidFill>
                  <a:srgbClr val="2B7A78"/>
                </a:solidFill>
                <a:latin typeface="Consolas" pitchFamily="34" charset="0"/>
                <a:ea typeface="Consolas" pitchFamily="34" charset="-122"/>
                <a:cs typeface="Consolas" pitchFamily="34" charset="-120"/>
              </a:rPr>
              <a:t>supermarket_eda.ipynb</a:t>
            </a:r>
            <a:endParaRPr lang="en-US" sz="900" dirty="0"/>
          </a:p>
        </p:txBody>
      </p:sp>
      <p:sp>
        <p:nvSpPr>
          <p:cNvPr id="29" name="Shape 27"/>
          <p:cNvSpPr/>
          <p:nvPr/>
        </p:nvSpPr>
        <p:spPr>
          <a:xfrm>
            <a:off x="4754880" y="292608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0" name="Shape 28"/>
          <p:cNvSpPr/>
          <p:nvPr/>
        </p:nvSpPr>
        <p:spPr>
          <a:xfrm>
            <a:off x="4754880" y="2926080"/>
            <a:ext cx="3931920" cy="54864"/>
          </a:xfrm>
          <a:prstGeom prst="rect">
            <a:avLst/>
          </a:prstGeom>
          <a:solidFill>
            <a:srgbClr val="7C5BBF"/>
          </a:solidFill>
          <a:ln/>
        </p:spPr>
      </p:sp>
      <p:sp>
        <p:nvSpPr>
          <p:cNvPr id="31" name="Shape 29"/>
          <p:cNvSpPr/>
          <p:nvPr/>
        </p:nvSpPr>
        <p:spPr>
          <a:xfrm>
            <a:off x="4892040" y="3108960"/>
            <a:ext cx="329184" cy="329184"/>
          </a:xfrm>
          <a:prstGeom prst="ellipse">
            <a:avLst/>
          </a:prstGeom>
          <a:solidFill>
            <a:srgbClr val="7C5BBF"/>
          </a:solidFill>
          <a:ln/>
        </p:spPr>
      </p:sp>
      <p:sp>
        <p:nvSpPr>
          <p:cNvPr id="32" name="Text 30"/>
          <p:cNvSpPr/>
          <p:nvPr/>
        </p:nvSpPr>
        <p:spPr>
          <a:xfrm>
            <a:off x="4892040"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3" name="Text 31"/>
          <p:cNvSpPr/>
          <p:nvPr/>
        </p:nvSpPr>
        <p:spPr>
          <a:xfrm>
            <a:off x="5349240" y="3063240"/>
            <a:ext cx="3108960" cy="320040"/>
          </a:xfrm>
          <a:prstGeom prst="rect">
            <a:avLst/>
          </a:prstGeom>
          <a:noFill/>
          <a:ln/>
        </p:spPr>
        <p:txBody>
          <a:bodyPr wrap="square"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NB4: Google Trends</a:t>
            </a:r>
            <a:endParaRPr lang="en-US" sz="1200" dirty="0"/>
          </a:p>
        </p:txBody>
      </p:sp>
      <p:sp>
        <p:nvSpPr>
          <p:cNvPr id="34" name="Text 32"/>
          <p:cNvSpPr/>
          <p:nvPr/>
        </p:nvSpPr>
        <p:spPr>
          <a:xfrm>
            <a:off x="4937760" y="3429000"/>
            <a:ext cx="3566160" cy="5943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pytrends ile Türkiye'deki AI trendlerini çekme ve görselleştirme.</a:t>
            </a:r>
            <a:endParaRPr lang="en-US" sz="1000" dirty="0"/>
          </a:p>
        </p:txBody>
      </p:sp>
      <p:sp>
        <p:nvSpPr>
          <p:cNvPr id="35" name="Text 33"/>
          <p:cNvSpPr/>
          <p:nvPr/>
        </p:nvSpPr>
        <p:spPr>
          <a:xfrm>
            <a:off x="4937760" y="4114800"/>
            <a:ext cx="3566160" cy="320040"/>
          </a:xfrm>
          <a:prstGeom prst="rect">
            <a:avLst/>
          </a:prstGeom>
          <a:noFill/>
          <a:ln/>
        </p:spPr>
        <p:txBody>
          <a:bodyPr wrap="square" rtlCol="0" anchor="ctr"/>
          <a:lstStyle/>
          <a:p>
            <a:pPr indent="0" marL="0">
              <a:buNone/>
            </a:pPr>
            <a:r>
              <a:rPr lang="en-US" sz="900" i="1" dirty="0">
                <a:solidFill>
                  <a:srgbClr val="2B7A78"/>
                </a:solidFill>
                <a:latin typeface="Consolas" pitchFamily="34" charset="0"/>
                <a:ea typeface="Consolas" pitchFamily="34" charset="-122"/>
                <a:cs typeface="Consolas" pitchFamily="34" charset="-120"/>
              </a:rPr>
              <a:t>google_trends.ipynb</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Ödev ve Kaynaklar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UYGULAMA</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4114800" cy="3749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4114800" cy="54864"/>
          </a:xfrm>
          <a:prstGeom prst="rect">
            <a:avLst/>
          </a:prstGeom>
          <a:solidFill>
            <a:srgbClr val="C97B5A"/>
          </a:solidFill>
          <a:ln/>
        </p:spPr>
      </p:sp>
      <p:sp>
        <p:nvSpPr>
          <p:cNvPr id="10" name="Text 8"/>
          <p:cNvSpPr/>
          <p:nvPr/>
        </p:nvSpPr>
        <p:spPr>
          <a:xfrm>
            <a:off x="640080" y="1097280"/>
            <a:ext cx="36576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Haftalık Ödev — 5 Grafik Türü</a:t>
            </a:r>
            <a:endParaRPr lang="en-US" sz="1200" dirty="0"/>
          </a:p>
        </p:txBody>
      </p:sp>
      <p:sp>
        <p:nvSpPr>
          <p:cNvPr id="11" name="Shape 9"/>
          <p:cNvSpPr/>
          <p:nvPr/>
        </p:nvSpPr>
        <p:spPr>
          <a:xfrm>
            <a:off x="640080" y="1627632"/>
            <a:ext cx="329184" cy="329184"/>
          </a:xfrm>
          <a:prstGeom prst="ellipse">
            <a:avLst/>
          </a:prstGeom>
          <a:solidFill>
            <a:srgbClr val="2B7A78"/>
          </a:solidFill>
          <a:ln/>
        </p:spPr>
      </p:sp>
      <p:sp>
        <p:nvSpPr>
          <p:cNvPr id="12" name="Text 10"/>
          <p:cNvSpPr/>
          <p:nvPr/>
        </p:nvSpPr>
        <p:spPr>
          <a:xfrm>
            <a:off x="640080"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p:nvPr/>
        </p:nvSpPr>
        <p:spPr>
          <a:xfrm>
            <a:off x="1097280" y="1554480"/>
            <a:ext cx="3200400" cy="5029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Çizgi grafiği: Hava sıcaklığı trendi (7 günlük)</a:t>
            </a:r>
            <a:endParaRPr lang="en-US" sz="1000" dirty="0"/>
          </a:p>
        </p:txBody>
      </p:sp>
      <p:sp>
        <p:nvSpPr>
          <p:cNvPr id="14" name="Shape 12"/>
          <p:cNvSpPr/>
          <p:nvPr/>
        </p:nvSpPr>
        <p:spPr>
          <a:xfrm>
            <a:off x="640080" y="2194560"/>
            <a:ext cx="329184" cy="329184"/>
          </a:xfrm>
          <a:prstGeom prst="ellipse">
            <a:avLst/>
          </a:prstGeom>
          <a:solidFill>
            <a:srgbClr val="C97B5A"/>
          </a:solidFill>
          <a:ln/>
        </p:spPr>
      </p:sp>
      <p:sp>
        <p:nvSpPr>
          <p:cNvPr id="15" name="Text 13"/>
          <p:cNvSpPr/>
          <p:nvPr/>
        </p:nvSpPr>
        <p:spPr>
          <a:xfrm>
            <a:off x="640080" y="2194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p:nvPr/>
        </p:nvSpPr>
        <p:spPr>
          <a:xfrm>
            <a:off x="1097280" y="2121408"/>
            <a:ext cx="3200400" cy="5029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Bar grafiği: Departman bazlı ortalama maaş karşılaştırması</a:t>
            </a:r>
            <a:endParaRPr lang="en-US" sz="1000" dirty="0"/>
          </a:p>
        </p:txBody>
      </p:sp>
      <p:sp>
        <p:nvSpPr>
          <p:cNvPr id="17" name="Shape 15"/>
          <p:cNvSpPr/>
          <p:nvPr/>
        </p:nvSpPr>
        <p:spPr>
          <a:xfrm>
            <a:off x="640080" y="2761488"/>
            <a:ext cx="329184" cy="329184"/>
          </a:xfrm>
          <a:prstGeom prst="ellipse">
            <a:avLst/>
          </a:prstGeom>
          <a:solidFill>
            <a:srgbClr val="E8913A"/>
          </a:solidFill>
          <a:ln/>
        </p:spPr>
      </p:sp>
      <p:sp>
        <p:nvSpPr>
          <p:cNvPr id="18" name="Text 16"/>
          <p:cNvSpPr/>
          <p:nvPr/>
        </p:nvSpPr>
        <p:spPr>
          <a:xfrm>
            <a:off x="640080" y="27614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1097280" y="2688336"/>
            <a:ext cx="3200400" cy="5029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Histogram + Boxplot: Müşteri yaş dağılımı analizi</a:t>
            </a:r>
            <a:endParaRPr lang="en-US" sz="1000" dirty="0"/>
          </a:p>
        </p:txBody>
      </p:sp>
      <p:sp>
        <p:nvSpPr>
          <p:cNvPr id="20" name="Shape 18"/>
          <p:cNvSpPr/>
          <p:nvPr/>
        </p:nvSpPr>
        <p:spPr>
          <a:xfrm>
            <a:off x="640080" y="3328416"/>
            <a:ext cx="329184" cy="329184"/>
          </a:xfrm>
          <a:prstGeom prst="ellipse">
            <a:avLst/>
          </a:prstGeom>
          <a:solidFill>
            <a:srgbClr val="D94F4F"/>
          </a:solidFill>
          <a:ln/>
        </p:spPr>
      </p:sp>
      <p:sp>
        <p:nvSpPr>
          <p:cNvPr id="21" name="Text 19"/>
          <p:cNvSpPr/>
          <p:nvPr/>
        </p:nvSpPr>
        <p:spPr>
          <a:xfrm>
            <a:off x="640080"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097280" y="3255264"/>
            <a:ext cx="3200400" cy="5029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Heatmap: Korelasyon matrisi ve önemli ilişkiler raporu</a:t>
            </a:r>
            <a:endParaRPr lang="en-US" sz="1000" dirty="0"/>
          </a:p>
        </p:txBody>
      </p:sp>
      <p:sp>
        <p:nvSpPr>
          <p:cNvPr id="23" name="Shape 21"/>
          <p:cNvSpPr/>
          <p:nvPr/>
        </p:nvSpPr>
        <p:spPr>
          <a:xfrm>
            <a:off x="640080" y="3895344"/>
            <a:ext cx="329184" cy="329184"/>
          </a:xfrm>
          <a:prstGeom prst="ellipse">
            <a:avLst/>
          </a:prstGeom>
          <a:solidFill>
            <a:srgbClr val="7C5BBF"/>
          </a:solidFill>
          <a:ln/>
        </p:spPr>
      </p:sp>
      <p:sp>
        <p:nvSpPr>
          <p:cNvPr id="24" name="Text 22"/>
          <p:cNvSpPr/>
          <p:nvPr/>
        </p:nvSpPr>
        <p:spPr>
          <a:xfrm>
            <a:off x="640080" y="38953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5" name="Text 23"/>
          <p:cNvSpPr/>
          <p:nvPr/>
        </p:nvSpPr>
        <p:spPr>
          <a:xfrm>
            <a:off x="1097280" y="3822192"/>
            <a:ext cx="3200400" cy="50292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Bar Chart Race: Türkiye illeri nüfus değişimi (1990–2023)</a:t>
            </a:r>
            <a:endParaRPr lang="en-US" sz="1000" dirty="0"/>
          </a:p>
        </p:txBody>
      </p:sp>
      <p:sp>
        <p:nvSpPr>
          <p:cNvPr id="26" name="Text 24"/>
          <p:cNvSpPr/>
          <p:nvPr/>
        </p:nvSpPr>
        <p:spPr>
          <a:xfrm>
            <a:off x="640080" y="4206240"/>
            <a:ext cx="3657600" cy="274320"/>
          </a:xfrm>
          <a:prstGeom prst="rect">
            <a:avLst/>
          </a:prstGeom>
          <a:noFill/>
          <a:ln/>
        </p:spPr>
        <p:txBody>
          <a:bodyPr wrap="square" rtlCol="0" anchor="ctr"/>
          <a:lstStyle/>
          <a:p>
            <a:pPr indent="0" marL="0">
              <a:buNone/>
            </a:pPr>
            <a:r>
              <a:rPr lang="en-US" sz="900" b="1" dirty="0">
                <a:solidFill>
                  <a:srgbClr val="6B5B52"/>
                </a:solidFill>
                <a:latin typeface="Calibri" pitchFamily="34" charset="0"/>
                <a:ea typeface="Calibri" pitchFamily="34" charset="-122"/>
                <a:cs typeface="Calibri" pitchFamily="34" charset="-120"/>
              </a:rPr>
              <a:t>Teslim: Notebook (.ipynb) + PDF rapor</a:t>
            </a:r>
            <a:endParaRPr lang="en-US" sz="900" dirty="0"/>
          </a:p>
        </p:txBody>
      </p:sp>
      <p:sp>
        <p:nvSpPr>
          <p:cNvPr id="27" name="Shape 25"/>
          <p:cNvSpPr/>
          <p:nvPr/>
        </p:nvSpPr>
        <p:spPr>
          <a:xfrm>
            <a:off x="4846320" y="960120"/>
            <a:ext cx="3840480" cy="3749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8" name="Shape 26"/>
          <p:cNvSpPr/>
          <p:nvPr/>
        </p:nvSpPr>
        <p:spPr>
          <a:xfrm>
            <a:off x="4846320" y="960120"/>
            <a:ext cx="3840480" cy="54864"/>
          </a:xfrm>
          <a:prstGeom prst="rect">
            <a:avLst/>
          </a:prstGeom>
          <a:solidFill>
            <a:srgbClr val="2B7A78"/>
          </a:solidFill>
          <a:ln/>
        </p:spPr>
      </p:sp>
      <p:sp>
        <p:nvSpPr>
          <p:cNvPr id="29" name="Text 27"/>
          <p:cNvSpPr/>
          <p:nvPr/>
        </p:nvSpPr>
        <p:spPr>
          <a:xfrm>
            <a:off x="5029200" y="1097280"/>
            <a:ext cx="338328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Faydalı Kaynaklar</a:t>
            </a:r>
            <a:endParaRPr lang="en-US" sz="1200" dirty="0"/>
          </a:p>
        </p:txBody>
      </p:sp>
      <p:sp>
        <p:nvSpPr>
          <p:cNvPr id="30" name="Shape 28"/>
          <p:cNvSpPr/>
          <p:nvPr/>
        </p:nvSpPr>
        <p:spPr>
          <a:xfrm>
            <a:off x="5029200" y="1554480"/>
            <a:ext cx="54864" cy="411480"/>
          </a:xfrm>
          <a:prstGeom prst="rect">
            <a:avLst/>
          </a:prstGeom>
          <a:solidFill>
            <a:srgbClr val="2B7A78"/>
          </a:solidFill>
          <a:ln/>
        </p:spPr>
      </p:sp>
      <p:sp>
        <p:nvSpPr>
          <p:cNvPr id="31" name="Text 29"/>
          <p:cNvSpPr/>
          <p:nvPr/>
        </p:nvSpPr>
        <p:spPr>
          <a:xfrm>
            <a:off x="5257800" y="1554480"/>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Matplotlib Gallery</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matplotlib.org/gallery</a:t>
            </a:r>
            <a:endParaRPr lang="en-US" sz="900" dirty="0"/>
          </a:p>
        </p:txBody>
      </p:sp>
      <p:sp>
        <p:nvSpPr>
          <p:cNvPr id="32" name="Shape 30"/>
          <p:cNvSpPr/>
          <p:nvPr/>
        </p:nvSpPr>
        <p:spPr>
          <a:xfrm>
            <a:off x="5029200" y="2075688"/>
            <a:ext cx="54864" cy="411480"/>
          </a:xfrm>
          <a:prstGeom prst="rect">
            <a:avLst/>
          </a:prstGeom>
          <a:solidFill>
            <a:srgbClr val="C97B5A"/>
          </a:solidFill>
          <a:ln/>
        </p:spPr>
      </p:sp>
      <p:sp>
        <p:nvSpPr>
          <p:cNvPr id="33" name="Text 31"/>
          <p:cNvSpPr/>
          <p:nvPr/>
        </p:nvSpPr>
        <p:spPr>
          <a:xfrm>
            <a:off x="5257800" y="2075688"/>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Seaborn Tutorial</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seaborn.pydata.org/tutorial</a:t>
            </a:r>
            <a:endParaRPr lang="en-US" sz="900" dirty="0"/>
          </a:p>
        </p:txBody>
      </p:sp>
      <p:sp>
        <p:nvSpPr>
          <p:cNvPr id="34" name="Shape 32"/>
          <p:cNvSpPr/>
          <p:nvPr/>
        </p:nvSpPr>
        <p:spPr>
          <a:xfrm>
            <a:off x="5029200" y="2596896"/>
            <a:ext cx="54864" cy="411480"/>
          </a:xfrm>
          <a:prstGeom prst="rect">
            <a:avLst/>
          </a:prstGeom>
          <a:solidFill>
            <a:srgbClr val="2B7A78"/>
          </a:solidFill>
          <a:ln/>
        </p:spPr>
      </p:sp>
      <p:sp>
        <p:nvSpPr>
          <p:cNvPr id="35" name="Text 33"/>
          <p:cNvSpPr/>
          <p:nvPr/>
        </p:nvSpPr>
        <p:spPr>
          <a:xfrm>
            <a:off x="5257800" y="2596896"/>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Python Graph Gallery</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python-graph-gallery.com</a:t>
            </a:r>
            <a:endParaRPr lang="en-US" sz="900" dirty="0"/>
          </a:p>
        </p:txBody>
      </p:sp>
      <p:sp>
        <p:nvSpPr>
          <p:cNvPr id="36" name="Shape 34"/>
          <p:cNvSpPr/>
          <p:nvPr/>
        </p:nvSpPr>
        <p:spPr>
          <a:xfrm>
            <a:off x="5029200" y="3118104"/>
            <a:ext cx="54864" cy="411480"/>
          </a:xfrm>
          <a:prstGeom prst="rect">
            <a:avLst/>
          </a:prstGeom>
          <a:solidFill>
            <a:srgbClr val="C97B5A"/>
          </a:solidFill>
          <a:ln/>
        </p:spPr>
      </p:sp>
      <p:sp>
        <p:nvSpPr>
          <p:cNvPr id="37" name="Text 35"/>
          <p:cNvSpPr/>
          <p:nvPr/>
        </p:nvSpPr>
        <p:spPr>
          <a:xfrm>
            <a:off x="5257800" y="3118104"/>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bar_chart_race Docs</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github.com/dexplo/bar_chart_race</a:t>
            </a:r>
            <a:endParaRPr lang="en-US" sz="900" dirty="0"/>
          </a:p>
        </p:txBody>
      </p:sp>
      <p:sp>
        <p:nvSpPr>
          <p:cNvPr id="38" name="Shape 36"/>
          <p:cNvSpPr/>
          <p:nvPr/>
        </p:nvSpPr>
        <p:spPr>
          <a:xfrm>
            <a:off x="5029200" y="3639312"/>
            <a:ext cx="54864" cy="411480"/>
          </a:xfrm>
          <a:prstGeom prst="rect">
            <a:avLst/>
          </a:prstGeom>
          <a:solidFill>
            <a:srgbClr val="2B7A78"/>
          </a:solidFill>
          <a:ln/>
        </p:spPr>
      </p:sp>
      <p:sp>
        <p:nvSpPr>
          <p:cNvPr id="39" name="Text 37"/>
          <p:cNvSpPr/>
          <p:nvPr/>
        </p:nvSpPr>
        <p:spPr>
          <a:xfrm>
            <a:off x="5257800" y="3639312"/>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Sweetviz Docs</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github.com/fbdesignpro/sweetviz</a:t>
            </a:r>
            <a:endParaRPr lang="en-US" sz="900" dirty="0"/>
          </a:p>
        </p:txBody>
      </p:sp>
      <p:sp>
        <p:nvSpPr>
          <p:cNvPr id="40" name="Shape 38"/>
          <p:cNvSpPr/>
          <p:nvPr/>
        </p:nvSpPr>
        <p:spPr>
          <a:xfrm>
            <a:off x="5029200" y="4160520"/>
            <a:ext cx="54864" cy="411480"/>
          </a:xfrm>
          <a:prstGeom prst="rect">
            <a:avLst/>
          </a:prstGeom>
          <a:solidFill>
            <a:srgbClr val="C97B5A"/>
          </a:solidFill>
          <a:ln/>
        </p:spPr>
      </p:sp>
      <p:sp>
        <p:nvSpPr>
          <p:cNvPr id="41" name="Text 39"/>
          <p:cNvSpPr/>
          <p:nvPr/>
        </p:nvSpPr>
        <p:spPr>
          <a:xfrm>
            <a:off x="5257800" y="4160520"/>
            <a:ext cx="3200400" cy="457200"/>
          </a:xfrm>
          <a:prstGeom prst="rect">
            <a:avLst/>
          </a:prstGeom>
          <a:noFill/>
          <a:ln/>
        </p:spPr>
        <p:txBody>
          <a:bodyPr wrap="square" rtlCol="0" anchor="ctr"/>
          <a:lstStyle/>
          <a:p>
            <a:pPr indent="0" marL="0">
              <a:buNone/>
            </a:pPr>
            <a:r>
              <a:rPr lang="en-US" sz="900" dirty="0">
                <a:solidFill>
                  <a:srgbClr val="2E1F1A"/>
                </a:solidFill>
                <a:latin typeface="Calibri" pitchFamily="34" charset="0"/>
                <a:ea typeface="Calibri" pitchFamily="34" charset="-122"/>
                <a:cs typeface="Calibri" pitchFamily="34" charset="-120"/>
              </a:rPr>
              <a:t>YData-Profiling Docs</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docs.profiling.ydata.ai</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B7A78"/>
          </a:solidFill>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Hafta 3 — Öğrendiklerimiz</a:t>
            </a:r>
            <a:endParaRPr lang="en-US" sz="2800" dirty="0"/>
          </a:p>
        </p:txBody>
      </p:sp>
      <p:sp>
        <p:nvSpPr>
          <p:cNvPr id="4" name="Shape 2"/>
          <p:cNvSpPr/>
          <p:nvPr/>
        </p:nvSpPr>
        <p:spPr>
          <a:xfrm>
            <a:off x="457200" y="749808"/>
            <a:ext cx="2286000" cy="36576"/>
          </a:xfrm>
          <a:prstGeom prst="rect">
            <a:avLst/>
          </a:prstGeom>
          <a:solidFill>
            <a:srgbClr val="C97B5A"/>
          </a:solidFill>
          <a:ln/>
        </p:spPr>
      </p:sp>
      <p:sp>
        <p:nvSpPr>
          <p:cNvPr id="5" name="Shape 3"/>
          <p:cNvSpPr/>
          <p:nvPr/>
        </p:nvSpPr>
        <p:spPr>
          <a:xfrm>
            <a:off x="457200" y="960120"/>
            <a:ext cx="8229600" cy="548640"/>
          </a:xfrm>
          <a:prstGeom prst="rect">
            <a:avLst/>
          </a:prstGeom>
          <a:solidFill>
            <a:srgbClr val="3D231A"/>
          </a:solidFill>
          <a:ln w="12700">
            <a:solidFill>
              <a:srgbClr val="5A3828"/>
            </a:solidFill>
            <a:prstDash val="solid"/>
          </a:ln>
        </p:spPr>
      </p:sp>
      <p:sp>
        <p:nvSpPr>
          <p:cNvPr id="6" name="Shape 4"/>
          <p:cNvSpPr/>
          <p:nvPr/>
        </p:nvSpPr>
        <p:spPr>
          <a:xfrm>
            <a:off x="566928" y="1069848"/>
            <a:ext cx="329184" cy="329184"/>
          </a:xfrm>
          <a:prstGeom prst="ellipse">
            <a:avLst/>
          </a:prstGeom>
          <a:solidFill>
            <a:srgbClr val="2B7A78"/>
          </a:solidFill>
          <a:ln/>
        </p:spPr>
      </p:sp>
      <p:sp>
        <p:nvSpPr>
          <p:cNvPr id="7" name="Text 5"/>
          <p:cNvSpPr/>
          <p:nvPr/>
        </p:nvSpPr>
        <p:spPr>
          <a:xfrm>
            <a:off x="566928" y="1069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024128" y="960120"/>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Matplotlib ile temel grafik türlerini (line, bar, hist, scatter, pie) oluşturmayı öğrendik</a:t>
            </a:r>
            <a:endParaRPr lang="en-US" sz="1200" dirty="0"/>
          </a:p>
        </p:txBody>
      </p:sp>
      <p:sp>
        <p:nvSpPr>
          <p:cNvPr id="9" name="Shape 7"/>
          <p:cNvSpPr/>
          <p:nvPr/>
        </p:nvSpPr>
        <p:spPr>
          <a:xfrm>
            <a:off x="457200" y="1618488"/>
            <a:ext cx="8229600" cy="548640"/>
          </a:xfrm>
          <a:prstGeom prst="rect">
            <a:avLst/>
          </a:prstGeom>
          <a:solidFill>
            <a:srgbClr val="3D231A"/>
          </a:solidFill>
          <a:ln w="12700">
            <a:solidFill>
              <a:srgbClr val="5A3828"/>
            </a:solidFill>
            <a:prstDash val="solid"/>
          </a:ln>
        </p:spPr>
      </p:sp>
      <p:sp>
        <p:nvSpPr>
          <p:cNvPr id="10" name="Shape 8"/>
          <p:cNvSpPr/>
          <p:nvPr/>
        </p:nvSpPr>
        <p:spPr>
          <a:xfrm>
            <a:off x="566928" y="1728216"/>
            <a:ext cx="329184" cy="329184"/>
          </a:xfrm>
          <a:prstGeom prst="ellipse">
            <a:avLst/>
          </a:prstGeom>
          <a:solidFill>
            <a:srgbClr val="C97B5A"/>
          </a:solidFill>
          <a:ln/>
        </p:spPr>
      </p:sp>
      <p:sp>
        <p:nvSpPr>
          <p:cNvPr id="11" name="Text 9"/>
          <p:cNvSpPr/>
          <p:nvPr/>
        </p:nvSpPr>
        <p:spPr>
          <a:xfrm>
            <a:off x="566928" y="17282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024128" y="1618488"/>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Seaborn ile istatistiksel görselleştirme: boxplot, heatmap, pairplot</a:t>
            </a:r>
            <a:endParaRPr lang="en-US" sz="1200" dirty="0"/>
          </a:p>
        </p:txBody>
      </p:sp>
      <p:sp>
        <p:nvSpPr>
          <p:cNvPr id="13" name="Shape 11"/>
          <p:cNvSpPr/>
          <p:nvPr/>
        </p:nvSpPr>
        <p:spPr>
          <a:xfrm>
            <a:off x="457200" y="2276856"/>
            <a:ext cx="8229600" cy="548640"/>
          </a:xfrm>
          <a:prstGeom prst="rect">
            <a:avLst/>
          </a:prstGeom>
          <a:solidFill>
            <a:srgbClr val="3D231A"/>
          </a:solidFill>
          <a:ln w="12700">
            <a:solidFill>
              <a:srgbClr val="5A3828"/>
            </a:solidFill>
            <a:prstDash val="solid"/>
          </a:ln>
        </p:spPr>
      </p:sp>
      <p:sp>
        <p:nvSpPr>
          <p:cNvPr id="14" name="Shape 12"/>
          <p:cNvSpPr/>
          <p:nvPr/>
        </p:nvSpPr>
        <p:spPr>
          <a:xfrm>
            <a:off x="566928" y="2386584"/>
            <a:ext cx="329184" cy="329184"/>
          </a:xfrm>
          <a:prstGeom prst="ellipse">
            <a:avLst/>
          </a:prstGeom>
          <a:solidFill>
            <a:srgbClr val="E8913A"/>
          </a:solidFill>
          <a:ln/>
        </p:spPr>
      </p:sp>
      <p:sp>
        <p:nvSpPr>
          <p:cNvPr id="15" name="Text 13"/>
          <p:cNvSpPr/>
          <p:nvPr/>
        </p:nvSpPr>
        <p:spPr>
          <a:xfrm>
            <a:off x="566928"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024128" y="2276856"/>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bar_chart_race ile animasyonlu, etkileyici veri hikayesi anlatımı</a:t>
            </a:r>
            <a:endParaRPr lang="en-US" sz="1200" dirty="0"/>
          </a:p>
        </p:txBody>
      </p:sp>
      <p:sp>
        <p:nvSpPr>
          <p:cNvPr id="17" name="Shape 15"/>
          <p:cNvSpPr/>
          <p:nvPr/>
        </p:nvSpPr>
        <p:spPr>
          <a:xfrm>
            <a:off x="457200" y="2935224"/>
            <a:ext cx="8229600" cy="548640"/>
          </a:xfrm>
          <a:prstGeom prst="rect">
            <a:avLst/>
          </a:prstGeom>
          <a:solidFill>
            <a:srgbClr val="3D231A"/>
          </a:solidFill>
          <a:ln w="12700">
            <a:solidFill>
              <a:srgbClr val="5A3828"/>
            </a:solidFill>
            <a:prstDash val="solid"/>
          </a:ln>
        </p:spPr>
      </p:sp>
      <p:sp>
        <p:nvSpPr>
          <p:cNvPr id="18" name="Shape 16"/>
          <p:cNvSpPr/>
          <p:nvPr/>
        </p:nvSpPr>
        <p:spPr>
          <a:xfrm>
            <a:off x="566928" y="3044952"/>
            <a:ext cx="329184" cy="329184"/>
          </a:xfrm>
          <a:prstGeom prst="ellipse">
            <a:avLst/>
          </a:prstGeom>
          <a:solidFill>
            <a:srgbClr val="7C5BBF"/>
          </a:solidFill>
          <a:ln/>
        </p:spPr>
      </p:sp>
      <p:sp>
        <p:nvSpPr>
          <p:cNvPr id="19" name="Text 17"/>
          <p:cNvSpPr/>
          <p:nvPr/>
        </p:nvSpPr>
        <p:spPr>
          <a:xfrm>
            <a:off x="566928" y="3044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024128" y="2935224"/>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Sweetviz ve YData-Profiling ile otomatik EDA raporu üretimi</a:t>
            </a:r>
            <a:endParaRPr lang="en-US" sz="1200" dirty="0"/>
          </a:p>
        </p:txBody>
      </p:sp>
      <p:sp>
        <p:nvSpPr>
          <p:cNvPr id="21" name="Shape 19"/>
          <p:cNvSpPr/>
          <p:nvPr/>
        </p:nvSpPr>
        <p:spPr>
          <a:xfrm>
            <a:off x="457200" y="3593592"/>
            <a:ext cx="8229600" cy="548640"/>
          </a:xfrm>
          <a:prstGeom prst="rect">
            <a:avLst/>
          </a:prstGeom>
          <a:solidFill>
            <a:srgbClr val="3D231A"/>
          </a:solidFill>
          <a:ln w="12700">
            <a:solidFill>
              <a:srgbClr val="5A3828"/>
            </a:solidFill>
            <a:prstDash val="solid"/>
          </a:ln>
        </p:spPr>
      </p:sp>
      <p:sp>
        <p:nvSpPr>
          <p:cNvPr id="22" name="Shape 20"/>
          <p:cNvSpPr/>
          <p:nvPr/>
        </p:nvSpPr>
        <p:spPr>
          <a:xfrm>
            <a:off x="566928" y="3703320"/>
            <a:ext cx="329184" cy="329184"/>
          </a:xfrm>
          <a:prstGeom prst="ellipse">
            <a:avLst/>
          </a:prstGeom>
          <a:solidFill>
            <a:srgbClr val="3A9E6B"/>
          </a:solidFill>
          <a:ln/>
        </p:spPr>
      </p:sp>
      <p:sp>
        <p:nvSpPr>
          <p:cNvPr id="23" name="Text 21"/>
          <p:cNvSpPr/>
          <p:nvPr/>
        </p:nvSpPr>
        <p:spPr>
          <a:xfrm>
            <a:off x="566928" y="37033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024128" y="3593592"/>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Doğru grafik seçimi ve data storytelling ilkeleri</a:t>
            </a:r>
            <a:endParaRPr lang="en-US" sz="1200" dirty="0"/>
          </a:p>
        </p:txBody>
      </p:sp>
      <p:sp>
        <p:nvSpPr>
          <p:cNvPr id="25" name="Shape 23"/>
          <p:cNvSpPr/>
          <p:nvPr/>
        </p:nvSpPr>
        <p:spPr>
          <a:xfrm>
            <a:off x="0" y="4251960"/>
            <a:ext cx="9144000" cy="891540"/>
          </a:xfrm>
          <a:prstGeom prst="rect">
            <a:avLst/>
          </a:prstGeom>
          <a:solidFill>
            <a:srgbClr val="2E1710"/>
          </a:solidFill>
          <a:ln/>
        </p:spPr>
      </p:sp>
      <p:sp>
        <p:nvSpPr>
          <p:cNvPr id="26" name="Text 24"/>
          <p:cNvSpPr/>
          <p:nvPr/>
        </p:nvSpPr>
        <p:spPr>
          <a:xfrm>
            <a:off x="457200" y="4315968"/>
            <a:ext cx="8229600" cy="411480"/>
          </a:xfrm>
          <a:prstGeom prst="rect">
            <a:avLst/>
          </a:prstGeom>
          <a:noFill/>
          <a:ln/>
        </p:spPr>
        <p:txBody>
          <a:bodyPr wrap="square" lIns="0" tIns="0" rIns="0" bIns="0" rtlCol="0" anchor="ctr"/>
          <a:lstStyle/>
          <a:p>
            <a:pPr indent="0" marL="0">
              <a:buNone/>
            </a:pPr>
            <a:r>
              <a:rPr lang="en-US" sz="1600" b="1" i="1" dirty="0">
                <a:solidFill>
                  <a:srgbClr val="C97B5A"/>
                </a:solidFill>
                <a:latin typeface="Georgia" pitchFamily="34" charset="0"/>
                <a:ea typeface="Georgia" pitchFamily="34" charset="-122"/>
                <a:cs typeface="Georgia" pitchFamily="34" charset="-120"/>
              </a:rPr>
              <a:t>“Verinin en güçlü hikayesi, doğru grafikle anlatılandır.”</a:t>
            </a:r>
            <a:endParaRPr lang="en-US" sz="1600" dirty="0"/>
          </a:p>
        </p:txBody>
      </p:sp>
      <p:sp>
        <p:nvSpPr>
          <p:cNvPr id="27" name="Text 25"/>
          <p:cNvSpPr/>
          <p:nvPr/>
        </p:nvSpPr>
        <p:spPr>
          <a:xfrm>
            <a:off x="457200" y="4754880"/>
            <a:ext cx="82296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Dr. Murat Altun  ·  Veri Bilimi ve Yapay Zekâ Eğitimi  ·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Hafta 3 — Veri Görselleştirme ve Hikayeleştirme</dc:title>
  <dc:subject>PptxGenJS Presentation</dc:subject>
  <dc:creator>Dr. Murat Altun</dc:creator>
  <cp:lastModifiedBy>Dr. Murat Altun</cp:lastModifiedBy>
  <cp:revision>1</cp:revision>
  <dcterms:created xsi:type="dcterms:W3CDTF">2026-04-09T11:39:42Z</dcterms:created>
  <dcterms:modified xsi:type="dcterms:W3CDTF">2026-04-09T11:39:42Z</dcterms:modified>
</cp:coreProperties>
</file>