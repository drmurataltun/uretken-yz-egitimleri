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Görselleştirme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3200400"/>
            <a:ext cx="2286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337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 ve İleri Araçlar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731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Beyni görsel bilgiyi daha hızlı işler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5080" y="21945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0" y="2926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grafik türü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3657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00800" y="4389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görselleştirme EDA'nın parçası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Veri Görselleştirme?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Grafiklerin gücü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609344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36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Beyni görsel bilgiyi 60.000x daha hızlı işler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2139696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0665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Tablolardaki gizli örüntüler ortaya çıkar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670048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5968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vericilere etkili sunum yapma aracı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320040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1272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kalitesi sorunları hızra görülür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" y="3730752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sürecinin vazgeçilmez parçası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07899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78992"/>
            <a:ext cx="64008" cy="356616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Grafik Seçimi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28032" y="1609344"/>
            <a:ext cx="182880" cy="18288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15361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Dağılım → Histogram, KDE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2139696"/>
            <a:ext cx="182880" cy="18288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20665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 → Bar chart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670048"/>
            <a:ext cx="182880" cy="18288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25968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İlişki → Scatter plot, heatmap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3200400"/>
            <a:ext cx="182880" cy="18288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3127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serisi → Line plot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3730752"/>
            <a:ext cx="182880" cy="18288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 → Pie chart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4261104"/>
            <a:ext cx="182880" cy="18288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41879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Dağılım özeti → Boxplot, violin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Temelleri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grafik kütüphanesi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389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Örneği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444752"/>
            <a:ext cx="4023360" cy="2926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[1, 2, 3, 4, 5]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[2, 4, 6, 8, 10]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y, color="blue", marker="o")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plt.title("Satış Trendi")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plt.xlabel("Ay")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plt.ylabel("Satış (bin TL)")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plt.grid(True, alpha=0.3)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Figür boyutu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plt.figure(figsize=(10, 6))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46320" y="1078992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78992"/>
            <a:ext cx="64008" cy="356616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Parametreler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481328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plt.plot() - </a:t>
            </a:r>
            <a:pPr indent="0" marL="0">
              <a:buNone/>
            </a:pPr>
            <a:r>
              <a:rPr lang="en-US" sz="8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Çizgi grafik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0" y="1920240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plt.title() - </a:t>
            </a:r>
            <a:pPr indent="0" marL="0">
              <a:buNone/>
            </a:pPr>
            <a:r>
              <a:rPr lang="en-US" sz="8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 ekleme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0" y="2359152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plt.xlabel/ylabel() - </a:t>
            </a:r>
            <a:pPr indent="0" marL="0">
              <a:buNone/>
            </a:pPr>
            <a:r>
              <a:rPr lang="en-US" sz="8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Eksen etiketleri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0" y="2798064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plt.grid() - </a:t>
            </a:r>
            <a:pPr indent="0" marL="0">
              <a:buNone/>
            </a:pPr>
            <a:r>
              <a:rPr lang="en-US" sz="8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 plan ızgarası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0" y="3236976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- </a:t>
            </a:r>
            <a:pPr indent="0" marL="0">
              <a:buNone/>
            </a:pPr>
            <a:r>
              <a:rPr lang="en-US" sz="8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seçimi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0" y="3675888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- </a:t>
            </a:r>
            <a:pPr indent="0" marL="0">
              <a:buNone/>
            </a:pPr>
            <a:r>
              <a:rPr lang="en-US" sz="8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Nokta şekli ('o', 's', '^')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0" y="4114800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linestyle - </a:t>
            </a:r>
            <a:pPr indent="0" marL="0">
              <a:buNone/>
            </a:pPr>
            <a:r>
              <a:rPr lang="en-US" sz="8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Çizgi stili ('-', '--', ':')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Chart, Scatter Plot, Histogram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grafik tipleri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Örnekleri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8046720" cy="2926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27048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Bar Chart - Kategorik verilerin karşılaştırması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plt.bar(["İstanbul", "Ankara", "İzmir"], [16, 5.7, 4.4], color=["#FF6B9D", "#FEC8D8", "#FFDDF1"])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plt.barh(...)  # Yatay bar chart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Scatter Plot - İlişki gösterimi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plt.scatter(df["yaş"], df["maaş"], alpha=0.6, c="cyan")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Histogram - Veri dağılımı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plt.hist(df["maaş"], bins=20, color="#9F7AEA", edgecolor="black")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Pie Chart - Oransal dağılım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plt.pie(sizes, labels=labels, autopct="%1.1f%%")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Grafikler: Subplots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grafik gösterimi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Grafik Oluşturma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8046720" cy="2926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27048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2x2 alt grafik oluşturma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plt.subplots(2, 2, figsize=(12, 8))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axes[0, 0].plot(x, 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axes[0, 0].set_title("Çizgi Grafik")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axes[0, 1].bar(sehirler, nufus)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axes[0, 1].set_title("Bar Chart")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axes[1, 0].scatter(df["yaş"], df["maaş"])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axes[1, 0].set_title("Scatter Plot")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axes[1, 1].hist(df["maaş"], bins=15)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axes[1, 1].set_title("Histogram")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  # Otomatik boşluk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plt.savefig("grafik.png", dpi=300)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ile Gelişmiş Görseller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İstatistiksel görselleştirme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389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Örneği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444752"/>
            <a:ext cx="4023360" cy="2926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Countplot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sns.countplot(data=df, x="cinsiyet",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palette="viridis")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Boxplot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sns.boxplot(data=df, x="sınıf", y="maaş")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Violin plot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sns.violinplot(data=df, x="bölüm",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y="not")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Pairplot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sns.pairplot(df, hue="hedef")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46320" y="1078992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78992"/>
            <a:ext cx="64008" cy="356616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Tipleri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4813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countplot - </a:t>
            </a:r>
            <a:pPr indent="0" marL="0">
              <a:buNone/>
            </a:pPr>
            <a:r>
              <a:rPr lang="en-US" sz="9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frekansları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19751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- </a:t>
            </a:r>
            <a:pPr indent="0" marL="0">
              <a:buNone/>
            </a:pPr>
            <a:r>
              <a:rPr lang="en-US" sz="9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Min, Q1, medyan, Q3, max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246888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violinplot - </a:t>
            </a:r>
            <a:pPr indent="0" marL="0">
              <a:buNone/>
            </a:pPr>
            <a:r>
              <a:rPr lang="en-US" sz="9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+ yoğunluk dağılımı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9626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 - </a:t>
            </a:r>
            <a:pPr indent="0" marL="0">
              <a:buNone/>
            </a:pPr>
            <a:r>
              <a:rPr lang="en-US" sz="9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sayısal çiftlerin grafiği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34564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- </a:t>
            </a:r>
            <a:pPr indent="0" marL="0">
              <a:buNone/>
            </a:pPr>
            <a:r>
              <a:rPr lang="en-US" sz="9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dizi görselleştirmesi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39502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lmplot - </a:t>
            </a:r>
            <a:pPr indent="0" marL="0">
              <a:buNone/>
            </a:pPr>
            <a:r>
              <a:rPr lang="en-US" sz="9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 ile scatter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Matrisi ve Heatmap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İlişki analizi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Gösterimi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8046720" cy="2926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27048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Korelasyon matrisi hesaplama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 = df.select_dtypes(include="number").corr()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Heatmap görselleştirme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plt.figure(figsize=(10, 8))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sns.heatmap(corr,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annot=True,       # Sayı göster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cmap="coolwarm",  # Renk skalası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center=0,         # Orta nokta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vmin=-1, vmax=1,  # Aralık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fmt=".2f",        # 2 ondalık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square=True)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plt.title("Korelasyon Matrisi")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EDA Araçları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veri keşfi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Araçları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ydata-profiling - </a:t>
            </a:r>
            <a:pPr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Kapsamlı HTML raporu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219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Sweetviz - </a:t>
            </a:r>
            <a:pPr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Karşılaştırmalı EDA raporu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9077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D-Tale - </a:t>
            </a:r>
            <a:pPr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Interaktif web arayüzü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5935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AutoViz - </a:t>
            </a:r>
            <a:pPr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grafik seçimi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7899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78992"/>
            <a:ext cx="64008" cy="356616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 ve Kullanım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536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1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ydata-profiling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920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1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ydata_profiling import ProfileReport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304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1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 = ProfileReport(df)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6883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1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profile.to_file('report.html')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30723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İlk keşif için oto-EDA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3456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Detay için manual analiz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Etkili Görselleştirme İpuçları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Kurallar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581912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361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grafiğe başlık ekleyin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" y="2020824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97510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paletini tutarlı seçin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2459736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41401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Gereksiz dekorasyon kaldırın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2898648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8529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chart'ta 5'ten fazla dilim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" y="3337560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2918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Eksen sıfırdan başlamalı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0352" y="3776472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73075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Grafiği hedef kitleye göre tasarlayın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07899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78992"/>
            <a:ext cx="64008" cy="356616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İpuçları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28032" y="1581912"/>
            <a:ext cx="164592" cy="16459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15361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Veri-mürekkep oranını maksimize edin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28032" y="2020824"/>
            <a:ext cx="164592" cy="16459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197510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körlüğüne duyarlı paletler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28032" y="2459736"/>
            <a:ext cx="164592" cy="16459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241401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Açıklayıcı annotasyonlar ekleyin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28032" y="2898648"/>
            <a:ext cx="164592" cy="16459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28529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çözünürlükte kaydedin (dpi≥300)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28032" y="3337560"/>
            <a:ext cx="164592" cy="16459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32918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space etkin kullanın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28032" y="3776472"/>
            <a:ext cx="164592" cy="16459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373075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tutarlı olsun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ve Değerlendirme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64008" cy="3474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61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Çıkarımlar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554480"/>
            <a:ext cx="137160" cy="1371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179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görselleştirme EDA'nın en güçlü aracıdır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30352" y="1920240"/>
            <a:ext cx="137160" cy="1371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836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temel grafik kütüphanesidir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30352" y="2286000"/>
            <a:ext cx="137160" cy="1371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4942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istatistiksel görselleştirme için ideal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30352" y="2651760"/>
            <a:ext cx="137160" cy="1371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1518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değişken ilişkilerini ortaya koyar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30352" y="3017520"/>
            <a:ext cx="137160" cy="1371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grafik türü seçimi mesajı belirler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30352" y="3383280"/>
            <a:ext cx="137160" cy="1371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467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Oto-EDA araçları ilk keşif için zaman kazandırır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97280"/>
            <a:ext cx="64008" cy="3474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161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/ Uygulama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15179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verisi üzerinde 5 grafik çizin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846320" y="18836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matrisi oluşturun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846320" y="22494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race örneği yapın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846320" y="26151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ydata-profiling raporu üretin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846320" y="29809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Subplots ile 4 grafik gösterin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846320" y="33467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pairplot oluşturun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D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Hafta 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 Görselleştirme</dc:title>
  <dc:subject>PptxGenJS Presentation</dc:subject>
  <dc:creator>Dr. Murat Altun</dc:creator>
  <cp:lastModifiedBy>Dr. Murat Altun</cp:lastModifiedBy>
  <cp:revision>1</cp:revision>
  <dcterms:created xsi:type="dcterms:W3CDTF">2026-04-07T16:16:45Z</dcterms:created>
  <dcterms:modified xsi:type="dcterms:W3CDTF">2026-04-07T16:16:45Z</dcterms:modified>
</cp:coreProperties>
</file>